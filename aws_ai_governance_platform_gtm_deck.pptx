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00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separate the governance substrate from the agent catalog. This lets a customer approve one platform pattern, then onboard agents one at a time with inherited controls.
Repo reviewed: https://github.com/virtualryder/slg-ai-agents
Key evidence: repo README states the agent is not the product; governance is. It also states this is a production-shaped accelerator, not an authorized production-ready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slg-ai-agents repository explicitly frames governance as the product and agents as configurations; README and ENTERPRISE-PLATFORM.md support this direction.
NASCIO 2026 ranks AI as a top state CIO priority; the repository cites NASCIO pilot/funding constraints in its current README and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a point solution gives the customer another AI app. The platform gives them a standard operating model for every agent.
This maps to the SLG repo GTM story: one identity, one authorization model, one audit trail across agencies.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Control Tower describes a landing zone as a well-architected multi-account environment based on security and compliance best practices: https://docs.aws.amazon.com/controltower/latest/userguide/what-is-control-tower.html
AWS Security Lake can collect CloudTrail, EKS audit, Route 53 resolver, Security Hub, VPC Flow Logs, and WAF logs: https://docs.aws.amazon.com/security-lake/latest/userguide/internal-sources.html
S3 Object Lock provides WORM-style protection for retention/legal hold: https://docs.aws.amazon.com/AmazonS3/latest/userguide/object-lock.html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AgentCore Gateway is a managed AI gateway for connecting agents to MCP-compatible tools with ingress and egress authentication: https://docs.aws.amazon.com/bedrock-agentcore/latest/devguide/gateway.html
AgentCore Identity supports scoped on-behalf-of token exchange: https://docs.aws.amazon.com/bedrock-agentcore/latest/devguide/on-behalf-of-token-exchange.html
Amazon Verified Permissions externalizes fine-grained authorization using Cedar: https://docs.aws.amazon.com/verifiedpermissions/latest/userguide/what-is-avp.html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Improvement from slg-ai-agents: extract gov_platform and governance into a platform repo with strict contracts, then refactor current agents into add-on packages.
The existing repo already includes governance, control mappings, a WoG platform, and production-readiness documents; those should become formal product modules, not just repo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contract Claude Code should build toward. The current SLG repo has similar concepts but needs a formal package spec and CI gate for each new agent.
Agent YAML should compile to infrastructure, policy, dashboards, and compliance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Permissions uses Cedar to define fine-grained permissions: https://docs.aws.amazon.com/verifiedpermissions/latest/userguide/what-is-avp.html
AgentCore Gateway provides governed tool access and supports MCP-compatible tools: https://docs.aws.amazon.com/bedrock-agentcore/latest/devguide/gateway.html
AgentCore Identity supports scoped OBO tokens: https://docs.aws.amazon.com/bedrock-agentcore/latest/devguide/on-behalf-of-token-exchange.html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Bedrock Guardrails supports safety/privacy controls and sensitive information filters: https://docs.aws.amazon.com/bedrock/latest/userguide/guardrails.html
Bedrock Guardrails contextual grounding checks can detect hallucinations for summarization, paraphrasing, and QA when reference source and query are provided: https://docs.aws.amazon.com/bedrock/latest/userguide/guardrails-contextual-grounding-check.html
Bedrock sensitive information filters can detect PII in prompts or responses, but documentation notes limitations for tool_use output parameters, so deterministic DLP must still run around tool calls: https://docs.aws.amazon.com/bedrock/latest/userguide/guardrails-sensitive-filters.html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inference profiles allow Bedrock usage/cost attribution using tags attached to the profile billing record: https://docs.aws.amazon.com/bedrock/latest/userguide/cost-mgmt-application-inference-profiles.html
Bedrock publishes runtime metrics such as token counts and quota usage to CloudWatch: https://docs.aws.amazon.com/bedrock/latest/userguide/monitoring-runtime-metrics.html
AWS documents InputTokenCount, OutputTokenCount, CacheReadInputTokens, CacheWriteInputTokens for quota and token monitoring: https://docs.aws.amazon.com/bedrock/latest/userguide/quotas-token-burndown.html
Bedrock model invocation logging can deliver logs to CloudWatch or S3: https://docs.aws.amazon.com/bedrock/latest/userguide/model-invocation-logging.html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GovRAMP is designed for state, local, and tribal governments; AWS states GovCloud High and US East/West Moderate FedRAMP authorizations are recognized by GovRAMP: https://aws.amazon.com/compliance/govramp/
NIST AI RMF GenAI Profile helps organizations identify GenAI risks and actions for risk management: https://www.nist.gov/publications/artificial-intelligence-risk-management-framework-generative-artificial-intelligence
DOJ extended ADA Title II web/mobile accessibility compliance dates to Apr 26, 2027 for &gt;=50k population entities and Apr 26, 2028 for smaller/special districts: https://www.federalregister.gov/documents/2026/04/20/2026-07663/extension-of-compliance-dates-for-nondiscrimination-on-the-basis-of-disability-accessibility-of-web
FBI CJIS Security Policy v6.0 is dated Dec. 27, 2024: https://le.fbi.gov/file-repository/cjis_security_policy_v6-0_20241227.pdf
IRS Pub 1075 defines safeguards for Federal Tax Information: https://www.irs.gov/pub/irs-pdf/p1075.pdf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phased plan is intentionally biased toward a low-blast-radius first agent. The existing SLG production-readiness document recommends Resident Services/311 or IT service desk before benefits/public safety.
The first pilot must produce measurable value and evidence, not just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to the existing slg-ai-agents WOG GTM story, but broadens it from SLG to whole-of-enterprise governance.
The key is to avoid overclaiming turnkey production readiness. Sell a governed pilot with a clear hardening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AgentCore Gateway docs: https://docs.aws.amazon.com/bedrock-agentcore/latest/devguide/gateway.html
AgentCore Identity docs: https://docs.aws.amazon.com/bedrock-agentcore/latest/devguide/identity.html
Bedrock Guardrails docs: https://docs.aws.amazon.com/bedrock/latest/userguide/guardrails.html
Bedrock PrivateLink docs: https://docs.aws.amazon.com/bedrock/latest/userguide/vpc-interface-endpoints.html
AWS GovRAMP page: https://aws.amazon.com/compliance/govramp/
Amazon Bedrock GovCloud FedRAMP High / DoD IL-4/5 announcement: https://aws.amazon.com/about-aws/whats-new/2025/05/amazon-bedrock-models-fedramp-high-dod-il-4-5-govcloud/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26680" y="182880"/>
            <a:ext cx="3749040" cy="3749040"/>
          </a:xfrm>
          <a:prstGeom prst="arc">
            <a:avLst/>
          </a:prstGeom>
          <a:solidFill>
            <a:srgbClr val="232F3E">
              <a:alpha val="0"/>
            </a:srgbClr>
          </a:solidFill>
          <a:ln w="25400">
            <a:solidFill>
              <a:srgbClr val="FF99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228600"/>
            <a:ext cx="2834640" cy="2834640"/>
          </a:xfrm>
          <a:prstGeom prst="arc">
            <a:avLst/>
          </a:prstGeom>
          <a:solidFill>
            <a:srgbClr val="232F3E">
              <a:alpha val="0"/>
            </a:srgbClr>
          </a:solidFill>
          <a:ln w="25400">
            <a:solidFill>
              <a:srgbClr val="06B6D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Whole-of-Enterprise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Governed-Agent Reference Architecture for AWS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8F5"/>
                </a:solidFill>
              </a:rPr>
              <a:t>AWS reference architecture + GTM package for governed agents across public sector, healthcare/life sciences, education, and enterprise workloads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965960" cy="292608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Governance is the product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71216" y="3703320"/>
            <a:ext cx="1508760" cy="292608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Agents are add-ons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53712" y="3703320"/>
            <a:ext cx="114300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AWS-native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5475" y="60579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C7"/>
                </a:solidFill>
              </a:rPr>
              <a:t>Prepared for customer leadership / AWS field review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PLATFORM EXISTS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leadership problem: AI value is trapped behind governance friction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60020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CIO / CEO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325880"/>
            <a:ext cx="3520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F3E"/>
                </a:solidFill>
              </a:rPr>
              <a:t>Pressure to move from pilots to measurable outcomes without creating dozens of disconnected AI projects.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160020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CISO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1325880"/>
            <a:ext cx="3520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F3E"/>
                </a:solidFill>
              </a:rPr>
              <a:t>Needs provable identity, authorization, audit, data isolation, retention, and incident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160020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3520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F3E"/>
                </a:solidFill>
              </a:rPr>
              <a:t>Needs one reusable pattern for agents, tools, models, data, approvals, and observability.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160020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Program owners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743200"/>
            <a:ext cx="3520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32F3E"/>
                </a:solidFill>
              </a:rPr>
              <a:t>Need faster service delivery without letting AI make legally consequential decisions.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4663440"/>
            <a:ext cx="8138160" cy="640080"/>
          </a:xfrm>
          <a:prstGeom prst="chevron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One governed substrate, many agent products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650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The repo already has the right thesis; the improvement is to extract the substrate into its own deployable platform repo, then plug SLG, HCLS, EDU, and enterprise agents into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Positioning: not a chatbot suite — a governed AI operating layer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754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Point-solution AI sprawl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993392"/>
            <a:ext cx="37490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Different identity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37490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Different tool connectors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944368"/>
            <a:ext cx="37490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Different audit trail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419856"/>
            <a:ext cx="37490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Different security 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895344"/>
            <a:ext cx="37490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Different cost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1234440"/>
            <a:ext cx="4754880" cy="41148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Governed platform model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1993392"/>
            <a:ext cx="374904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Common identity + consent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374904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Central policy + tool gateway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944368"/>
            <a:ext cx="374904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Immutable evidence package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419856"/>
            <a:ext cx="374904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Inherited control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3895344"/>
            <a:ext cx="3749040" cy="310896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Chargeback + token governance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291840"/>
            <a:ext cx="82296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63040" y="58064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</a:rPr>
              <a:t>Land one agent. Approve the substrate. Expand by configuration.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account architecture: isolate by data class, govern centrally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1099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2435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</a:rPr>
              <a:t>AWS Organizations / Control Tower landing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21488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Security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GuardDuty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Security Hub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Config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719072"/>
            <a:ext cx="21488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Log Archive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CloudTrail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Security Lake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S3 Object Lock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1719072"/>
            <a:ext cx="21488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Network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Transit Gateway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VPC endpoints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DNS / egress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0" y="1719072"/>
            <a:ext cx="214884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F3E"/>
                </a:solidFill>
              </a:rPr>
              <a:t>AI Governance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32F3E"/>
                </a:solidFill>
              </a:rPr>
              <a:t>Registry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32F3E"/>
                </a:solidFill>
              </a:rPr>
              <a:t>Policy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32F3E"/>
                </a:solidFill>
              </a:rPr>
              <a:t>Evals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32F3E"/>
                </a:solidFill>
              </a:rPr>
              <a:t>Chargeback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Public / Low-risk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2160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434840" y="333756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PII / Enterprise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44568" y="372160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955280" y="333756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0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PHI / HIPAA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5008" y="372160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407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CJI / CJIS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468172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4434840" y="42976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26280" y="4407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FTI / IRS 1075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468172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7955280" y="42976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0" y="4407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</a:rPr>
              <a:t>EDU / FERPA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65008" y="468172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</a:rPr>
              <a:t>Workload account + VPC + KMS + WORM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914400" y="56052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F3E"/>
                </a:solidFill>
              </a:rPr>
              <a:t>Pattern: central governance plane; isolated runtime/data planes by regulatory boundary.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flow: every model call and tool call passes through governance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User / app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Federated identity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role + purpose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2084832" y="3218688"/>
            <a:ext cx="292608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41448" y="27432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Agent runtime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Step Functions /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AgentCore Runtime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023360" y="3218688"/>
            <a:ext cx="292608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79976" y="2743200"/>
            <a:ext cx="15544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6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Policy decision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Verified Permissions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Cedar + context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961888" y="3218688"/>
            <a:ext cx="292608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18504" y="27432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Model gateway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Bedrock + Guardrails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KB + prompt registry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00416" y="3218688"/>
            <a:ext cx="292608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7032" y="2743200"/>
            <a:ext cx="155448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6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Tool gateway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AgentCore Gateway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MCP targets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838944" y="3218688"/>
            <a:ext cx="292608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95560" y="27432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Systems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EHR / SIS / CRM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232F3E"/>
                </a:solidFill>
              </a:rPr>
              <a:t>ERP / permits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10332720" cy="68580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Compliance Event Bus → append-only audit → WORM evidence package → dashboards, ATO artifacts, and chargeback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26187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</a:rPr>
              <a:t>Invariant: the agent can never exceed the authenticated user, declared purpose, data class, approved tools, token budget, or human authority boundary.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DECOMPOSITION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services: what must become the standalone repo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Agent Registry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owner · purpose · risk tier · data class · model · evals · cost center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63640" y="123444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Tool Registry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8138160" y="123444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MCP schema · system owner · CRUD · rollback · approval · idempotency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Policy Engine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user entitlement ∩ agent grant ∩ purpose ∩ consent ∩ residency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Approval Service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138160" y="228600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HITL queue · e-signature · separation of duties · task-token workflow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Model Gateway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2560320" y="333756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Bedrock routing · max_tokens · Guardrails · prompt pinning · fallbacks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333756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Evidence Ledger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8138160" y="333756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masked events · immutable audit · WORM export · control evidence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Data Protection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560320" y="438912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PII/PHI/FTI/CJI masking · tokenization · retrieval security trimming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4389120"/>
            <a:ext cx="1783080" cy="393192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</a:rPr>
              <a:t>FinOps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138160" y="4389120"/>
            <a:ext cx="333756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32F3E"/>
                </a:solidFill>
              </a:rPr>
              <a:t>token budgets · application inference profiles · chargeback dashboards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5715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</a:rPr>
              <a:t>Build these once, then publish every agent as a policy-bounded package against the same contracts.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FACTORY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onboarding standard: make every new agent pass the same gates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Intake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use case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risk tier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93392" y="2743200"/>
            <a:ext cx="53949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data class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controls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13632" y="2743200"/>
            <a:ext cx="53949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templates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connectors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33872" y="2743200"/>
            <a:ext cx="53949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evals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red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54112" y="2743200"/>
            <a:ext cx="53949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CISO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program owner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74352" y="2743200"/>
            <a:ext cx="53949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32720" y="2240280"/>
            <a:ext cx="1234440" cy="1005840"/>
          </a:xfrm>
          <a:prstGeom prst="hexagon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24160" y="24963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8700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registry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release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1234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Minimum package per agent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2F3E"/>
                </a:solidFill>
              </a:rPr>
              <a:t>agent.yaml · policy.cedar · tools.mcp.json · prompts/ · evals/ · data_contracts/ · runbook.md · cost_model.yaml · threat_model.md · acceptance_tests/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68680" y="4709160"/>
            <a:ext cx="1046988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1560" y="492861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32F3E"/>
                </a:solidFill>
              </a:rPr>
              <a:t>Gate rule: no agent ships until it proves least privilege, grounding, masking, budget control, audit completeness, rollback/idempotency, and no unauthorized consequential action.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 AND DATA PROTECTION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model: policy is evaluated at every boundary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Policy 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325880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authenticated user / workload identity / agency 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947672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declared purpose, legal authority, consent, case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69464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569464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agent grant, tool contract, data class, operation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91256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3191256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region, GovCloud/commercial boundary, VPC endpoint path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13048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much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813048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token budget, transaction threshold, rate limit, chargeback tag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325880" cy="384048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Who approves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4434840"/>
            <a:ext cx="47548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32F3E"/>
                </a:solidFill>
              </a:rPr>
              <a:t>HITL tier, separation of duties, e-signature requirement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2148840"/>
            <a:ext cx="1280160" cy="1143000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15400" y="2267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F3E"/>
                </a:solidFill>
              </a:rPr>
              <a:t>ALLOW / DENY / APPROVE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15400" y="27889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Every decision creates an evidence record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32F3E"/>
                </a:solidFill>
              </a:rPr>
              <a:t>Implementation: Verified Permissions + Cedar for externalized authorization, AgentCore Gateway for MCP tool access, STS/OBO tokens for scoped downstream calls.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 AND 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 control is a layered system, not one feature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4984" y="1481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1. Source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4984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curated KBs · ACL trimming · citation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64024" y="1481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2. Prompt + schema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4024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prompt registry · JSON schemas · deterministic validators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66760" y="13258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13064" y="1481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3. Guardrails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13064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PII filters · denied topics · contextual grounding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31546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4984" y="33101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4. Cross-check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4984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fact/number/date verifier · no unsupported claims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33101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5. Human 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64024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risk-based approval before consequential 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31546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13064" y="33101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</a:rPr>
              <a:t>6. Monitoring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eval drift · red-team failures · user feedback 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287000" cy="502920"/>
          </a:xfrm>
          <a:prstGeom prst="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Rule: resident, patient, student, or employee-impacting outputs must be grounded, validated, and approved before action.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FINOPS AND 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maxing, quotas, and chargeback: design it into the platform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48840" cy="502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FFFFFF"/>
                </a:solidFill>
              </a:rPr>
              <a:t>Pre-call budget check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F3E"/>
                </a:solidFill>
              </a:rPr>
              <a:t>department · agent · user · purpose · model tier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2971800" y="2651760"/>
            <a:ext cx="43891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148840" cy="502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FFFFFF"/>
                </a:solidFill>
              </a:rPr>
              <a:t>Runtime controls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566160" y="251460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F3E"/>
                </a:solidFill>
              </a:rPr>
              <a:t>max_tokens · TPM/RPM quota · rate limits · caching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5806440" y="2651760"/>
            <a:ext cx="43891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148840" cy="502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FFFFFF"/>
                </a:solidFill>
              </a:rPr>
              <a:t>Cost attribution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F3E"/>
                </a:solidFill>
              </a:rPr>
              <a:t>application inference profiles + tags + CUR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641080" y="2651760"/>
            <a:ext cx="43891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0" y="1828800"/>
            <a:ext cx="2148840" cy="502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FFFFFF"/>
                </a:solidFill>
              </a:rPr>
              <a:t>Showback / chargeback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235440" y="2514600"/>
            <a:ext cx="2148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32F3E"/>
                </a:solidFill>
              </a:rPr>
              <a:t>QuickSight dashboards · monthly ledger · anomaly alerts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96012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</a:rPr>
              <a:t>Required platform table: usage_ledger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request_id · department · agent_id · model_profile_arn · input_tokens · output_tokens · guardrail_units · tool_calls · cost_center · case_id · billing_period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6692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Why customers care: nobody wants an unbounded AI bill; governance must make usage explainable by department and controllable before the call is made.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alignment: one control baseline, configurable industry packs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Public sector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GovRAMP / FedRAMP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CJIS · IRS 1075 · DPPA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ADA Title II · NIST AI RMF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HIPAA / HITECH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MARS-E / ARC-AMPE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minimum necessary · audit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Life sciences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21 CFR Part 11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GxP / CSA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validation evidence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3524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Education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FERPA · PPRA · COPPA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student-data access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accessibility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29800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2124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669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SOC 2 · ISO 27001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PCI · privacy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model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10607040" cy="987552"/>
          </a:xfrm>
          <a:prstGeom prst="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Common controls: identity · least privilege · data-class isolation · masking/tokenization · human authority · immutable evidence · retention · evals · red-team · change control · incident response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14400" y="57150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2F3E"/>
                </a:solidFill>
              </a:rPr>
              <a:t>Important: the platform supports compliance; the customer still owns authorization, validation, procedures, risk acceptance, and operations.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plan: from current repo to deployable platform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89888" y="1892808"/>
            <a:ext cx="10789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Foundation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repo split · schemas · registry · CI gates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892808"/>
            <a:ext cx="10789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72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Core runtime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2199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identity · AVP · AgentCore Gateway · model gateway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38928" y="1892808"/>
            <a:ext cx="10789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Evidence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9651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audit ledger · WORM · control evidence · dashboards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13448" y="1892808"/>
            <a:ext cx="10789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FinOps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7103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token budgets · profiles · CUR · chargeback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87968" y="1892808"/>
            <a:ext cx="107899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Pilot agent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4555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one live connector · acceptance test · runbook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104120" y="160020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04120" y="1746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29800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F3E"/>
                </a:solidFill>
              </a:rPr>
              <a:t>Scale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20072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industry packs · agent marketplace · ATO library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" y="4160520"/>
            <a:ext cx="982980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</a:rPr>
              <a:t>First customer: choose one low-blast-radius, measurable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</a:rPr>
              <a:t>For SLG: resident services / 311 or IT service desk. For healthcare: revenue-cycle appeal drafting. For EDU: service desk or student-form intake.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MOTION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go-to-market: land with value, expand with governance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240280" cy="50292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Discover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AI pilots, data classes, systems, authority boundaries, backlog, budget owner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554480"/>
            <a:ext cx="224028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Land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33172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one workflow in customer AWS account with synthetic + one live connector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205740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224028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Prove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cycle-time, cost, quality, audit evidence, CISO review, accessibility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205740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1554480"/>
            <a:ext cx="2240280" cy="502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232F3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Expand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233172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32F3E"/>
                </a:solidFill>
              </a:rPr>
              <a:t>new agents inherit registry, policy, audit, chargeback, and onboarding standard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10378440" cy="960120"/>
          </a:xfrm>
          <a:prstGeom prst="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Opening line for the first customer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“You do not need another AI pilot. You need a governance substrate that lets you approve one safe pattern, then onboard agents one at a time with evidence your CISO, auditor, and program leaders can defend.”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1005840" y="583387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32F3E"/>
                </a:solidFill>
              </a:rPr>
              <a:t>Sales asset package: exec deck · CISO briefing · architecture deep-dive · control matrix · ROI/TCO worksheet · SOW template · deployment runbook · acceptance test.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/ PARTNER 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2F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positioning: why this belongs on AWS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Agentic controls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51760" y="1188720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Bedrock AgentCore Runtime, Gateway, Identity, Observability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309360" y="1188720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Models + safety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83880" y="1188720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Amazon Bedrock, Guardrails, Knowledge Bases, PrivateLink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Governance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51760" y="2414016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Verified Permissions, IAM Identity Center, Organizations, Control Tower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309360" y="2414016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3880" y="2414016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CloudTrail, Security Lake, DynamoDB, S3 Object Lock, KMS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3639312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Operations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3639312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CloudWatch, X-Ray, Service Quotas, CUR, Budgets, QuickSight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309360" y="3639312"/>
            <a:ext cx="1737360" cy="4114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Public sector fit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83880" y="3639312"/>
            <a:ext cx="3246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232F3E"/>
                </a:solidFill>
              </a:rPr>
              <a:t>GovCloud, FedRAMP High / DoD IL authorizations, GovRAMP recognition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60120" y="562356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</a:rPr>
              <a:t>AWS field narrative: “This standardizes how customers deploy agents safely on AWS, turns governance into reusable infrastructure, and creates a repeatable land-and-expand motion for Bedrock and AgentCore.”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Sources in speaker notes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418320" y="6537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</a:rPr>
              <a:t>Governed-Agent Reference Architecture for AWS concept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3066</Words>
  <Application>Microsoft Office PowerPoint</Application>
  <PresentationFormat>Widescreen</PresentationFormat>
  <Paragraphs>309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Whole-of-Enterprise Governed-Agent Reference Architecture for AWS</dc:title>
  <dc:subject>Whole-of-Enterprise Governed-Agent Reference Architecture for AWS</dc:subject>
  <dc:creator>David Ryder</dc:creator>
  <cp:lastModifiedBy>David Ryder</cp:lastModifiedBy>
  <cp:revision>2</cp:revision>
  <dcterms:created xsi:type="dcterms:W3CDTF">2026-06-30T18:22:58Z</dcterms:created>
  <dcterms:modified xsi:type="dcterms:W3CDTF">2026-07-09T19:40:10Z</dcterms:modified>
</cp:coreProperties>
</file>