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Thesis: separate the governance substrate from the agent catalog. This lets a customer approve one platform pattern, then onboard agents one at a time with inherited controls.
Repo reviewed: https://github.com/virtualryder/slg-ai-agents
Key evidence: repo README states the agent is not the product; governance is. It also states this is a production-shaped accelerator, not an authorized production-ready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current slg-ai-agents repository explicitly frames governance as the product and agents as configurations; README and ENTERPRISE-PLATFORM.md support this direction.
NASCIO 2026 ranks AI as a top state CIO priority; the repository cites NASCIO pilot/funding constraints in its current README and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a point solution gives the customer another AI app. The platform gives them a standard operating model for every agent.
This maps to the SLG repo GTM story: one identity, one authorization model, one audit trail across agencies.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AWS Control Tower describes a landing zone as a well-architected multi-account environment based on security and compliance best practices: https://docs.aws.amazon.com/controltower/latest/userguide/what-is-control-tower.html
AWS Security Lake can collect CloudTrail, EKS audit, Route 53 resolver, Security Hub, VPC Flow Logs, and WAF logs: https://docs.aws.amazon.com/security-lake/latest/userguide/internal-sources.html
S3 Object Lock provides WORM-style protection for retention/legal hold: https://docs.aws.amazon.com/AmazonS3/latest/userguide/object-lock.html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AgentCore Gateway is a managed AI gateway for connecting agents to MCP-compatible tools with ingress and egress authentication: https://docs.aws.amazon.com/bedrock-agentcore/latest/devguide/gateway.html
AgentCore Identity supports scoped on-behalf-of token exchange: https://docs.aws.amazon.com/bedrock-agentcore/latest/devguide/on-behalf-of-token-exchange.html
Amazon Verified Permissions externalizes fine-grained authorization using Cedar: https://docs.aws.amazon.com/verifiedpermissions/latest/userguide/what-is-avp.html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Improvement from slg-ai-agents: extract gov_platform and governance into a platform repo with strict contracts, then refactor current agents into add-on packages.
The existing repo already includes governance, control mappings, a WoG platform, and production-readiness documents; those should become formal product modules, not just repo folders.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contract Claude Code should build toward. The current SLG repo has similar concepts but needs a formal package spec and CI gate for each new agent.
Agent YAML should compile to infrastructure, policy, dashboards, and compliance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Permissions uses Cedar to define fine-grained permissions: https://docs.aws.amazon.com/verifiedpermissions/latest/userguide/what-is-avp.html
AgentCore Gateway provides governed tool access and supports MCP-compatible tools: https://docs.aws.amazon.com/bedrock-agentcore/latest/devguide/gateway.html
AgentCore Identity supports scoped OBO tokens: https://docs.aws.amazon.com/bedrock-agentcore/latest/devguide/on-behalf-of-token-exchange.html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Amazon Bedrock Guardrails supports safety/privacy controls and sensitive information filters: https://docs.aws.amazon.com/bedrock/latest/userguide/guardrails.html
Bedrock Guardrails contextual grounding checks can detect hallucinations for summarization, paraphrasing, and QA when reference source and query are provided: https://docs.aws.amazon.com/bedrock/latest/userguide/guardrails-contextual-grounding-check.html
Bedrock sensitive information filters can detect PII in prompts or responses, but documentation notes limitations for tool_use output parameters, so deterministic DLP must still run around tool calls: https://docs.aws.amazon.com/bedrock/latest/userguide/guardrails-sensitive-filters.html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Application inference profiles allow Bedrock usage/cost attribution using tags attached to the profile billing record: https://docs.aws.amazon.com/bedrock/latest/userguide/cost-mgmt-application-inference-profiles.html
Bedrock publishes runtime metrics such as token counts and quota usage to CloudWatch: https://docs.aws.amazon.com/bedrock/latest/userguide/monitoring-runtime-metrics.html
AWS documents InputTokenCount, OutputTokenCount, CacheReadInputTokens, CacheWriteInputTokens for quota and token monitoring: https://docs.aws.amazon.com/bedrock/latest/userguide/quotas-token-burndown.html
Bedrock model invocation logging can deliver logs to CloudWatch or S3: https://docs.aws.amazon.com/bedrock/latest/userguide/model-invocation-logging.html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GovRAMP is designed for state, local, and tribal governments; AWS states GovCloud High and US East/West Moderate FedRAMP authorizations are recognized by GovRAMP: https://aws.amazon.com/compliance/govramp/
NIST AI RMF GenAI Profile helps organizations identify GenAI risks and actions for risk management: https://www.nist.gov/publications/artificial-intelligence-risk-management-framework-generative-artificial-intelligence
DOJ extended ADA Title II web/mobile accessibility compliance dates to Apr 26, 2027 for &gt;=50k population entities and Apr 26, 2028 for smaller/special districts: https://www.federalregister.gov/documents/2026/04/20/2026-07663/extension-of-compliance-dates-for-nondiscrimination-on-the-basis-of-disability-accessibility-of-web
FBI CJIS Security Policy v6.0 is dated Dec. 27, 2024: https://le.fbi.gov/file-repository/cjis_security_policy_v6-0_20241227.pdf
IRS Pub 1075 defines safeguards for Federal Tax Information: https://www.irs.gov/pub/irs-pdf/p1075.pdf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current repo README states it is a production-shaped accelerator and explicitly names missing production work such as live connectors, ATO/GovRAMP, and security testing.
IMPROVEMENTS-OVER-EDU-HCLS.md already lists next backlog items including live connectors, KB ingestion, axe-core CI, Cedar/OPA policy export, and deeper offerings.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phased plan is intentionally biased toward a low-blast-radius first agent. The existing SLG production-readiness document recommends Resident Services/311 or IT service desk before benefits/public safety.
The first pilot must produce measurable value and evidence, not just 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maps to the existing slg-ai-agents WOG GTM story, but broadens it from SLG to whole-of-enterprise governance.
The key is to avoid overclaiming turnkey production readiness. Sell a governed pilot with a clear hardening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AgentCore Gateway docs: https://docs.aws.amazon.com/bedrock-agentcore/latest/devguide/gateway.html
AgentCore Identity docs: https://docs.aws.amazon.com/bedrock-agentcore/latest/devguide/identity.html
Bedrock Guardrails docs: https://docs.aws.amazon.com/bedrock/latest/userguide/guardrails.html
Bedrock PrivateLink docs: https://docs.aws.amazon.com/bedrock/latest/userguide/vpc-interface-endpoints.html
AWS GovRAMP page: https://aws.amazon.com/compliance/govramp/
Amazon Bedrock GovCloud FedRAMP High / DoD IL-4/5 announcement: https://aws.amazon.com/about-aws/whats-new/2025/05/amazon-bedrock-models-fedramp-high-dod-il-4-5-govcloud/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intentionally formatted as a Claude Code brief. Use it as the repo build prompt.
Deliverables: code contracts, IaC modules, runtime services, tests, docs, and GTM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26680" y="182880"/>
            <a:ext cx="3749040" cy="3749040"/>
          </a:xfrm>
          <a:prstGeom prst="arc">
            <a:avLst/>
          </a:prstGeom>
          <a:solidFill>
            <a:srgbClr val="0B1020">
              <a:alpha val="0"/>
            </a:srgbClr>
          </a:solidFill>
          <a:ln w="25400">
            <a:solidFill>
              <a:srgbClr val="FF9900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61120" y="228600"/>
            <a:ext cx="2834640" cy="2834640"/>
          </a:xfrm>
          <a:prstGeom prst="arc">
            <a:avLst/>
          </a:prstGeom>
          <a:solidFill>
            <a:srgbClr val="0B1020">
              <a:alpha val="0"/>
            </a:srgbClr>
          </a:solidFill>
          <a:ln w="25400">
            <a:solidFill>
              <a:srgbClr val="06B6D4">
                <a:alpha val="6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43000"/>
            <a:ext cx="7498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Whole-of-Enterprise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Governance Platform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DE8F5"/>
                </a:solidFill>
              </a:rPr>
              <a:t>AWS reference architecture + GTM package for governed agents across public sector, healthcare/life sciences, education, and enterprise workloads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3703320"/>
            <a:ext cx="1965960" cy="292608"/>
          </a:xfrm>
          <a:prstGeom prst="roundRect">
            <a:avLst/>
          </a:prstGeom>
          <a:solidFill>
            <a:srgbClr val="FF9900"/>
          </a:solidFill>
          <a:ln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Governance is the product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871216" y="3703320"/>
            <a:ext cx="1508760" cy="292608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Agents are add-ons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553712" y="3703320"/>
            <a:ext cx="1143000" cy="29260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AWS-native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31520" y="6172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5C7"/>
                </a:solidFill>
              </a:rPr>
              <a:t>Prepared for customer leadership / AWS field review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PLATFORM EXISTS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leadership problem: AI value is trapped behind governance friction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325880"/>
            <a:ext cx="1600200" cy="502920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CIO / CEO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468880" y="1325880"/>
            <a:ext cx="35204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B1020"/>
                </a:solidFill>
              </a:rPr>
              <a:t>Pressure to move from pilots to measurable outcomes without creating dozens of disconnected AI projects.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63640" y="1325880"/>
            <a:ext cx="1600200" cy="502920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0" y="1325880"/>
            <a:ext cx="35204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B1020"/>
                </a:solidFill>
              </a:rPr>
              <a:t>Needs provable identity, authorization, audit, data isolation, retention, and incident evidence.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2743200"/>
            <a:ext cx="1600200" cy="502920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Architecture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68880" y="2743200"/>
            <a:ext cx="35204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B1020"/>
                </a:solidFill>
              </a:rPr>
              <a:t>Needs one reusable pattern for agents, tools, models, data, approvals, and observability.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743200"/>
            <a:ext cx="1600200" cy="502920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Program owners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2743200"/>
            <a:ext cx="35204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B1020"/>
                </a:solidFill>
              </a:rPr>
              <a:t>Need faster service delivery without letting AI make legally consequential decisions.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011680" y="4663440"/>
            <a:ext cx="8138160" cy="640080"/>
          </a:xfrm>
          <a:prstGeom prst="chevron">
            <a:avLst/>
          </a:prstGeom>
          <a:solidFill>
            <a:srgbClr val="FF9900"/>
          </a:solidFill>
          <a:ln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One governed substrate, many agent products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5840" y="565099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The repo already has the right thesis; the improvement is to extract the substrate into its own deployable platform repo, then plug SLG, HCLS, EDU, and enterprise agents into it.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NARRATIVE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Positioning: not a chatbot suite — a governed AI operating layer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47548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4813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444"/>
                </a:solidFill>
              </a:rPr>
              <a:t>Point-solution AI sprawl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1993392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B1020"/>
                </a:solidFill>
              </a:rPr>
              <a:t>Different identity 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88720" y="2468880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B1020"/>
                </a:solidFill>
              </a:rPr>
              <a:t>Different tool connectors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88720" y="2944368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B1020"/>
                </a:solidFill>
              </a:rPr>
              <a:t>Different audit trail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88720" y="3419856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B1020"/>
                </a:solidFill>
              </a:rPr>
              <a:t>Different security review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88720" y="3895344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B1020"/>
                </a:solidFill>
              </a:rPr>
              <a:t>Different cost model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29400" y="1234440"/>
            <a:ext cx="4754880" cy="41148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03720" y="14813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Governed platform model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132320" y="1993392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B1020"/>
                </a:solidFill>
              </a:rPr>
              <a:t>Common identity + consent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32320" y="2468880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B1020"/>
                </a:solidFill>
              </a:rPr>
              <a:t>Central policy + tool gateway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0" y="2944368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B1020"/>
                </a:solidFill>
              </a:rPr>
              <a:t>Immutable evidence package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132320" y="3419856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B1020"/>
                </a:solidFill>
              </a:rPr>
              <a:t>Inherited control baseline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0" y="3895344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B1020"/>
                </a:solidFill>
              </a:rPr>
              <a:t>Chargeback + token governance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23560" y="3291840"/>
            <a:ext cx="822960" cy="0"/>
          </a:xfrm>
          <a:prstGeom prst="line">
            <a:avLst/>
          </a:prstGeom>
          <a:noFill/>
          <a:ln w="31750">
            <a:solidFill>
              <a:srgbClr val="FF9900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463040" y="58064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020"/>
                </a:solidFill>
              </a:rPr>
              <a:t>Land one agent. Approve the substrate. Expand by configuration.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ARCHITECTURE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AWS account architecture: isolate by data class, govern centrally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1110996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24358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</a:rPr>
              <a:t>AWS Organizations / Control Tower landing zone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719072"/>
            <a:ext cx="21488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Security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GuardDuty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Security Hub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Config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566160" y="1719072"/>
            <a:ext cx="21488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Log Archive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CloudTrail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Security Lake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S3 Object Lock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217920" y="1719072"/>
            <a:ext cx="21488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Network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Transit Gateway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VPC endpoints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DNS / egress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869680" y="1719072"/>
            <a:ext cx="21488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020"/>
                </a:solidFill>
              </a:rPr>
              <a:t>AI Governance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B1020"/>
                </a:solidFill>
              </a:rPr>
              <a:t>Registry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B1020"/>
                </a:solidFill>
              </a:rPr>
              <a:t>Policy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B1020"/>
                </a:solidFill>
              </a:rPr>
              <a:t>Evals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B1020"/>
                </a:solidFill>
              </a:rPr>
              <a:t>Chargeback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333756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4472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</a:rPr>
              <a:t>Public / Low-risk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24128" y="372160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4434840" y="333756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6280" y="34472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</a:rPr>
              <a:t>PII / Enterprise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44568" y="372160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955280" y="333756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34472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</a:rPr>
              <a:t>PHI / HIPAA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65008" y="372160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914400" y="429768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EF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4074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</a:rPr>
              <a:t>CJI / CJIS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24128" y="468172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23" name="Shape 21"/>
          <p:cNvSpPr/>
          <p:nvPr/>
        </p:nvSpPr>
        <p:spPr>
          <a:xfrm>
            <a:off x="4434840" y="429768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FF99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44074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</a:rPr>
              <a:t>FTI / IRS 1075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44568" y="468172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7955280" y="429768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06B6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0" y="44074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</a:rPr>
              <a:t>EDU / FERPA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065008" y="468172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914400" y="5605272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1020"/>
                </a:solidFill>
              </a:rPr>
              <a:t>Pattern: central governance plane; isolated runtime/data planes by regulatory boundary.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IT WORKS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Runtime flow: every model call and tool call passes through governance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274320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B1020"/>
                </a:solidFill>
              </a:rPr>
              <a:t>User / app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0B1020"/>
                </a:solidFill>
              </a:rPr>
              <a:t>Federated identity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0B1020"/>
                </a:solidFill>
              </a:rPr>
              <a:t>role + purpose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2084832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2441448" y="274320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B1020"/>
                </a:solidFill>
              </a:rPr>
              <a:t>Agent runtime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0B1020"/>
                </a:solidFill>
              </a:rPr>
              <a:t>Step Functions /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0B1020"/>
                </a:solidFill>
              </a:rPr>
              <a:t>AgentCore Runtime</a:t>
            </a:r>
            <a:endParaRPr lang="en-US" sz="1020" dirty="0"/>
          </a:p>
        </p:txBody>
      </p:sp>
      <p:sp>
        <p:nvSpPr>
          <p:cNvPr id="8" name="Shape 6"/>
          <p:cNvSpPr/>
          <p:nvPr/>
        </p:nvSpPr>
        <p:spPr>
          <a:xfrm>
            <a:off x="4023360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379976" y="2743200"/>
            <a:ext cx="1554480" cy="96012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6B6D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B1020"/>
                </a:solidFill>
              </a:rPr>
              <a:t>Policy decision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0B1020"/>
                </a:solidFill>
              </a:rPr>
              <a:t>Verified Permissions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0B1020"/>
                </a:solidFill>
              </a:rPr>
              <a:t>Cedar + context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5961888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318504" y="274320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B1020"/>
                </a:solidFill>
              </a:rPr>
              <a:t>Model gateway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0B1020"/>
                </a:solidFill>
              </a:rPr>
              <a:t>Bedrock + Guardrails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0B1020"/>
                </a:solidFill>
              </a:rPr>
              <a:t>KB + prompt registry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7900416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8257032" y="2743200"/>
            <a:ext cx="1554480" cy="96012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6B6D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B1020"/>
                </a:solidFill>
              </a:rPr>
              <a:t>Tool gateway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0B1020"/>
                </a:solidFill>
              </a:rPr>
              <a:t>AgentCore Gateway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0B1020"/>
                </a:solidFill>
              </a:rPr>
              <a:t>MCP targets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9838944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0195560" y="274320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B1020"/>
                </a:solidFill>
              </a:rPr>
              <a:t>Systems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0B1020"/>
                </a:solidFill>
              </a:rPr>
              <a:t>EHR / SIS / CRM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0B1020"/>
                </a:solidFill>
              </a:rPr>
              <a:t>ERP / permits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914400" y="4754880"/>
            <a:ext cx="10332720" cy="685800"/>
          </a:xfrm>
          <a:prstGeom prst="roundRect">
            <a:avLst/>
          </a:prstGeom>
          <a:solidFill>
            <a:srgbClr val="0B1020"/>
          </a:solidFill>
          <a:ln>
            <a:solidFill>
              <a:srgbClr val="0B1020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Compliance Event Bus → append-only audit → WORM evidence package → dashboards, ATO artifacts, and chargeback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126187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020"/>
                </a:solidFill>
              </a:rPr>
              <a:t>Invariant: the agent can never exceed the authenticated user, declared purpose, data class, approved tools, token budget, or human authority boundary.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DECOMPOSITION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services: what must become the standalone repo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234440"/>
            <a:ext cx="1783080" cy="393192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Agent Registry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2560320" y="123444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0B1020"/>
                </a:solidFill>
              </a:rPr>
              <a:t>owner · purpose · risk tier · data class · model · evals · cost center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63640" y="1234440"/>
            <a:ext cx="1783080" cy="393192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Tool Registry</a:t>
            </a:r>
            <a:endParaRPr lang="en-US" sz="1130" dirty="0"/>
          </a:p>
        </p:txBody>
      </p:sp>
      <p:sp>
        <p:nvSpPr>
          <p:cNvPr id="8" name="Text 6"/>
          <p:cNvSpPr/>
          <p:nvPr/>
        </p:nvSpPr>
        <p:spPr>
          <a:xfrm>
            <a:off x="8138160" y="123444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0B1020"/>
                </a:solidFill>
              </a:rPr>
              <a:t>MCP schema · system owner · CRUD · rollback · approval · idempotency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85800" y="2286000"/>
            <a:ext cx="1783080" cy="393192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Policy Engine</a:t>
            </a:r>
            <a:endParaRPr lang="en-US" sz="1130" dirty="0"/>
          </a:p>
        </p:txBody>
      </p:sp>
      <p:sp>
        <p:nvSpPr>
          <p:cNvPr id="10" name="Text 8"/>
          <p:cNvSpPr/>
          <p:nvPr/>
        </p:nvSpPr>
        <p:spPr>
          <a:xfrm>
            <a:off x="2560320" y="228600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0B1020"/>
                </a:solidFill>
              </a:rPr>
              <a:t>user entitlement ∩ agent grant ∩ purpose ∩ consent ∩ residency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263640" y="2286000"/>
            <a:ext cx="1783080" cy="393192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Approval Service</a:t>
            </a:r>
            <a:endParaRPr lang="en-US" sz="1130" dirty="0"/>
          </a:p>
        </p:txBody>
      </p:sp>
      <p:sp>
        <p:nvSpPr>
          <p:cNvPr id="12" name="Text 10"/>
          <p:cNvSpPr/>
          <p:nvPr/>
        </p:nvSpPr>
        <p:spPr>
          <a:xfrm>
            <a:off x="8138160" y="228600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0B1020"/>
                </a:solidFill>
              </a:rPr>
              <a:t>HITL queue · e-signature · separation of duties · task-token workflow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85800" y="3337560"/>
            <a:ext cx="1783080" cy="393192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Model Gateway</a:t>
            </a:r>
            <a:endParaRPr lang="en-US" sz="1130" dirty="0"/>
          </a:p>
        </p:txBody>
      </p:sp>
      <p:sp>
        <p:nvSpPr>
          <p:cNvPr id="14" name="Text 12"/>
          <p:cNvSpPr/>
          <p:nvPr/>
        </p:nvSpPr>
        <p:spPr>
          <a:xfrm>
            <a:off x="2560320" y="333756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0B1020"/>
                </a:solidFill>
              </a:rPr>
              <a:t>Bedrock routing · max_tokens · Guardrails · prompt pinning · fallbacks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63640" y="3337560"/>
            <a:ext cx="1783080" cy="393192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Evidence Ledger</a:t>
            </a:r>
            <a:endParaRPr lang="en-US" sz="1130" dirty="0"/>
          </a:p>
        </p:txBody>
      </p:sp>
      <p:sp>
        <p:nvSpPr>
          <p:cNvPr id="16" name="Text 14"/>
          <p:cNvSpPr/>
          <p:nvPr/>
        </p:nvSpPr>
        <p:spPr>
          <a:xfrm>
            <a:off x="8138160" y="333756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0B1020"/>
                </a:solidFill>
              </a:rPr>
              <a:t>masked events · immutable audit · WORM export · control evidence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5800" y="4389120"/>
            <a:ext cx="1783080" cy="393192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Data Protection</a:t>
            </a:r>
            <a:endParaRPr lang="en-US" sz="1130" dirty="0"/>
          </a:p>
        </p:txBody>
      </p:sp>
      <p:sp>
        <p:nvSpPr>
          <p:cNvPr id="18" name="Text 16"/>
          <p:cNvSpPr/>
          <p:nvPr/>
        </p:nvSpPr>
        <p:spPr>
          <a:xfrm>
            <a:off x="2560320" y="438912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0B1020"/>
                </a:solidFill>
              </a:rPr>
              <a:t>PII/PHI/FTI/CJI masking · tokenization · retrieval security trimming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63640" y="4389120"/>
            <a:ext cx="1783080" cy="393192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FinOps</a:t>
            </a:r>
            <a:endParaRPr lang="en-US" sz="1130" dirty="0"/>
          </a:p>
        </p:txBody>
      </p:sp>
      <p:sp>
        <p:nvSpPr>
          <p:cNvPr id="20" name="Text 18"/>
          <p:cNvSpPr/>
          <p:nvPr/>
        </p:nvSpPr>
        <p:spPr>
          <a:xfrm>
            <a:off x="8138160" y="438912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0B1020"/>
                </a:solidFill>
              </a:rPr>
              <a:t>token budgets · application inference profiles · chargeback dashboards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51560" y="57150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020"/>
                </a:solidFill>
              </a:rPr>
              <a:t>Build these once, then publish every agent as a policy-bounded package against the same contracts.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FACTORY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 onboarding standard: make every new agent pass the same gates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31520" y="2240280"/>
            <a:ext cx="1234440" cy="1005840"/>
          </a:xfrm>
          <a:prstGeom prst="hexagon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Intake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use case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risk tier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9339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651760" y="2240280"/>
            <a:ext cx="1234440" cy="1005840"/>
          </a:xfrm>
          <a:prstGeom prst="hexagon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Classify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60604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data class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controls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91363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0" y="2240280"/>
            <a:ext cx="1234440" cy="1005840"/>
          </a:xfrm>
          <a:prstGeom prst="hexagon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Build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2628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templates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connectors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83387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492240" y="2240280"/>
            <a:ext cx="1234440" cy="1005840"/>
          </a:xfrm>
          <a:prstGeom prst="hexagon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Validate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4652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evals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red team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75411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41248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Approve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6676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CISO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program owner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67435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33272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Publish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28700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registry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release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4400" y="12344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020"/>
                </a:solidFill>
              </a:rPr>
              <a:t>Minimum package per agent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4400" y="162763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agent.yaml · policy.cedar · tools.mcp.json · prompts/ · evals/ · data_contracts/ · runbook.md · cost_model.yaml · threat_model.md · acceptance_tests/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68680" y="4709160"/>
            <a:ext cx="10469880" cy="73152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1560" y="4928616"/>
            <a:ext cx="10104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0B1020"/>
                </a:solidFill>
              </a:rPr>
              <a:t>Gate rule: no agent ships until it proves least privilege, grounding, masking, budget control, audit completeness, rollback/idempotency, and no unauthorized consequential action.</a:t>
            </a:r>
            <a:endParaRPr lang="en-US" sz="1420" dirty="0"/>
          </a:p>
        </p:txBody>
      </p:sp>
      <p:sp>
        <p:nvSpPr>
          <p:cNvPr id="32" name="Text 30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AUTHORIZATION AND DATA PROTECTION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model: policy is evaluated at every boundary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Policy inputs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1325880" cy="384048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Who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331720" y="1325880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B1020"/>
                </a:solidFill>
              </a:rPr>
              <a:t>authenticated user / workload identity / agency role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1947672"/>
            <a:ext cx="1325880" cy="384048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331720" y="1947672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B1020"/>
                </a:solidFill>
              </a:rPr>
              <a:t>declared purpose, legal authority, consent, case context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569464"/>
            <a:ext cx="1325880" cy="384048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What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31720" y="2569464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B1020"/>
                </a:solidFill>
              </a:rPr>
              <a:t>agent grant, tool contract, data class, operation type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191256"/>
            <a:ext cx="1325880" cy="384048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Where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31720" y="3191256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B1020"/>
                </a:solidFill>
              </a:rPr>
              <a:t>region, GovCloud/commercial boundary, VPC endpoint path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3813048"/>
            <a:ext cx="1325880" cy="384048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How much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31720" y="3813048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B1020"/>
                </a:solidFill>
              </a:rPr>
              <a:t>token budget, transaction threshold, rate limit, chargeback tag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434840"/>
            <a:ext cx="1325880" cy="384048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Who approves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31720" y="4434840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B1020"/>
                </a:solidFill>
              </a:rPr>
              <a:t>HITL tier, separation of duties, e-signature requirement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06640" y="2148840"/>
            <a:ext cx="1280160" cy="1143000"/>
          </a:xfrm>
          <a:prstGeom prst="rightArrow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15400" y="22677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020"/>
                </a:solidFill>
              </a:rPr>
              <a:t>ALLOW / DENY / APPROVE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915400" y="278892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Every decision creates an evidence record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" y="56692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0B1020"/>
                </a:solidFill>
              </a:rPr>
              <a:t>Implementation: Verified Permissions + Cedar for externalized authorization, AgentCore Gateway for MCP tool access, STS/OBO tokens for scoped downstream calls.</a:t>
            </a:r>
            <a:endParaRPr lang="en-US" sz="1380" dirty="0"/>
          </a:p>
        </p:txBody>
      </p:sp>
      <p:sp>
        <p:nvSpPr>
          <p:cNvPr id="22" name="Text 20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RISK AND QUALITY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Hallucination control is a layered system, not one feature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4984" y="14813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1. Source control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14984" y="1828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curated KBs · ACL trimming · citation required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17720" y="13258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64024" y="14813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2. Prompt + schema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4024" y="1828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prompt registry · JSON schemas · deterministic validators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366760" y="13258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3064" y="14813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3. Guardrails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513064" y="1828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PII filters · denied topics · contextual grounding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8680" y="31546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14984" y="33101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4. Cross-check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14984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fact/number/date verifier · no unsupported claims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17720" y="31546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64024" y="33101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5. Human gate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64024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risk-based approval before consequential action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366760" y="31546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13064" y="33101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6. Monitoring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13064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eval drift · red-team failures · user feedback loop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5349240"/>
            <a:ext cx="10287000" cy="502920"/>
          </a:xfrm>
          <a:prstGeom prst="rect">
            <a:avLst/>
          </a:prstGeom>
          <a:solidFill>
            <a:srgbClr val="0B1020"/>
          </a:solidFill>
          <a:ln>
            <a:solidFill>
              <a:srgbClr val="0B1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Rule: resident, patient, student, or employee-impacting outputs must be grounded, validated, and approved before action.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FINOPS AND OPERATIONS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Token maxing, quotas, and chargeback: design it into the platform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2148840" cy="50292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FFFFFF"/>
                </a:solidFill>
              </a:rPr>
              <a:t>Pre-call budget check</a:t>
            </a:r>
            <a:endParaRPr lang="en-US" sz="124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21488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0B1020"/>
                </a:solidFill>
              </a:rPr>
              <a:t>department · agent · user · purpose · model tier</a:t>
            </a:r>
            <a:endParaRPr lang="en-US" sz="1070" dirty="0"/>
          </a:p>
        </p:txBody>
      </p:sp>
      <p:sp>
        <p:nvSpPr>
          <p:cNvPr id="7" name="Shape 5"/>
          <p:cNvSpPr/>
          <p:nvPr/>
        </p:nvSpPr>
        <p:spPr>
          <a:xfrm>
            <a:off x="2971800" y="2651760"/>
            <a:ext cx="43891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566160" y="1828800"/>
            <a:ext cx="2148840" cy="5029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FFFFFF"/>
                </a:solidFill>
              </a:rPr>
              <a:t>Runtime controls</a:t>
            </a:r>
            <a:endParaRPr lang="en-US" sz="1240" dirty="0"/>
          </a:p>
        </p:txBody>
      </p:sp>
      <p:sp>
        <p:nvSpPr>
          <p:cNvPr id="9" name="Text 7"/>
          <p:cNvSpPr/>
          <p:nvPr/>
        </p:nvSpPr>
        <p:spPr>
          <a:xfrm>
            <a:off x="3566160" y="2514600"/>
            <a:ext cx="21488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0B1020"/>
                </a:solidFill>
              </a:rPr>
              <a:t>max_tokens · TPM/RPM quota · rate limits · caching</a:t>
            </a:r>
            <a:endParaRPr lang="en-US" sz="1070" dirty="0"/>
          </a:p>
        </p:txBody>
      </p:sp>
      <p:sp>
        <p:nvSpPr>
          <p:cNvPr id="10" name="Shape 8"/>
          <p:cNvSpPr/>
          <p:nvPr/>
        </p:nvSpPr>
        <p:spPr>
          <a:xfrm>
            <a:off x="5806440" y="2651760"/>
            <a:ext cx="43891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400800" y="1828800"/>
            <a:ext cx="2148840" cy="5029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FFFFFF"/>
                </a:solidFill>
              </a:rPr>
              <a:t>Cost attribution</a:t>
            </a:r>
            <a:endParaRPr lang="en-US" sz="1240" dirty="0"/>
          </a:p>
        </p:txBody>
      </p:sp>
      <p:sp>
        <p:nvSpPr>
          <p:cNvPr id="12" name="Text 10"/>
          <p:cNvSpPr/>
          <p:nvPr/>
        </p:nvSpPr>
        <p:spPr>
          <a:xfrm>
            <a:off x="6400800" y="2514600"/>
            <a:ext cx="21488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0B1020"/>
                </a:solidFill>
              </a:rPr>
              <a:t>application inference profiles + tags + CUR</a:t>
            </a:r>
            <a:endParaRPr lang="en-US" sz="1070" dirty="0"/>
          </a:p>
        </p:txBody>
      </p:sp>
      <p:sp>
        <p:nvSpPr>
          <p:cNvPr id="13" name="Shape 11"/>
          <p:cNvSpPr/>
          <p:nvPr/>
        </p:nvSpPr>
        <p:spPr>
          <a:xfrm>
            <a:off x="8641080" y="2651760"/>
            <a:ext cx="43891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235440" y="1828800"/>
            <a:ext cx="2148840" cy="5029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FFFFFF"/>
                </a:solidFill>
              </a:rPr>
              <a:t>Showback / chargeback</a:t>
            </a:r>
            <a:endParaRPr lang="en-US" sz="1240" dirty="0"/>
          </a:p>
        </p:txBody>
      </p:sp>
      <p:sp>
        <p:nvSpPr>
          <p:cNvPr id="15" name="Text 13"/>
          <p:cNvSpPr/>
          <p:nvPr/>
        </p:nvSpPr>
        <p:spPr>
          <a:xfrm>
            <a:off x="9235440" y="2514600"/>
            <a:ext cx="21488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0B1020"/>
                </a:solidFill>
              </a:rPr>
              <a:t>QuickSight dashboards · monthly ledger · anomaly alerts</a:t>
            </a:r>
            <a:endParaRPr lang="en-US" sz="1070" dirty="0"/>
          </a:p>
        </p:txBody>
      </p:sp>
      <p:sp>
        <p:nvSpPr>
          <p:cNvPr id="16" name="Text 14"/>
          <p:cNvSpPr/>
          <p:nvPr/>
        </p:nvSpPr>
        <p:spPr>
          <a:xfrm>
            <a:off x="960120" y="4251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</a:rPr>
              <a:t>Required platform table: usage_ledger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1772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request_id · department · agent_id · model_profile_arn · input_tokens · output_tokens · guardrail_units · tool_calls · cost_center · case_id · billing_period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5669280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Why customers care: nobody wants an unbounded AI bill; governance must make usage explainable by department and controllable before the call is made.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MODEL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Regulatory alignment: one control baseline, configurable industry packs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Public sector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GovRAMP / FedRAMP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CJIS · IRS 1075 · DPPA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ADA Title II · NIST AI RMF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971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Healthcare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08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HIPAA / HITECH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MARS-E / ARC-AMPE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minimum necessary · audit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257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49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Life sciences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94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21 CFR Part 11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GxP / CSA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validation evidence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543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35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Education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680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FERPA · PPRA · COPPA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student-data access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accessibility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829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21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Enterprise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66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SOC 2 · ISO 27001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PCI · privacy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model risk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77240" y="4160520"/>
            <a:ext cx="10607040" cy="987552"/>
          </a:xfrm>
          <a:prstGeom prst="rect">
            <a:avLst/>
          </a:prstGeom>
          <a:solidFill>
            <a:srgbClr val="0B1020"/>
          </a:solidFill>
          <a:ln>
            <a:solidFill>
              <a:srgbClr val="0B1020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FFFFFF"/>
                </a:solidFill>
              </a:rPr>
              <a:t>Common controls: identity · least privilege · data-class isolation · masking/tokenization · human authority · immutable evidence · retention · evals · red-team · change control · incident response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914400" y="571500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020"/>
                </a:solidFill>
              </a:rPr>
              <a:t>Important: the platform supports compliance; the customer still owns authorization, validation, procedures, risk acceptance, and operations.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STRATEGY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to improve the current slg-ai-agents repo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05840" y="12344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</a:rPr>
              <a:t>Keep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46520" y="12344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900"/>
                </a:solidFill>
              </a:rPr>
              <a:t>Change / add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1691640"/>
            <a:ext cx="4434840" cy="3657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0B1020"/>
                </a:solidFill>
              </a:rPr>
              <a:t>Strong thesis: governance is the product</a:t>
            </a:r>
            <a:endParaRPr lang="en-US" sz="1120" dirty="0"/>
          </a:p>
        </p:txBody>
      </p:sp>
      <p:sp>
        <p:nvSpPr>
          <p:cNvPr id="8" name="Text 6"/>
          <p:cNvSpPr/>
          <p:nvPr/>
        </p:nvSpPr>
        <p:spPr>
          <a:xfrm>
            <a:off x="914400" y="2258568"/>
            <a:ext cx="4434840" cy="3657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0B1020"/>
                </a:solidFill>
              </a:rPr>
              <a:t>8 SLG agents + WoG orchestration story</a:t>
            </a:r>
            <a:endParaRPr lang="en-US" sz="1120" dirty="0"/>
          </a:p>
        </p:txBody>
      </p:sp>
      <p:sp>
        <p:nvSpPr>
          <p:cNvPr id="9" name="Text 7"/>
          <p:cNvSpPr/>
          <p:nvPr/>
        </p:nvSpPr>
        <p:spPr>
          <a:xfrm>
            <a:off x="914400" y="2825496"/>
            <a:ext cx="4434840" cy="3657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0B1020"/>
                </a:solidFill>
              </a:rPr>
              <a:t>Control mappings and shared responsibility</a:t>
            </a:r>
            <a:endParaRPr lang="en-US" sz="1120" dirty="0"/>
          </a:p>
        </p:txBody>
      </p:sp>
      <p:sp>
        <p:nvSpPr>
          <p:cNvPr id="10" name="Text 8"/>
          <p:cNvSpPr/>
          <p:nvPr/>
        </p:nvSpPr>
        <p:spPr>
          <a:xfrm>
            <a:off x="914400" y="3392424"/>
            <a:ext cx="4434840" cy="3657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0B1020"/>
                </a:solidFill>
              </a:rPr>
              <a:t>Withheld consequential actions</a:t>
            </a:r>
            <a:endParaRPr lang="en-US" sz="1120" dirty="0"/>
          </a:p>
        </p:txBody>
      </p:sp>
      <p:sp>
        <p:nvSpPr>
          <p:cNvPr id="11" name="Text 9"/>
          <p:cNvSpPr/>
          <p:nvPr/>
        </p:nvSpPr>
        <p:spPr>
          <a:xfrm>
            <a:off x="914400" y="3959352"/>
            <a:ext cx="4434840" cy="3657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0B1020"/>
                </a:solidFill>
              </a:rPr>
              <a:t>Accessibility, fairness, masking concepts</a:t>
            </a:r>
            <a:endParaRPr lang="en-US" sz="1120" dirty="0"/>
          </a:p>
        </p:txBody>
      </p:sp>
      <p:sp>
        <p:nvSpPr>
          <p:cNvPr id="12" name="Text 10"/>
          <p:cNvSpPr/>
          <p:nvPr/>
        </p:nvSpPr>
        <p:spPr>
          <a:xfrm>
            <a:off x="6400800" y="1691640"/>
            <a:ext cx="4526280" cy="310896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Extract platform into standalone repo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0" y="2167128"/>
            <a:ext cx="4526280" cy="310896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Make AgentCore Gateway/AVP the canonical path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0" y="2642616"/>
            <a:ext cx="4526280" cy="310896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Compile agent policy → Cedar + MCP schema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0" y="3118104"/>
            <a:ext cx="4526280" cy="310896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Add live connector SDK + acceptance tests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0" y="3593592"/>
            <a:ext cx="4526280" cy="310896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Add FinOps/token budget service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0" y="4069080"/>
            <a:ext cx="4526280" cy="310896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Add evidence/ATO package generator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32120" y="3154680"/>
            <a:ext cx="731520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60120" y="525780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Recommended repo split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559612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</a:rPr>
              <a:t>ai-governance-platform/ = core substrate  |  slg-ai-agents/ hcls-ai-agents/ edu-ai-agents/ = add-on agent catalogs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ROADMAP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plan: from current repo to deployable platform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38988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5720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020"/>
                </a:solidFill>
              </a:rPr>
              <a:t>Foundation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4747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repo split · schemas · registry · CI gates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60604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6440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33172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020"/>
                </a:solidFill>
              </a:rPr>
              <a:t>Core runtime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22199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identity · AVP · AgentCore Gateway · model gateway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480560" y="1600200"/>
            <a:ext cx="594360" cy="5943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3892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20624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020"/>
                </a:solidFill>
              </a:rPr>
              <a:t>Evidence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09651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audit ledger · WORM · control evidence · dashboards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355080" y="1600200"/>
            <a:ext cx="594360" cy="5943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01344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608076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020"/>
                </a:solidFill>
              </a:rPr>
              <a:t>FinOps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97103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token budgets · profiles · CUR · chargeback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229600" y="1600200"/>
            <a:ext cx="594360" cy="5943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88796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95528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020"/>
                </a:solidFill>
              </a:rPr>
              <a:t>Pilot agent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84555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one live connector · acceptance test · runbook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0104120" y="1600200"/>
            <a:ext cx="594360" cy="5943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0412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82980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020"/>
                </a:solidFill>
              </a:rPr>
              <a:t>Scale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72007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industry packs · agent marketplace · ATO library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43000" y="4160520"/>
            <a:ext cx="9829800" cy="105156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</a:rPr>
              <a:t>First customer: choose one low-blast-radius, measurable workflow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</a:rPr>
              <a:t>For SLG: resident services / 311 or IT service desk. For healthcare: revenue-cycle appeal drafting. For EDU: service desk or student-form intake.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go-to-market: land with value, expand with governance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2240280" cy="50292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Discover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AI pilots, data classes, systems, authority boundaries, backlog, budget owner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108960" y="2057400"/>
            <a:ext cx="457200" cy="0"/>
          </a:xfrm>
          <a:prstGeom prst="line">
            <a:avLst/>
          </a:prstGeom>
          <a:noFill/>
          <a:ln w="1651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657600" y="1554480"/>
            <a:ext cx="2240280" cy="502920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Land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0" y="233172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one workflow in customer AWS account with synthetic + one live connector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43600" y="2057400"/>
            <a:ext cx="457200" cy="0"/>
          </a:xfrm>
          <a:prstGeom prst="line">
            <a:avLst/>
          </a:prstGeom>
          <a:noFill/>
          <a:ln w="1651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492240" y="1554480"/>
            <a:ext cx="2240280" cy="502920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Prove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233172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cycle-time, cost, quality, audit evidence, CISO review, accessibility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778240" y="2057400"/>
            <a:ext cx="457200" cy="0"/>
          </a:xfrm>
          <a:prstGeom prst="line">
            <a:avLst/>
          </a:prstGeom>
          <a:noFill/>
          <a:ln w="1651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326880" y="1554480"/>
            <a:ext cx="2240280" cy="502920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Expand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326880" y="233172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B1020"/>
                </a:solidFill>
              </a:rPr>
              <a:t>new agents inherit registry, policy, audit, chargeback, and onboarding standard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4206240"/>
            <a:ext cx="10378440" cy="960120"/>
          </a:xfrm>
          <a:prstGeom prst="rect">
            <a:avLst/>
          </a:prstGeom>
          <a:solidFill>
            <a:srgbClr val="0B1020"/>
          </a:solidFill>
          <a:ln>
            <a:solidFill>
              <a:srgbClr val="0B1020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FFFFFF"/>
                </a:solidFill>
              </a:rPr>
              <a:t>Opening line for the first customer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FFFFFF"/>
                </a:solidFill>
              </a:rPr>
              <a:t>“You do not need another AI pilot. You need a governance substrate that lets you approve one safe pattern, then onboard agents one at a time with evidence your CISO, auditor, and program leaders can defend.”</a:t>
            </a:r>
            <a:endParaRPr lang="en-US" sz="1160" dirty="0"/>
          </a:p>
        </p:txBody>
      </p:sp>
      <p:sp>
        <p:nvSpPr>
          <p:cNvPr id="17" name="Text 15"/>
          <p:cNvSpPr/>
          <p:nvPr/>
        </p:nvSpPr>
        <p:spPr>
          <a:xfrm>
            <a:off x="1005840" y="5833872"/>
            <a:ext cx="10241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0B1020"/>
                </a:solidFill>
              </a:rPr>
              <a:t>Sales asset package: exec deck · CISO briefing · architecture deep-dive · control matrix · ROI/TCO worksheet · SOW template · deployment runbook · acceptance test.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 / PARTNER NARRATIVE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AWS positioning: why this belongs on AWS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77240" y="1188720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Agentic controls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651760" y="1188720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0B1020"/>
                </a:solidFill>
              </a:rPr>
              <a:t>Bedrock AgentCore Runtime, Gateway, Identity, Observability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6309360" y="1188720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Models + safety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183880" y="1188720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0B1020"/>
                </a:solidFill>
              </a:rPr>
              <a:t>Amazon Bedrock, Guardrails, Knowledge Bases, PrivateLink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777240" y="2414016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Governance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651760" y="2414016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0B1020"/>
                </a:solidFill>
              </a:rPr>
              <a:t>Verified Permissions, IAM Identity Center, Organizations, Control Tower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6309360" y="2414016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Evidence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183880" y="2414016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0B1020"/>
                </a:solidFill>
              </a:rPr>
              <a:t>CloudTrail, Security Lake, DynamoDB, S3 Object Lock, KMS</a:t>
            </a:r>
            <a:endParaRPr lang="en-US" sz="1020" dirty="0"/>
          </a:p>
        </p:txBody>
      </p:sp>
      <p:sp>
        <p:nvSpPr>
          <p:cNvPr id="13" name="Text 11"/>
          <p:cNvSpPr/>
          <p:nvPr/>
        </p:nvSpPr>
        <p:spPr>
          <a:xfrm>
            <a:off x="777240" y="3639312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Operations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651760" y="3639312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0B1020"/>
                </a:solidFill>
              </a:rPr>
              <a:t>CloudWatch, X-Ray, Service Quotas, CUR, Budgets, QuickSight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6309360" y="3639312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Public sector fit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183880" y="3639312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0B1020"/>
                </a:solidFill>
              </a:rPr>
              <a:t>GovCloud, FedRAMP High / DoD IL authorizations, GovRAMP recognition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960120" y="562356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AWS field narrative: “This standardizes how customers deploy agents safely on AWS, turns governance into reusable infrastructure, and creates a repeatable land-and-expand motion for Bedrock and AgentCore.”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ACTION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Claude Code build brief: create the standalone platform repo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22960" y="12344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Repo name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194560" y="123444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020"/>
                </a:solidFill>
              </a:rPr>
              <a:t>aws-ai-governance-platform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1828800"/>
            <a:ext cx="2057400" cy="347472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FFFF"/>
                </a:solidFill>
              </a:rPr>
              <a:t>Core contracts</a:t>
            </a:r>
            <a:endParaRPr lang="en-US" sz="1020" dirty="0"/>
          </a:p>
        </p:txBody>
      </p:sp>
      <p:sp>
        <p:nvSpPr>
          <p:cNvPr id="8" name="Text 6"/>
          <p:cNvSpPr/>
          <p:nvPr/>
        </p:nvSpPr>
        <p:spPr>
          <a:xfrm>
            <a:off x="3108960" y="1828800"/>
            <a:ext cx="80010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0B1020"/>
                </a:solidFill>
              </a:rPr>
              <a:t>agent.yaml · tool.yaml · model_profile.yaml · data_class.yaml · control_mapping.yaml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868680" y="2395728"/>
            <a:ext cx="2057400" cy="347472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FFFF"/>
                </a:solidFill>
              </a:rPr>
              <a:t>Governance runtime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3108960" y="2395728"/>
            <a:ext cx="80010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0B1020"/>
                </a:solidFill>
              </a:rPr>
              <a:t>Agent Registry · Tool Registry · AVP/Cedar compiler · approval service · evidence ledger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2057400" cy="347472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FFFF"/>
                </a:solidFill>
              </a:rPr>
              <a:t>AWS IaC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3108960" y="2962656"/>
            <a:ext cx="80010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0B1020"/>
                </a:solidFill>
              </a:rPr>
              <a:t>Control Tower module · VPC endpoint mode · AgentCore Gateway · Bedrock logging · S3 Object Lock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868680" y="3529584"/>
            <a:ext cx="2057400" cy="347472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FFFF"/>
                </a:solidFill>
              </a:rPr>
              <a:t>CI gates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3108960" y="3529584"/>
            <a:ext cx="80010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0B1020"/>
                </a:solidFill>
              </a:rPr>
              <a:t>unit · integration · policy simulation · hallucination evals · secrets/SBOM/IaC scan · clean-account deploy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868680" y="4096512"/>
            <a:ext cx="2057400" cy="347472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FFFF"/>
                </a:solidFill>
              </a:rPr>
              <a:t>Industry packs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3108960" y="4096512"/>
            <a:ext cx="80010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0B1020"/>
                </a:solidFill>
              </a:rPr>
              <a:t>SLG · HCLS · EDU · enterprise control overlays and data-class defaults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868680" y="4663440"/>
            <a:ext cx="2057400" cy="347472"/>
          </a:xfrm>
          <a:prstGeom prst="round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FFFF"/>
                </a:solidFill>
              </a:rPr>
              <a:t>Agent catalogs</a:t>
            </a:r>
            <a:endParaRPr lang="en-US" sz="1020" dirty="0"/>
          </a:p>
        </p:txBody>
      </p:sp>
      <p:sp>
        <p:nvSpPr>
          <p:cNvPr id="18" name="Text 16"/>
          <p:cNvSpPr/>
          <p:nvPr/>
        </p:nvSpPr>
        <p:spPr>
          <a:xfrm>
            <a:off x="3108960" y="4663440"/>
            <a:ext cx="80010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0B1020"/>
                </a:solidFill>
              </a:rPr>
              <a:t>SLG/HCLS/EDU agents become add-ons that must pass onboarding tests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914400" y="58064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0B1020"/>
                </a:solidFill>
              </a:rPr>
              <a:t>Acceptance bar: the platform cannot call itself deployable until a clean account test proves identity, policy denial, approval, model call, tool call, masking, audit, WORM export, chargeback, and teardown.</a:t>
            </a:r>
            <a:endParaRPr lang="en-US" sz="1330" dirty="0"/>
          </a:p>
        </p:txBody>
      </p:sp>
      <p:sp>
        <p:nvSpPr>
          <p:cNvPr id="20" name="Text 18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AWS Whole-of-Enterprise AI Governance Platform</dc:title>
  <dc:subject>AWS Whole-of-Enterprise AI Governance Platform</dc:subject>
  <dc:creator>OpenAI</dc:creator>
  <cp:lastModifiedBy>OpenAI</cp:lastModifiedBy>
  <cp:revision>1</cp:revision>
  <dcterms:created xsi:type="dcterms:W3CDTF">2026-06-30T18:22:58Z</dcterms:created>
  <dcterms:modified xsi:type="dcterms:W3CDTF">2026-06-30T18:22:58Z</dcterms:modified>
</cp:coreProperties>
</file>