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4"/>
    <p:sldId id="269" r:id="rId15"/>
    <p:sldId id="270" r:id="rId16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Thesis: separate the governance substrate from the agent catalog. This lets a customer approve one platform pattern, then onboard agents one at a time with inherited controls.
Repo reviewed: https://github.com/virtualryder/slg-ai-agents
Key evidence: repo README states the agent is not the product; governance is. It also states this is a production-shaped accelerator, not an authorized production-ready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current slg-ai-agents repository explicitly frames governance as the product and agents as configurations; README and ENTERPRISE-PLATFORM.md support this direction.
NASCIO 2026 ranks AI as a top state CIO priority; the repository cites NASCIO pilot/funding constraints in its current README and sources.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 track: a point solution gives the customer another AI app. The platform gives them a standard operating model for every agent.
This maps to the SLG repo GTM story: one identity, one authorization model, one audit trail across agencies.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AWS Control Tower describes a landing zone as a well-architected multi-account environment based on security and compliance best practices: https://docs.aws.amazon.com/controltower/latest/userguide/what-is-control-tower.html
AWS Security Lake can collect CloudTrail, EKS audit, Route 53 resolver, Security Hub, VPC Flow Logs, and WAF logs: https://docs.aws.amazon.com/security-lake/latest/userguide/internal-sources.html
S3 Object Lock provides WORM-style protection for retention/legal hold: https://docs.aws.amazon.com/AmazonS3/latest/userguide/object-lock.html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AgentCore Gateway is a managed AI gateway for connecting agents to MCP-compatible tools with ingress and egress authentication: https://docs.aws.amazon.com/bedrock-agentcore/latest/devguide/gateway.html
AgentCore Identity supports scoped on-behalf-of token exchange: https://docs.aws.amazon.com/bedrock-agentcore/latest/devguide/on-behalf-of-token-exchange.html
Amazon Verified Permissions externalizes fine-grained authorization using Cedar: https://docs.aws.amazon.com/verifiedpermissions/latest/userguide/what-is-avp.html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Improvement from slg-ai-agents: extract gov_platform and governance into a platform repo with strict contracts, then refactor current agents into add-on packages.
The existing repo already includes governance, control mappings, a WoG platform, and production-readiness documents; those should become formal product modules, not just repo folders.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contract Claude Code should build toward. The current SLG repo has similar concepts but needs a formal package spec and CI gate for each new agent.
Agent YAML should compile to infrastructure, policy, dashboards, and compliance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Verified Permissions uses Cedar to define fine-grained permissions: https://docs.aws.amazon.com/verifiedpermissions/latest/userguide/what-is-avp.html
AgentCore Gateway provides governed tool access and supports MCP-compatible tools: https://docs.aws.amazon.com/bedrock-agentcore/latest/devguide/gateway.html
AgentCore Identity supports scoped OBO tokens: https://docs.aws.amazon.com/bedrock-agentcore/latest/devguide/on-behalf-of-token-exchange.html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Amazon Bedrock Guardrails supports safety/privacy controls and sensitive information filters: https://docs.aws.amazon.com/bedrock/latest/userguide/guardrails.html
Bedrock Guardrails contextual grounding checks can detect hallucinations for summarization, paraphrasing, and QA when reference source and query are provided: https://docs.aws.amazon.com/bedrock/latest/userguide/guardrails-contextual-grounding-check.html
Bedrock sensitive information filters can detect PII in prompts or responses, but documentation notes limitations for tool_use output parameters, so deterministic DLP must still run around tool calls: https://docs.aws.amazon.com/bedrock/latest/userguide/guardrails-sensitive-filters.html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Application inference profiles allow Bedrock usage/cost attribution using tags attached to the profile billing record: https://docs.aws.amazon.com/bedrock/latest/userguide/cost-mgmt-application-inference-profiles.html
Bedrock publishes runtime metrics such as token counts and quota usage to CloudWatch: https://docs.aws.amazon.com/bedrock/latest/userguide/monitoring-runtime-metrics.html
AWS documents InputTokenCount, OutputTokenCount, CacheReadInputTokens, CacheWriteInputTokens for quota and token monitoring: https://docs.aws.amazon.com/bedrock/latest/userguide/quotas-token-burndown.html
Bedrock model invocation logging can deliver logs to CloudWatch or S3: https://docs.aws.amazon.com/bedrock/latest/userguide/model-invocation-logging.html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GovRAMP is designed for state, local, and tribal governments; AWS states GovCloud High and US East/West Moderate FedRAMP authorizations are recognized by GovRAMP: https://aws.amazon.com/compliance/govramp/
NIST AI RMF GenAI Profile helps organizations identify GenAI risks and actions for risk management: https://www.nist.gov/publications/artificial-intelligence-risk-management-framework-generative-artificial-intelligence
DOJ extended ADA Title II web/mobile accessibility compliance dates to Apr 26, 2027 for &gt;=50k population entities and Apr 26, 2028 for smaller/special districts: https://www.federalregister.gov/documents/2026/04/20/2026-07663/extension-of-compliance-dates-for-nondiscrimination-on-the-basis-of-disability-accessibility-of-web
FBI CJIS Security Policy v6.0 is dated Dec. 27, 2024: https://le.fbi.gov/file-repository/cjis_security_policy_v6-0_20241227.pdf
IRS Pub 1075 defines safeguards for Federal Tax Information: https://www.irs.gov/pub/irs-pdf/p1075.pdf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phased plan is intentionally biased toward a low-blast-radius first agent. The existing SLG production-readiness document recommends Resident Services/311 or IT service desk before benefits/public safety.
The first pilot must produce measurable value and evidence, not just a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maps to the existing slg-ai-agents WOG GTM story, but broadens it from SLG to whole-of-enterprise governance.
The key is to avoid overclaiming turnkey production readiness. Sell a governed pilot with a clear hardening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AgentCore Gateway docs: https://docs.aws.amazon.com/bedrock-agentcore/latest/devguide/gateway.html
AgentCore Identity docs: https://docs.aws.amazon.com/bedrock-agentcore/latest/devguide/identity.html
Bedrock Guardrails docs: https://docs.aws.amazon.com/bedrock/latest/userguide/guardrails.html
Bedrock PrivateLink docs: https://docs.aws.amazon.com/bedrock/latest/userguide/vpc-interface-endpoints.html
AWS GovRAMP page: https://aws.amazon.com/compliance/govramp/
Amazon Bedrock GovCloud FedRAMP High / DoD IL-4/5 announcement: https://aws.amazon.com/about-aws/whats-new/2025/05/amazon-bedrock-models-fedramp-high-dod-il-4-5-govcloud/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32F3E"/>
          </a:solidFill>
          <a:ln w="12700">
            <a:solidFill>
              <a:srgbClr val="232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26680" y="182880"/>
            <a:ext cx="3749040" cy="3749040"/>
          </a:xfrm>
          <a:prstGeom prst="arc">
            <a:avLst/>
          </a:prstGeom>
          <a:solidFill>
            <a:srgbClr val="232F3E">
              <a:alpha val="0"/>
            </a:srgbClr>
          </a:solidFill>
          <a:ln w="25400">
            <a:solidFill>
              <a:srgbClr val="FF9900">
                <a:alpha val="6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961120" y="228600"/>
            <a:ext cx="2834640" cy="2834640"/>
          </a:xfrm>
          <a:prstGeom prst="arc">
            <a:avLst/>
          </a:prstGeom>
          <a:solidFill>
            <a:srgbClr val="232F3E">
              <a:alpha val="0"/>
            </a:srgbClr>
          </a:solidFill>
          <a:ln w="25400">
            <a:solidFill>
              <a:srgbClr val="06B6D4">
                <a:alpha val="65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143000"/>
            <a:ext cx="7498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Whole-of-Enterprise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 Governance Platform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31520" y="2788920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DE8F5"/>
                </a:solidFill>
              </a:rPr>
              <a:t>AWS reference architecture + GTM package for governed agents across public sector, healthcare/life sciences, education, and enterprise workloads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31520" y="3703320"/>
            <a:ext cx="1965960" cy="292608"/>
          </a:xfrm>
          <a:prstGeom prst="roundRect">
            <a:avLst/>
          </a:prstGeom>
          <a:solidFill>
            <a:srgbClr val="FF9900"/>
          </a:solidFill>
          <a:ln>
            <a:solidFill>
              <a:srgbClr val="FF99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Governance is the product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2871216" y="3703320"/>
            <a:ext cx="1508760" cy="292608"/>
          </a:xfrm>
          <a:prstGeom prst="roundRect">
            <a:avLst/>
          </a:prstGeom>
          <a:solidFill>
            <a:srgbClr val="FF9900"/>
          </a:solidFill>
          <a:ln>
            <a:solidFill>
              <a:srgbClr val="FF99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Agents are add-ons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553712" y="3703320"/>
            <a:ext cx="1143000" cy="29260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AWS-native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31520" y="61722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B5C7"/>
                </a:solidFill>
              </a:rPr>
              <a:t>Prepared for customer leadership / AWS field review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10515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THIS PLATFORM EXISTS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1206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32F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leadership problem: AI value is trapped behind governance friction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85800" y="1325880"/>
            <a:ext cx="1600200" cy="502920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232F3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CIO / CEO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468880" y="1325880"/>
            <a:ext cx="352044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232F3E"/>
                </a:solidFill>
              </a:rPr>
              <a:t>Pressure to move from pilots to measurable outcomes without creating dozens of disconnected AI projects.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263640" y="1325880"/>
            <a:ext cx="1600200" cy="502920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232F3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CISO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046720" y="1325880"/>
            <a:ext cx="352044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232F3E"/>
                </a:solidFill>
              </a:rPr>
              <a:t>Needs provable identity, authorization, audit, data isolation, retention, and incident evidence.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85800" y="2743200"/>
            <a:ext cx="1600200" cy="502920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232F3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Architecture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468880" y="2743200"/>
            <a:ext cx="352044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232F3E"/>
                </a:solidFill>
              </a:rPr>
              <a:t>Needs one reusable pattern for agents, tools, models, data, approvals, and observability.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263640" y="2743200"/>
            <a:ext cx="1600200" cy="502920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232F3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Program owners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0" y="2743200"/>
            <a:ext cx="352044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232F3E"/>
                </a:solidFill>
              </a:rPr>
              <a:t>Need faster service delivery without letting AI make legally consequential decisions.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011680" y="4663440"/>
            <a:ext cx="8138160" cy="640080"/>
          </a:xfrm>
          <a:prstGeom prst="chevron">
            <a:avLst/>
          </a:prstGeom>
          <a:solidFill>
            <a:srgbClr val="FF9900"/>
          </a:solidFill>
          <a:ln>
            <a:solidFill>
              <a:srgbClr val="FF99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One governed substrate, many agent products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05840" y="5650992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The repo already has the right thesis; the improvement is to extract the substrate into its own deployable platform repo, then plug SLG, HCLS, EDU, and enterprise agents into it.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6537960"/>
            <a:ext cx="7772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Sources in speaker notes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9418320" y="6537960"/>
            <a:ext cx="2240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AWS AI Governance Platform concept</a:t>
            </a:r>
            <a:endParaRPr lang="en-US" sz="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10515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 NARRATIVE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1206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32F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Positioning: not a chatbot suite — a governed AI operating layer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731520" y="1234440"/>
            <a:ext cx="475488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48132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4444"/>
                </a:solidFill>
              </a:rPr>
              <a:t>Point-solution AI sprawl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88720" y="1993392"/>
            <a:ext cx="3749040" cy="310896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FCA5A5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232F3E"/>
                </a:solidFill>
              </a:rPr>
              <a:t>Different identity model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188720" y="2468880"/>
            <a:ext cx="3749040" cy="310896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FCA5A5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232F3E"/>
                </a:solidFill>
              </a:rPr>
              <a:t>Different tool connectors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188720" y="2944368"/>
            <a:ext cx="3749040" cy="310896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FCA5A5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232F3E"/>
                </a:solidFill>
              </a:rPr>
              <a:t>Different audit trail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88720" y="3419856"/>
            <a:ext cx="3749040" cy="310896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FCA5A5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232F3E"/>
                </a:solidFill>
              </a:rPr>
              <a:t>Different security review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188720" y="3895344"/>
            <a:ext cx="3749040" cy="310896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FCA5A5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232F3E"/>
                </a:solidFill>
              </a:rPr>
              <a:t>Different cost model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629400" y="1234440"/>
            <a:ext cx="4754880" cy="4114800"/>
          </a:xfrm>
          <a:prstGeom prst="rect">
            <a:avLst/>
          </a:prstGeom>
          <a:solidFill>
            <a:srgbClr val="232F3E"/>
          </a:solidFill>
          <a:ln w="12700">
            <a:solidFill>
              <a:srgbClr val="232F3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03720" y="148132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Governed platform model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132320" y="1993392"/>
            <a:ext cx="3749040" cy="310896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7DD3FC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232F3E"/>
                </a:solidFill>
              </a:rPr>
              <a:t>Common identity + consent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132320" y="2468880"/>
            <a:ext cx="3749040" cy="310896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7DD3FC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232F3E"/>
                </a:solidFill>
              </a:rPr>
              <a:t>Central policy + tool gateway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132320" y="2944368"/>
            <a:ext cx="3749040" cy="310896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7DD3FC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232F3E"/>
                </a:solidFill>
              </a:rPr>
              <a:t>Immutable evidence package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132320" y="3419856"/>
            <a:ext cx="3749040" cy="310896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7DD3FC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232F3E"/>
                </a:solidFill>
              </a:rPr>
              <a:t>Inherited control baseline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132320" y="3895344"/>
            <a:ext cx="3749040" cy="310896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7DD3FC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232F3E"/>
                </a:solidFill>
              </a:rPr>
              <a:t>Chargeback + token governance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623560" y="3291840"/>
            <a:ext cx="822960" cy="0"/>
          </a:xfrm>
          <a:prstGeom prst="line">
            <a:avLst/>
          </a:prstGeom>
          <a:noFill/>
          <a:ln w="31750">
            <a:solidFill>
              <a:srgbClr val="FF9900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1463040" y="5806440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32F3E"/>
                </a:solidFill>
              </a:rPr>
              <a:t>Land one agent. Approve the substrate. Expand by configuration.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02920" y="6537960"/>
            <a:ext cx="7772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Sources in speaker notes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9418320" y="6537960"/>
            <a:ext cx="2240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AWS AI Governance Platform concept</a:t>
            </a:r>
            <a:endParaRPr lang="en-US" sz="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10515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 ARCHITECTURE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1206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32F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AWS account architecture: isolate by data class, govern centrally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097280"/>
            <a:ext cx="11109960" cy="5074920"/>
          </a:xfrm>
          <a:prstGeom prst="roundRect">
            <a:avLst>
              <a:gd name="adj" fmla="val 144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243584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32F3E"/>
                </a:solidFill>
              </a:rPr>
              <a:t>AWS Organizations / Control Tower landing zone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1719072"/>
            <a:ext cx="2148840" cy="960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232F3E"/>
                </a:solidFill>
              </a:rPr>
              <a:t>Security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232F3E"/>
                </a:solidFill>
              </a:rPr>
              <a:t>GuardDuty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232F3E"/>
                </a:solidFill>
              </a:rPr>
              <a:t>Security Hub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232F3E"/>
                </a:solidFill>
              </a:rPr>
              <a:t>Config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566160" y="1719072"/>
            <a:ext cx="2148840" cy="960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232F3E"/>
                </a:solidFill>
              </a:rPr>
              <a:t>Log Archive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232F3E"/>
                </a:solidFill>
              </a:rPr>
              <a:t>CloudTrail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232F3E"/>
                </a:solidFill>
              </a:rPr>
              <a:t>Security Lake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232F3E"/>
                </a:solidFill>
              </a:rPr>
              <a:t>S3 Object Lock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217920" y="1719072"/>
            <a:ext cx="2148840" cy="960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232F3E"/>
                </a:solidFill>
              </a:rPr>
              <a:t>Network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232F3E"/>
                </a:solidFill>
              </a:rPr>
              <a:t>Transit Gateway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232F3E"/>
                </a:solidFill>
              </a:rPr>
              <a:t>VPC endpoints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232F3E"/>
                </a:solidFill>
              </a:rPr>
              <a:t>DNS / egress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869680" y="1719072"/>
            <a:ext cx="2148840" cy="960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32F3E"/>
                </a:solidFill>
              </a:rPr>
              <a:t>AI Governance</a:t>
            </a:r>
            <a:endParaRPr lang="en-US" sz="1050" dirty="0"/>
          </a:p>
          <a:p>
            <a:pPr algn="l" indent="0" marL="0">
              <a:buNone/>
            </a:pPr>
            <a:r>
              <a:rPr lang="en-US" sz="1050" b="1" dirty="0">
                <a:solidFill>
                  <a:srgbClr val="232F3E"/>
                </a:solidFill>
              </a:rPr>
              <a:t>Registry</a:t>
            </a:r>
            <a:endParaRPr lang="en-US" sz="1050" dirty="0"/>
          </a:p>
          <a:p>
            <a:pPr algn="l" indent="0" marL="0">
              <a:buNone/>
            </a:pPr>
            <a:r>
              <a:rPr lang="en-US" sz="1050" b="1" dirty="0">
                <a:solidFill>
                  <a:srgbClr val="232F3E"/>
                </a:solidFill>
              </a:rPr>
              <a:t>Policy</a:t>
            </a:r>
            <a:endParaRPr lang="en-US" sz="1050" dirty="0"/>
          </a:p>
          <a:p>
            <a:pPr algn="l" indent="0" marL="0">
              <a:buNone/>
            </a:pPr>
            <a:r>
              <a:rPr lang="en-US" sz="1050" b="1" dirty="0">
                <a:solidFill>
                  <a:srgbClr val="232F3E"/>
                </a:solidFill>
              </a:rPr>
              <a:t>Evals</a:t>
            </a:r>
            <a:endParaRPr lang="en-US" sz="1050" dirty="0"/>
          </a:p>
          <a:p>
            <a:pPr algn="l" indent="0" marL="0">
              <a:buNone/>
            </a:pPr>
            <a:r>
              <a:rPr lang="en-US" sz="1050" b="1" dirty="0">
                <a:solidFill>
                  <a:srgbClr val="232F3E"/>
                </a:solidFill>
              </a:rPr>
              <a:t>Chargeback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14400" y="3337560"/>
            <a:ext cx="292608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7780">
            <a:solidFill>
              <a:srgbClr val="10B98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44728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32F3E"/>
                </a:solidFill>
              </a:rPr>
              <a:t>Public / Low-risk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24128" y="3721608"/>
            <a:ext cx="27066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64748B"/>
                </a:solidFill>
              </a:rPr>
              <a:t>Workload account + VPC + KMS + WORM</a:t>
            </a:r>
            <a:endParaRPr lang="en-US" sz="730" dirty="0"/>
          </a:p>
        </p:txBody>
      </p:sp>
      <p:sp>
        <p:nvSpPr>
          <p:cNvPr id="14" name="Shape 12"/>
          <p:cNvSpPr/>
          <p:nvPr/>
        </p:nvSpPr>
        <p:spPr>
          <a:xfrm>
            <a:off x="4434840" y="3337560"/>
            <a:ext cx="292608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7780">
            <a:solidFill>
              <a:srgbClr val="FF99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26280" y="344728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32F3E"/>
                </a:solidFill>
              </a:rPr>
              <a:t>PII / Enterprise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44568" y="3721608"/>
            <a:ext cx="27066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64748B"/>
                </a:solidFill>
              </a:rPr>
              <a:t>Workload account + VPC + KMS + WORM</a:t>
            </a:r>
            <a:endParaRPr lang="en-US" sz="730" dirty="0"/>
          </a:p>
        </p:txBody>
      </p:sp>
      <p:sp>
        <p:nvSpPr>
          <p:cNvPr id="17" name="Shape 15"/>
          <p:cNvSpPr/>
          <p:nvPr/>
        </p:nvSpPr>
        <p:spPr>
          <a:xfrm>
            <a:off x="7955280" y="3337560"/>
            <a:ext cx="292608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7780">
            <a:solidFill>
              <a:srgbClr val="8B5CF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46720" y="344728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32F3E"/>
                </a:solidFill>
              </a:rPr>
              <a:t>PHI / HIPAA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065008" y="3721608"/>
            <a:ext cx="27066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64748B"/>
                </a:solidFill>
              </a:rPr>
              <a:t>Workload account + VPC + KMS + WORM</a:t>
            </a:r>
            <a:endParaRPr lang="en-US" sz="730" dirty="0"/>
          </a:p>
        </p:txBody>
      </p:sp>
      <p:sp>
        <p:nvSpPr>
          <p:cNvPr id="20" name="Shape 18"/>
          <p:cNvSpPr/>
          <p:nvPr/>
        </p:nvSpPr>
        <p:spPr>
          <a:xfrm>
            <a:off x="914400" y="4297680"/>
            <a:ext cx="292608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7780">
            <a:solidFill>
              <a:srgbClr val="EF444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44074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32F3E"/>
                </a:solidFill>
              </a:rPr>
              <a:t>CJI / CJIS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24128" y="4681728"/>
            <a:ext cx="27066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64748B"/>
                </a:solidFill>
              </a:rPr>
              <a:t>Workload account + VPC + KMS + WORM</a:t>
            </a:r>
            <a:endParaRPr lang="en-US" sz="730" dirty="0"/>
          </a:p>
        </p:txBody>
      </p:sp>
      <p:sp>
        <p:nvSpPr>
          <p:cNvPr id="23" name="Shape 21"/>
          <p:cNvSpPr/>
          <p:nvPr/>
        </p:nvSpPr>
        <p:spPr>
          <a:xfrm>
            <a:off x="4434840" y="4297680"/>
            <a:ext cx="292608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7780">
            <a:solidFill>
              <a:srgbClr val="FF99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26280" y="44074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32F3E"/>
                </a:solidFill>
              </a:rPr>
              <a:t>FTI / IRS 1075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44568" y="4681728"/>
            <a:ext cx="27066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64748B"/>
                </a:solidFill>
              </a:rPr>
              <a:t>Workload account + VPC + KMS + WORM</a:t>
            </a:r>
            <a:endParaRPr lang="en-US" sz="730" dirty="0"/>
          </a:p>
        </p:txBody>
      </p:sp>
      <p:sp>
        <p:nvSpPr>
          <p:cNvPr id="26" name="Shape 24"/>
          <p:cNvSpPr/>
          <p:nvPr/>
        </p:nvSpPr>
        <p:spPr>
          <a:xfrm>
            <a:off x="7955280" y="4297680"/>
            <a:ext cx="292608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7780">
            <a:solidFill>
              <a:srgbClr val="06B6D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46720" y="44074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32F3E"/>
                </a:solidFill>
              </a:rPr>
              <a:t>EDU / FERPA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065008" y="4681728"/>
            <a:ext cx="27066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64748B"/>
                </a:solidFill>
              </a:rPr>
              <a:t>Workload account + VPC + KMS + WORM</a:t>
            </a:r>
            <a:endParaRPr lang="en-US" sz="730" dirty="0"/>
          </a:p>
        </p:txBody>
      </p:sp>
      <p:sp>
        <p:nvSpPr>
          <p:cNvPr id="29" name="Text 27"/>
          <p:cNvSpPr/>
          <p:nvPr/>
        </p:nvSpPr>
        <p:spPr>
          <a:xfrm>
            <a:off x="914400" y="5605272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32F3E"/>
                </a:solidFill>
              </a:rPr>
              <a:t>Pattern: central governance plane; isolated runtime/data planes by regulatory boundary.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502920" y="6537960"/>
            <a:ext cx="7772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Sources in speaker notes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9418320" y="6537960"/>
            <a:ext cx="2240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AWS AI Governance Platform concept</a:t>
            </a:r>
            <a:endParaRPr lang="en-US" sz="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10515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IT WORKS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1206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32F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Runtime flow: every model call and tool call passes through governance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2743200"/>
            <a:ext cx="15544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232F3E"/>
                </a:solidFill>
              </a:rPr>
              <a:t>User / app</a:t>
            </a:r>
            <a:endParaRPr lang="en-US" sz="1020" dirty="0"/>
          </a:p>
          <a:p>
            <a:pPr algn="l" indent="0" marL="0">
              <a:buNone/>
            </a:pPr>
            <a:r>
              <a:rPr lang="en-US" sz="1020" b="1" dirty="0">
                <a:solidFill>
                  <a:srgbClr val="232F3E"/>
                </a:solidFill>
              </a:rPr>
              <a:t>Federated identity</a:t>
            </a:r>
            <a:endParaRPr lang="en-US" sz="1020" dirty="0"/>
          </a:p>
          <a:p>
            <a:pPr algn="l" indent="0" marL="0">
              <a:buNone/>
            </a:pPr>
            <a:r>
              <a:rPr lang="en-US" sz="1020" b="1" dirty="0">
                <a:solidFill>
                  <a:srgbClr val="232F3E"/>
                </a:solidFill>
              </a:rPr>
              <a:t>role + purpose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2084832" y="3218688"/>
            <a:ext cx="292608" cy="0"/>
          </a:xfrm>
          <a:prstGeom prst="line">
            <a:avLst/>
          </a:prstGeom>
          <a:noFill/>
          <a:ln w="19050">
            <a:solidFill>
              <a:srgbClr val="FF9900"/>
            </a:solidFill>
            <a:prstDash val="solid"/>
            <a:headEnd type="none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2441448" y="2743200"/>
            <a:ext cx="15544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232F3E"/>
                </a:solidFill>
              </a:rPr>
              <a:t>Agent runtime</a:t>
            </a:r>
            <a:endParaRPr lang="en-US" sz="1020" dirty="0"/>
          </a:p>
          <a:p>
            <a:pPr algn="l" indent="0" marL="0">
              <a:buNone/>
            </a:pPr>
            <a:r>
              <a:rPr lang="en-US" sz="1020" b="1" dirty="0">
                <a:solidFill>
                  <a:srgbClr val="232F3E"/>
                </a:solidFill>
              </a:rPr>
              <a:t>Step Functions /</a:t>
            </a:r>
            <a:endParaRPr lang="en-US" sz="1020" dirty="0"/>
          </a:p>
          <a:p>
            <a:pPr algn="l" indent="0" marL="0">
              <a:buNone/>
            </a:pPr>
            <a:r>
              <a:rPr lang="en-US" sz="1020" b="1" dirty="0">
                <a:solidFill>
                  <a:srgbClr val="232F3E"/>
                </a:solidFill>
              </a:rPr>
              <a:t>AgentCore Runtime</a:t>
            </a:r>
            <a:endParaRPr lang="en-US" sz="1020" dirty="0"/>
          </a:p>
        </p:txBody>
      </p:sp>
      <p:sp>
        <p:nvSpPr>
          <p:cNvPr id="8" name="Shape 6"/>
          <p:cNvSpPr/>
          <p:nvPr/>
        </p:nvSpPr>
        <p:spPr>
          <a:xfrm>
            <a:off x="4023360" y="3218688"/>
            <a:ext cx="292608" cy="0"/>
          </a:xfrm>
          <a:prstGeom prst="line">
            <a:avLst/>
          </a:prstGeom>
          <a:noFill/>
          <a:ln w="19050">
            <a:solidFill>
              <a:srgbClr val="FF9900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4379976" y="2743200"/>
            <a:ext cx="1554480" cy="96012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6B6D4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232F3E"/>
                </a:solidFill>
              </a:rPr>
              <a:t>Policy decision</a:t>
            </a:r>
            <a:endParaRPr lang="en-US" sz="1020" dirty="0"/>
          </a:p>
          <a:p>
            <a:pPr algn="l" indent="0" marL="0">
              <a:buNone/>
            </a:pPr>
            <a:r>
              <a:rPr lang="en-US" sz="1020" b="1" dirty="0">
                <a:solidFill>
                  <a:srgbClr val="232F3E"/>
                </a:solidFill>
              </a:rPr>
              <a:t>Verified Permissions</a:t>
            </a:r>
            <a:endParaRPr lang="en-US" sz="1020" dirty="0"/>
          </a:p>
          <a:p>
            <a:pPr algn="l" indent="0" marL="0">
              <a:buNone/>
            </a:pPr>
            <a:r>
              <a:rPr lang="en-US" sz="1020" b="1" dirty="0">
                <a:solidFill>
                  <a:srgbClr val="232F3E"/>
                </a:solidFill>
              </a:rPr>
              <a:t>Cedar + context</a:t>
            </a:r>
            <a:endParaRPr lang="en-US" sz="1020" dirty="0"/>
          </a:p>
        </p:txBody>
      </p:sp>
      <p:sp>
        <p:nvSpPr>
          <p:cNvPr id="10" name="Shape 8"/>
          <p:cNvSpPr/>
          <p:nvPr/>
        </p:nvSpPr>
        <p:spPr>
          <a:xfrm>
            <a:off x="5961888" y="3218688"/>
            <a:ext cx="292608" cy="0"/>
          </a:xfrm>
          <a:prstGeom prst="line">
            <a:avLst/>
          </a:prstGeom>
          <a:noFill/>
          <a:ln w="19050">
            <a:solidFill>
              <a:srgbClr val="FF9900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6318504" y="2743200"/>
            <a:ext cx="15544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232F3E"/>
                </a:solidFill>
              </a:rPr>
              <a:t>Model gateway</a:t>
            </a:r>
            <a:endParaRPr lang="en-US" sz="1020" dirty="0"/>
          </a:p>
          <a:p>
            <a:pPr algn="l" indent="0" marL="0">
              <a:buNone/>
            </a:pPr>
            <a:r>
              <a:rPr lang="en-US" sz="1020" b="1" dirty="0">
                <a:solidFill>
                  <a:srgbClr val="232F3E"/>
                </a:solidFill>
              </a:rPr>
              <a:t>Bedrock + Guardrails</a:t>
            </a:r>
            <a:endParaRPr lang="en-US" sz="1020" dirty="0"/>
          </a:p>
          <a:p>
            <a:pPr algn="l" indent="0" marL="0">
              <a:buNone/>
            </a:pPr>
            <a:r>
              <a:rPr lang="en-US" sz="1020" b="1" dirty="0">
                <a:solidFill>
                  <a:srgbClr val="232F3E"/>
                </a:solidFill>
              </a:rPr>
              <a:t>KB + prompt registry</a:t>
            </a:r>
            <a:endParaRPr lang="en-US" sz="1020" dirty="0"/>
          </a:p>
        </p:txBody>
      </p:sp>
      <p:sp>
        <p:nvSpPr>
          <p:cNvPr id="12" name="Shape 10"/>
          <p:cNvSpPr/>
          <p:nvPr/>
        </p:nvSpPr>
        <p:spPr>
          <a:xfrm>
            <a:off x="7900416" y="3218688"/>
            <a:ext cx="292608" cy="0"/>
          </a:xfrm>
          <a:prstGeom prst="line">
            <a:avLst/>
          </a:prstGeom>
          <a:noFill/>
          <a:ln w="19050">
            <a:solidFill>
              <a:srgbClr val="FF9900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8257032" y="2743200"/>
            <a:ext cx="1554480" cy="96012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6B6D4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232F3E"/>
                </a:solidFill>
              </a:rPr>
              <a:t>Tool gateway</a:t>
            </a:r>
            <a:endParaRPr lang="en-US" sz="1020" dirty="0"/>
          </a:p>
          <a:p>
            <a:pPr algn="l" indent="0" marL="0">
              <a:buNone/>
            </a:pPr>
            <a:r>
              <a:rPr lang="en-US" sz="1020" b="1" dirty="0">
                <a:solidFill>
                  <a:srgbClr val="232F3E"/>
                </a:solidFill>
              </a:rPr>
              <a:t>AgentCore Gateway</a:t>
            </a:r>
            <a:endParaRPr lang="en-US" sz="1020" dirty="0"/>
          </a:p>
          <a:p>
            <a:pPr algn="l" indent="0" marL="0">
              <a:buNone/>
            </a:pPr>
            <a:r>
              <a:rPr lang="en-US" sz="1020" b="1" dirty="0">
                <a:solidFill>
                  <a:srgbClr val="232F3E"/>
                </a:solidFill>
              </a:rPr>
              <a:t>MCP targets</a:t>
            </a:r>
            <a:endParaRPr lang="en-US" sz="1020" dirty="0"/>
          </a:p>
        </p:txBody>
      </p:sp>
      <p:sp>
        <p:nvSpPr>
          <p:cNvPr id="14" name="Shape 12"/>
          <p:cNvSpPr/>
          <p:nvPr/>
        </p:nvSpPr>
        <p:spPr>
          <a:xfrm>
            <a:off x="9838944" y="3218688"/>
            <a:ext cx="292608" cy="0"/>
          </a:xfrm>
          <a:prstGeom prst="line">
            <a:avLst/>
          </a:prstGeom>
          <a:noFill/>
          <a:ln w="19050">
            <a:solidFill>
              <a:srgbClr val="FF9900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10195560" y="2743200"/>
            <a:ext cx="15544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232F3E"/>
                </a:solidFill>
              </a:rPr>
              <a:t>Systems</a:t>
            </a:r>
            <a:endParaRPr lang="en-US" sz="1020" dirty="0"/>
          </a:p>
          <a:p>
            <a:pPr algn="l" indent="0" marL="0">
              <a:buNone/>
            </a:pPr>
            <a:r>
              <a:rPr lang="en-US" sz="1020" b="1" dirty="0">
                <a:solidFill>
                  <a:srgbClr val="232F3E"/>
                </a:solidFill>
              </a:rPr>
              <a:t>EHR / SIS / CRM</a:t>
            </a:r>
            <a:endParaRPr lang="en-US" sz="1020" dirty="0"/>
          </a:p>
          <a:p>
            <a:pPr algn="l" indent="0" marL="0">
              <a:buNone/>
            </a:pPr>
            <a:r>
              <a:rPr lang="en-US" sz="1020" b="1" dirty="0">
                <a:solidFill>
                  <a:srgbClr val="232F3E"/>
                </a:solidFill>
              </a:rPr>
              <a:t>ERP / permits</a:t>
            </a:r>
            <a:endParaRPr lang="en-US" sz="1020" dirty="0"/>
          </a:p>
        </p:txBody>
      </p:sp>
      <p:sp>
        <p:nvSpPr>
          <p:cNvPr id="16" name="Text 14"/>
          <p:cNvSpPr/>
          <p:nvPr/>
        </p:nvSpPr>
        <p:spPr>
          <a:xfrm>
            <a:off x="914400" y="4754880"/>
            <a:ext cx="10332720" cy="685800"/>
          </a:xfrm>
          <a:prstGeom prst="roundRect">
            <a:avLst/>
          </a:prstGeom>
          <a:solidFill>
            <a:srgbClr val="232F3E"/>
          </a:solidFill>
          <a:ln>
            <a:solidFill>
              <a:srgbClr val="232F3E"/>
            </a:solidFill>
          </a:ln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Compliance Event Bus → append-only audit → WORM evidence package → dashboards, ATO artifacts, and chargeback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51560" y="1261872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32F3E"/>
                </a:solidFill>
              </a:rPr>
              <a:t>Invariant: the agent can never exceed the authenticated user, declared purpose, data class, approved tools, token budget, or human authority boundary.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02920" y="6537960"/>
            <a:ext cx="7772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Sources in speaker notes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9418320" y="6537960"/>
            <a:ext cx="2240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AWS AI Governance Platform concept</a:t>
            </a:r>
            <a:endParaRPr lang="en-US" sz="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10515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 DECOMPOSITION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1206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32F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Platform services: what must become the standalone repo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85800" y="1234440"/>
            <a:ext cx="1783080" cy="393192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232F3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30" b="1" dirty="0">
                <a:solidFill>
                  <a:srgbClr val="FFFFFF"/>
                </a:solidFill>
              </a:rPr>
              <a:t>Agent Registry</a:t>
            </a:r>
            <a:endParaRPr lang="en-US" sz="1130" dirty="0"/>
          </a:p>
        </p:txBody>
      </p:sp>
      <p:sp>
        <p:nvSpPr>
          <p:cNvPr id="6" name="Text 4"/>
          <p:cNvSpPr/>
          <p:nvPr/>
        </p:nvSpPr>
        <p:spPr>
          <a:xfrm>
            <a:off x="2560320" y="1234440"/>
            <a:ext cx="3337560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232F3E"/>
                </a:solidFill>
              </a:rPr>
              <a:t>owner · purpose · risk tier · data class · model · evals · cost center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263640" y="1234440"/>
            <a:ext cx="1783080" cy="393192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232F3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30" b="1" dirty="0">
                <a:solidFill>
                  <a:srgbClr val="FFFFFF"/>
                </a:solidFill>
              </a:rPr>
              <a:t>Tool Registry</a:t>
            </a:r>
            <a:endParaRPr lang="en-US" sz="1130" dirty="0"/>
          </a:p>
        </p:txBody>
      </p:sp>
      <p:sp>
        <p:nvSpPr>
          <p:cNvPr id="8" name="Text 6"/>
          <p:cNvSpPr/>
          <p:nvPr/>
        </p:nvSpPr>
        <p:spPr>
          <a:xfrm>
            <a:off x="8138160" y="1234440"/>
            <a:ext cx="3337560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232F3E"/>
                </a:solidFill>
              </a:rPr>
              <a:t>MCP schema · system owner · CRUD · rollback · approval · idempotency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85800" y="2286000"/>
            <a:ext cx="1783080" cy="393192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232F3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30" b="1" dirty="0">
                <a:solidFill>
                  <a:srgbClr val="FFFFFF"/>
                </a:solidFill>
              </a:rPr>
              <a:t>Policy Engine</a:t>
            </a:r>
            <a:endParaRPr lang="en-US" sz="1130" dirty="0"/>
          </a:p>
        </p:txBody>
      </p:sp>
      <p:sp>
        <p:nvSpPr>
          <p:cNvPr id="10" name="Text 8"/>
          <p:cNvSpPr/>
          <p:nvPr/>
        </p:nvSpPr>
        <p:spPr>
          <a:xfrm>
            <a:off x="2560320" y="2286000"/>
            <a:ext cx="3337560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232F3E"/>
                </a:solidFill>
              </a:rPr>
              <a:t>user entitlement ∩ agent grant ∩ purpose ∩ consent ∩ residency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263640" y="2286000"/>
            <a:ext cx="1783080" cy="393192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232F3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30" b="1" dirty="0">
                <a:solidFill>
                  <a:srgbClr val="FFFFFF"/>
                </a:solidFill>
              </a:rPr>
              <a:t>Approval Service</a:t>
            </a:r>
            <a:endParaRPr lang="en-US" sz="1130" dirty="0"/>
          </a:p>
        </p:txBody>
      </p:sp>
      <p:sp>
        <p:nvSpPr>
          <p:cNvPr id="12" name="Text 10"/>
          <p:cNvSpPr/>
          <p:nvPr/>
        </p:nvSpPr>
        <p:spPr>
          <a:xfrm>
            <a:off x="8138160" y="2286000"/>
            <a:ext cx="3337560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232F3E"/>
                </a:solidFill>
              </a:rPr>
              <a:t>HITL queue · e-signature · separation of duties · task-token workflow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85800" y="3337560"/>
            <a:ext cx="1783080" cy="393192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232F3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30" b="1" dirty="0">
                <a:solidFill>
                  <a:srgbClr val="FFFFFF"/>
                </a:solidFill>
              </a:rPr>
              <a:t>Model Gateway</a:t>
            </a:r>
            <a:endParaRPr lang="en-US" sz="1130" dirty="0"/>
          </a:p>
        </p:txBody>
      </p:sp>
      <p:sp>
        <p:nvSpPr>
          <p:cNvPr id="14" name="Text 12"/>
          <p:cNvSpPr/>
          <p:nvPr/>
        </p:nvSpPr>
        <p:spPr>
          <a:xfrm>
            <a:off x="2560320" y="3337560"/>
            <a:ext cx="3337560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232F3E"/>
                </a:solidFill>
              </a:rPr>
              <a:t>Bedrock routing · max_tokens · Guardrails · prompt pinning · fallbacks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263640" y="3337560"/>
            <a:ext cx="1783080" cy="393192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232F3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30" b="1" dirty="0">
                <a:solidFill>
                  <a:srgbClr val="FFFFFF"/>
                </a:solidFill>
              </a:rPr>
              <a:t>Evidence Ledger</a:t>
            </a:r>
            <a:endParaRPr lang="en-US" sz="1130" dirty="0"/>
          </a:p>
        </p:txBody>
      </p:sp>
      <p:sp>
        <p:nvSpPr>
          <p:cNvPr id="16" name="Text 14"/>
          <p:cNvSpPr/>
          <p:nvPr/>
        </p:nvSpPr>
        <p:spPr>
          <a:xfrm>
            <a:off x="8138160" y="3337560"/>
            <a:ext cx="3337560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232F3E"/>
                </a:solidFill>
              </a:rPr>
              <a:t>masked events · immutable audit · WORM export · control evidence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85800" y="4389120"/>
            <a:ext cx="1783080" cy="393192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232F3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30" b="1" dirty="0">
                <a:solidFill>
                  <a:srgbClr val="FFFFFF"/>
                </a:solidFill>
              </a:rPr>
              <a:t>Data Protection</a:t>
            </a:r>
            <a:endParaRPr lang="en-US" sz="1130" dirty="0"/>
          </a:p>
        </p:txBody>
      </p:sp>
      <p:sp>
        <p:nvSpPr>
          <p:cNvPr id="18" name="Text 16"/>
          <p:cNvSpPr/>
          <p:nvPr/>
        </p:nvSpPr>
        <p:spPr>
          <a:xfrm>
            <a:off x="2560320" y="4389120"/>
            <a:ext cx="3337560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232F3E"/>
                </a:solidFill>
              </a:rPr>
              <a:t>PII/PHI/FTI/CJI masking · tokenization · retrieval security trimming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263640" y="4389120"/>
            <a:ext cx="1783080" cy="393192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232F3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30" b="1" dirty="0">
                <a:solidFill>
                  <a:srgbClr val="FFFFFF"/>
                </a:solidFill>
              </a:rPr>
              <a:t>FinOps</a:t>
            </a:r>
            <a:endParaRPr lang="en-US" sz="1130" dirty="0"/>
          </a:p>
        </p:txBody>
      </p:sp>
      <p:sp>
        <p:nvSpPr>
          <p:cNvPr id="20" name="Text 18"/>
          <p:cNvSpPr/>
          <p:nvPr/>
        </p:nvSpPr>
        <p:spPr>
          <a:xfrm>
            <a:off x="8138160" y="4389120"/>
            <a:ext cx="3337560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232F3E"/>
                </a:solidFill>
              </a:rPr>
              <a:t>token budgets · application inference profiles · chargeback dashboards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51560" y="57150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32F3E"/>
                </a:solidFill>
              </a:rPr>
              <a:t>Build these once, then publish every agent as a policy-bounded package against the same contracts.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02920" y="6537960"/>
            <a:ext cx="7772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Sources in speaker notes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9418320" y="6537960"/>
            <a:ext cx="2240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AWS AI Governance Platform concept</a:t>
            </a:r>
            <a:endParaRPr lang="en-US" sz="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10515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 FACTORY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1206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32F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Agent onboarding standard: make every new agent pass the same gates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731520" y="2240280"/>
            <a:ext cx="1234440" cy="1005840"/>
          </a:xfrm>
          <a:prstGeom prst="hexagon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49631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Intake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5800" y="347472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</a:rPr>
              <a:t>use case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</a:rPr>
              <a:t>risk tier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993392" y="2743200"/>
            <a:ext cx="539496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651760" y="2240280"/>
            <a:ext cx="1234440" cy="1005840"/>
          </a:xfrm>
          <a:prstGeom prst="hexagon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0" y="249631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Classify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606040" y="347472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</a:rPr>
              <a:t>data class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</a:rPr>
              <a:t>controls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913632" y="2743200"/>
            <a:ext cx="539496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572000" y="2240280"/>
            <a:ext cx="1234440" cy="1005840"/>
          </a:xfrm>
          <a:prstGeom prst="hexagon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63440" y="249631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Build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26280" y="347472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</a:rPr>
              <a:t>templates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</a:rPr>
              <a:t>connectors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833872" y="2743200"/>
            <a:ext cx="539496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492240" y="2240280"/>
            <a:ext cx="1234440" cy="1005840"/>
          </a:xfrm>
          <a:prstGeom prst="hexagon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0" y="249631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Validate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46520" y="347472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</a:rPr>
              <a:t>evals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</a:rPr>
              <a:t>red team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754112" y="2743200"/>
            <a:ext cx="539496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8412480" y="2240280"/>
            <a:ext cx="1234440" cy="1005840"/>
          </a:xfrm>
          <a:prstGeom prst="hexagon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03920" y="249631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Approve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366760" y="347472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</a:rPr>
              <a:t>CISO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</a:rPr>
              <a:t>program owner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9674352" y="2743200"/>
            <a:ext cx="539496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10332720" y="2240280"/>
            <a:ext cx="1234440" cy="1005840"/>
          </a:xfrm>
          <a:prstGeom prst="hexagon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424160" y="249631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Publish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0287000" y="347472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</a:rPr>
              <a:t>registry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</a:rPr>
              <a:t>release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14400" y="123444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32F3E"/>
                </a:solidFill>
              </a:rPr>
              <a:t>Minimum package per agent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914400" y="1627632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32F3E"/>
                </a:solidFill>
              </a:rPr>
              <a:t>agent.yaml · policy.cedar · tools.mcp.json · prompts/ · evals/ · data_contracts/ · runbook.md · cost_model.yaml · threat_model.md · acceptance_tests/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868680" y="4709160"/>
            <a:ext cx="10469880" cy="731520"/>
          </a:xfrm>
          <a:prstGeom prst="rect">
            <a:avLst/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51560" y="4928616"/>
            <a:ext cx="10104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0" b="1" dirty="0">
                <a:solidFill>
                  <a:srgbClr val="232F3E"/>
                </a:solidFill>
              </a:rPr>
              <a:t>Gate rule: no agent ships until it proves least privilege, grounding, masking, budget control, audit completeness, rollback/idempotency, and no unauthorized consequential action.</a:t>
            </a:r>
            <a:endParaRPr lang="en-US" sz="1420" dirty="0"/>
          </a:p>
        </p:txBody>
      </p:sp>
      <p:sp>
        <p:nvSpPr>
          <p:cNvPr id="32" name="Text 30"/>
          <p:cNvSpPr/>
          <p:nvPr/>
        </p:nvSpPr>
        <p:spPr>
          <a:xfrm>
            <a:off x="502920" y="6537960"/>
            <a:ext cx="7772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Sources in speaker notes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9418320" y="6537960"/>
            <a:ext cx="2240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AWS AI Governance Platform concept</a:t>
            </a:r>
            <a:endParaRPr lang="en-US" sz="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10515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AUTHORIZATION AND DATA PROTECTION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1206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32F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Control model: policy is evaluated at every boundary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</a:rPr>
              <a:t>Policy inputs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1325880"/>
            <a:ext cx="1325880" cy="384048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232F3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Who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331720" y="1325880"/>
            <a:ext cx="475488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232F3E"/>
                </a:solidFill>
              </a:rPr>
              <a:t>authenticated user / workload identity / agency role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1947672"/>
            <a:ext cx="1325880" cy="384048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232F3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Why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331720" y="1947672"/>
            <a:ext cx="475488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232F3E"/>
                </a:solidFill>
              </a:rPr>
              <a:t>declared purpose, legal authority, consent, case context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2569464"/>
            <a:ext cx="1325880" cy="384048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232F3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What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331720" y="2569464"/>
            <a:ext cx="475488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232F3E"/>
                </a:solidFill>
              </a:rPr>
              <a:t>agent grant, tool contract, data class, operation type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" y="3191256"/>
            <a:ext cx="1325880" cy="384048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232F3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Where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331720" y="3191256"/>
            <a:ext cx="475488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232F3E"/>
                </a:solidFill>
              </a:rPr>
              <a:t>region, GovCloud/commercial boundary, VPC endpoint path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2960" y="3813048"/>
            <a:ext cx="1325880" cy="384048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232F3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How much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331720" y="3813048"/>
            <a:ext cx="475488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232F3E"/>
                </a:solidFill>
              </a:rPr>
              <a:t>token budget, transaction threshold, rate limit, chargeback tag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2960" y="4434840"/>
            <a:ext cx="1325880" cy="384048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232F3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Who approves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331720" y="4434840"/>
            <a:ext cx="475488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232F3E"/>
                </a:solidFill>
              </a:rPr>
              <a:t>HITL tier, separation of duties, e-signature requirement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406640" y="2148840"/>
            <a:ext cx="1280160" cy="1143000"/>
          </a:xfrm>
          <a:prstGeom prst="rightArrow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15400" y="226771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32F3E"/>
                </a:solidFill>
              </a:rPr>
              <a:t>ALLOW / DENY / APPROVE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915400" y="2788920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Every decision creates an evidence record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60120" y="566928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80" b="1" dirty="0">
                <a:solidFill>
                  <a:srgbClr val="232F3E"/>
                </a:solidFill>
              </a:rPr>
              <a:t>Implementation: Verified Permissions + Cedar for externalized authorization, AgentCore Gateway for MCP tool access, STS/OBO tokens for scoped downstream calls.</a:t>
            </a:r>
            <a:endParaRPr lang="en-US" sz="1380" dirty="0"/>
          </a:p>
        </p:txBody>
      </p:sp>
      <p:sp>
        <p:nvSpPr>
          <p:cNvPr id="22" name="Text 20"/>
          <p:cNvSpPr/>
          <p:nvPr/>
        </p:nvSpPr>
        <p:spPr>
          <a:xfrm>
            <a:off x="502920" y="6537960"/>
            <a:ext cx="7772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Sources in speaker notes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9418320" y="6537960"/>
            <a:ext cx="2240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AWS AI Governance Platform concept</a:t>
            </a:r>
            <a:endParaRPr lang="en-US" sz="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10515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RISK AND QUALITY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1206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32F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Hallucination control is a layered system, not one feature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868680" y="1325880"/>
            <a:ext cx="3063240" cy="1051560"/>
          </a:xfrm>
          <a:prstGeom prst="roundRect">
            <a:avLst>
              <a:gd name="adj" fmla="val 6957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14984" y="1481328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</a:rPr>
              <a:t>1. Source control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14984" y="18288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curated KBs · ACL trimming · citation required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17720" y="1325880"/>
            <a:ext cx="3063240" cy="1051560"/>
          </a:xfrm>
          <a:prstGeom prst="roundRect">
            <a:avLst>
              <a:gd name="adj" fmla="val 6957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64024" y="1481328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</a:rPr>
              <a:t>2. Prompt + schema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64024" y="18288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prompt registry · JSON schemas · deterministic validators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366760" y="1325880"/>
            <a:ext cx="3063240" cy="1051560"/>
          </a:xfrm>
          <a:prstGeom prst="roundRect">
            <a:avLst>
              <a:gd name="adj" fmla="val 6957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13064" y="1481328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</a:rPr>
              <a:t>3. Guardrails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513064" y="18288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PII filters · denied topics · contextual grounding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68680" y="3154680"/>
            <a:ext cx="3063240" cy="1051560"/>
          </a:xfrm>
          <a:prstGeom prst="roundRect">
            <a:avLst>
              <a:gd name="adj" fmla="val 6957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14984" y="3310128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</a:rPr>
              <a:t>4. Cross-check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14984" y="36576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fact/number/date verifier · no unsupported claims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17720" y="3154680"/>
            <a:ext cx="3063240" cy="1051560"/>
          </a:xfrm>
          <a:prstGeom prst="roundRect">
            <a:avLst>
              <a:gd name="adj" fmla="val 6957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64024" y="3310128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</a:rPr>
              <a:t>5. Human gate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764024" y="36576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risk-based approval before consequential action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366760" y="3154680"/>
            <a:ext cx="3063240" cy="1051560"/>
          </a:xfrm>
          <a:prstGeom prst="roundRect">
            <a:avLst>
              <a:gd name="adj" fmla="val 6957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13064" y="3310128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</a:rPr>
              <a:t>6. Monitoring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513064" y="36576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eval drift · red-team failures · user feedback loop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14400" y="5349240"/>
            <a:ext cx="10287000" cy="502920"/>
          </a:xfrm>
          <a:prstGeom prst="rect">
            <a:avLst/>
          </a:prstGeom>
          <a:solidFill>
            <a:srgbClr val="232F3E"/>
          </a:solidFill>
          <a:ln>
            <a:solidFill>
              <a:srgbClr val="232F3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Rule: resident, patient, student, or employee-impacting outputs must be grounded, validated, and approved before action.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02920" y="6537960"/>
            <a:ext cx="7772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Sources in speaker notes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9418320" y="6537960"/>
            <a:ext cx="2240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AWS AI Governance Platform concept</a:t>
            </a:r>
            <a:endParaRPr lang="en-US" sz="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10515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FINOPS AND OPERATIONS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1206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32F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Token maxing, quotas, and chargeback: design it into the platform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2148840" cy="502920"/>
          </a:xfrm>
          <a:prstGeom prst="roundRect">
            <a:avLst/>
          </a:prstGeom>
          <a:solidFill>
            <a:srgbClr val="FF9900"/>
          </a:solidFill>
          <a:ln w="12700">
            <a:solidFill>
              <a:srgbClr val="FF990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240" b="1" dirty="0">
                <a:solidFill>
                  <a:srgbClr val="FFFFFF"/>
                </a:solidFill>
              </a:rPr>
              <a:t>Pre-call budget check</a:t>
            </a:r>
            <a:endParaRPr lang="en-US" sz="1240" dirty="0"/>
          </a:p>
        </p:txBody>
      </p:sp>
      <p:sp>
        <p:nvSpPr>
          <p:cNvPr id="6" name="Text 4"/>
          <p:cNvSpPr/>
          <p:nvPr/>
        </p:nvSpPr>
        <p:spPr>
          <a:xfrm>
            <a:off x="731520" y="2514600"/>
            <a:ext cx="214884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70" dirty="0">
                <a:solidFill>
                  <a:srgbClr val="232F3E"/>
                </a:solidFill>
              </a:rPr>
              <a:t>department · agent · user · purpose · model tier</a:t>
            </a:r>
            <a:endParaRPr lang="en-US" sz="1070" dirty="0"/>
          </a:p>
        </p:txBody>
      </p:sp>
      <p:sp>
        <p:nvSpPr>
          <p:cNvPr id="7" name="Shape 5"/>
          <p:cNvSpPr/>
          <p:nvPr/>
        </p:nvSpPr>
        <p:spPr>
          <a:xfrm>
            <a:off x="2971800" y="2651760"/>
            <a:ext cx="438912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3566160" y="1828800"/>
            <a:ext cx="2148840" cy="502920"/>
          </a:xfrm>
          <a:prstGeom prst="roundRect">
            <a:avLst/>
          </a:prstGeom>
          <a:solidFill>
            <a:srgbClr val="FF9900"/>
          </a:solidFill>
          <a:ln w="12700">
            <a:solidFill>
              <a:srgbClr val="FF990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240" b="1" dirty="0">
                <a:solidFill>
                  <a:srgbClr val="FFFFFF"/>
                </a:solidFill>
              </a:rPr>
              <a:t>Runtime controls</a:t>
            </a:r>
            <a:endParaRPr lang="en-US" sz="1240" dirty="0"/>
          </a:p>
        </p:txBody>
      </p:sp>
      <p:sp>
        <p:nvSpPr>
          <p:cNvPr id="9" name="Text 7"/>
          <p:cNvSpPr/>
          <p:nvPr/>
        </p:nvSpPr>
        <p:spPr>
          <a:xfrm>
            <a:off x="3566160" y="2514600"/>
            <a:ext cx="214884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70" dirty="0">
                <a:solidFill>
                  <a:srgbClr val="232F3E"/>
                </a:solidFill>
              </a:rPr>
              <a:t>max_tokens · TPM/RPM quota · rate limits · caching</a:t>
            </a:r>
            <a:endParaRPr lang="en-US" sz="1070" dirty="0"/>
          </a:p>
        </p:txBody>
      </p:sp>
      <p:sp>
        <p:nvSpPr>
          <p:cNvPr id="10" name="Shape 8"/>
          <p:cNvSpPr/>
          <p:nvPr/>
        </p:nvSpPr>
        <p:spPr>
          <a:xfrm>
            <a:off x="5806440" y="2651760"/>
            <a:ext cx="438912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6400800" y="1828800"/>
            <a:ext cx="2148840" cy="502920"/>
          </a:xfrm>
          <a:prstGeom prst="roundRect">
            <a:avLst/>
          </a:prstGeom>
          <a:solidFill>
            <a:srgbClr val="FF9900"/>
          </a:solidFill>
          <a:ln w="12700">
            <a:solidFill>
              <a:srgbClr val="FF990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240" b="1" dirty="0">
                <a:solidFill>
                  <a:srgbClr val="FFFFFF"/>
                </a:solidFill>
              </a:rPr>
              <a:t>Cost attribution</a:t>
            </a:r>
            <a:endParaRPr lang="en-US" sz="1240" dirty="0"/>
          </a:p>
        </p:txBody>
      </p:sp>
      <p:sp>
        <p:nvSpPr>
          <p:cNvPr id="12" name="Text 10"/>
          <p:cNvSpPr/>
          <p:nvPr/>
        </p:nvSpPr>
        <p:spPr>
          <a:xfrm>
            <a:off x="6400800" y="2514600"/>
            <a:ext cx="214884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70" dirty="0">
                <a:solidFill>
                  <a:srgbClr val="232F3E"/>
                </a:solidFill>
              </a:rPr>
              <a:t>application inference profiles + tags + CUR</a:t>
            </a:r>
            <a:endParaRPr lang="en-US" sz="1070" dirty="0"/>
          </a:p>
        </p:txBody>
      </p:sp>
      <p:sp>
        <p:nvSpPr>
          <p:cNvPr id="13" name="Shape 11"/>
          <p:cNvSpPr/>
          <p:nvPr/>
        </p:nvSpPr>
        <p:spPr>
          <a:xfrm>
            <a:off x="8641080" y="2651760"/>
            <a:ext cx="438912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9235440" y="1828800"/>
            <a:ext cx="2148840" cy="502920"/>
          </a:xfrm>
          <a:prstGeom prst="roundRect">
            <a:avLst/>
          </a:prstGeom>
          <a:solidFill>
            <a:srgbClr val="FF9900"/>
          </a:solidFill>
          <a:ln w="12700">
            <a:solidFill>
              <a:srgbClr val="FF990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240" b="1" dirty="0">
                <a:solidFill>
                  <a:srgbClr val="FFFFFF"/>
                </a:solidFill>
              </a:rPr>
              <a:t>Showback / chargeback</a:t>
            </a:r>
            <a:endParaRPr lang="en-US" sz="1240" dirty="0"/>
          </a:p>
        </p:txBody>
      </p:sp>
      <p:sp>
        <p:nvSpPr>
          <p:cNvPr id="15" name="Text 13"/>
          <p:cNvSpPr/>
          <p:nvPr/>
        </p:nvSpPr>
        <p:spPr>
          <a:xfrm>
            <a:off x="9235440" y="2514600"/>
            <a:ext cx="214884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70" dirty="0">
                <a:solidFill>
                  <a:srgbClr val="232F3E"/>
                </a:solidFill>
              </a:rPr>
              <a:t>QuickSight dashboards · monthly ledger · anomaly alerts</a:t>
            </a:r>
            <a:endParaRPr lang="en-US" sz="1070" dirty="0"/>
          </a:p>
        </p:txBody>
      </p:sp>
      <p:sp>
        <p:nvSpPr>
          <p:cNvPr id="16" name="Text 14"/>
          <p:cNvSpPr/>
          <p:nvPr/>
        </p:nvSpPr>
        <p:spPr>
          <a:xfrm>
            <a:off x="960120" y="4251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F3E"/>
                </a:solidFill>
              </a:rPr>
              <a:t>Required platform table: usage_ledger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4617720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request_id · department · agent_id · model_profile_arn · input_tokens · output_tokens · guardrail_units · tool_calls · cost_center · case_id · billing_period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5840" y="5669280"/>
            <a:ext cx="10149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32F3E"/>
                </a:solidFill>
              </a:rPr>
              <a:t>Why customers care: nobody wants an unbounded AI bill; governance must make usage explainable by department and controllable before the call is made.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02920" y="6537960"/>
            <a:ext cx="7772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Sources in speaker notes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9418320" y="6537960"/>
            <a:ext cx="2240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AWS AI Governance Platform concept</a:t>
            </a:r>
            <a:endParaRPr lang="en-US" sz="6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10515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COMPLIANCE MODEL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1206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32F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Regulatory alignment: one control baseline, configurable industry packs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85800" y="141732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2763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32F3E"/>
                </a:solidFill>
              </a:rPr>
              <a:t>Public sector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05740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GovRAMP / FedRAMP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CJIS · IRS 1075 · DPPA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ADA Title II · NIST AI RMF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971800" y="141732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63240" y="162763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32F3E"/>
                </a:solidFill>
              </a:rPr>
              <a:t>Healthcare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108960" y="205740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HIPAA / HITECH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MARS-E / ARC-AMPE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minimum necessary · audit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257800" y="141732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49240" y="162763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32F3E"/>
                </a:solidFill>
              </a:rPr>
              <a:t>Life sciences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394960" y="205740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21 CFR Part 11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GxP / CSA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validation evidence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543800" y="141732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35240" y="162763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32F3E"/>
                </a:solidFill>
              </a:rPr>
              <a:t>Education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680960" y="205740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FERPA · PPRA · COPPA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student-data access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accessibility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829800" y="141732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921240" y="162763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32F3E"/>
                </a:solidFill>
              </a:rPr>
              <a:t>Enterprise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966960" y="205740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SOC 2 · ISO 27001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PCI · privacy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model risk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77240" y="4160520"/>
            <a:ext cx="10607040" cy="987552"/>
          </a:xfrm>
          <a:prstGeom prst="rect">
            <a:avLst/>
          </a:prstGeom>
          <a:solidFill>
            <a:srgbClr val="232F3E"/>
          </a:solidFill>
          <a:ln>
            <a:solidFill>
              <a:srgbClr val="232F3E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algn="ctr" indent="0" marL="0">
              <a:buNone/>
            </a:pPr>
            <a:r>
              <a:rPr lang="en-US" sz="1240" b="1" dirty="0">
                <a:solidFill>
                  <a:srgbClr val="FFFFFF"/>
                </a:solidFill>
              </a:rPr>
              <a:t>Common controls: identity · least privilege · data-class isolation · masking/tokenization · human authority · immutable evidence · retention · evals · red-team · change control · incident response</a:t>
            </a:r>
            <a:endParaRPr lang="en-US" sz="1240" dirty="0"/>
          </a:p>
        </p:txBody>
      </p:sp>
      <p:sp>
        <p:nvSpPr>
          <p:cNvPr id="21" name="Text 19"/>
          <p:cNvSpPr/>
          <p:nvPr/>
        </p:nvSpPr>
        <p:spPr>
          <a:xfrm>
            <a:off x="914400" y="5715000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32F3E"/>
                </a:solidFill>
              </a:rPr>
              <a:t>Important: the platform supports compliance; the customer still owns authorization, validation, procedures, risk acceptance, and operations.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02920" y="6537960"/>
            <a:ext cx="7772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Sources in speaker notes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9418320" y="6537960"/>
            <a:ext cx="2240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AWS AI Governance Platform concept</a:t>
            </a:r>
            <a:endParaRPr lang="en-US" sz="6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10515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ROADMAP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1206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32F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Build plan: from current repo to deployable platform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594360" cy="594360"/>
          </a:xfrm>
          <a:prstGeom prst="ellipse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746504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389888" y="1892808"/>
            <a:ext cx="1078992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457200" y="242316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2F3E"/>
                </a:solidFill>
              </a:rPr>
              <a:t>Foundation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47472" y="2788920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334155"/>
                </a:solidFill>
              </a:rPr>
              <a:t>repo split · schemas · registry · CI gates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606040" y="1600200"/>
            <a:ext cx="594360" cy="594360"/>
          </a:xfrm>
          <a:prstGeom prst="ellipse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06040" y="1746504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264408" y="1892808"/>
            <a:ext cx="1078992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2331720" y="242316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2F3E"/>
                </a:solidFill>
              </a:rPr>
              <a:t>Core runtime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221992" y="2788920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334155"/>
                </a:solidFill>
              </a:rPr>
              <a:t>identity · AVP · AgentCore Gateway · model gateway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480560" y="1600200"/>
            <a:ext cx="594360" cy="594360"/>
          </a:xfrm>
          <a:prstGeom prst="ellipse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80560" y="1746504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38928" y="1892808"/>
            <a:ext cx="1078992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4206240" y="242316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2F3E"/>
                </a:solidFill>
              </a:rPr>
              <a:t>Evidence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096512" y="2788920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334155"/>
                </a:solidFill>
              </a:rPr>
              <a:t>audit ledger · WORM · control evidence · dashboards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355080" y="1600200"/>
            <a:ext cx="594360" cy="594360"/>
          </a:xfrm>
          <a:prstGeom prst="ellipse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55080" y="1746504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013448" y="1892808"/>
            <a:ext cx="1078992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6080760" y="242316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2F3E"/>
                </a:solidFill>
              </a:rPr>
              <a:t>FinOps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971032" y="2788920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334155"/>
                </a:solidFill>
              </a:rPr>
              <a:t>token budgets · profiles · CUR · chargeback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8229600" y="1600200"/>
            <a:ext cx="594360" cy="594360"/>
          </a:xfrm>
          <a:prstGeom prst="ellipse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9600" y="1746504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8887968" y="1892808"/>
            <a:ext cx="1078992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7955280" y="242316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2F3E"/>
                </a:solidFill>
              </a:rPr>
              <a:t>Pilot agent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7845552" y="2788920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334155"/>
                </a:solidFill>
              </a:rPr>
              <a:t>one live connector · acceptance test · runbook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10104120" y="1600200"/>
            <a:ext cx="594360" cy="594360"/>
          </a:xfrm>
          <a:prstGeom prst="ellipse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104120" y="1746504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829800" y="242316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2F3E"/>
                </a:solidFill>
              </a:rPr>
              <a:t>Scale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9720072" y="2788920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334155"/>
                </a:solidFill>
              </a:rPr>
              <a:t>industry packs · agent marketplace · ATO library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1143000" y="4160520"/>
            <a:ext cx="9829800" cy="1051560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F3E"/>
                </a:solidFill>
              </a:rPr>
              <a:t>First customer: choose one low-blast-radius, measurable workflow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232F3E"/>
                </a:solidFill>
              </a:rPr>
              <a:t>For SLG: resident services / 311 or IT service desk. For healthcare: revenue-cycle appeal drafting. For EDU: service desk or student-form intake.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02920" y="6537960"/>
            <a:ext cx="7772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Sources in speaker notes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9418320" y="6537960"/>
            <a:ext cx="2240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AWS AI Governance Platform concept</a:t>
            </a:r>
            <a:endParaRPr lang="en-US" sz="6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10515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GTM MOTION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1206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32F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 go-to-market: land with value, expand with governance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822960" y="1554480"/>
            <a:ext cx="2240280" cy="502920"/>
          </a:xfrm>
          <a:prstGeom prst="roundRect">
            <a:avLst/>
          </a:prstGeom>
          <a:solidFill>
            <a:srgbClr val="FF9900"/>
          </a:solidFill>
          <a:ln w="12700">
            <a:solidFill>
              <a:srgbClr val="FF990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Discover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331720"/>
            <a:ext cx="22402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232F3E"/>
                </a:solidFill>
              </a:rPr>
              <a:t>AI pilots, data classes, systems, authority boundaries, backlog, budget owner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108960" y="2057400"/>
            <a:ext cx="457200" cy="0"/>
          </a:xfrm>
          <a:prstGeom prst="line">
            <a:avLst/>
          </a:prstGeom>
          <a:noFill/>
          <a:ln w="1651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3657600" y="1554480"/>
            <a:ext cx="2240280" cy="502920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232F3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Land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57600" y="2331720"/>
            <a:ext cx="22402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232F3E"/>
                </a:solidFill>
              </a:rPr>
              <a:t>one workflow in customer AWS account with synthetic + one live connector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943600" y="2057400"/>
            <a:ext cx="457200" cy="0"/>
          </a:xfrm>
          <a:prstGeom prst="line">
            <a:avLst/>
          </a:prstGeom>
          <a:noFill/>
          <a:ln w="1651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6492240" y="1554480"/>
            <a:ext cx="2240280" cy="502920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232F3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Prove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92240" y="2331720"/>
            <a:ext cx="22402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232F3E"/>
                </a:solidFill>
              </a:rPr>
              <a:t>cycle-time, cost, quality, audit evidence, CISO review, accessibility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778240" y="2057400"/>
            <a:ext cx="457200" cy="0"/>
          </a:xfrm>
          <a:prstGeom prst="line">
            <a:avLst/>
          </a:prstGeom>
          <a:noFill/>
          <a:ln w="1651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9326880" y="1554480"/>
            <a:ext cx="2240280" cy="502920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232F3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Expand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326880" y="2331720"/>
            <a:ext cx="22402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232F3E"/>
                </a:solidFill>
              </a:rPr>
              <a:t>new agents inherit registry, policy, audit, chargeback, and onboarding standard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914400" y="4206240"/>
            <a:ext cx="10378440" cy="960120"/>
          </a:xfrm>
          <a:prstGeom prst="rect">
            <a:avLst/>
          </a:prstGeom>
          <a:solidFill>
            <a:srgbClr val="232F3E"/>
          </a:solidFill>
          <a:ln>
            <a:solidFill>
              <a:srgbClr val="232F3E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algn="ctr" indent="0" marL="0">
              <a:buNone/>
            </a:pPr>
            <a:r>
              <a:rPr lang="en-US" sz="1160" b="1" dirty="0">
                <a:solidFill>
                  <a:srgbClr val="FFFFFF"/>
                </a:solidFill>
              </a:rPr>
              <a:t>Opening line for the first customer</a:t>
            </a:r>
            <a:endParaRPr lang="en-US" sz="1160" dirty="0"/>
          </a:p>
          <a:p>
            <a:pPr algn="ctr" indent="0" marL="0">
              <a:buNone/>
            </a:pPr>
            <a:r>
              <a:rPr lang="en-US" sz="1160" b="1" dirty="0">
                <a:solidFill>
                  <a:srgbClr val="FFFFFF"/>
                </a:solidFill>
              </a:rPr>
              <a:t>“You do not need another AI pilot. You need a governance substrate that lets you approve one safe pattern, then onboard agents one at a time with evidence your CISO, auditor, and program leaders can defend.”</a:t>
            </a:r>
            <a:endParaRPr lang="en-US" sz="1160" dirty="0"/>
          </a:p>
        </p:txBody>
      </p:sp>
      <p:sp>
        <p:nvSpPr>
          <p:cNvPr id="17" name="Text 15"/>
          <p:cNvSpPr/>
          <p:nvPr/>
        </p:nvSpPr>
        <p:spPr>
          <a:xfrm>
            <a:off x="1005840" y="5833872"/>
            <a:ext cx="10241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0" b="1" dirty="0">
                <a:solidFill>
                  <a:srgbClr val="232F3E"/>
                </a:solidFill>
              </a:rPr>
              <a:t>Sales asset package: exec deck · CISO briefing · architecture deep-dive · control matrix · ROI/TCO worksheet · SOW template · deployment runbook · acceptance test.</a:t>
            </a:r>
            <a:endParaRPr lang="en-US" sz="1230" dirty="0"/>
          </a:p>
        </p:txBody>
      </p:sp>
      <p:sp>
        <p:nvSpPr>
          <p:cNvPr id="18" name="Text 16"/>
          <p:cNvSpPr/>
          <p:nvPr/>
        </p:nvSpPr>
        <p:spPr>
          <a:xfrm>
            <a:off x="502920" y="6537960"/>
            <a:ext cx="7772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Sources in speaker notes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9418320" y="6537960"/>
            <a:ext cx="2240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AWS AI Governance Platform concept</a:t>
            </a:r>
            <a:endParaRPr lang="en-US" sz="6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10515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FIELD / PARTNER NARRATIVE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1206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32F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AWS positioning: why this belongs on AWS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777240" y="1188720"/>
            <a:ext cx="1737360" cy="411480"/>
          </a:xfrm>
          <a:prstGeom prst="roundRect">
            <a:avLst/>
          </a:prstGeom>
          <a:solidFill>
            <a:srgbClr val="FF9900"/>
          </a:solidFill>
          <a:ln w="12700">
            <a:solidFill>
              <a:srgbClr val="FF990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Agentic controls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651760" y="1188720"/>
            <a:ext cx="324612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232F3E"/>
                </a:solidFill>
              </a:rPr>
              <a:t>Bedrock AgentCore Runtime, Gateway, Identity, Observability</a:t>
            </a:r>
            <a:endParaRPr lang="en-US" sz="1020" dirty="0"/>
          </a:p>
        </p:txBody>
      </p:sp>
      <p:sp>
        <p:nvSpPr>
          <p:cNvPr id="7" name="Text 5"/>
          <p:cNvSpPr/>
          <p:nvPr/>
        </p:nvSpPr>
        <p:spPr>
          <a:xfrm>
            <a:off x="6309360" y="1188720"/>
            <a:ext cx="1737360" cy="411480"/>
          </a:xfrm>
          <a:prstGeom prst="roundRect">
            <a:avLst/>
          </a:prstGeom>
          <a:solidFill>
            <a:srgbClr val="FF9900"/>
          </a:solidFill>
          <a:ln w="12700">
            <a:solidFill>
              <a:srgbClr val="FF990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Models + safety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183880" y="1188720"/>
            <a:ext cx="324612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232F3E"/>
                </a:solidFill>
              </a:rPr>
              <a:t>Amazon Bedrock, Guardrails, Knowledge Bases, PrivateLink</a:t>
            </a:r>
            <a:endParaRPr lang="en-US" sz="1020" dirty="0"/>
          </a:p>
        </p:txBody>
      </p:sp>
      <p:sp>
        <p:nvSpPr>
          <p:cNvPr id="9" name="Text 7"/>
          <p:cNvSpPr/>
          <p:nvPr/>
        </p:nvSpPr>
        <p:spPr>
          <a:xfrm>
            <a:off x="777240" y="2414016"/>
            <a:ext cx="1737360" cy="411480"/>
          </a:xfrm>
          <a:prstGeom prst="roundRect">
            <a:avLst/>
          </a:prstGeom>
          <a:solidFill>
            <a:srgbClr val="FF9900"/>
          </a:solidFill>
          <a:ln w="12700">
            <a:solidFill>
              <a:srgbClr val="FF990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Governance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651760" y="2414016"/>
            <a:ext cx="324612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232F3E"/>
                </a:solidFill>
              </a:rPr>
              <a:t>Verified Permissions, IAM Identity Center, Organizations, Control Tower</a:t>
            </a:r>
            <a:endParaRPr lang="en-US" sz="1020" dirty="0"/>
          </a:p>
        </p:txBody>
      </p:sp>
      <p:sp>
        <p:nvSpPr>
          <p:cNvPr id="11" name="Text 9"/>
          <p:cNvSpPr/>
          <p:nvPr/>
        </p:nvSpPr>
        <p:spPr>
          <a:xfrm>
            <a:off x="6309360" y="2414016"/>
            <a:ext cx="1737360" cy="411480"/>
          </a:xfrm>
          <a:prstGeom prst="roundRect">
            <a:avLst/>
          </a:prstGeom>
          <a:solidFill>
            <a:srgbClr val="FF9900"/>
          </a:solidFill>
          <a:ln w="12700">
            <a:solidFill>
              <a:srgbClr val="FF990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Evidence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183880" y="2414016"/>
            <a:ext cx="324612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232F3E"/>
                </a:solidFill>
              </a:rPr>
              <a:t>CloudTrail, Security Lake, DynamoDB, S3 Object Lock, KMS</a:t>
            </a:r>
            <a:endParaRPr lang="en-US" sz="1020" dirty="0"/>
          </a:p>
        </p:txBody>
      </p:sp>
      <p:sp>
        <p:nvSpPr>
          <p:cNvPr id="13" name="Text 11"/>
          <p:cNvSpPr/>
          <p:nvPr/>
        </p:nvSpPr>
        <p:spPr>
          <a:xfrm>
            <a:off x="777240" y="3639312"/>
            <a:ext cx="1737360" cy="411480"/>
          </a:xfrm>
          <a:prstGeom prst="roundRect">
            <a:avLst/>
          </a:prstGeom>
          <a:solidFill>
            <a:srgbClr val="FF9900"/>
          </a:solidFill>
          <a:ln w="12700">
            <a:solidFill>
              <a:srgbClr val="FF990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Operations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651760" y="3639312"/>
            <a:ext cx="324612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232F3E"/>
                </a:solidFill>
              </a:rPr>
              <a:t>CloudWatch, X-Ray, Service Quotas, CUR, Budgets, QuickSight</a:t>
            </a:r>
            <a:endParaRPr lang="en-US" sz="1020" dirty="0"/>
          </a:p>
        </p:txBody>
      </p:sp>
      <p:sp>
        <p:nvSpPr>
          <p:cNvPr id="15" name="Text 13"/>
          <p:cNvSpPr/>
          <p:nvPr/>
        </p:nvSpPr>
        <p:spPr>
          <a:xfrm>
            <a:off x="6309360" y="3639312"/>
            <a:ext cx="1737360" cy="411480"/>
          </a:xfrm>
          <a:prstGeom prst="roundRect">
            <a:avLst/>
          </a:prstGeom>
          <a:solidFill>
            <a:srgbClr val="FF9900"/>
          </a:solidFill>
          <a:ln w="12700">
            <a:solidFill>
              <a:srgbClr val="FF990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Public sector fit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183880" y="3639312"/>
            <a:ext cx="324612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232F3E"/>
                </a:solidFill>
              </a:rPr>
              <a:t>GovCloud, FedRAMP High / DoD IL authorizations, GovRAMP recognition</a:t>
            </a:r>
            <a:endParaRPr lang="en-US" sz="1020" dirty="0"/>
          </a:p>
        </p:txBody>
      </p:sp>
      <p:sp>
        <p:nvSpPr>
          <p:cNvPr id="17" name="Text 15"/>
          <p:cNvSpPr/>
          <p:nvPr/>
        </p:nvSpPr>
        <p:spPr>
          <a:xfrm>
            <a:off x="960120" y="5623560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32F3E"/>
                </a:solidFill>
              </a:rPr>
              <a:t>AWS field narrative: “This standardizes how customers deploy agents safely on AWS, turns governance into reusable infrastructure, and creates a repeatable land-and-expand motion for Bedrock and AgentCore.”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02920" y="6537960"/>
            <a:ext cx="7772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Sources in speaker notes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9418320" y="6537960"/>
            <a:ext cx="2240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AWS AI Governance Platform concept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F3E"/>
      </a:dk2>
      <a:lt2>
        <a:srgbClr val="E7E6E6"/>
      </a:lt2>
      <a:accent1>
        <a:srgbClr val="FF9900"/>
      </a:accent1>
      <a:accent2>
        <a:srgbClr val="232F3E"/>
      </a:accent2>
      <a:accent3>
        <a:srgbClr val="01A88D"/>
      </a:accent3>
      <a:accent4>
        <a:srgbClr val="8C4FFF"/>
      </a:accent4>
      <a:accent5>
        <a:srgbClr val="DD344C"/>
      </a:accent5>
      <a:accent6>
        <a:srgbClr val="ED7100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AWS Whole-of-Enterprise AI Governance Platform</dc:title>
  <dc:subject>AWS Whole-of-Enterprise AI Governance Platform</dc:subject>
  <dc:creator>OpenAI</dc:creator>
  <cp:lastModifiedBy>OpenAI</cp:lastModifiedBy>
  <cp:revision>1</cp:revision>
  <dcterms:created xsi:type="dcterms:W3CDTF">2026-06-30T18:22:58Z</dcterms:created>
  <dcterms:modified xsi:type="dcterms:W3CDTF">2026-06-30T18:22:58Z</dcterms:modified>
</cp:coreProperties>
</file>