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Thesis: separate the governance substrate from the agent catalog. This lets a customer approve one platform pattern, then onboard agents one at a time with inherited controls.
Repo reviewed: https://github.com/virtualryder/slg-ai-agents
Key evidence: repo README states the agent is not the product; governance is. It also states this is a production-shaped accelerator, not an authorized production-ready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current slg-ai-agents repository explicitly frames governance as the product and agents as configurations; README and ENTERPRISE-PLATFORM.md support this direction.
NASCIO 2026 ranks AI as a top state CIO priority; the repository cites NASCIO pilot/funding constraints in its current README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a point solution gives the customer another AI app. The platform gives them a standard operating model for every agent.
This maps to the SLG repo GTM story: one identity, one authorization model, one audit trail across agencies.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AWS Control Tower describes a landing zone as a well-architected multi-account environment based on security and compliance best practices: https://docs.aws.amazon.com/controltower/latest/userguide/what-is-control-tower.html
AWS Security Lake can collect CloudTrail, EKS audit, Route 53 resolver, Security Hub, VPC Flow Logs, and WAF logs: https://docs.aws.amazon.com/security-lake/latest/userguide/internal-sources.html
S3 Object Lock provides WORM-style protection for retention/legal hold: https://docs.aws.amazon.com/AmazonS3/latest/userguide/object-lock.html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is a managed AI gateway for connecting agents to MCP-compatible tools with ingress and egress authentication: https://docs.aws.amazon.com/bedrock-agentcore/latest/devguide/gateway.html
AgentCore Identity supports scoped on-behalf-of token exchange: https://docs.aws.amazon.com/bedrock-agentcore/latest/devguide/on-behalf-of-token-exchange.html
Amazon Verified Permissions externalizes fine-grained authorization using Cedar: https://docs.aws.amazon.com/verifiedpermissions/latest/userguide/what-is-avp.html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Improvement from slg-ai-agents: extract gov_platform and governance into a platform repo with strict contracts, then refactor current agents into add-on packages.
The existing repo already includes governance, control mappings, a WoG platform, and production-readiness documents; those should become formal product modules, not just repo folders.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contract Claude Code should build toward. The current SLG repo has similar concepts but needs a formal package spec and CI gate for each new agent.
Agent YAML should compile to infrastructure, policy, dashboards, and compliance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Permissions uses Cedar to define fine-grained permissions: https://docs.aws.amazon.com/verifiedpermissions/latest/userguide/what-is-avp.html
AgentCore Gateway provides governed tool access and supports MCP-compatible tools: https://docs.aws.amazon.com/bedrock-agentcore/latest/devguide/gateway.html
AgentCore Identity supports scoped OBO tokens: https://docs.aws.amazon.com/bedrock-agentcore/latest/devguide/on-behalf-of-token-exchange.html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Amazon Bedrock Guardrails supports safety/privacy controls and sensitive information filters: https://docs.aws.amazon.com/bedrock/latest/userguide/guardrails.html
Bedrock Guardrails contextual grounding checks can detect hallucinations for summarization, paraphrasing, and QA when reference source and query are provided: https://docs.aws.amazon.com/bedrock/latest/userguide/guardrails-contextual-grounding-check.html
Bedrock sensitive information filters can detect PII in prompts or responses, but documentation notes limitations for tool_use output parameters, so deterministic DLP must still run around tool calls: https://docs.aws.amazon.com/bedrock/latest/userguide/guardrails-sensitive-filters.html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inference profiles allow Bedrock usage/cost attribution using tags attached to the profile billing record: https://docs.aws.amazon.com/bedrock/latest/userguide/cost-mgmt-application-inference-profiles.html
Bedrock publishes runtime metrics such as token counts and quota usage to CloudWatch: https://docs.aws.amazon.com/bedrock/latest/userguide/monitoring-runtime-metrics.html
AWS documents InputTokenCount, OutputTokenCount, CacheReadInputTokens, CacheWriteInputTokens for quota and token monitoring: https://docs.aws.amazon.com/bedrock/latest/userguide/quotas-token-burndown.html
Bedrock model invocation logging can deliver logs to CloudWatch or S3: https://docs.aws.amazon.com/bedrock/latest/userguide/model-invocation-logging.html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GovRAMP is designed for state, local, and tribal governments; AWS states GovCloud High and US East/West Moderate FedRAMP authorizations are recognized by GovRAMP: https://aws.amazon.com/compliance/govramp/
NIST AI RMF GenAI Profile helps organizations identify GenAI risks and actions for risk management: https://www.nist.gov/publications/artificial-intelligence-risk-management-framework-generative-artificial-intelligence
DOJ extended ADA Title II web/mobile accessibility compliance dates to Apr 26, 2027 for &gt;=50k population entities and Apr 26, 2028 for smaller/special districts: https://www.federalregister.gov/documents/2026/04/20/2026-07663/extension-of-compliance-dates-for-nondiscrimination-on-the-basis-of-disability-accessibility-of-web
FBI CJIS Security Policy v6.0 is dated Dec. 27, 2024: https://le.fbi.gov/file-repository/cjis_security_policy_v6-0_20241227.pdf
IRS Pub 1075 defines safeguards for Federal Tax Information: https://www.irs.gov/pub/irs-pdf/p1075.pdf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phased plan is intentionally biased toward a low-blast-radius first agent. The existing SLG production-readiness document recommends Resident Services/311 or IT service desk before benefits/public safety.
The first pilot must produce measurable value and evidence, not just 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maps to the existing slg-ai-agents WOG GTM story, but broadens it from SLG to whole-of-enterprise governance.
The key is to avoid overclaiming turnkey production readiness. Sell a governed pilot with a clear hardening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docs: https://docs.aws.amazon.com/bedrock-agentcore/latest/devguide/gateway.html
AgentCore Identity docs: https://docs.aws.amazon.com/bedrock-agentcore/latest/devguide/identity.html
Bedrock Guardrails docs: https://docs.aws.amazon.com/bedrock/latest/userguide/guardrails.html
Bedrock PrivateLink docs: https://docs.aws.amazon.com/bedrock/latest/userguide/vpc-interface-endpoints.html
AWS GovRAMP page: https://aws.amazon.com/compliance/govramp/
Amazon Bedrock GovCloud FedRAMP High / DoD IL-4/5 announcement: https://aws.amazon.com/about-aws/whats-new/2025/05/amazon-bedrock-models-fedramp-high-dod-il-4-5-govcloud/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26680" y="182880"/>
            <a:ext cx="3749040" cy="3749040"/>
          </a:xfrm>
          <a:prstGeom prst="arc">
            <a:avLst/>
          </a:prstGeom>
          <a:solidFill>
            <a:srgbClr val="232F3E">
              <a:alpha val="0"/>
            </a:srgbClr>
          </a:solidFill>
          <a:ln w="25400">
            <a:solidFill>
              <a:srgbClr val="FF9900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28600"/>
            <a:ext cx="2834640" cy="2834640"/>
          </a:xfrm>
          <a:prstGeom prst="arc">
            <a:avLst/>
          </a:prstGeom>
          <a:solidFill>
            <a:srgbClr val="232F3E">
              <a:alpha val="0"/>
            </a:srgbClr>
          </a:solidFill>
          <a:ln w="25400">
            <a:solidFill>
              <a:srgbClr val="06B6D4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7498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Whole-of-Enterprise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Governance Platform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DE8F5"/>
                </a:solidFill>
              </a:rPr>
              <a:t>AWS reference architecture + GTM package for governed agents across public sector, healthcare/life sciences, education, and enterprise workloads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1965960" cy="292608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Governance is the product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871216" y="3703320"/>
            <a:ext cx="1508760" cy="292608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Agents are add-ons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53712" y="3703320"/>
            <a:ext cx="1143000" cy="29260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AWS-native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" y="6172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5C7"/>
                </a:solidFill>
              </a:rPr>
              <a:t>Prepared for customer leadership / AWS field review</a:t>
            </a:r>
            <a:endParaRPr lang="en-US" sz="1000" dirty="0"/>
          </a:p>
        </p:txBody>
      </p:sp>
      <p:sp>
        <p:nvSpPr>
          <p:cNvPr id="11" name="TextBox 10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PLATFORM EXISTS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leadership problem: AI value is trapped behind governance friction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CIO / CEO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46888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Pressure to move from pilots to measurable outcomes without creating dozens of disconnected AI projects.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Needs provable identity, authorization, audit, data isolation, retention, and incident evidence.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Needs one reusable pattern for agents, tools, models, data, approvals, and observability.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Program owners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32F3E"/>
                </a:solidFill>
              </a:rPr>
              <a:t>Need faster service delivery without letting AI make legally consequential decisions.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011680" y="4663440"/>
            <a:ext cx="8138160" cy="640080"/>
          </a:xfrm>
          <a:prstGeom prst="chevron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 governed substrate, many agent products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565099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The repo already has the right thesis; the improvement is to extract the substrate into its own deployable platform repo, then plug SLG, HCLS, EDU, and enterprise agents into it.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Positioning: not a chatbot suite — a governed AI operating layer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7548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</a:rPr>
              <a:t>Point-solution AI sprawl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993392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identity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2468880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tool connectors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2944368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audit trail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3419856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security review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3895344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cost 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0" y="1234440"/>
            <a:ext cx="4754880" cy="4114800"/>
          </a:xfrm>
          <a:prstGeom prst="rect">
            <a:avLst/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Governed platform model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32320" y="1993392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Common identity + consent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32320" y="2468880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Central policy + tool gateway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0" y="2944368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Immutable evidence package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32320" y="3419856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Inherited control baseline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3895344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Chargeback + token governance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23560" y="3291840"/>
            <a:ext cx="822960" cy="0"/>
          </a:xfrm>
          <a:prstGeom prst="line">
            <a:avLst/>
          </a:prstGeom>
          <a:noFill/>
          <a:ln w="317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63040" y="5806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F3E"/>
                </a:solidFill>
              </a:rPr>
              <a:t>Land one agent. Approve the substrate. Expand by configuration.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account architecture: isolate by data class, govern centrally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111099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24358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AWS Organizations / Control Tower landing zone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Security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GuardDuty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Security Hub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Config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56616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Log Archive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CloudTrail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Security Lake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S3 Object Lock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Network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Transit Gateway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VPC endpoints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DNS / egress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86968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AI Governance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Registry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Policy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Evals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232F3E"/>
                </a:solidFill>
              </a:rPr>
              <a:t>Chargeback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Public / Low-risk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443484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FF99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PII / Enterprise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4456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95528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PHI / HIPAA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6500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91440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CJI / CJIS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412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443484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FF99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FTI / IRS 1075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456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95528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06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</a:rPr>
              <a:t>EDU / FERPA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06500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914400" y="560527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32F3E"/>
                </a:solidFill>
              </a:rPr>
              <a:t>Pattern: central governance plane; isolated runtime/data planes by regulatory boundary.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Runtime flow: every model call and tool call passes through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User / app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Federated identity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role + purpose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2084832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2441448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 runtime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Step Functions /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AgentCore Runtime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023360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79976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Policy decision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Verified Permissions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Cedar + context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961888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18504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Model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Bedrock + Guardrails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KB + prompt registry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7900416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8257032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Tool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AgentCore Gateway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MCP targets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9838944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019556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Systems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EHR / SIS / CRM</a:t>
            </a:r>
            <a:endParaRPr lang="en-US" sz="1020" dirty="0"/>
          </a:p>
          <a:p>
            <a:pPr algn="l" indent="0" marL="0">
              <a:buNone/>
            </a:pPr>
            <a:r>
              <a:rPr lang="en-US" sz="1020" b="1" dirty="0">
                <a:solidFill>
                  <a:srgbClr val="232F3E"/>
                </a:solidFill>
              </a:rPr>
              <a:t>ERP / permits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914400" y="4754880"/>
            <a:ext cx="10332720" cy="685800"/>
          </a:xfrm>
          <a:prstGeom prst="round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Compliance Event Bus → append-only audit → WORM evidence package → dashboards, ATO artifacts, and chargeback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126187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F3E"/>
                </a:solidFill>
              </a:rPr>
              <a:t>Invariant: the agent can never exceed the authenticated user, declared purpose, data class, approved tools, token budget, or human authority boundary.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DECOMPOSITION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services: what must become the standalone repo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23444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Agent Registry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256032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owner · purpose · risk tier · data class · model · evals · cost center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63640" y="123444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Tool Registry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813816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MCP schema · system owner · CRUD · rollback · approval · idempotency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Policy Engine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256032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user entitlement ∩ agent grant ∩ purpose ∩ consent ∩ residency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63640" y="228600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Approval Service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13816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HITL queue · e-signature · separation of duties · task-token workflow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333756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Model Gateway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256032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Bedrock routing · max_tokens · Guardrails · prompt pinning · fallbacks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333756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Evidence Ledger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813816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masked events · immutable audit · WORM export · control evidence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438912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Data Protection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256032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PII/PHI/FTI/CJI masking · tokenization · retrieval security trimming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63640" y="438912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</a:rPr>
              <a:t>FinOps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813816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32F3E"/>
                </a:solidFill>
              </a:rPr>
              <a:t>token budgets · application inference profiles · chargeback dashboards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57150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Build these once, then publish every agent as a policy-bounded package against the same contracts.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FACTORY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onboarding standard: make every new agent pass the same gates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Intake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use case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risk tier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9339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5176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Classify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0604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data class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controls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1363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2628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templates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connectors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83387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49224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Validate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evals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red team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5411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41248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6676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CISO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program owner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7435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33272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Publish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2870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registry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release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1234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F3E"/>
                </a:solidFill>
              </a:rPr>
              <a:t>Minimum package per agent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62763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32F3E"/>
                </a:solidFill>
              </a:rPr>
              <a:t>agent.yaml · policy.cedar · tools.mcp.json · prompts/ · evals/ · data_contracts/ · runbook.md · cost_model.yaml · threat_model.md · acceptance_tests/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68680" y="4709160"/>
            <a:ext cx="10469880" cy="7315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4928616"/>
            <a:ext cx="10104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232F3E"/>
                </a:solidFill>
              </a:rPr>
              <a:t>Gate rule: no agent ships until it proves least privilege, grounding, masking, budget control, audit completeness, rollback/idempotency, and no unauthorized consequential action.</a:t>
            </a:r>
            <a:endParaRPr lang="en-US" sz="1420" dirty="0"/>
          </a:p>
        </p:txBody>
      </p:sp>
      <p:sp>
        <p:nvSpPr>
          <p:cNvPr id="32" name="Text 3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AUTHORIZATION AND DATA PROTECTION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model: policy is evaluated at every boundary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Policy inputs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31720" y="132588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authenticated user / workload identity / agency role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947672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31720" y="1947672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declared purpose, legal authority, consent, case context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569464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What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2569464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agent grant, tool contract, data class, operation 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191256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31720" y="3191256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region, GovCloud/commercial boundary, VPC endpoint path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813048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How much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31720" y="3813048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token budget, transaction threshold, rate limit, chargeback tag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Who approves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443484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232F3E"/>
                </a:solidFill>
              </a:rPr>
              <a:t>HITL tier, separation of duties, e-signature requirement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6640" y="2148840"/>
            <a:ext cx="1280160" cy="1143000"/>
          </a:xfrm>
          <a:prstGeom prst="rightArrow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22677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</a:rPr>
              <a:t>ALLOW / DENY / APPROVE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91540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Every decision creates an evidence record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5669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32F3E"/>
                </a:solidFill>
              </a:rPr>
              <a:t>Implementation: Verified Permissions + Cedar for externalized authorization, AgentCore Gateway for MCP tool access, STS/OBO tokens for scoped downstream calls.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RISK AND QUALITY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Hallucination control is a layered system, not one feature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1. Source control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1498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curated KBs · ACL trimming · citation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6402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2. Prompt + schema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402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prompt registry · JSON schemas · deterministic validators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306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3. Guardrails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1306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PII filters · denied topics · contextual grounding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4. Cross-check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1498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fact/number/date verifier · no unsupported claims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6402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5. Human gate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6402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risk-based approval before consequential action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6676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1306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6. Monitoring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eval drift · red-team failures · user feedback loop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5349240"/>
            <a:ext cx="10287000" cy="502920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Rule: resident, patient, student, or employee-impacting outputs must be grounded, validated, and approved before action.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FINOPS AND OPERATIONS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 maxing, quotas, and chargeback: design it into the platform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Pre-call budget check</a:t>
            </a:r>
            <a:endParaRPr lang="en-US" sz="124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department · agent · user · purpose · model tier</a:t>
            </a:r>
            <a:endParaRPr lang="en-US" sz="1070" dirty="0"/>
          </a:p>
        </p:txBody>
      </p:sp>
      <p:sp>
        <p:nvSpPr>
          <p:cNvPr id="7" name="Shape 5"/>
          <p:cNvSpPr/>
          <p:nvPr/>
        </p:nvSpPr>
        <p:spPr>
          <a:xfrm>
            <a:off x="297180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56616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Runtime controls</a:t>
            </a:r>
            <a:endParaRPr lang="en-US" sz="1240" dirty="0"/>
          </a:p>
        </p:txBody>
      </p:sp>
      <p:sp>
        <p:nvSpPr>
          <p:cNvPr id="9" name="Text 7"/>
          <p:cNvSpPr/>
          <p:nvPr/>
        </p:nvSpPr>
        <p:spPr>
          <a:xfrm>
            <a:off x="356616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max_tokens · TPM/RPM quota · rate limits · caching</a:t>
            </a:r>
            <a:endParaRPr lang="en-US" sz="1070" dirty="0"/>
          </a:p>
        </p:txBody>
      </p:sp>
      <p:sp>
        <p:nvSpPr>
          <p:cNvPr id="10" name="Shape 8"/>
          <p:cNvSpPr/>
          <p:nvPr/>
        </p:nvSpPr>
        <p:spPr>
          <a:xfrm>
            <a:off x="580644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40080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Cost attribution</a:t>
            </a:r>
            <a:endParaRPr lang="en-US" sz="1240" dirty="0"/>
          </a:p>
        </p:txBody>
      </p:sp>
      <p:sp>
        <p:nvSpPr>
          <p:cNvPr id="12" name="Text 10"/>
          <p:cNvSpPr/>
          <p:nvPr/>
        </p:nvSpPr>
        <p:spPr>
          <a:xfrm>
            <a:off x="640080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application inference profiles + tags + CUR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64108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23544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Showback / chargeback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923544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232F3E"/>
                </a:solidFill>
              </a:rPr>
              <a:t>QuickSight dashboards · monthly ledger · anomaly alerts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960120" y="4251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</a:rPr>
              <a:t>Required platform table: usage_ledger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1772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request_id · department · agent_id · model_profile_arn · input_tokens · output_tokens · guardrail_units · tool_calls · cost_center · case_id · billing_period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566928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Why customers care: nobody wants an unbounded AI bill; governance must make usage explainable by department and controllable before the call is made.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MODEL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Regulatory alignment: one control baseline, configurable industry packs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Public sector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GovRAMP / FedRAMP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CJIS · IRS 1075 · DPPA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ADA Title II · NIST AI RMF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71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Healthcare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HIPAA / HITECH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MARS-E / ARC-AMPE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minimum necessary · audit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57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49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Life sciences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94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21 CFR Part 11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GxP / CSA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validation 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43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35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Education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80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FERPA · PPRA · COPPA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student-data access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accessibility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829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21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66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SOC 2 · ISO 27001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PCI · privacy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model risk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4160520"/>
            <a:ext cx="10607040" cy="987552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FFFFFF"/>
                </a:solidFill>
              </a:rPr>
              <a:t>Common controls: identity · least privilege · data-class isolation · masking/tokenization · human authority · immutable evidence · retention · evals · red-team · change control · incident response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14400" y="57150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32F3E"/>
                </a:solidFill>
              </a:rPr>
              <a:t>Important: the platform supports compliance; the customer still owns authorization, validation, procedures, risk acceptance, and operations.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plan: from current repo to deployable platform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8988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72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Foundation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74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repo split · schemas · registry · CI gates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0604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440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33172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Core runtime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22199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identity · AVP · AgentCore Gateway · model gateway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48056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3892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20624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Evidence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audit ledger · WORM · control evidence · dashboards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35508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1344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08076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FinOps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7103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token budgets · profiles · CUR · chargeback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8796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95528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Pilot agent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4555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one live connector · acceptance test · runbook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10412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041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8298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F3E"/>
                </a:solidFill>
              </a:rPr>
              <a:t>Scale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200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industry packs · agent marketplace · ATO library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43000" y="4160520"/>
            <a:ext cx="9829800" cy="1051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First customer: choose one low-blast-radius, measurable workflow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32F3E"/>
                </a:solidFill>
              </a:rPr>
              <a:t>For SLG: resident services / 311 or IT service desk. For healthcare: revenue-cycle appeal drafting. For EDU: service desk or student-form intake.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go-to-market: land with value, expand with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224028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Discover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AI pilots, data classes, systems, authority boundaries, backlog, budget owner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65760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one workflow in customer AWS account with synthetic + one live connector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49224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Prove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cycle-time, cost, quality, audit evidence, CISO review, accessibility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32688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Expand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32688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32F3E"/>
                </a:solidFill>
              </a:rPr>
              <a:t>new agents inherit registry, policy, audit, chargeback, and onboarding standard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06240"/>
            <a:ext cx="10378440" cy="960120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</a:rPr>
              <a:t>Opening line for the first customer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</a:rPr>
              <a:t>“You do not need another AI pilot. You need a governance substrate that lets you approve one safe pattern, then onboard agents one at a time with evidence your CISO, auditor, and program leaders can defend.”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1005840" y="583387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232F3E"/>
                </a:solidFill>
              </a:rPr>
              <a:t>Sales asset package: exec deck · CISO briefing · architecture deep-dive · control matrix · ROI/TCO worksheet · SOW template · deployment runbook · acceptance test.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/ PARTNER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positioning: why this belongs on AWS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Agentic controls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65176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Bedrock AgentCore Runtime, Gateway, Identity, Observability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30936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Models + safety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8388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Amazon Bedrock, Guardrails, Knowledge Bases, PrivateLink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77724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Governance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5176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Verified Permissions, IAM Identity Center, Organizations, Control Tower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30936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Evidence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18388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CloudTrail, Security Lake, DynamoDB, S3 Object Lock, KMS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7724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65176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CloudWatch, X-Ray, Service Quotas, CUR, Budgets, QuickSight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30936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Public sector fit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8388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232F3E"/>
                </a:solidFill>
              </a:rPr>
              <a:t>GovCloud, FedRAMP High / DoD IL authorizations, GovRAMP recognition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960120" y="562356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F3E"/>
                </a:solidFill>
              </a:rPr>
              <a:t>AWS field narrative: “This standardizes how customers deploy agents safely on AWS, turns governance into reusable infrastructure, and creates a repeatable land-and-expand motion for Bedrock and AgentCore.”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Whole-of-Enterprise AI Governance Platform</dc:title>
  <dc:subject>AWS Whole-of-Enterprise AI Governance Platform</dc:subject>
  <dc:creator>OpenAI</dc:creator>
  <cp:lastModifiedBy>OpenAI</cp:lastModifiedBy>
  <cp:revision>1</cp:revision>
  <dcterms:created xsi:type="dcterms:W3CDTF">2026-06-30T18:22:58Z</dcterms:created>
  <dcterms:modified xsi:type="dcterms:W3CDTF">2026-06-30T18:22:58Z</dcterms:modified>
</cp:coreProperties>
</file>