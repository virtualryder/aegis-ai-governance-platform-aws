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Aegis is the governance layer that makes any AI agent deployable in a regulated environment. The one-sentence positioning (GTM doc §1): build the paved road once on AWS, and every agent, model, and tool inherits identity, authorization, audit, compliance, hallucination control, and chargeback automatically. This is a modular deck: a shared executive core with swappable appendices for a customer audience and for AWS field/leadership. Set the frame: governance is the product; agents are add-ons that ride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doc §2: Organizations are stuck in the pilot trap. The 90% piloting / 25% funded framing is the headline (predecessor accelerator outcome figures, ANALYST/VENDOR evidence tier — labeled on slide). The key reframe for the room: the blocker is not the model, it's the governance problem — identity, authz, audit, data-class isolation, hallucination, cost, and authority to act. Land that every regulated buyer has the same shape of problem with a different regime on top — that is what makes one platform horizontal.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doc §3 / §8: the strategic insight. An AI agent that can touch a system of record is a governance, audit, and least-privilege problem before it is a model problem (arch doc §3). So we sell the substrate. The compounding logic: the moat is the governance, not the agent — every new pack opens an industry, every new agent sells into every governed customer with zero governance rework. This is what makes the add-on/marketplace model work later in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 doc §0: the five-layer shape of the platform, edge to data. The control plane (layer 2) is the product — every model call, tool call, and retrieval is brokered there. The other four layers are the inherited substrate. Stress 'one paved road': eight agents do not mean eight edge stacks or eight auth implementations — there is exactly one reference pattern reused. Source tier [AWS] for every named service (SOURCES §1, §3, §4, §10).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 doc §0, §1–§8, §10 — the money slide. Walk the pipeline left to right. The control plane is the highlighted stage: on AWS it is AgentCore Gateway (GA 2025-10-13, MCP + IAM/OAuth, [AWS]) plus Policy in Amazon Bedrock AgentCore evaluating every agent-to-tool request against Cedar policies OUTSIDE the agent's reasoning loop — the same Cedar behind Amazon Verified Permissions (SOURCES §10, [AWS]). Bedrock reached over PrivateLink with mandatory Guardrails (SOURCES §10, [AWS]). Data tier: KMS CMK per class, append-only DynamoDB, S3 Object Lock WORM, Comprehend/Macie masking (SOURCES §4, §10). The landing-zone note is the deployment topology: central control plane, isolated runtime/data planes per regulatory boundary, GovCloud for High-impact/CJI/FTI.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 doc §3 — the runtime enforcement. The ALLOW-iff predicate is evaluated on every call: the agent can never exceed the human it acts for, its declared purpose, its data class, its budget, or its human-authority boundary. In production this is AgentCore Policy / Cedar / Verified Permissions evaluating outside the agent's reasoning loop; the readable Python engine is the offline test analog. The human gate is bound, single-use, separation-of-duties; the consumed token is recorded with a DynamoDB conditional write so a replay is rejected. The OBO scoped token is AgentCore Identity on-behalf-of exchange (SOURCES §10, [AWS]). This is the answer to the CISO's first question — 'can the AI act on its own?' —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 doc §3–§7 + hallucination doc §1–§4. These are the five hard problems the substrate solves once for every agent, with the NIST 800-53 / AI RMF tag on each card. Authorization: deny-by-default, least-privilege intersection. Hallucination: governed RAG plus contextual grounding plus automated reasoning — the first GenAI safeguard to use formal logic ([AWS], SOURCES §3). Audit: append-only + WORM, fail-closed masking. Cost: hard caps before spend + chargeback. Onboarding: the manifest + minimum bar that makes the add-on model possible. Each is a documented, testable control — not a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Compliance doc §all. One industry-agnostic core; packs are declarative bundles that switch on the regime. Headline regulatory clocks (all [GOV] tier, SOURCES §5–§8, §10): GovRAMP's 2025 rebrand widened scope to local gov / K-12 / higher ed / hospitals; CJIS v6.0 released 2024-12-27, audits began 2025-10-01, MFA mandatory; amended COPPA effective 2025-06-23, compliance due 2026-04-22, biometric identifiers now in scope; GxP/21 CFR Part 11 needs an e-signature-grade human gate; ADA Title II WCAG 2.1 AA deadlines April 26 2027 (pop ≥50k) / April 26 2028 (smaller). Honesty line: a pack configures controls; ATO/BAA/authorization stay customer-owned.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Hallucination doc §1–§6 — the trust pipeline. Grounding is the primary lever: governed RAG over a Bedrock Knowledge Base means the model answers from a real, current, in-scope source rather than parametric memory, and every answer is traceable. On top: Bedrock Guardrails contextual grounding check scores grounding + relevance 0–0.99 ([AWS], SOURCES §3); automated reasoning checks use formal logic to validate against a defined policy — the first GenAI safeguard to use formal logic ([AWS], SOURCES §3). Consequential decisions are never free-generated — deterministic engine or human gate. A failure at any stage blocks, flags, or routes to a human. Maps to NIST AI 600-1 Confabulation / Information Integrity.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FinOps doc §1–§6. The #1 reason finance kills an AI program is unbounded, unattributable spend. Two problems, two mechanisms. Token maxing is solved by a hard cap enforced in the gateway BEFORE spend — fail-closed on budget. Chargeback is solved by Bedrock application inference profiles carrying cost-allocation tags (dept/team/app/data_class/pack) that flow to Cost Explorer and the CUR; you call the model by profile ARN instead of model ID so 100% of spend is tagged at source ([AWS], SOURCES §2). Honest limit: AIP tags can lag up to 24h, so the gateway meter is the real-time control and the CUR is the financial truth — reconciliation is standard day-2 FinOps.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DEMO.md + onboarding standard. The pitch is 'easy to add agents after the platform is up.' add_agent.py is a one-command scaffolder that generates a conformant package and validates it against the manifest schema before writing. Every agent must clear the 9-point minimum bar enforced as a CI gate — this is the contract a third party builds toward, and the unlock for the add-on/marketplace model. Two ready-made sample agents ship today: service-desk-triage (enterprise pack) and resident-services-311 (slg pack), both low blast radius. The manifest also carries the inference profile + tags, so chargeback is declared, not bolted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doc §8 — the add-on / marketplace commercial model. Three pieces: the platform (sold per environment), add-on agents (manifest-conformant, priced per agent/seat/usage, inherit governance on deploy), and the compounding flywheel. The moat is the governance, not the agent. Tie to the AWS Marketplace motion in Appendix B: packaged add-on agents become Marketplace listings that deploy onto the governed platform — an ISV/partner flywheel. The objection-handler line at the bottom is the answer to 'why not just use a model vendor's console?'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DEMO.md — the deployable proof. python3 demo/clean_account_acceptance.py runs all 18 steps end to end with Python stdlib only — no AWS, no key, no network — and exits non-zero on any failure. It is the offline test analog of the production enforcement path (AgentCore Gateway + Policy in AgentCore / Verified Permissions, Cedar). The DENY and REJECT-replay steps are the ones to dwell on live: deny-by-default, data-class boundary, separation of duties, single-use approval that cannot be replayed (DynamoDB conditional-write analog), append-only hash-chained audit that raises on mutation, sealed WORM evidence, masked chargeback. CloudFormation passes cfn-lint; IaC parity across CFN + Terraform, commercial + GovCloud. This is what 'deployable today' means.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Repo-review doc §1–§4. Verdict up front: do not rebuild — generalize. The SLG accelerator is already a strong, honest, controls-first reference; Aegis lifts its governance core out of the SLG framing, makes it industry-agnostic via packs, and adds the layers it lacks. The 'keep' column is real engineering value preserved verbatim — including that the predecessor stack was deployed and torn down on a live AWS account, which caught two real bugs the offline suite missed. The 'add' column is the named gaps closed: FinOps, the manifest/minimum-bar contract, Education + HCLS packs, automated reasoning, and AgentCore as the production control plane. Live connectors and ATO stay customer-engagement work — same honest RACI.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Production-readiness/RACI doc §1–§5. This is the slide that makes the rest credible. Left column: what gives confidence today — the governance core is implemented and testable, not vaporware. Right column: what must still be built or authorized, mapped in the full 20-row RACI (Appendix A has the detail). The bottom bar is the load-bearing honesty line: HIPAA-eligible (Bedrock &amp; AgentCore are, per the HIPAA Eligible Services Reference, [AWS] SOURCES §6) is NOT HIPAA-compliant — that needs a signed BAA plus customer-implemented controls. A CISO / authorizing official wants exactly this: an honest gap list and an explicit RACI where nothing is hand-waved.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doc §6 — the first-customer playbook and the ask. Qualify for a low-blast-radius first agent (IT service desk or resident/customer services — NOT benefits or public safety first): decision-support, reversible, high volume, clear ROI. Then: discovery + architecture workshop, stand up the standalone golden path in their account with synthetic data and demo the controls live, prove against a documented outcome, sign the RACI, and land-and-expand one agent at a time on the same paved road. The opening line is the CIO close: build governance once, every future agent inherits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 divider. This appendix is the swappable section for a customer technical/security audience — the security-review walkthrough. Skip or include depending on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doc §5 — persona talking points, use verbatim. These are the four questions a CISO asks and the exact answers. 'Can the AI act on its own?' is the headline. Each answer maps to a control already shown in the core: human gate (arch §3), cryptographic identity + least-privilege intersection (arch §2–§3), append-only + WORM audit (arch §6), in-account inference + Guardrails over PrivateLink (arch §4). Deliver these with confidence — they are the security-review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 doc §9 — control → regime mapping (summary). Every platform control is traced to the regimes it satisfies, so a security review can see at a glance which controls carry which framework. The deny-by-default gateway and in-account inference + Guardrails span nearly every regime; token budgets/chargeback map to NIST AI RMF Value Chain only. Note grounding + automated reasoning is where HIPAA and GxP need it most (clinical/eligibility facts). The authoritative artifact is the machine-readable control_mappings.yaml plus the per-regime narrative in the compliance-packs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doc §6 — sequenced into a 90-day plan a CIO can fund. The point: this is a fundable, sequenced path from reference platform to authorized production, not an open-ended research project. Each phase produces a concrete artifact. Land-and-expand is the closing motion — add agents one at a time, turn on chargeback once data is trusted, introduce the orchestration layer (durable saga with compensation) only when two or more agents are live (arch §10).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B divider. The swappable section for an AWS field/leadership audience — why AWS should co-sell. Include when pitching to AWS, drop when pitching to a customer.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doc §7 — positioning to AWS. The co-sell case rests on consumption: Aegis pulls Bedrock + Guardrails, AgentCore (Gateway/Identity/Runtime/Policy), GovCloud, KMS, Macie/Comprehend, and the FinOps stack — durable, consumption-generating workloads in the exact regulated segments where AWS wins on compliance breadth (HIPAA-eligible, HITRUST, GovCloud, FedRAMP path). Critically, it de-risks the customer security review, which is the real blocker to Bedrock consumption in regulated accounts — so it converts stalled pilots into funded, metered production. All service capabilities are [AWS]-tier sourced (SOURCES §1–§4, §10).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doc §7–§8 — the Marketplace add-on motion and the land-and-expand consumption curve. Marketplace flywheel: package an add-on agent once, list it, deploy onto any governed Aegis environment where it inherits governance — an ISV/partner motion that compounds. Land-and-expand: the first agent lands the account and starts metered spend; a clean security review earns trust; each added agent grows consumption with zero governance rework; the orchestration layer (durable saga) arrives when two or more agents are live. Differentiation for AWS leadership: Aegis is what makes regulated Bedrock consumption actually convert from pilot to funded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120640" cy="5120640"/>
          </a:xfrm>
          <a:prstGeom prst="ellipse">
            <a:avLst/>
          </a:prstGeom>
          <a:noFill/>
          <a:ln w="317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-457200"/>
            <a:ext cx="3108960" cy="3108960"/>
          </a:xfrm>
          <a:prstGeom prst="ellipse">
            <a:avLst/>
          </a:prstGeom>
          <a:noFill/>
          <a:ln w="19050">
            <a:solidFill>
              <a:srgbClr val="2632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74519"/>
            <a:ext cx="566928" cy="56692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200" b="1" i="0">
                <a:solidFill>
                  <a:srgbClr val="121820"/>
                </a:solidFill>
                <a:latin typeface="Calibri"/>
              </a:rPr>
              <a:t>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82880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4F6F8"/>
                </a:solidFill>
                <a:latin typeface="Cambria"/>
              </a:rPr>
              <a:t>AEGIS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97480"/>
            <a:ext cx="10332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4F6F8"/>
                </a:solidFill>
                <a:latin typeface="Cambria"/>
              </a:rPr>
              <a:t>The governed agent platform on AWS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2200" b="0" i="1">
                <a:solidFill>
                  <a:srgbClr val="F5A623"/>
                </a:solidFill>
                <a:latin typeface="Cambria"/>
              </a:rPr>
              <a:t>Governance is the product. Agents are add-ons.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1206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FADBC"/>
                </a:solidFill>
                <a:latin typeface="Calibri"/>
              </a:rPr>
              <a:t>Build the paved road once on AWS — every agent, model, and tool inherits identity, authorization, audit, compliance, hallucination control, and chargeback automatically.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550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38292"/>
                </a:solidFill>
                <a:latin typeface="Calibri"/>
              </a:rPr>
              <a:t>Master deck  ·  Executive core + Appendix A (Customer CISO/CIO/Architect) + Appendix B (AWS field)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7E0E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B242F"/>
                </a:solidFill>
                <a:latin typeface="Cambria"/>
              </a:rPr>
              <a:t>The pilot trap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56370"/>
                </a:solidFill>
                <a:latin typeface="Calibri"/>
              </a:rPr>
              <a:t>A chatbot per department — each its own integration, security review, and audit. Spend nobody can attribute. No governed path from pilot to production.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260604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136392"/>
            <a:ext cx="2148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C87E0E"/>
                </a:solidFill>
                <a:latin typeface="Cambria"/>
              </a:rPr>
              <a:t>~90%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B242F"/>
                </a:solidFill>
                <a:latin typeface="Calibri"/>
              </a:rPr>
              <a:t>of orgs piloting AI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56370"/>
                </a:solidFill>
                <a:latin typeface="Calibri"/>
              </a:rPr>
              <a:t>[ANALYST/VENDOR tier]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2152" y="2971800"/>
            <a:ext cx="260604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30752" y="3136392"/>
            <a:ext cx="2148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C87E0E"/>
                </a:solidFill>
                <a:latin typeface="Cambria"/>
              </a:rPr>
              <a:t>~25%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B242F"/>
                </a:solidFill>
                <a:latin typeface="Calibri"/>
              </a:rPr>
              <a:t>reach funded production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56370"/>
                </a:solidFill>
                <a:latin typeface="Calibri"/>
              </a:rPr>
              <a:t>[ANALYST/VENDOR tier]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64224" y="2971800"/>
            <a:ext cx="260604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2824" y="3136392"/>
            <a:ext cx="2148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C87E0E"/>
                </a:solidFill>
                <a:latin typeface="Cambria"/>
              </a:rPr>
              <a:t>1 per dept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B242F"/>
                </a:solidFill>
                <a:latin typeface="Calibri"/>
              </a:rPr>
              <a:t>fragmented point-solutions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56370"/>
                </a:solidFill>
                <a:latin typeface="Calibri"/>
              </a:rPr>
              <a:t>each re-does security &amp; audit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26296" y="2971800"/>
            <a:ext cx="2325319" cy="155448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82328" y="3154680"/>
            <a:ext cx="186811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F5A623"/>
                </a:solidFill>
                <a:latin typeface="Calibri"/>
              </a:rPr>
              <a:t>The blocker is NOT the model.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It's identity, authorization, audit, data-class isolation, hallucination risk, cost control — and who has authority to 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1B242F"/>
                </a:solidFill>
                <a:latin typeface="Calibri"/>
              </a:rPr>
              <a:t>Every regulated buyer — government, education, healthcare, enterprise — has the same shape of problem with a different regime on top.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56370"/>
                </a:solidFill>
                <a:latin typeface="Calibri"/>
              </a:rPr>
              <a:t>Aegis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THE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The agent isn't the product. The governance substrate 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5120640" cy="356616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67712"/>
            <a:ext cx="45720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E06C5C"/>
                </a:solidFill>
                <a:latin typeface="Cambria"/>
              </a:rPr>
              <a:t>The trap mindset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E06C5C"/>
                </a:solidFill>
                <a:latin typeface="Calibri"/>
              </a:rPr>
              <a:t>✕  </a:t>
            </a:r>
            <a:r>
              <a:rPr sz="1450" b="0" i="0">
                <a:solidFill>
                  <a:srgbClr val="9FADBC"/>
                </a:solidFill>
                <a:latin typeface="Calibri"/>
              </a:rPr>
              <a:t>Buy/build a new agent per use case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E06C5C"/>
                </a:solidFill>
                <a:latin typeface="Calibri"/>
              </a:rPr>
              <a:t>✕  </a:t>
            </a:r>
            <a:r>
              <a:rPr sz="1450" b="0" i="0">
                <a:solidFill>
                  <a:srgbClr val="9FADBC"/>
                </a:solidFill>
                <a:latin typeface="Calibri"/>
              </a:rPr>
              <a:t>Re-do security review every time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E06C5C"/>
                </a:solidFill>
                <a:latin typeface="Calibri"/>
              </a:rPr>
              <a:t>✕  </a:t>
            </a:r>
            <a:r>
              <a:rPr sz="1450" b="0" i="0">
                <a:solidFill>
                  <a:srgbClr val="9FADBC"/>
                </a:solidFill>
                <a:latin typeface="Calibri"/>
              </a:rPr>
              <a:t>Re-architect identity, audit, cost each time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E06C5C"/>
                </a:solidFill>
                <a:latin typeface="Calibri"/>
              </a:rPr>
              <a:t>✕  </a:t>
            </a:r>
            <a:r>
              <a:rPr sz="1450" b="0" i="0">
                <a:solidFill>
                  <a:srgbClr val="9FADBC"/>
                </a:solidFill>
                <a:latin typeface="Calibri"/>
              </a:rPr>
              <a:t>The model is the deliverable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011680"/>
            <a:ext cx="5120640" cy="3566160"/>
          </a:xfrm>
          <a:prstGeom prst="roundRect">
            <a:avLst/>
          </a:prstGeom>
          <a:solidFill>
            <a:srgbClr val="1B242F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2267712"/>
            <a:ext cx="45720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F5A623"/>
                </a:solidFill>
                <a:latin typeface="Cambria"/>
              </a:rPr>
              <a:t>The Aegis mindset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F5A623"/>
                </a:solidFill>
                <a:latin typeface="Calibri"/>
              </a:rPr>
              <a:t>✓  </a:t>
            </a:r>
            <a:r>
              <a:rPr sz="1450" b="0" i="0">
                <a:solidFill>
                  <a:srgbClr val="F4F6F8"/>
                </a:solidFill>
                <a:latin typeface="Calibri"/>
              </a:rPr>
              <a:t>Build governance once as a paved road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F5A623"/>
                </a:solidFill>
                <a:latin typeface="Calibri"/>
              </a:rPr>
              <a:t>✓  </a:t>
            </a:r>
            <a:r>
              <a:rPr sz="1450" b="0" i="0">
                <a:solidFill>
                  <a:srgbClr val="F4F6F8"/>
                </a:solidFill>
                <a:latin typeface="Calibri"/>
              </a:rPr>
              <a:t>Every future agent inherits it automatically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F5A623"/>
                </a:solidFill>
                <a:latin typeface="Calibri"/>
              </a:rPr>
              <a:t>✓  </a:t>
            </a:r>
            <a:r>
              <a:rPr sz="1450" b="0" i="0">
                <a:solidFill>
                  <a:srgbClr val="F4F6F8"/>
                </a:solidFill>
                <a:latin typeface="Calibri"/>
              </a:rPr>
              <a:t>No re-architecture, no re-review per agent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F5A623"/>
                </a:solidFill>
                <a:latin typeface="Calibri"/>
              </a:rPr>
              <a:t>✓  </a:t>
            </a:r>
            <a:r>
              <a:rPr sz="1450" b="0" i="0">
                <a:solidFill>
                  <a:srgbClr val="F4F6F8"/>
                </a:solidFill>
                <a:latin typeface="Calibri"/>
              </a:rPr>
              <a:t>Governance is the deliverable; agents are add-ons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4FC3C7"/>
                </a:solidFill>
                <a:latin typeface="Calibri"/>
              </a:rPr>
              <a:t>The moat is the governance, not the agent. Every new pack opens an industry; every new agent is sellable into every existing governed customer with zero governance rework.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WHAT AEGIS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Five layers. One paved road.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783080"/>
            <a:ext cx="10149840" cy="841248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947672"/>
            <a:ext cx="512064" cy="512064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892808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A623"/>
                </a:solidFill>
                <a:latin typeface="Cambria"/>
              </a:rPr>
              <a:t>EDGE &amp;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874520"/>
            <a:ext cx="67665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CloudFront + WAF + Shield · Cognito federates your IdP → short-lived verified JWT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2743200"/>
            <a:ext cx="10149840" cy="841248"/>
          </a:xfrm>
          <a:prstGeom prst="roundRect">
            <a:avLst/>
          </a:prstGeom>
          <a:solidFill>
            <a:srgbClr val="26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2907792"/>
            <a:ext cx="512064" cy="512064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852928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A623"/>
                </a:solidFill>
                <a:latin typeface="Cambria"/>
              </a:rPr>
              <a:t>CONTROL PLANE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834640"/>
            <a:ext cx="67665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The MCP authorization gateway — deny-by-default, least-privilege, human gate, scoped tokens, audit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3703320"/>
            <a:ext cx="10149840" cy="841248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0080" y="3867912"/>
            <a:ext cx="512064" cy="512064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813048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A623"/>
                </a:solidFill>
                <a:latin typeface="Cambria"/>
              </a:rPr>
              <a:t>REASONING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794760"/>
            <a:ext cx="67665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Model Gateway: Bedrock + mandatory Guardrails over PrivateLink · governed RAG grounding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4663440"/>
            <a:ext cx="10149840" cy="841248"/>
          </a:xfrm>
          <a:prstGeom prst="roundRect">
            <a:avLst/>
          </a:prstGeom>
          <a:solidFill>
            <a:srgbClr val="26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4828032"/>
            <a:ext cx="512064" cy="512064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773168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A623"/>
                </a:solidFill>
                <a:latin typeface="Cambria"/>
              </a:rPr>
              <a:t>DATA &amp; 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754880"/>
            <a:ext cx="67665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KMS CMK per data class · append-only audit · WORM · fail-closed masking · isolation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71600" y="5623560"/>
            <a:ext cx="10149840" cy="841248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5788152"/>
            <a:ext cx="512064" cy="512064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$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5733288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A623"/>
                </a:solidFill>
                <a:latin typeface="Cambria"/>
              </a:rPr>
              <a:t>FINOPS &amp; OBSERVABILITY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5715000"/>
            <a:ext cx="67665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Token caps + per-department chargeback · CloudTrail / GuardDuty / Security Hub / Config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THE REFERENCE ARCHITECTURE  ·  THE MONEY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4F6F8"/>
                </a:solidFill>
                <a:latin typeface="Cambria"/>
              </a:rPr>
              <a:t>Edge → identity → control plane → model → data → FinOps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727149" cy="141732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020823"/>
            <a:ext cx="1507693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A623"/>
                </a:solidFill>
                <a:latin typeface="Cambria"/>
              </a:rPr>
              <a:t>EDGE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F4F6F8"/>
                </a:solidFill>
                <a:latin typeface="Calibri"/>
              </a:rPr>
              <a:t>CloudFront · WAF
(OWASP) · Shield</a:t>
            </a:r>
          </a:p>
        </p:txBody>
      </p:sp>
      <p:sp>
        <p:nvSpPr>
          <p:cNvPr id="7" name="Chevron 6"/>
          <p:cNvSpPr/>
          <p:nvPr/>
        </p:nvSpPr>
        <p:spPr>
          <a:xfrm>
            <a:off x="2348941" y="2441447"/>
            <a:ext cx="146304" cy="274320"/>
          </a:xfrm>
          <a:prstGeom prst="chevron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476957" y="1874519"/>
            <a:ext cx="1727149" cy="141732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86685" y="2020823"/>
            <a:ext cx="1507693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A623"/>
                </a:solidFill>
                <a:latin typeface="Cambria"/>
              </a:rPr>
              <a:t>IDENTITY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F4F6F8"/>
                </a:solidFill>
                <a:latin typeface="Calibri"/>
              </a:rPr>
              <a:t>Cognito + IdP →
short-lived JWT</a:t>
            </a:r>
          </a:p>
        </p:txBody>
      </p:sp>
      <p:sp>
        <p:nvSpPr>
          <p:cNvPr id="10" name="Chevron 9"/>
          <p:cNvSpPr/>
          <p:nvPr/>
        </p:nvSpPr>
        <p:spPr>
          <a:xfrm>
            <a:off x="4185818" y="2441447"/>
            <a:ext cx="146304" cy="274320"/>
          </a:xfrm>
          <a:prstGeom prst="chevron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13834" y="1874519"/>
            <a:ext cx="1727149" cy="1417320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3562" y="2020823"/>
            <a:ext cx="1507693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21820"/>
                </a:solidFill>
                <a:latin typeface="Cambria"/>
              </a:rPr>
              <a:t>CONTROL PLANE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121820"/>
                </a:solidFill>
                <a:latin typeface="Calibri"/>
              </a:rPr>
              <a:t>AgentCore Gateway
+ Policy / Cedar</a:t>
            </a:r>
          </a:p>
        </p:txBody>
      </p:sp>
      <p:sp>
        <p:nvSpPr>
          <p:cNvPr id="13" name="Chevron 12"/>
          <p:cNvSpPr/>
          <p:nvPr/>
        </p:nvSpPr>
        <p:spPr>
          <a:xfrm>
            <a:off x="6022695" y="2441447"/>
            <a:ext cx="146304" cy="274320"/>
          </a:xfrm>
          <a:prstGeom prst="chevron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50711" y="1874519"/>
            <a:ext cx="1727149" cy="141732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0439" y="2020823"/>
            <a:ext cx="1507693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A623"/>
                </a:solidFill>
                <a:latin typeface="Cambria"/>
              </a:rPr>
              <a:t>MODEL GATEWAY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F4F6F8"/>
                </a:solidFill>
                <a:latin typeface="Calibri"/>
              </a:rPr>
              <a:t>Bedrock + Guardrails
over PrivateLink</a:t>
            </a:r>
          </a:p>
        </p:txBody>
      </p:sp>
      <p:sp>
        <p:nvSpPr>
          <p:cNvPr id="16" name="Chevron 15"/>
          <p:cNvSpPr/>
          <p:nvPr/>
        </p:nvSpPr>
        <p:spPr>
          <a:xfrm>
            <a:off x="7859572" y="2441447"/>
            <a:ext cx="146304" cy="274320"/>
          </a:xfrm>
          <a:prstGeom prst="chevron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987588" y="1874519"/>
            <a:ext cx="1727149" cy="141732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7316" y="2020823"/>
            <a:ext cx="1507693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A623"/>
                </a:solidFill>
                <a:latin typeface="Cambria"/>
              </a:rPr>
              <a:t>DATA / EVIDENCE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F4F6F8"/>
                </a:solidFill>
                <a:latin typeface="Calibri"/>
              </a:rPr>
              <a:t>KMS · append-only
WORM · masking</a:t>
            </a:r>
          </a:p>
        </p:txBody>
      </p:sp>
      <p:sp>
        <p:nvSpPr>
          <p:cNvPr id="19" name="Chevron 18"/>
          <p:cNvSpPr/>
          <p:nvPr/>
        </p:nvSpPr>
        <p:spPr>
          <a:xfrm>
            <a:off x="9696449" y="2441447"/>
            <a:ext cx="146304" cy="274320"/>
          </a:xfrm>
          <a:prstGeom prst="chevron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824465" y="1874519"/>
            <a:ext cx="1727149" cy="141732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34193" y="2020823"/>
            <a:ext cx="1507693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A623"/>
                </a:solidFill>
                <a:latin typeface="Cambria"/>
              </a:rPr>
              <a:t>FINOPS + OBS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F4F6F8"/>
                </a:solidFill>
                <a:latin typeface="Calibri"/>
              </a:rPr>
              <a:t>AIP chargeback ·
CloudTrail/GuardDuty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1188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00" b="1" i="0">
                <a:solidFill>
                  <a:srgbClr val="F5A623"/>
                </a:solidFill>
                <a:latin typeface="Calibri"/>
              </a:rPr>
              <a:t>Edge: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One managed perimeter inherited by every agent — no bespoke edge per agent.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17880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00" b="1" i="0">
                <a:solidFill>
                  <a:srgbClr val="F5A623"/>
                </a:solidFill>
                <a:latin typeface="Calibri"/>
              </a:rPr>
              <a:t>Identity: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Client-supplied roles never trusted; RS256 over IdP JWKS, alg-confusion guard.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745736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00" b="1" i="0">
                <a:solidFill>
                  <a:srgbClr val="F5A623"/>
                </a:solidFill>
                <a:latin typeface="Calibri"/>
              </a:rPr>
              <a:t>Control plane: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Every tool call brokered: ALLOW-iff predicate, human gate, OBO scoped token, audit.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361188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00" b="1" i="0">
                <a:solidFill>
                  <a:srgbClr val="F5A623"/>
                </a:solidFill>
                <a:latin typeface="Calibri"/>
              </a:rPr>
              <a:t>Model gateway: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Allowlist + prompt-pin + schema + grounding; inference stays in-account, no PII egress.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17880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00" b="1" i="0">
                <a:solidFill>
                  <a:srgbClr val="F5A623"/>
                </a:solidFill>
                <a:latin typeface="Calibri"/>
              </a:rPr>
              <a:t>Data / evidence: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KMS CMK per data class; append-only + WORM audit; masking fails closed.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745736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00" b="1" i="0">
                <a:solidFill>
                  <a:srgbClr val="F5A623"/>
                </a:solidFill>
                <a:latin typeface="Calibri"/>
              </a:rPr>
              <a:t>FinOps / obs: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Tagged application inference profiles → chargeback; full control-plane telemetry.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532120"/>
            <a:ext cx="10881360" cy="566928"/>
          </a:xfrm>
          <a:prstGeom prst="roundRect">
            <a:avLst/>
          </a:prstGeom>
          <a:solidFill>
            <a:srgbClr val="26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60527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i="0">
                <a:solidFill>
                  <a:srgbClr val="F5A623"/>
                </a:solidFill>
                <a:latin typeface="Calibri"/>
              </a:rPr>
              <a:t>Multi-account landing zone (Control Tower):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central governance account governs isolated workload accounts per data class — public · PII · PHI · CJI · FTI · EDU — each its own VPC, KMS CMK, WORM store.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HOW IT WORKS AT RUNTIME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ALLOW iff every clause holds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6035040" cy="4160520"/>
          </a:xfrm>
          <a:prstGeom prst="roundRect">
            <a:avLst/>
          </a:prstGeom>
          <a:solidFill>
            <a:srgbClr val="0C1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548640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5A623"/>
                </a:solidFill>
                <a:latin typeface="Consolas"/>
              </a:rPr>
              <a:t>ALLOW iff: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F4F6F8"/>
                </a:solidFill>
                <a:latin typeface="Consolas"/>
              </a:rPr>
              <a:t>authenticated_user is valid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agent grant permits the tool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user entitlement permits the tool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declared purpose is allowed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data-class boundary is satisfied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consent exists when required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residency boundary is satisfied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token / cost budget is available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a valid approval exists when required</a:t>
            </a:r>
          </a:p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1050" b="0" i="1">
                <a:solidFill>
                  <a:srgbClr val="4FC3C7"/>
                </a:solidFill>
                <a:latin typeface="Consolas"/>
              </a:rPr>
              <a:t># least-privilege = grant ∩ entitlement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1783080"/>
            <a:ext cx="4480560" cy="1298448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242048" y="1984248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2128" y="1929384"/>
            <a:ext cx="3474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F5A623"/>
                </a:solidFill>
                <a:latin typeface="Cambria"/>
              </a:rPr>
              <a:t>Consequential actions withheld in code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Issue / adjudicate / release / award / transfer are refused by the agent — proven absent by a test.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3200400"/>
            <a:ext cx="4480560" cy="1298448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242048" y="3401568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3346704"/>
            <a:ext cx="3474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F5A623"/>
                </a:solidFill>
                <a:latin typeface="Cambria"/>
              </a:rPr>
              <a:t>Bound, single-use human gate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Approval is bound to tool + args hash + purpose + requester + reviewer + expiry; separation of duties; replay rejected by conditional write.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4617720"/>
            <a:ext cx="4480560" cy="1298448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42048" y="4818888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8" y="4764024"/>
            <a:ext cx="3474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F5A623"/>
                </a:solidFill>
                <a:latin typeface="Cambria"/>
              </a:rPr>
              <a:t>OBO scoped per-call token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The gateway mints an on-behalf-of token so the agent acts AS the user for that one call — never a long-lived credential.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7E0E"/>
                </a:solidFill>
                <a:latin typeface="Calibri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B242F"/>
                </a:solidFill>
                <a:latin typeface="Cambria"/>
              </a:rPr>
              <a:t>Five hard problems, solved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35661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92024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947672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42F"/>
                </a:solidFill>
                <a:latin typeface="Cambria"/>
              </a:rPr>
              <a:t>Authorization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532888"/>
            <a:ext cx="305409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56370"/>
                </a:solidFill>
                <a:latin typeface="Calibri"/>
              </a:rPr>
              <a:t>Deny-by-default gateway; least-privilege as grant ∩ entitlement; agent can never exceed its human.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136392"/>
            <a:ext cx="30540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87E0E"/>
                </a:solidFill>
                <a:latin typeface="Calibri"/>
              </a:rPr>
              <a:t>AC-3 · AC-6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91640"/>
            <a:ext cx="35661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17720" y="192024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1947672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42F"/>
                </a:solidFill>
                <a:latin typeface="Cambria"/>
              </a:rPr>
              <a:t>Hallucination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532888"/>
            <a:ext cx="305409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56370"/>
                </a:solidFill>
                <a:latin typeface="Calibri"/>
              </a:rPr>
              <a:t>Governed RAG + contextual grounding + automated reasoning (formal logic); decisions kept outside the LLM.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136392"/>
            <a:ext cx="30540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87E0E"/>
                </a:solidFill>
                <a:latin typeface="Calibri"/>
              </a:rPr>
              <a:t>Confabulation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691640"/>
            <a:ext cx="35661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66760" y="192024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1947672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42F"/>
                </a:solidFill>
                <a:latin typeface="Cambria"/>
              </a:rPr>
              <a:t>Audit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532888"/>
            <a:ext cx="305409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56370"/>
                </a:solidFill>
                <a:latin typeface="Calibri"/>
              </a:rPr>
              <a:t>Append-only DynamoDB + S3 Object Lock WORM; fail-closed masking — survives a review board or FOIA.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3136392"/>
            <a:ext cx="30540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87E0E"/>
                </a:solidFill>
                <a:latin typeface="Calibri"/>
              </a:rPr>
              <a:t>AU-9 · AU-10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21608"/>
            <a:ext cx="35661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68680" y="3950208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397764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42F"/>
                </a:solidFill>
                <a:latin typeface="Cambria"/>
              </a:rPr>
              <a:t>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4562856"/>
            <a:ext cx="305409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56370"/>
                </a:solidFill>
                <a:latin typeface="Calibri"/>
              </a:rPr>
              <a:t>Hard token caps enforced before spend + per-department chargeback via tagged inference profiles.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5166360"/>
            <a:ext cx="30540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87E0E"/>
                </a:solidFill>
                <a:latin typeface="Calibri"/>
              </a:rPr>
              <a:t>Value chain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721608"/>
            <a:ext cx="35661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617720" y="3950208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7800" y="397764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42F"/>
                </a:solidFill>
                <a:latin typeface="Cambria"/>
              </a:rPr>
              <a:t>Onboarding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45152" y="4562856"/>
            <a:ext cx="305409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56370"/>
                </a:solidFill>
                <a:latin typeface="Calibri"/>
              </a:rPr>
              <a:t>Signed manifest + 9-point minimum-bar CI gate — a documented bar any new agent must clear.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166360"/>
            <a:ext cx="30540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87E0E"/>
                </a:solidFill>
                <a:latin typeface="Calibri"/>
              </a:rPr>
              <a:t>Manage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56370"/>
                </a:solidFill>
                <a:latin typeface="Calibri"/>
              </a:rPr>
              <a:t>Aegis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COMPLIANCE OVERLAY PACKS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One platform. Every regime.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9FADBC"/>
                </a:solidFill>
                <a:latin typeface="Calibri"/>
              </a:rPr>
              <a:t>The governance core is industry-agnostic. A pack switches on the right controls, regions, retention, masking entity sets, and guardrail policy — and ships an evidence map per control.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40280"/>
            <a:ext cx="10881360" cy="96012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68296"/>
            <a:ext cx="3200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5A623"/>
                </a:solidFill>
                <a:latin typeface="Consolas"/>
              </a:rPr>
              <a:t>packs / slg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FADBC"/>
                </a:solidFill>
                <a:latin typeface="Calibri"/>
              </a:rPr>
              <a:t>State, Local &amp; Public Sector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331720"/>
            <a:ext cx="70408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GovRAMP (2025 scope: local gov, K-12, higher ed, hospitals) · CJIS v6.0 (MFA mandatory, audited since Oct 2025) · IRS Pub 1075 (FTI) · NIST AI RMF · ADA Title II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310128"/>
            <a:ext cx="10881360" cy="96012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438144"/>
            <a:ext cx="3200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5A623"/>
                </a:solidFill>
                <a:latin typeface="Consolas"/>
              </a:rPr>
              <a:t>packs / education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FADBC"/>
                </a:solidFill>
                <a:latin typeface="Calibri"/>
              </a:rPr>
              <a:t>K-12, Higher Ed &amp; EdTech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3401568"/>
            <a:ext cx="70408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FERPA · amended COPPA 2025 (biometric entities; opt-in consent; compliance Apr 2026) · SOPIPA / state laws · ADA / Section 508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379976"/>
            <a:ext cx="10881360" cy="96012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507992"/>
            <a:ext cx="3200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5A623"/>
                </a:solidFill>
                <a:latin typeface="Consolas"/>
              </a:rPr>
              <a:t>packs / healthcare-lifesciences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FADBC"/>
                </a:solidFill>
                <a:latin typeface="Calibri"/>
              </a:rPr>
              <a:t>Providers, Payers, Pharma &amp; MedTech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4471416"/>
            <a:ext cx="70408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HIPAA / HITECH (BAA required) · 42 CFR Part 2 · GxP / 21 CFR Part 11 (e-signature gate) · HITRUST · MARS-E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449824"/>
            <a:ext cx="10881360" cy="96012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577840"/>
            <a:ext cx="3200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5A623"/>
                </a:solidFill>
                <a:latin typeface="Consolas"/>
              </a:rPr>
              <a:t>packs / enterprise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FADBC"/>
                </a:solidFill>
                <a:latin typeface="Calibri"/>
              </a:rPr>
              <a:t>Cross-Industry / Whole-of-Enterprise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5541264"/>
            <a:ext cx="70408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SOC 2 · PCI DSS (Luhn-aware card masking) · ISO 27001/27701 · GLBA · default-deny baseline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4FC3C7"/>
                </a:solidFill>
                <a:latin typeface="Calibri"/>
              </a:rPr>
              <a:t>Packs compose by strictest-wins (union of masking sets, highest thresholds, narrowest isolation). A pack configures controls — it does not grant an authorization.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HALLUCINATION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A layered trust pipeline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874520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1783080"/>
            <a:ext cx="10195560" cy="658368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00200" y="1837944"/>
            <a:ext cx="2651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A623"/>
                </a:solidFill>
                <a:latin typeface="Cambria"/>
              </a:rPr>
              <a:t>User request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819656"/>
            <a:ext cx="51206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Gateway re-validates identity, least-privilege intersection, 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1819656"/>
            <a:ext cx="1920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4FC3C7"/>
                </a:solidFill>
                <a:latin typeface="Calibri"/>
              </a:rPr>
              <a:t>block if out of scope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24328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25880" y="2532888"/>
            <a:ext cx="10195560" cy="658368"/>
          </a:xfrm>
          <a:prstGeom prst="roundRect">
            <a:avLst/>
          </a:prstGeom>
          <a:solidFill>
            <a:srgbClr val="26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00200" y="2587752"/>
            <a:ext cx="2651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A623"/>
                </a:solidFill>
                <a:latin typeface="Cambria"/>
              </a:rPr>
              <a:t>Governed 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569464"/>
            <a:ext cx="51206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Audited, entitlement-trimmed retrieval from the Knowledge 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2569464"/>
            <a:ext cx="1920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4FC3C7"/>
                </a:solidFill>
                <a:latin typeface="Calibri"/>
              </a:rPr>
              <a:t>grounding source captured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374136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25880" y="3282696"/>
            <a:ext cx="10195560" cy="658368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00200" y="3337560"/>
            <a:ext cx="2651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A623"/>
                </a:solidFill>
                <a:latin typeface="Cambria"/>
              </a:rPr>
              <a:t>Bedrock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319272"/>
            <a:ext cx="51206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In-account, over PrivateLink — drafts an answer FROM the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3319272"/>
            <a:ext cx="1920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4FC3C7"/>
                </a:solidFill>
                <a:latin typeface="Calibri"/>
              </a:rPr>
              <a:t>—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123944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25880" y="4032504"/>
            <a:ext cx="10195560" cy="658368"/>
          </a:xfrm>
          <a:prstGeom prst="roundRect">
            <a:avLst/>
          </a:prstGeom>
          <a:solidFill>
            <a:srgbClr val="26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00200" y="4087368"/>
            <a:ext cx="2651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A623"/>
                </a:solidFill>
                <a:latin typeface="Cambria"/>
              </a:rPr>
              <a:t>Guardrails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4069080"/>
            <a:ext cx="51206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PII filters · contextual grounding (0–0.99) · automated reasoning (formal logic)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4069080"/>
            <a:ext cx="1920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4FC3C7"/>
                </a:solidFill>
                <a:latin typeface="Calibri"/>
              </a:rPr>
              <a:t>block / flag if unsound</a:t>
            </a:r>
          </a:p>
        </p:txBody>
      </p:sp>
      <p:sp>
        <p:nvSpPr>
          <p:cNvPr id="25" name="Oval 24"/>
          <p:cNvSpPr/>
          <p:nvPr/>
        </p:nvSpPr>
        <p:spPr>
          <a:xfrm>
            <a:off x="640080" y="4873752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25880" y="4782312"/>
            <a:ext cx="10195560" cy="658368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200" y="4837176"/>
            <a:ext cx="2651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A623"/>
                </a:solidFill>
                <a:latin typeface="Cambria"/>
              </a:rPr>
              <a:t>Decision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818888"/>
            <a:ext cx="51206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Consequential? Never the model's — deterministic engine OR human gate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4818888"/>
            <a:ext cx="1920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4FC3C7"/>
                </a:solidFill>
                <a:latin typeface="Calibri"/>
              </a:rPr>
              <a:t>withheld in code</a:t>
            </a:r>
          </a:p>
        </p:txBody>
      </p:sp>
      <p:sp>
        <p:nvSpPr>
          <p:cNvPr id="30" name="Oval 29"/>
          <p:cNvSpPr/>
          <p:nvPr/>
        </p:nvSpPr>
        <p:spPr>
          <a:xfrm>
            <a:off x="640080" y="5623560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25880" y="5532120"/>
            <a:ext cx="10195560" cy="658368"/>
          </a:xfrm>
          <a:prstGeom prst="roundRect">
            <a:avLst/>
          </a:prstGeom>
          <a:solidFill>
            <a:srgbClr val="26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00200" y="5586984"/>
            <a:ext cx="2651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A623"/>
                </a:solidFill>
                <a:latin typeface="Cambria"/>
              </a:rPr>
              <a:t>Audit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5568696"/>
            <a:ext cx="51206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Append-only record with grounding lineage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09760" y="5568696"/>
            <a:ext cx="1920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4FC3C7"/>
                </a:solidFill>
                <a:latin typeface="Calibri"/>
              </a:rPr>
              <a:t>evidence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6263640"/>
            <a:ext cx="10195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F5A623"/>
                </a:solidFill>
                <a:latin typeface="Calibri"/>
              </a:rPr>
              <a:t>The model proposes; governed retrieval grounds it; guardrails validate it; deterministic logic or a human decides it; the audit records it.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7E0E"/>
                </a:solidFill>
                <a:latin typeface="Calibri"/>
              </a:rPr>
              <a:t>FINOPS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B242F"/>
                </a:solidFill>
                <a:latin typeface="Cambria"/>
              </a:rPr>
              <a:t>Token caps before spend. Chargeback after.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1965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84248"/>
            <a:ext cx="4800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06C5C"/>
                </a:solidFill>
                <a:latin typeface="Cambria"/>
              </a:rPr>
              <a:t>"Token maxing"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56370"/>
                </a:solidFill>
                <a:latin typeface="Calibri"/>
              </a:rPr>
              <a:t>One runaway agent or prompt burns the budget.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242F"/>
                </a:solidFill>
                <a:latin typeface="Calibri"/>
              </a:rPr>
              <a:t>→ Hard token caps enforced IN THE GATEWAY, before spend occurs — fail-closed on budget, with a clear denial reason in the audit.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349240" cy="1965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984248"/>
            <a:ext cx="4800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87E0E"/>
                </a:solidFill>
                <a:latin typeface="Cambria"/>
              </a:rPr>
              <a:t>Chargeback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56370"/>
                </a:solidFill>
                <a:latin typeface="Calibri"/>
              </a:rPr>
              <a:t>One department uses a model, another foots the bill.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242F"/>
                </a:solidFill>
                <a:latin typeface="Calibri"/>
              </a:rPr>
              <a:t>→ Per-department attribution via Bedrock application inference profiles + cost-allocation tags → Cost Explorer / CUR. 100% of model spend tagged at source.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023360"/>
            <a:ext cx="10881360" cy="91440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330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50" b="0" i="0">
                <a:solidFill>
                  <a:srgbClr val="F4F6F8"/>
                </a:solidFill>
                <a:latin typeface="Calibri"/>
              </a:rPr>
              <a:t>agent call</a:t>
            </a:r>
            <a:r>
              <a:rPr sz="1250" b="0" i="0">
                <a:solidFill>
                  <a:srgbClr val="9FADBC"/>
                </a:solidFill>
                <a:latin typeface="Calibri"/>
              </a:rPr>
              <a:t>   →   </a:t>
            </a:r>
            <a:r>
              <a:rPr sz="1250" b="1" i="0">
                <a:solidFill>
                  <a:srgbClr val="F5A623"/>
                </a:solidFill>
                <a:latin typeface="Calibri"/>
              </a:rPr>
              <a:t>gateway (budget check)</a:t>
            </a:r>
            <a:r>
              <a:rPr sz="1250" b="0" i="0">
                <a:solidFill>
                  <a:srgbClr val="9FADBC"/>
                </a:solidFill>
                <a:latin typeface="Calibri"/>
              </a:rPr>
              <a:t>   →   </a:t>
            </a:r>
            <a:r>
              <a:rPr sz="1250" b="1" i="0">
                <a:solidFill>
                  <a:srgbClr val="F5A623"/>
                </a:solidFill>
                <a:latin typeface="Calibri"/>
              </a:rPr>
              <a:t>AIP ARN (tagged dept/team/app)</a:t>
            </a:r>
            <a:r>
              <a:rPr sz="1250" b="0" i="0">
                <a:solidFill>
                  <a:srgbClr val="9FADBC"/>
                </a:solidFill>
                <a:latin typeface="Calibri"/>
              </a:rPr>
              <a:t>   → 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Bedrock</a:t>
            </a:r>
            <a:r>
              <a:rPr sz="1250" b="0" i="0">
                <a:solidFill>
                  <a:srgbClr val="9FADBC"/>
                </a:solidFill>
                <a:latin typeface="Calibri"/>
              </a:rPr>
              <a:t>   → 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billing record carries tags</a:t>
            </a:r>
            <a:r>
              <a:rPr sz="1250" b="0" i="0">
                <a:solidFill>
                  <a:srgbClr val="9FADBC"/>
                </a:solidFill>
                <a:latin typeface="Calibri"/>
              </a:rPr>
              <a:t>   →   </a:t>
            </a:r>
            <a:r>
              <a:rPr sz="1250" b="1" i="0">
                <a:solidFill>
                  <a:srgbClr val="F5A623"/>
                </a:solidFill>
                <a:latin typeface="Calibri"/>
              </a:rPr>
              <a:t>Cost Explorer / CUR → chargeback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12080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6370"/>
                </a:solidFill>
                <a:latin typeface="Calibri"/>
              </a:rPr>
              <a:t>Tags: dept · team · app · data_class · pack.  Call the model using the profile ARN in place of the model ID. The gateway token meter is the real-time control; the CUR is the financial truth (tags can lag up to 24h).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56370"/>
                </a:solidFill>
                <a:latin typeface="Calibri"/>
              </a:rPr>
              <a:t>Aegis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ONBOARDING A NEW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Easy to add agents once the platform is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943600" cy="2011680"/>
          </a:xfrm>
          <a:prstGeom prst="roundRect">
            <a:avLst/>
          </a:prstGeom>
          <a:solidFill>
            <a:srgbClr val="0C1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93392"/>
            <a:ext cx="5486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B85C"/>
                </a:solidFill>
                <a:latin typeface="Consolas"/>
              </a:rPr>
              <a:t>$  python3 tools/add_agent.py \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F4F6F8"/>
                </a:solidFill>
                <a:latin typeface="Consolas"/>
              </a:rPr>
              <a:t>     --id billing-inquiry --owner dept-finance \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F4F6F8"/>
                </a:solidFill>
                <a:latin typeface="Consolas"/>
              </a:rPr>
              <a:t>     --pack enterprise --blast-radius low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F5A623"/>
                </a:solidFill>
                <a:latin typeface="Consolas"/>
              </a:rPr>
              <a:t>→ generates a schema-conformant agent package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FADBC"/>
                </a:solidFill>
                <a:latin typeface="Consolas"/>
              </a:rPr>
              <a:t>→ validated against the manifest schema before 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5943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F5A623"/>
                </a:solidFill>
                <a:latin typeface="Cambria"/>
              </a:rPr>
              <a:t>The scaffolder writes: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150" b="1" i="0">
                <a:solidFill>
                  <a:srgbClr val="F4F6F8"/>
                </a:solidFill>
                <a:latin typeface="Consolas"/>
              </a:rPr>
              <a:t>• agent.manifest.yaml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scope · grants · budget · grounding · evals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150" b="1" i="0">
                <a:solidFill>
                  <a:srgbClr val="F4F6F8"/>
                </a:solidFill>
                <a:latin typeface="Consolas"/>
              </a:rPr>
              <a:t>• prompts/system.md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pinned, hash-stable system prompt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150" b="1" i="0">
                <a:solidFill>
                  <a:srgbClr val="F4F6F8"/>
                </a:solidFill>
                <a:latin typeface="Consolas"/>
              </a:rPr>
              <a:t>• evals/suite.md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accuracy · refusal · fairness · injection · a11y · grounding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150" b="1" i="0">
                <a:solidFill>
                  <a:srgbClr val="F4F6F8"/>
                </a:solidFill>
                <a:latin typeface="Consolas"/>
              </a:rPr>
              <a:t>• runbook.md  ·  README.md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day-2 ops + how it clears the bar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1783080"/>
            <a:ext cx="4709160" cy="4480560"/>
          </a:xfrm>
          <a:prstGeom prst="roundRect">
            <a:avLst/>
          </a:prstGeom>
          <a:solidFill>
            <a:srgbClr val="1B242F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0" y="1993392"/>
            <a:ext cx="42062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F5A623"/>
                </a:solidFill>
                <a:latin typeface="Cambria"/>
              </a:rPr>
              <a:t>The 9-point minimum bar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Signed, schema-valid manifest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Declared scope, grants, data classes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Token budget + cost owner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Grounding threshold set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Eval suite ≥ declared pass rate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Refusal + prompt-injection tested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Fairness / four-fifths checked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Accessibility for public agents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Registered tools only (no undeclared)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594360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4FC3C7"/>
                </a:solidFill>
                <a:latin typeface="Calibri"/>
              </a:rPr>
              <a:t>Ships now: service-desk-triage · resident-services-311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THE COMMERCIAL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Package once. Deploy into any governed environment.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520440" cy="320040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240280"/>
            <a:ext cx="502920" cy="50292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29718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5A623"/>
                </a:solidFill>
                <a:latin typeface="Cambria"/>
              </a:rPr>
              <a:t>PLATFORM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 i="1">
                <a:solidFill>
                  <a:srgbClr val="9FADBC"/>
                </a:solidFill>
                <a:latin typeface="Calibri"/>
              </a:rPr>
              <a:t>Aegis core + packs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The governed paved road. Sold / deployed per environment. Identity, authz, audit, compliance, hallucination control, chargeback — all inherited.</a:t>
            </a:r>
          </a:p>
        </p:txBody>
      </p:sp>
      <p:sp>
        <p:nvSpPr>
          <p:cNvPr id="8" name="Chevron 7"/>
          <p:cNvSpPr/>
          <p:nvPr/>
        </p:nvSpPr>
        <p:spPr>
          <a:xfrm>
            <a:off x="4178808" y="3337560"/>
            <a:ext cx="164592" cy="365760"/>
          </a:xfrm>
          <a:prstGeom prst="chevron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61688" y="1965960"/>
            <a:ext cx="3520440" cy="320040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36008" y="2240280"/>
            <a:ext cx="502920" cy="502920"/>
          </a:xfrm>
          <a:prstGeom prst="ellipse">
            <a:avLst/>
          </a:prstGeom>
          <a:solidFill>
            <a:srgbClr val="4F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2880360"/>
            <a:ext cx="29718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4FC3C7"/>
                </a:solidFill>
                <a:latin typeface="Cambria"/>
              </a:rPr>
              <a:t>ADD-ON AGENTS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 i="1">
                <a:solidFill>
                  <a:srgbClr val="9FADBC"/>
                </a:solidFill>
                <a:latin typeface="Calibri"/>
              </a:rPr>
              <a:t>Manifest-conformant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Packaged agents sold as products. Each inherits the customer's governance on deploy. Priced per agent / per seat / per usage.</a:t>
            </a:r>
          </a:p>
        </p:txBody>
      </p:sp>
      <p:sp>
        <p:nvSpPr>
          <p:cNvPr id="12" name="Chevron 11"/>
          <p:cNvSpPr/>
          <p:nvPr/>
        </p:nvSpPr>
        <p:spPr>
          <a:xfrm>
            <a:off x="7900416" y="3337560"/>
            <a:ext cx="164592" cy="365760"/>
          </a:xfrm>
          <a:prstGeom prst="chevron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83296" y="1965960"/>
            <a:ext cx="3520440" cy="320040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57616" y="2240280"/>
            <a:ext cx="502920" cy="502920"/>
          </a:xfrm>
          <a:prstGeom prst="ellipse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6" y="2880360"/>
            <a:ext cx="29718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5CB85C"/>
                </a:solidFill>
                <a:latin typeface="Cambria"/>
              </a:rPr>
              <a:t>WHY IT COMPOUNDS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 i="1">
                <a:solidFill>
                  <a:srgbClr val="9FADBC"/>
                </a:solidFill>
                <a:latin typeface="Calibri"/>
              </a:rPr>
              <a:t>The flywheel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Every new pack opens an industry. Every new agent sells into every existing governed customer — zero governance rework. The moat is the governance.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577840"/>
            <a:ext cx="10881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1">
                <a:solidFill>
                  <a:srgbClr val="F5A623"/>
                </a:solidFill>
                <a:latin typeface="Calibri"/>
              </a:rPr>
              <a:t>A console doesn't give you least-privilege intersection, a human gate withheld in code, WORM audit, per-department chargeback, or a compliance pack that survives a review board. Aegis does — and add-on agents inherit all of it for free.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DEPLOYABLE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The clean-account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9FADBC"/>
                </a:solidFill>
                <a:latin typeface="Calibri"/>
              </a:rPr>
              <a:t>One command runs the entire governance control plane end to end — no AWS, no API key, no network. A green run is the whole pitch.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1131112" cy="86868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4F6F8"/>
                </a:solidFill>
                <a:latin typeface="Calibri"/>
              </a:rPr>
              <a:t>deploy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62632" y="2286000"/>
            <a:ext cx="1131112" cy="86868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62632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4F6F8"/>
                </a:solidFill>
                <a:latin typeface="Calibri"/>
              </a:rPr>
              <a:t>register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85184" y="2286000"/>
            <a:ext cx="1131112" cy="868680"/>
          </a:xfrm>
          <a:prstGeom prst="roundRect">
            <a:avLst/>
          </a:prstGeom>
          <a:solidFill>
            <a:srgbClr val="3A2220"/>
          </a:solidFill>
          <a:ln w="12700">
            <a:solidFill>
              <a:srgbClr val="E06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85184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E06C5C"/>
                </a:solidFill>
                <a:latin typeface="Calibri"/>
              </a:rPr>
              <a:t>DENY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7736" y="2286000"/>
            <a:ext cx="1131112" cy="86868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7736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4F6F8"/>
                </a:solidFill>
                <a:latin typeface="Calibri"/>
              </a:rPr>
              <a:t>approve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0288" y="2286000"/>
            <a:ext cx="1131112" cy="86868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30288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5A623"/>
                </a:solidFill>
                <a:latin typeface="Calibri"/>
              </a:rPr>
              <a:t>execute once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52840" y="2286000"/>
            <a:ext cx="1131112" cy="868680"/>
          </a:xfrm>
          <a:prstGeom prst="roundRect">
            <a:avLst/>
          </a:prstGeom>
          <a:solidFill>
            <a:srgbClr val="3A2220"/>
          </a:solidFill>
          <a:ln w="12700">
            <a:solidFill>
              <a:srgbClr val="E06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2840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E06C5C"/>
                </a:solidFill>
                <a:latin typeface="Calibri"/>
              </a:rPr>
              <a:t>REJECT replay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5392" y="2286000"/>
            <a:ext cx="1131112" cy="86868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75392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4F6F8"/>
                </a:solidFill>
                <a:latin typeface="Calibri"/>
              </a:rPr>
              <a:t>WORM audit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97944" y="2286000"/>
            <a:ext cx="1131112" cy="86868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97944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4F6F8"/>
                </a:solidFill>
                <a:latin typeface="Calibri"/>
              </a:rPr>
              <a:t>chargeback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20496" y="2286000"/>
            <a:ext cx="1131112" cy="86868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0496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4F6F8"/>
                </a:solidFill>
                <a:latin typeface="Calibri"/>
              </a:rPr>
              <a:t>teardown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520440"/>
            <a:ext cx="10881360" cy="777240"/>
          </a:xfrm>
          <a:prstGeom prst="roundRect">
            <a:avLst/>
          </a:prstGeom>
          <a:solidFill>
            <a:srgbClr val="122A18"/>
          </a:solidFill>
          <a:ln w="12700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611880"/>
            <a:ext cx="103327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5CB85C"/>
                </a:solidFill>
                <a:latin typeface="Consolas"/>
              </a:rPr>
              <a:t>RESULT:  </a:t>
            </a:r>
            <a:r>
              <a:rPr sz="1500" b="1" i="0">
                <a:solidFill>
                  <a:srgbClr val="F4F6F8"/>
                </a:solidFill>
                <a:latin typeface="Consolas"/>
              </a:rPr>
              <a:t>18/18 steps passed, 0 failed</a:t>
            </a:r>
            <a:r>
              <a:rPr sz="1200" b="0" i="0">
                <a:solidFill>
                  <a:srgbClr val="9FADBC"/>
                </a:solidFill>
                <a:latin typeface="Consolas"/>
              </a:rPr>
              <a:t>     ·  exits non-zero if any step fails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572000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Deny-by-default + data-class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74920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Consequential action withheld → human gate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577840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Separation of duties (no self-approval)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4572000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Single-use approval; replay rejected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5074920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Append-only hash-chained audit; mutation raises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5577840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Sealed WORM evidence + masked usage ledger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4FC3C7"/>
                </a:solidFill>
                <a:latin typeface="Calibri"/>
              </a:rPr>
              <a:t>CloudFormation passes cfn-lint · IaC parity (CloudFormation + Terraform, commercial + GovCloud) · the no-API-key local demo runs the full scenario in ~1s.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7E0E"/>
                </a:solidFill>
                <a:latin typeface="Calibri"/>
              </a:rPr>
              <a:t>IMPROVING THE PREDECESSOR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242F"/>
                </a:solidFill>
                <a:latin typeface="Cambria"/>
              </a:rPr>
              <a:t>Generalize, don't rebuild  ·  slg-ai-agents → Aegis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80060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CB85C"/>
                </a:solidFill>
                <a:latin typeface="Cambria"/>
              </a:rPr>
              <a:t>Keep (reused verbatim)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150" b="0" i="0">
                <a:solidFill>
                  <a:srgbClr val="1B242F"/>
                </a:solidFill>
                <a:latin typeface="Calibri"/>
              </a:rPr>
              <a:t>Deny-by-default authorization gateway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150" b="0" i="0">
                <a:solidFill>
                  <a:srgbClr val="1B242F"/>
                </a:solidFill>
                <a:latin typeface="Calibri"/>
              </a:rPr>
              <a:t>Consequential actions withheld + human gate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150" b="0" i="0">
                <a:solidFill>
                  <a:srgbClr val="1B242F"/>
                </a:solidFill>
                <a:latin typeface="Calibri"/>
              </a:rPr>
              <a:t>Append-only audit + WORM + fail-closed masking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150" b="0" i="0">
                <a:solidFill>
                  <a:srgbClr val="1B242F"/>
                </a:solidFill>
                <a:latin typeface="Calibri"/>
              </a:rPr>
              <a:t>In-account Bedrock + Guardrails + governed RAG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150" b="0" i="0">
                <a:solidFill>
                  <a:srgbClr val="1B242F"/>
                </a:solidFill>
                <a:latin typeface="Calibri"/>
              </a:rPr>
              <a:t>Cryptographic identity (RS256 over JWKS)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150" b="0" i="0">
                <a:solidFill>
                  <a:srgbClr val="1B242F"/>
                </a:solidFill>
                <a:latin typeface="Calibri"/>
              </a:rPr>
              <a:t>8 agents as one-command SAM golden paths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150" b="0" i="0">
                <a:solidFill>
                  <a:srgbClr val="1B242F"/>
                </a:solidFill>
                <a:latin typeface="Calibri"/>
              </a:rPr>
              <a:t>Deployed &amp; torn down on live AWS (caught 2 bugs)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150" b="0" i="0">
                <a:solidFill>
                  <a:srgbClr val="1B242F"/>
                </a:solidFill>
                <a:latin typeface="Calibri"/>
              </a:rPr>
              <a:t>Intellectual honesty: explicit RACI + remediation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783080"/>
            <a:ext cx="5394960" cy="429768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484632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F5A623"/>
                </a:solidFill>
                <a:latin typeface="Cambria"/>
              </a:rPr>
              <a:t>Add (the Aegis layers)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Industry-agnostic core + overlay packs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FinOps: token caps + chargeback (AIPs)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Signed agent manifest + minimum-bar CI gate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Education + Healthcare-Life-Sciences packs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Automated reasoning checks (formal logic)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AgentCore Gateway + Policy/Cedar as control plane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COPPA 2025, 42 CFR Pt 2, GxP/Part 11 regimes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56370"/>
                </a:solidFill>
                <a:latin typeface="Calibri"/>
              </a:rPr>
              <a:t>Aegis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PROOF &amp; HONESTY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What's real vs. what's customer-owned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3931920"/>
          </a:xfrm>
          <a:prstGeom prst="roundRect">
            <a:avLst/>
          </a:prstGeom>
          <a:solidFill>
            <a:srgbClr val="1B242F"/>
          </a:solidFill>
          <a:ln w="12700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8006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5CB85C"/>
                </a:solidFill>
                <a:latin typeface="Cambria"/>
              </a:rPr>
              <a:t>Real today (implemented &amp; tested)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Deny-by-default gateway + least-privilege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Human gate: bound, single-use, SoD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Append-only audit + WORM + masking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In-account Bedrock + Guardrails + grounding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Automated reasoning + contextual grounding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Manifest + 9-point minimum-bar CI gate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Token budgets + chargeback (AIP tags)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IaC parity (CFN + TF, commercial + GovCloud)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783080"/>
            <a:ext cx="5394960" cy="3931920"/>
          </a:xfrm>
          <a:prstGeom prst="roundRect">
            <a:avLst/>
          </a:prstGeom>
          <a:solidFill>
            <a:srgbClr val="1B242F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48463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F5A623"/>
                </a:solidFill>
                <a:latin typeface="Cambria"/>
              </a:rPr>
              <a:t>Customer-owned (engagement work)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ATO / GovRAMP / FedRAMP authorization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Signed AWS BAA (before any PHI)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Live connectors (fixtures today)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Production IdP integration + MFA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Guardrail / red-team / eval tuning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Third-party penetration test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Retention schedule + HITL queue staffing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Data classification + class isolation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897880"/>
            <a:ext cx="10881360" cy="685800"/>
          </a:xfrm>
          <a:prstGeom prst="roundRect">
            <a:avLst/>
          </a:prstGeom>
          <a:solidFill>
            <a:srgbClr val="3A2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971032"/>
            <a:ext cx="10332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F5A623"/>
                </a:solidFill>
                <a:latin typeface="Cambria"/>
              </a:rPr>
              <a:t>"HIPAA-eligible" ≠ "HIPAA-compliant."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The platform implements technical controls; authorization, agreements, and operational ownership are customer responsibilities. The candor is a selling feature.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645920" y="3291840"/>
            <a:ext cx="4754880" cy="4754880"/>
          </a:xfrm>
          <a:prstGeom prst="ellipse">
            <a:avLst/>
          </a:prstGeom>
          <a:noFill/>
          <a:ln w="19050">
            <a:solidFill>
              <a:srgbClr val="2632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4F6F8"/>
                </a:solidFill>
                <a:latin typeface="Cambria"/>
              </a:rPr>
              <a:t>Start with one low-blast-radius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9FADBC"/>
                </a:solidFill>
                <a:latin typeface="Calibri"/>
              </a:rPr>
              <a:t>Prove the paved road against a documented outcome — then scale agent by agent on governance that's already funded and compliant.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862072"/>
            <a:ext cx="512064" cy="512064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79776"/>
            <a:ext cx="10058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F5A623"/>
                </a:solidFill>
                <a:latin typeface="Cambria"/>
              </a:rPr>
              <a:t>Discovery + architecture workshop 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Map your IdP, data classes, and regimes → select packs.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721608"/>
            <a:ext cx="512064" cy="512064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39312"/>
            <a:ext cx="10058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F5A623"/>
                </a:solidFill>
                <a:latin typeface="Cambria"/>
              </a:rPr>
              <a:t>Stand up the golden path 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One isolated stack with synthetic data — demo the human gate, audit, masking, budget cap live.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581144"/>
            <a:ext cx="512064" cy="512064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498848"/>
            <a:ext cx="10058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F5A623"/>
                </a:solidFill>
                <a:latin typeface="Cambria"/>
              </a:rPr>
              <a:t>Prove a documented outcome 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e.g. self-service deflection economics or cycle-time cut on a reversible, high-volume workflow.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440680"/>
            <a:ext cx="512064" cy="512064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358384"/>
            <a:ext cx="10058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F5A623"/>
                </a:solidFill>
                <a:latin typeface="Cambria"/>
              </a:rPr>
              <a:t>Sign the shared-responsibility plan 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The RACI so security review has no surprises — then land-and-expand.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989320"/>
            <a:ext cx="10881360" cy="640080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6035040"/>
            <a:ext cx="10332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1">
                <a:solidFill>
                  <a:srgbClr val="121820"/>
                </a:solidFill>
                <a:latin typeface="Cambria"/>
              </a:rPr>
              <a:t>Opening line: "Let's build the governance once — and make every agent you ever deploy compliant by default."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" y="2377440"/>
            <a:ext cx="640080" cy="64008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400" b="1" i="0">
                <a:solidFill>
                  <a:srgbClr val="121820"/>
                </a:solidFill>
                <a:latin typeface="Calibri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228600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F4F6F8"/>
                </a:solidFill>
                <a:latin typeface="Cambria"/>
              </a:rPr>
              <a:t>Appendix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1">
                <a:solidFill>
                  <a:srgbClr val="F5A623"/>
                </a:solidFill>
                <a:latin typeface="Cambria"/>
              </a:rPr>
              <a:t>For the customer: CIO / CISO / Director of Architecture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FADBC"/>
                </a:solidFill>
                <a:latin typeface="Calibri"/>
              </a:rPr>
              <a:t>The four CISO questions and their answers  ·  control → regime matrix  ·  the first 90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7E0E"/>
                </a:solidFill>
                <a:latin typeface="Calibri"/>
              </a:rPr>
              <a:t>APPENDIX A  ·  THE SECURITY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B242F"/>
                </a:solidFill>
                <a:latin typeface="Cambria"/>
              </a:rPr>
              <a:t>Four CISO questions, four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349240" cy="2240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C87E0E"/>
                </a:solidFill>
                <a:latin typeface="Cambria"/>
              </a:rPr>
              <a:t>Q  Can the AI act on its own?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B242F"/>
                </a:solidFill>
                <a:latin typeface="Calibri"/>
              </a:rPr>
              <a:t>No. Every consequential action is withheld from the agent in code and proven absent by a test. It executes only after a bound, single-use, separation-of-duties human approval.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91640"/>
            <a:ext cx="5349240" cy="2240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920240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C87E0E"/>
                </a:solidFill>
                <a:latin typeface="Cambria"/>
              </a:rPr>
              <a:t>Q  Do you trust client-supplied roles?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B242F"/>
                </a:solidFill>
                <a:latin typeface="Calibri"/>
              </a:rPr>
              <a:t>Never. Identity is cryptographically verified (RS256 over the IdP JWKS, alg-confusion guard). Least-privilege is the intersection of agent grant and user entitlement.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114800"/>
            <a:ext cx="5349240" cy="2240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C87E0E"/>
                </a:solidFill>
                <a:latin typeface="Cambria"/>
              </a:rPr>
              <a:t>Q  Will the audit hold up?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B242F"/>
                </a:solidFill>
                <a:latin typeface="Calibri"/>
              </a:rPr>
              <a:t>Append-only DynamoDB (PutItem-only IAM) + S3 Object Lock WORM + fail-closed masking of PII/PHI/FTI/CJI. It survives a review board, a FOIA request, or an OIG audit.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114800"/>
            <a:ext cx="5349240" cy="2240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343400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C87E0E"/>
                </a:solidFill>
                <a:latin typeface="Cambria"/>
              </a:rPr>
              <a:t>Q  Where does inference run?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B242F"/>
                </a:solidFill>
                <a:latin typeface="Calibri"/>
              </a:rPr>
              <a:t>In-account over PrivateLink with mandatory Guardrails on input and output. The model never receives unmasked sensitive data; no PII egress.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56370"/>
                </a:solidFill>
                <a:latin typeface="Calibri"/>
              </a:rPr>
              <a:t>Aegis  ·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APPENDIX A  ·  TRACEABILITY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4F6F8"/>
                </a:solidFill>
                <a:latin typeface="Cambria"/>
              </a:rPr>
              <a:t>Control → regime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5A623"/>
                </a:solidFill>
                <a:latin typeface="Calibri"/>
              </a:rPr>
              <a:t>GovRAMP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80152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5A623"/>
                </a:solidFill>
                <a:latin typeface="Calibri"/>
              </a:rPr>
              <a:t>CJIS v6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36944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5A623"/>
                </a:solidFill>
                <a:latin typeface="Calibri"/>
              </a:rPr>
              <a:t>IRS 1075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3736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5A623"/>
                </a:solidFill>
                <a:latin typeface="Calibri"/>
              </a:rPr>
              <a:t>HIPAA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0528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5A623"/>
                </a:solidFill>
                <a:latin typeface="Calibri"/>
              </a:rPr>
              <a:t>GxP/P11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7320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5A623"/>
                </a:solidFill>
                <a:latin typeface="Calibri"/>
              </a:rPr>
              <a:t>FERPA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64112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5A623"/>
                </a:solidFill>
                <a:latin typeface="Calibri"/>
              </a:rPr>
              <a:t>COPPA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20904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5A623"/>
                </a:solidFill>
                <a:latin typeface="Calibri"/>
              </a:rPr>
              <a:t>PCI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77696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5A623"/>
                </a:solidFill>
                <a:latin typeface="Calibri"/>
              </a:rPr>
              <a:t>AI RMF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066544"/>
            <a:ext cx="11094408" cy="374904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066544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Edge WAF / Shield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80152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36944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3736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0528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7320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4112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20904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77696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2441448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Cryptographic identity + MFA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80152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36944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93736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0528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7320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4112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20904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77696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2816352"/>
            <a:ext cx="11094408" cy="374904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2816352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Deny-by-default gateway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23360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80152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36944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93736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50528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7320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64112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20904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77696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3191256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Human gate (bound, SoD)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23360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80152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36944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93736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50528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07320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64112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20904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877696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40080" y="3566160"/>
            <a:ext cx="11094408" cy="374904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1520" y="3566160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In-account inference + Guardrails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23360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80152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36944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93736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50528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07320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64112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20904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77696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1520" y="3941064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Grounding + automated reasoning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023360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80152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736944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93736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50528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07320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64112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020904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877696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40080" y="4315968"/>
            <a:ext cx="11094408" cy="374904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4315968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Append-only audit + WORM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23360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80152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736944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593736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450528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307320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64112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20904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77696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31520" y="4690872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Masking, fail-closed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023360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880152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736944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93736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50528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307320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164112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20904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877696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40080" y="5065776"/>
            <a:ext cx="11094408" cy="374904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31520" y="5065776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KMS CMK + data-class isolation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23360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880152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736944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593736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450528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307320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164112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020904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877696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31520" y="5440680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Token budgets + chargeback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023360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880152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736944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593736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50528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307320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164112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020904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877696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40080" y="5815584"/>
            <a:ext cx="11094408" cy="374904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31520" y="5815584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Continuous monitoring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023360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880152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736944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593736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450528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307320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64112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020904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877696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9FADBC"/>
                </a:solidFill>
                <a:latin typeface="Calibri"/>
              </a:rPr>
              <a:t>Summary view. Full control-by-control machine-readable mapping: governance/controls/control_mappings.yaml.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7E0E"/>
                </a:solidFill>
                <a:latin typeface="Calibri"/>
              </a:rPr>
              <a:t>APPENDIX A  ·  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B242F"/>
                </a:solidFill>
                <a:latin typeface="Cambria"/>
              </a:rPr>
              <a:t>The first 90 days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3520440" cy="4023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057400"/>
            <a:ext cx="502920" cy="502920"/>
          </a:xfrm>
          <a:prstGeom prst="ellipse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297180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Days 0–30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1" i="0">
                <a:solidFill>
                  <a:srgbClr val="1B242F"/>
                </a:solidFill>
                <a:latin typeface="Cambria"/>
              </a:rPr>
              <a:t>Discover &amp; design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6370"/>
                </a:solidFill>
                <a:latin typeface="Calibri"/>
              </a:rPr>
              <a:t>Architecture workshop · map IdP, data classes, regimes → select packs · agree the RACI and gated go-live checklist.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783080"/>
            <a:ext cx="3520440" cy="4023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17720" y="2057400"/>
            <a:ext cx="502920" cy="502920"/>
          </a:xfrm>
          <a:prstGeom prst="ellipse">
            <a:avLst/>
          </a:prstGeom>
          <a:solidFill>
            <a:srgbClr val="4F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743200"/>
            <a:ext cx="297180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4FC3C7"/>
                </a:solidFill>
                <a:latin typeface="Calibri"/>
              </a:rPr>
              <a:t>Days 30–60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1" i="0">
                <a:solidFill>
                  <a:srgbClr val="1B242F"/>
                </a:solidFill>
                <a:latin typeface="Cambria"/>
              </a:rPr>
              <a:t>Stand up the golden path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6370"/>
                </a:solidFill>
                <a:latin typeface="Calibri"/>
              </a:rPr>
              <a:t>One isolated stack (VPC, edge, Cognito, KMS, WORM, gateway, agent) with synthetic data · demo human gate, audit, masking, budget cap live.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783080"/>
            <a:ext cx="3520440" cy="4023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21040" y="2057400"/>
            <a:ext cx="502920" cy="502920"/>
          </a:xfrm>
          <a:prstGeom prst="ellipse">
            <a:avLst/>
          </a:prstGeom>
          <a:solidFill>
            <a:srgbClr val="C87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743200"/>
            <a:ext cx="297180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7E0E"/>
                </a:solidFill>
                <a:latin typeface="Calibri"/>
              </a:rPr>
              <a:t>Days 60–90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1" i="0">
                <a:solidFill>
                  <a:srgbClr val="1B242F"/>
                </a:solidFill>
                <a:latin typeface="Cambria"/>
              </a:rPr>
              <a:t>Prove &amp; prepare to scale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6370"/>
                </a:solidFill>
                <a:latin typeface="Calibri"/>
              </a:rPr>
              <a:t>Run evals to the declared pass rate · prove the documented outcome · build the first live connector · begin the authorization control package.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1B242F"/>
                </a:solidFill>
                <a:latin typeface="Calibri"/>
              </a:rPr>
              <a:t>Land-and-expand: add agents one at a time on the same paved road; turn on chargeback; introduce orchestration when ≥2 agents are live.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56370"/>
                </a:solidFill>
                <a:latin typeface="Calibri"/>
              </a:rPr>
              <a:t>Aegis  ·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" y="2377440"/>
            <a:ext cx="640080" cy="64008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400" b="1" i="0">
                <a:solidFill>
                  <a:srgbClr val="121820"/>
                </a:solidFill>
                <a:latin typeface="Calibri"/>
              </a:rPr>
              <a:t>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228600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F4F6F8"/>
                </a:solidFill>
                <a:latin typeface="Cambria"/>
              </a:rPr>
              <a:t>Appendix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1">
                <a:solidFill>
                  <a:srgbClr val="F5A623"/>
                </a:solidFill>
                <a:latin typeface="Cambria"/>
              </a:rPr>
              <a:t>For AWS: field &amp; leadership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FADBC"/>
                </a:solidFill>
                <a:latin typeface="Calibri"/>
              </a:rPr>
              <a:t>The consumption story  ·  which services it pulls  ·  the Marketplace add-on motion  ·  land-and-expand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APPENDIX B  ·  WHY AWS SHOULD CO-SELL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4F6F8"/>
                </a:solidFill>
                <a:latin typeface="Cambria"/>
              </a:rPr>
              <a:t>Durable consumption across the right services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486400" cy="416052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93392"/>
            <a:ext cx="493776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F5A623"/>
                </a:solidFill>
                <a:latin typeface="Cambria"/>
              </a:rPr>
              <a:t>Services it pulls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5A623"/>
                </a:solidFill>
                <a:latin typeface="Calibri"/>
              </a:rPr>
              <a:t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>Amazon Bedrock + Guardrails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models, grounding, automated reasoning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5A623"/>
                </a:solidFill>
                <a:latin typeface="Calibri"/>
              </a:rPr>
              <a:t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>AgentCore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Gateway / Identity / Runtime / Policy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5A623"/>
                </a:solidFill>
                <a:latin typeface="Calibri"/>
              </a:rPr>
              <a:t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>AWS GovCloud (US)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High-impact / CJI / FTI workloads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5A623"/>
                </a:solidFill>
                <a:latin typeface="Calibri"/>
              </a:rPr>
              <a:t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>KMS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CMK per data class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5A623"/>
                </a:solidFill>
                <a:latin typeface="Calibri"/>
              </a:rPr>
              <a:t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>Macie / Comprehend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sensitive-data discovery + masking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5A623"/>
                </a:solidFill>
                <a:latin typeface="Calibri"/>
              </a:rPr>
              <a:t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>FinOps stack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AIPs · Cost Explorer · CUR · Budgets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5A623"/>
                </a:solidFill>
                <a:latin typeface="Calibri"/>
              </a:rPr>
              <a:t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>Edge &amp; posture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CloudFront/WAF/Shield · CloudTrail/GuardDuty/Config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783080"/>
            <a:ext cx="5120640" cy="4160520"/>
          </a:xfrm>
          <a:prstGeom prst="roundRect">
            <a:avLst/>
          </a:prstGeom>
          <a:solidFill>
            <a:srgbClr val="1B242F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993392"/>
            <a:ext cx="45720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F5A623"/>
                </a:solidFill>
                <a:latin typeface="Cambria"/>
              </a:rPr>
              <a:t>The consumption (ACR) story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›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Durable, consumption-generating workloads — not a one-time license.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›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Accelerates regulated-industry adoption — the exact segments (gov, HCLS, education) where AWS wins on compliance breadth.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›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De-risks the customer's security review — the real blocker to Bedrock consumption in regulated accounts.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›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Converts stalled pilots into funded production — every governed agent is metered Bedrock + AgentCore spend.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APPENDIX B  ·  THE 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Marketplace add-ons + land-and-expand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9339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5A623"/>
                </a:solidFill>
                <a:latin typeface="Cambria"/>
              </a:rPr>
              <a:t>The Marketplace motion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2569464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96312"/>
            <a:ext cx="4206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F5A623"/>
                </a:solidFill>
                <a:latin typeface="Cambria"/>
              </a:rPr>
              <a:t>Package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An add-on agent is packaged once as a manifest-conformant product.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3374136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300984"/>
            <a:ext cx="4206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F5A623"/>
                </a:solidFill>
                <a:latin typeface="Cambria"/>
              </a:rPr>
              <a:t>List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It becomes an AWS Marketplace listing — an ISV / partner flywheel.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4178808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4105656"/>
            <a:ext cx="4206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F5A623"/>
                </a:solidFill>
                <a:latin typeface="Cambria"/>
              </a:rPr>
              <a:t>Deploy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It deploys onto any governed Aegis environment and inherits governance.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98348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910328"/>
            <a:ext cx="4206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F5A623"/>
                </a:solidFill>
                <a:latin typeface="Cambria"/>
              </a:rPr>
              <a:t>Compound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Every new pack opens an industry; every agent sells into every governed customer.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83080"/>
            <a:ext cx="5349240" cy="4297680"/>
          </a:xfrm>
          <a:prstGeom prst="roundRect">
            <a:avLst/>
          </a:prstGeom>
          <a:solidFill>
            <a:srgbClr val="1B242F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99339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5A623"/>
                </a:solidFill>
                <a:latin typeface="Cambria"/>
              </a:rPr>
              <a:t>Land-and-expand</a:t>
            </a:r>
          </a:p>
        </p:txBody>
      </p:sp>
      <p:sp>
        <p:nvSpPr>
          <p:cNvPr id="17" name="Oval 16"/>
          <p:cNvSpPr/>
          <p:nvPr/>
        </p:nvSpPr>
        <p:spPr>
          <a:xfrm>
            <a:off x="6446520" y="2569464"/>
            <a:ext cx="457200" cy="457200"/>
          </a:xfrm>
          <a:prstGeom prst="ellipse">
            <a:avLst/>
          </a:prstGeom>
          <a:solidFill>
            <a:srgbClr val="4F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86600" y="2496312"/>
            <a:ext cx="4206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4FC3C7"/>
                </a:solidFill>
                <a:latin typeface="Cambria"/>
              </a:rPr>
              <a:t>LAND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One low-blast-radius agent on the governed paved road — first metered Bedrock/AgentCore spend.</a:t>
            </a:r>
          </a:p>
        </p:txBody>
      </p:sp>
      <p:sp>
        <p:nvSpPr>
          <p:cNvPr id="19" name="Oval 18"/>
          <p:cNvSpPr/>
          <p:nvPr/>
        </p:nvSpPr>
        <p:spPr>
          <a:xfrm>
            <a:off x="6446520" y="3374136"/>
            <a:ext cx="457200" cy="457200"/>
          </a:xfrm>
          <a:prstGeom prst="ellipse">
            <a:avLst/>
          </a:prstGeom>
          <a:solidFill>
            <a:srgbClr val="4F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3300984"/>
            <a:ext cx="4206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4FC3C7"/>
                </a:solidFill>
                <a:latin typeface="Cambria"/>
              </a:rPr>
              <a:t>PROVE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 documented outcome + a clean security review — the platform is now trusted.</a:t>
            </a:r>
          </a:p>
        </p:txBody>
      </p:sp>
      <p:sp>
        <p:nvSpPr>
          <p:cNvPr id="21" name="Oval 20"/>
          <p:cNvSpPr/>
          <p:nvPr/>
        </p:nvSpPr>
        <p:spPr>
          <a:xfrm>
            <a:off x="6446520" y="4178808"/>
            <a:ext cx="457200" cy="457200"/>
          </a:xfrm>
          <a:prstGeom prst="ellipse">
            <a:avLst/>
          </a:prstGeom>
          <a:solidFill>
            <a:srgbClr val="4F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4105656"/>
            <a:ext cx="4206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4FC3C7"/>
                </a:solidFill>
                <a:latin typeface="Cambria"/>
              </a:rPr>
              <a:t>EXPAND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Add agents one at a time, zero governance rework — consumption grows per agent.</a:t>
            </a:r>
          </a:p>
        </p:txBody>
      </p:sp>
      <p:sp>
        <p:nvSpPr>
          <p:cNvPr id="23" name="Oval 22"/>
          <p:cNvSpPr/>
          <p:nvPr/>
        </p:nvSpPr>
        <p:spPr>
          <a:xfrm>
            <a:off x="6446520" y="4983480"/>
            <a:ext cx="457200" cy="457200"/>
          </a:xfrm>
          <a:prstGeom prst="ellipse">
            <a:avLst/>
          </a:prstGeom>
          <a:solidFill>
            <a:srgbClr val="4F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4910328"/>
            <a:ext cx="4206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4FC3C7"/>
                </a:solidFill>
                <a:latin typeface="Cambria"/>
              </a:rPr>
              <a:t>ORCHESTRATE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Introduce the coordination layer when ≥2 agents are live — whole-of-enterprise.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263640"/>
            <a:ext cx="10881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F5A623"/>
                </a:solidFill>
                <a:latin typeface="Calibri"/>
              </a:rPr>
              <a:t>The differentiation: a console gives you a model. Aegis gives you a governed, compliant, chargeback-aware platform that makes Bedrock consumption safe in a regulated account.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