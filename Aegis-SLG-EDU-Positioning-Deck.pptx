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~30s. One-sentence setup: your departments are already building agents — this is the platform that makes every one of them auditable, observable, least-privileged, human-gated, and stoppable. Everything in this deck exists as reviewable code with tests, deployed and exercised in clean AWS accounts. The ask at the end is a pilot of the platform plus one agent. Transition: 'Let me start with what's happening in your buildings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~90s. Land each card as recognition, not accusation — every agency in the room has shadow agents. The four questions in the top-right card are the exact questions counsel and auditors ask; say them slowly. The amber card is the emotional center of the deck: ask the kill-switch question out loud and pause. Most rooms go quiet. Transition: 'Here's the inversion that fixes the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~90s. Walk the pipeline left to right in one breath — the point is that EVERY action crosses ALL of it. Then the two cards: the intersection rule is the sentence CISOs remember ('an agent never exceeds the authority of the human it acts for'); the kill switch answers slide 2's meeting-ender — one command, audited, and the person who engaged it cannot be the one who releases it. Transition: 'You already own most of the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~2min. This slide converts skeptics: nothing exotic, no new vendor — services they already license and audit, assembled with a thin open platform layer that makes behavior fail-closed and testable. Read two rows fully (identity, containment) and let them scan the rest. Note the direction of travel: what began as platform code increasingly has managed equivalents (AgentCore Gateway, Cedar policy engine), so the custom layer keeps shrinking toward manifests, policies, and tests — the parts that encode THEIR governance. GovCloud variant exists in the IaC. Transition: 'And when a new agent shows up, here's the bar it clears.'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~90s. The governance question every vendor add-on raises — 'can we trust this thing?' — becomes mechanical: does it clear the bar? Emphasize gate 2 (consequential actions absent from the agent's own tool grants — 'can the AI act alone' is answerably NO in code) and gate 8 (signed manifests: you know who published every agent). Enforcement is layered: CI at build, gateway at runtime, delivery gate at handoff. Transition: 'This isn't a diagram — it runs. Here's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~90s. Four working agents, three verticals, one template — the platform claim is demonstrated, not asserted. The right card is a differentiator with public-sector buyers: a written honesty boundary (NOT-CLAIMS), a machine-readable maturity file that CI enforces against overstatement, and runtime evidence from clean-account deployments. Offer the live demo: the clean-account acceptance script runs the entire control plane end-to-end in front of them — deny unauthorized tool, block self-approval, reject replay, prove immutable audit. Transition: 'What does this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~90s. Lead with the headline: deployed and standing still, the whole governance platform is one to three dollars a month — KMS is literally the only fixed line; everything else is pay-per-use with free tiers covering pilot scale (DynamoDB first 25 GB, Cognito 10K monthly users, Lambda 1M requests). Every figure traces to an AWS pricing page; Guardrails' $0.15 per 1,000 text units is AWS's published price after the December 2024 reduction — cite it if challenged. Then the in-use story: ~$6–8 per 1,000 governed actions, 70–85% of it model inference they would buy with or without governance — so the governance premium itself is roughly a dollar per thousand actions. Budgets make cost a governed dimension like access. Close honestly: the real second cost is human approval time, and the ROI worksheet is how you tune it. Transition: 'Here's how a pilot actually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~75s. This slide pre-empts the 'our data isn't ready' objection honestly: you don't need a two-year data program — you need ONE reachable system of record for the first agent, and the connector-maturity discipline keeps everyone honest about which integrations are live vs. engagement work. The data-classification point matters to CISOs: classify once in the manifest, and masking/retention/policy follow automatically. Transition: 'The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~90s. Phase 1 ends with THEIR security team running the kill-switch drill — that's the moment this stops being a slide deck for them. Phase 2's discipline: the manifest and policies are authored WITH the business owner, so governance encodes their actual rules (who signs off, what's consequential). Phase 3 is the payoff line — say it exactly: 'the second agent costs a manifest; so does the tenth.' Transition: 'And if the service map still feels heavy, let me show you its honest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~75s. This is the anti-daunting slide — use it whenever the room glazes at the component map. The move: collapse the service list into the three questions a CISO already owns (who is acting / what may happen / can you prove it), then land the four numbers — nine managed services in the core, one to three dollars a month standing still, one command to deploy, and roughly ten decisions the customer actually makes: data classes, retention per class, guardrail thresholds, who approves consequential actions, token budgets, and which IdP federates. Everything else is opinionated defaults they can change later. If asked 'what are the nine': KMS, DynamoDB x2, S3, Cognito, Lambda, CloudWatch, SSM, Bedrock — seven of which their account almost certainly runs today. Transition: 'So here are the objections you're already forming.'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~2min. Volunteer these before they're asked — the candor IS the differentiator. On 'official product': the honesty boundary makes procurement easier, not harder (no vendor claims to verify — just code to review). On 'we have IAM': agree enthusiastically, then name the agent-specific gaps one by one. On retrofits: position the nine-gate bar as their AGENT REVIEW STANDARD even for agents that never run on this platform — that reframe alone is worth the meeting. Transition: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~60s then discussion. The ask is deliberately small: one pilot, one agent, weeks not quarters — because the platform exists and deploys from IaC. Step 4 is the strategic hook: even before broad rollout, adopting the nine-gate bar as their agency-wide agent standard changes their posture immediately, costs nothing, and makes this platform the natural home for everything that clears it. Close on the tagline and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3A"/>
        </a:solidFill>
      </p:bgPr>
    </p:bg>
    <p:spTree>
      <p:nvGrpSpPr>
        <p:cNvPr id="1" name=""/>
        <p:cNvGrpSpPr/>
        <p:nvPr/>
      </p:nvGrpSpPr>
      <p:grpSpPr>
        <a:xfrm>
          <a:off x="0" y="0"/>
          <a:ext cx="0" cy="0"/>
          <a:chOff x="0" y="0"/>
          <a:chExt cx="0" cy="0"/>
        </a:xfrm>
      </p:grpSpPr>
      <p:sp>
        <p:nvSpPr>
          <p:cNvPr id="2" name="Shape 0"/>
          <p:cNvSpPr/>
          <p:nvPr/>
        </p:nvSpPr>
        <p:spPr>
          <a:xfrm>
            <a:off x="822960" y="1828800"/>
            <a:ext cx="128016" cy="2011680"/>
          </a:xfrm>
          <a:prstGeom prst="rect">
            <a:avLst/>
          </a:prstGeom>
          <a:solidFill>
            <a:srgbClr val="0B6E4F"/>
          </a:solidFill>
          <a:ln/>
        </p:spPr>
      </p:sp>
      <p:sp>
        <p:nvSpPr>
          <p:cNvPr id="3" name="Text 1"/>
          <p:cNvSpPr/>
          <p:nvPr/>
        </p:nvSpPr>
        <p:spPr>
          <a:xfrm>
            <a:off x="1143000" y="1783080"/>
            <a:ext cx="9601200" cy="457200"/>
          </a:xfrm>
          <a:prstGeom prst="rect">
            <a:avLst/>
          </a:prstGeom>
          <a:noFill/>
          <a:ln/>
        </p:spPr>
        <p:txBody>
          <a:bodyPr wrap="square" lIns="0" tIns="0" rIns="0" bIns="0" rtlCol="0" anchor="ctr"/>
          <a:lstStyle/>
          <a:p>
            <a:pPr indent="0" marL="0">
              <a:buNone/>
            </a:pPr>
            <a:r>
              <a:rPr lang="en-US" sz="1800" dirty="0">
                <a:solidFill>
                  <a:srgbClr val="AAB7B8"/>
                </a:solidFill>
                <a:latin typeface="Calibri" pitchFamily="34" charset="0"/>
                <a:ea typeface="Calibri" pitchFamily="34" charset="-122"/>
                <a:cs typeface="Calibri" pitchFamily="34" charset="-120"/>
              </a:rPr>
              <a:t>For State &amp; Local Government and Education</a:t>
            </a:r>
            <a:endParaRPr lang="en-US" sz="1800" dirty="0"/>
          </a:p>
        </p:txBody>
      </p:sp>
      <p:sp>
        <p:nvSpPr>
          <p:cNvPr id="4" name="Text 2"/>
          <p:cNvSpPr/>
          <p:nvPr/>
        </p:nvSpPr>
        <p:spPr>
          <a:xfrm>
            <a:off x="1143000" y="2240280"/>
            <a:ext cx="10332720" cy="16459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Govern Once.</a:t>
            </a:r>
            <a:endParaRPr lang="en-US" sz="4400" dirty="0"/>
          </a:p>
          <a:p>
            <a:pPr indent="0" marL="0">
              <a:buNone/>
            </a:pPr>
            <a:r>
              <a:rPr lang="en-US" sz="4400" b="1" dirty="0">
                <a:solidFill>
                  <a:srgbClr val="FFFFFF"/>
                </a:solidFill>
                <a:latin typeface="Calibri" pitchFamily="34" charset="0"/>
                <a:ea typeface="Calibri" pitchFamily="34" charset="-122"/>
                <a:cs typeface="Calibri" pitchFamily="34" charset="-120"/>
              </a:rPr>
              <a:t>Then Let Every Department Build.</a:t>
            </a:r>
            <a:endParaRPr lang="en-US" sz="4400" dirty="0"/>
          </a:p>
        </p:txBody>
      </p:sp>
      <p:sp>
        <p:nvSpPr>
          <p:cNvPr id="5" name="Text 3"/>
          <p:cNvSpPr/>
          <p:nvPr/>
        </p:nvSpPr>
        <p:spPr>
          <a:xfrm>
            <a:off x="1143000" y="3977640"/>
            <a:ext cx="10058400" cy="86868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governed-agent platform on AWS: full auditability, observability, least-privilege access,</a:t>
            </a:r>
            <a:endParaRPr lang="en-US" sz="1600" dirty="0"/>
          </a:p>
          <a:p>
            <a:pPr indent="0" marL="0">
              <a:buNone/>
            </a:pPr>
            <a:r>
              <a:rPr lang="en-US" sz="1600" dirty="0">
                <a:solidFill>
                  <a:srgbClr val="CADCFC"/>
                </a:solidFill>
                <a:latin typeface="Calibri" pitchFamily="34" charset="0"/>
                <a:ea typeface="Calibri" pitchFamily="34" charset="-122"/>
                <a:cs typeface="Calibri" pitchFamily="34" charset="-120"/>
              </a:rPr>
              <a:t>human approval gates, and a kill switch — before the next agent ships.</a:t>
            </a:r>
            <a:endParaRPr lang="en-US" sz="1600" dirty="0"/>
          </a:p>
        </p:txBody>
      </p:sp>
      <p:sp>
        <p:nvSpPr>
          <p:cNvPr id="6" name="Text 4"/>
          <p:cNvSpPr/>
          <p:nvPr/>
        </p:nvSpPr>
        <p:spPr>
          <a:xfrm>
            <a:off x="1143000" y="5989320"/>
            <a:ext cx="8229600" cy="320040"/>
          </a:xfrm>
          <a:prstGeom prst="rect">
            <a:avLst/>
          </a:prstGeom>
          <a:noFill/>
          <a:ln/>
        </p:spPr>
        <p:txBody>
          <a:bodyPr wrap="square" lIns="0" tIns="0" rIns="0" bIns="0" rtlCol="0" anchor="ctr"/>
          <a:lstStyle/>
          <a:p>
            <a:pPr indent="0" marL="0">
              <a:buNone/>
            </a:pPr>
            <a:r>
              <a:rPr lang="en-US" sz="1100" dirty="0">
                <a:solidFill>
                  <a:srgbClr val="7B8A8B"/>
                </a:solidFill>
                <a:latin typeface="Calibri" pitchFamily="34" charset="0"/>
                <a:ea typeface="Calibri" pitchFamily="34" charset="-122"/>
                <a:cs typeface="Calibri" pitchFamily="34" charset="-120"/>
              </a:rPr>
              <a:t>Aegis reference architecture · Built on AWS ·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01 · THE PROBLEM</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Every Department Is Building Agents. Nobody Can Govern Them.</a:t>
            </a:r>
            <a:endParaRPr lang="en-US" sz="3000" dirty="0"/>
          </a:p>
        </p:txBody>
      </p:sp>
      <p:sp>
        <p:nvSpPr>
          <p:cNvPr id="4" name="Shape 2"/>
          <p:cNvSpPr/>
          <p:nvPr/>
        </p:nvSpPr>
        <p:spPr>
          <a:xfrm>
            <a:off x="548640" y="1600200"/>
            <a:ext cx="5486400" cy="1481328"/>
          </a:xfrm>
          <a:prstGeom prst="roundRect">
            <a:avLst>
              <a:gd name="adj" fmla="val 3704"/>
            </a:avLst>
          </a:prstGeom>
          <a:solidFill>
            <a:srgbClr val="F2F3F3"/>
          </a:solidFill>
          <a:ln w="9525">
            <a:solidFill>
              <a:srgbClr val="D5DBDB"/>
            </a:solidFill>
            <a:prstDash val="solid"/>
          </a:ln>
        </p:spPr>
      </p:sp>
      <p:sp>
        <p:nvSpPr>
          <p:cNvPr id="5" name="Text 3"/>
          <p:cNvSpPr/>
          <p:nvPr/>
        </p:nvSpPr>
        <p:spPr>
          <a:xfrm>
            <a:off x="713232" y="170992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Shadow agents by department</a:t>
            </a:r>
            <a:endParaRPr lang="en-US" sz="1400" dirty="0"/>
          </a:p>
        </p:txBody>
      </p:sp>
      <p:sp>
        <p:nvSpPr>
          <p:cNvPr id="6" name="Text 4"/>
          <p:cNvSpPr/>
          <p:nvPr/>
        </p:nvSpPr>
        <p:spPr>
          <a:xfrm>
            <a:off x="713232" y="2057400"/>
            <a:ext cx="5157216" cy="914400"/>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Benefits screeners, aid chatbots, records triage — each works in a demo, each wired differently, none visible to central IT until something goes wrong.</a:t>
            </a:r>
            <a:endParaRPr lang="en-US" sz="1100" dirty="0"/>
          </a:p>
        </p:txBody>
      </p:sp>
      <p:sp>
        <p:nvSpPr>
          <p:cNvPr id="7" name="Shape 5"/>
          <p:cNvSpPr/>
          <p:nvPr/>
        </p:nvSpPr>
        <p:spPr>
          <a:xfrm>
            <a:off x="6172200" y="1600200"/>
            <a:ext cx="5486400" cy="1481328"/>
          </a:xfrm>
          <a:prstGeom prst="roundRect">
            <a:avLst>
              <a:gd name="adj" fmla="val 3704"/>
            </a:avLst>
          </a:prstGeom>
          <a:solidFill>
            <a:srgbClr val="F2F3F3"/>
          </a:solidFill>
          <a:ln w="9525">
            <a:solidFill>
              <a:srgbClr val="D5DBDB"/>
            </a:solidFill>
            <a:prstDash val="solid"/>
          </a:ln>
        </p:spPr>
      </p:sp>
      <p:sp>
        <p:nvSpPr>
          <p:cNvPr id="8" name="Text 6"/>
          <p:cNvSpPr/>
          <p:nvPr/>
        </p:nvSpPr>
        <p:spPr>
          <a:xfrm>
            <a:off x="6336792" y="170992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The questions that stop deployment</a:t>
            </a:r>
            <a:endParaRPr lang="en-US" sz="1400" dirty="0"/>
          </a:p>
        </p:txBody>
      </p:sp>
      <p:sp>
        <p:nvSpPr>
          <p:cNvPr id="9" name="Text 7"/>
          <p:cNvSpPr/>
          <p:nvPr/>
        </p:nvSpPr>
        <p:spPr>
          <a:xfrm>
            <a:off x="6336792" y="2057400"/>
            <a:ext cx="5157216" cy="914400"/>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Who did it act for? What can it reach? Who approved that action? Where's the tamper-proof record? Can PII / FERPA / PHI reach a model?</a:t>
            </a:r>
            <a:endParaRPr lang="en-US" sz="1100" dirty="0"/>
          </a:p>
        </p:txBody>
      </p:sp>
      <p:sp>
        <p:nvSpPr>
          <p:cNvPr id="10" name="Shape 8"/>
          <p:cNvSpPr/>
          <p:nvPr/>
        </p:nvSpPr>
        <p:spPr>
          <a:xfrm>
            <a:off x="548640" y="3200400"/>
            <a:ext cx="5486400" cy="1481328"/>
          </a:xfrm>
          <a:prstGeom prst="roundRect">
            <a:avLst>
              <a:gd name="adj" fmla="val 3704"/>
            </a:avLst>
          </a:prstGeom>
          <a:solidFill>
            <a:srgbClr val="F2F3F3"/>
          </a:solidFill>
          <a:ln w="9525">
            <a:solidFill>
              <a:srgbClr val="D5DBDB"/>
            </a:solidFill>
            <a:prstDash val="solid"/>
          </a:ln>
        </p:spPr>
      </p:sp>
      <p:sp>
        <p:nvSpPr>
          <p:cNvPr id="11" name="Text 9"/>
          <p:cNvSpPr/>
          <p:nvPr/>
        </p:nvSpPr>
        <p:spPr>
          <a:xfrm>
            <a:off x="713232" y="331012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Every deployment is a one-off review</a:t>
            </a:r>
            <a:endParaRPr lang="en-US" sz="1400" dirty="0"/>
          </a:p>
        </p:txBody>
      </p:sp>
      <p:sp>
        <p:nvSpPr>
          <p:cNvPr id="12" name="Text 10"/>
          <p:cNvSpPr/>
          <p:nvPr/>
        </p:nvSpPr>
        <p:spPr>
          <a:xfrm>
            <a:off x="713232" y="3657600"/>
            <a:ext cx="5157216" cy="914400"/>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No shared controls means every agent is a bespoke risk assessment. Reviews take months; departments route around them; risk compounds.</a:t>
            </a:r>
            <a:endParaRPr lang="en-US" sz="1100" dirty="0"/>
          </a:p>
        </p:txBody>
      </p:sp>
      <p:sp>
        <p:nvSpPr>
          <p:cNvPr id="13" name="Shape 11"/>
          <p:cNvSpPr/>
          <p:nvPr/>
        </p:nvSpPr>
        <p:spPr>
          <a:xfrm>
            <a:off x="6172200" y="3200400"/>
            <a:ext cx="5486400" cy="1481328"/>
          </a:xfrm>
          <a:prstGeom prst="roundRect">
            <a:avLst>
              <a:gd name="adj" fmla="val 3704"/>
            </a:avLst>
          </a:prstGeom>
          <a:solidFill>
            <a:srgbClr val="FDF3E7"/>
          </a:solidFill>
          <a:ln w="9525">
            <a:solidFill>
              <a:srgbClr val="C88A00"/>
            </a:solidFill>
            <a:prstDash val="solid"/>
          </a:ln>
        </p:spPr>
      </p:sp>
      <p:sp>
        <p:nvSpPr>
          <p:cNvPr id="14" name="Text 12"/>
          <p:cNvSpPr/>
          <p:nvPr/>
        </p:nvSpPr>
        <p:spPr>
          <a:xfrm>
            <a:off x="6336792" y="3310128"/>
            <a:ext cx="5157216" cy="329184"/>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And the meeting-ender</a:t>
            </a:r>
            <a:endParaRPr lang="en-US" sz="1400" dirty="0"/>
          </a:p>
        </p:txBody>
      </p:sp>
      <p:sp>
        <p:nvSpPr>
          <p:cNvPr id="15" name="Text 13"/>
          <p:cNvSpPr/>
          <p:nvPr/>
        </p:nvSpPr>
        <p:spPr>
          <a:xfrm>
            <a:off x="6336792" y="3657600"/>
            <a:ext cx="5157216" cy="914400"/>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“If an agent misbehaves at 2am, can you stop everything — right now — and prove you did?” Today, for most agencies: no.</a:t>
            </a:r>
            <a:endParaRPr lang="en-US" sz="1100" dirty="0"/>
          </a:p>
        </p:txBody>
      </p:sp>
      <p:sp>
        <p:nvSpPr>
          <p:cNvPr id="16" name="Shape 14"/>
          <p:cNvSpPr/>
          <p:nvPr/>
        </p:nvSpPr>
        <p:spPr>
          <a:xfrm>
            <a:off x="548640" y="4937760"/>
            <a:ext cx="11109960" cy="914400"/>
          </a:xfrm>
          <a:prstGeom prst="roundRect">
            <a:avLst>
              <a:gd name="adj" fmla="val 5000"/>
            </a:avLst>
          </a:prstGeom>
          <a:solidFill>
            <a:srgbClr val="1B2A3A"/>
          </a:solidFill>
          <a:ln/>
        </p:spPr>
      </p:sp>
      <p:sp>
        <p:nvSpPr>
          <p:cNvPr id="17" name="Text 15"/>
          <p:cNvSpPr/>
          <p:nvPr/>
        </p:nvSpPr>
        <p:spPr>
          <a:xfrm>
            <a:off x="777240" y="5029200"/>
            <a:ext cx="10698480" cy="7498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blocker to agentic AI in government is governance, not model quality. </a:t>
            </a:r>
            <a:pPr indent="0" marL="0">
              <a:buNone/>
            </a:pPr>
            <a:r>
              <a:rPr lang="en-US" sz="1400" dirty="0">
                <a:solidFill>
                  <a:srgbClr val="CADCFC"/>
                </a:solidFill>
                <a:latin typeface="Calibri" pitchFamily="34" charset="0"/>
                <a:ea typeface="Calibri" pitchFamily="34" charset="-122"/>
                <a:cs typeface="Calibri" pitchFamily="34" charset="-120"/>
              </a:rPr>
              <a:t>The fix is not a better agent — it is a platform every agent must pass through.</a:t>
            </a:r>
            <a:endParaRPr lang="en-US" sz="1400" dirty="0"/>
          </a:p>
        </p:txBody>
      </p:sp>
      <p:sp>
        <p:nvSpPr>
          <p:cNvPr id="18" name="Text 16"/>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19" name="Text 17"/>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02 · THE ANSWER</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One Control Plane. Every Agent Through It.</a:t>
            </a:r>
            <a:endParaRPr lang="en-US" sz="3000" dirty="0"/>
          </a:p>
        </p:txBody>
      </p:sp>
      <p:sp>
        <p:nvSpPr>
          <p:cNvPr id="4" name="Text 2"/>
          <p:cNvSpPr/>
          <p:nvPr/>
        </p:nvSpPr>
        <p:spPr>
          <a:xfrm>
            <a:off x="548640" y="1554480"/>
            <a:ext cx="11064240" cy="868680"/>
          </a:xfrm>
          <a:prstGeom prst="rect">
            <a:avLst/>
          </a:prstGeom>
          <a:noFill/>
          <a:ln/>
        </p:spPr>
        <p:txBody>
          <a:bodyPr wrap="square" lIns="0" tIns="0" rIns="0" bIns="0" rtlCol="0" anchor="ctr"/>
          <a:lstStyle/>
          <a:p>
            <a:pPr indent="0" marL="0">
              <a:lnSpc>
                <a:spcPct val="112000"/>
              </a:lnSpc>
              <a:buNone/>
            </a:pPr>
            <a:r>
              <a:rPr lang="en-US" sz="1400" dirty="0">
                <a:solidFill>
                  <a:srgbClr val="545B64"/>
                </a:solidFill>
                <a:latin typeface="Calibri" pitchFamily="34" charset="0"/>
                <a:ea typeface="Calibri" pitchFamily="34" charset="-122"/>
                <a:cs typeface="Calibri" pitchFamily="34" charset="-120"/>
              </a:rPr>
              <a:t>Deny-by-default: every agent action — model call, tool call, retrieval — flows through one authorization gateway enforcing a versioned governance contract. Build the platform once; every agent after that is a configuration that inherits governance, not a project that reinvents it.</a:t>
            </a:r>
            <a:endParaRPr lang="en-US" sz="1400" dirty="0"/>
          </a:p>
        </p:txBody>
      </p:sp>
      <p:sp>
        <p:nvSpPr>
          <p:cNvPr id="5" name="Shape 3"/>
          <p:cNvSpPr/>
          <p:nvPr/>
        </p:nvSpPr>
        <p:spPr>
          <a:xfrm>
            <a:off x="548640" y="2743200"/>
            <a:ext cx="1481328" cy="960120"/>
          </a:xfrm>
          <a:prstGeom prst="roundRect">
            <a:avLst>
              <a:gd name="adj" fmla="val 5714"/>
            </a:avLst>
          </a:prstGeom>
          <a:solidFill>
            <a:srgbClr val="1B2A3A"/>
          </a:solidFill>
          <a:ln/>
        </p:spPr>
      </p:sp>
      <p:sp>
        <p:nvSpPr>
          <p:cNvPr id="6" name="Text 4"/>
          <p:cNvSpPr/>
          <p:nvPr/>
        </p:nvSpPr>
        <p:spPr>
          <a:xfrm>
            <a:off x="548640" y="2743200"/>
            <a:ext cx="1481328"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Verified identity</a:t>
            </a:r>
            <a:endParaRPr lang="en-US" sz="1050" dirty="0"/>
          </a:p>
        </p:txBody>
      </p:sp>
      <p:sp>
        <p:nvSpPr>
          <p:cNvPr id="7" name="Text 5"/>
          <p:cNvSpPr/>
          <p:nvPr/>
        </p:nvSpPr>
        <p:spPr>
          <a:xfrm>
            <a:off x="2002536" y="2743200"/>
            <a:ext cx="173736" cy="960120"/>
          </a:xfrm>
          <a:prstGeom prst="rect">
            <a:avLst/>
          </a:prstGeom>
          <a:noFill/>
          <a:ln/>
        </p:spPr>
        <p:txBody>
          <a:bodyPr wrap="square" lIns="0" tIns="0" rIns="0" bIns="0" rtlCol="0" anchor="ctr"/>
          <a:lstStyle/>
          <a:p>
            <a:pPr algn="ctr" indent="0" marL="0">
              <a:buNone/>
            </a:pPr>
            <a:r>
              <a:rPr lang="en-US" sz="1300" dirty="0">
                <a:solidFill>
                  <a:srgbClr val="545B64"/>
                </a:solidFill>
                <a:latin typeface="Calibri" pitchFamily="34" charset="0"/>
                <a:ea typeface="Calibri" pitchFamily="34" charset="-122"/>
                <a:cs typeface="Calibri" pitchFamily="34" charset="-120"/>
              </a:rPr>
              <a:t>→</a:t>
            </a:r>
            <a:endParaRPr lang="en-US" sz="1300" dirty="0"/>
          </a:p>
        </p:txBody>
      </p:sp>
      <p:sp>
        <p:nvSpPr>
          <p:cNvPr id="8" name="Shape 6"/>
          <p:cNvSpPr/>
          <p:nvPr/>
        </p:nvSpPr>
        <p:spPr>
          <a:xfrm>
            <a:off x="2148840" y="2743200"/>
            <a:ext cx="1481328" cy="960120"/>
          </a:xfrm>
          <a:prstGeom prst="roundRect">
            <a:avLst>
              <a:gd name="adj" fmla="val 5714"/>
            </a:avLst>
          </a:prstGeom>
          <a:solidFill>
            <a:srgbClr val="0B6E4F"/>
          </a:solidFill>
          <a:ln/>
        </p:spPr>
      </p:sp>
      <p:sp>
        <p:nvSpPr>
          <p:cNvPr id="9" name="Text 7"/>
          <p:cNvSpPr/>
          <p:nvPr/>
        </p:nvSpPr>
        <p:spPr>
          <a:xfrm>
            <a:off x="2148840" y="2743200"/>
            <a:ext cx="1481328"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Least-privilege</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(agent ∩ human)</a:t>
            </a:r>
            <a:endParaRPr lang="en-US" sz="1050" dirty="0"/>
          </a:p>
        </p:txBody>
      </p:sp>
      <p:sp>
        <p:nvSpPr>
          <p:cNvPr id="10" name="Text 8"/>
          <p:cNvSpPr/>
          <p:nvPr/>
        </p:nvSpPr>
        <p:spPr>
          <a:xfrm>
            <a:off x="3602736" y="2743200"/>
            <a:ext cx="173736" cy="960120"/>
          </a:xfrm>
          <a:prstGeom prst="rect">
            <a:avLst/>
          </a:prstGeom>
          <a:noFill/>
          <a:ln/>
        </p:spPr>
        <p:txBody>
          <a:bodyPr wrap="square" lIns="0" tIns="0" rIns="0" bIns="0" rtlCol="0" anchor="ctr"/>
          <a:lstStyle/>
          <a:p>
            <a:pPr algn="ctr" indent="0" marL="0">
              <a:buNone/>
            </a:pPr>
            <a:r>
              <a:rPr lang="en-US" sz="1300" dirty="0">
                <a:solidFill>
                  <a:srgbClr val="545B64"/>
                </a:solidFill>
                <a:latin typeface="Calibri" pitchFamily="34" charset="0"/>
                <a:ea typeface="Calibri" pitchFamily="34" charset="-122"/>
                <a:cs typeface="Calibri" pitchFamily="34" charset="-120"/>
              </a:rPr>
              <a:t>→</a:t>
            </a:r>
            <a:endParaRPr lang="en-US" sz="1300" dirty="0"/>
          </a:p>
        </p:txBody>
      </p:sp>
      <p:sp>
        <p:nvSpPr>
          <p:cNvPr id="11" name="Shape 9"/>
          <p:cNvSpPr/>
          <p:nvPr/>
        </p:nvSpPr>
        <p:spPr>
          <a:xfrm>
            <a:off x="3749040" y="2743200"/>
            <a:ext cx="1481328" cy="960120"/>
          </a:xfrm>
          <a:prstGeom prst="roundRect">
            <a:avLst>
              <a:gd name="adj" fmla="val 5714"/>
            </a:avLst>
          </a:prstGeom>
          <a:solidFill>
            <a:srgbClr val="1B2A3A"/>
          </a:solidFill>
          <a:ln/>
        </p:spPr>
      </p:sp>
      <p:sp>
        <p:nvSpPr>
          <p:cNvPr id="12" name="Text 10"/>
          <p:cNvSpPr/>
          <p:nvPr/>
        </p:nvSpPr>
        <p:spPr>
          <a:xfrm>
            <a:off x="3749040" y="2743200"/>
            <a:ext cx="1481328"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Human gate for</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consequential acts</a:t>
            </a:r>
            <a:endParaRPr lang="en-US" sz="1050" dirty="0"/>
          </a:p>
        </p:txBody>
      </p:sp>
      <p:sp>
        <p:nvSpPr>
          <p:cNvPr id="13" name="Text 11"/>
          <p:cNvSpPr/>
          <p:nvPr/>
        </p:nvSpPr>
        <p:spPr>
          <a:xfrm>
            <a:off x="5202936" y="2743200"/>
            <a:ext cx="173736" cy="960120"/>
          </a:xfrm>
          <a:prstGeom prst="rect">
            <a:avLst/>
          </a:prstGeom>
          <a:noFill/>
          <a:ln/>
        </p:spPr>
        <p:txBody>
          <a:bodyPr wrap="square" lIns="0" tIns="0" rIns="0" bIns="0" rtlCol="0" anchor="ctr"/>
          <a:lstStyle/>
          <a:p>
            <a:pPr algn="ctr" indent="0" marL="0">
              <a:buNone/>
            </a:pPr>
            <a:r>
              <a:rPr lang="en-US" sz="1300" dirty="0">
                <a:solidFill>
                  <a:srgbClr val="545B64"/>
                </a:solidFill>
                <a:latin typeface="Calibri" pitchFamily="34" charset="0"/>
                <a:ea typeface="Calibri" pitchFamily="34" charset="-122"/>
                <a:cs typeface="Calibri" pitchFamily="34" charset="-120"/>
              </a:rPr>
              <a:t>→</a:t>
            </a:r>
            <a:endParaRPr lang="en-US" sz="1300" dirty="0"/>
          </a:p>
        </p:txBody>
      </p:sp>
      <p:sp>
        <p:nvSpPr>
          <p:cNvPr id="14" name="Shape 12"/>
          <p:cNvSpPr/>
          <p:nvPr/>
        </p:nvSpPr>
        <p:spPr>
          <a:xfrm>
            <a:off x="5349240" y="2743200"/>
            <a:ext cx="1481328" cy="960120"/>
          </a:xfrm>
          <a:prstGeom prst="roundRect">
            <a:avLst>
              <a:gd name="adj" fmla="val 5714"/>
            </a:avLst>
          </a:prstGeom>
          <a:solidFill>
            <a:srgbClr val="0B6E4F"/>
          </a:solidFill>
          <a:ln/>
        </p:spPr>
      </p:sp>
      <p:sp>
        <p:nvSpPr>
          <p:cNvPr id="15" name="Text 13"/>
          <p:cNvSpPr/>
          <p:nvPr/>
        </p:nvSpPr>
        <p:spPr>
          <a:xfrm>
            <a:off x="5349240" y="2743200"/>
            <a:ext cx="1481328"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Fail-closed</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PII masking</a:t>
            </a:r>
            <a:endParaRPr lang="en-US" sz="1050" dirty="0"/>
          </a:p>
        </p:txBody>
      </p:sp>
      <p:sp>
        <p:nvSpPr>
          <p:cNvPr id="16" name="Text 14"/>
          <p:cNvSpPr/>
          <p:nvPr/>
        </p:nvSpPr>
        <p:spPr>
          <a:xfrm>
            <a:off x="6803136" y="2743200"/>
            <a:ext cx="173736" cy="960120"/>
          </a:xfrm>
          <a:prstGeom prst="rect">
            <a:avLst/>
          </a:prstGeom>
          <a:noFill/>
          <a:ln/>
        </p:spPr>
        <p:txBody>
          <a:bodyPr wrap="square" lIns="0" tIns="0" rIns="0" bIns="0" rtlCol="0" anchor="ctr"/>
          <a:lstStyle/>
          <a:p>
            <a:pPr algn="ctr" indent="0" marL="0">
              <a:buNone/>
            </a:pPr>
            <a:r>
              <a:rPr lang="en-US" sz="1300" dirty="0">
                <a:solidFill>
                  <a:srgbClr val="545B64"/>
                </a:solidFill>
                <a:latin typeface="Calibri" pitchFamily="34" charset="0"/>
                <a:ea typeface="Calibri" pitchFamily="34" charset="-122"/>
                <a:cs typeface="Calibri" pitchFamily="34" charset="-120"/>
              </a:rPr>
              <a:t>→</a:t>
            </a:r>
            <a:endParaRPr lang="en-US" sz="1300" dirty="0"/>
          </a:p>
        </p:txBody>
      </p:sp>
      <p:sp>
        <p:nvSpPr>
          <p:cNvPr id="17" name="Shape 15"/>
          <p:cNvSpPr/>
          <p:nvPr/>
        </p:nvSpPr>
        <p:spPr>
          <a:xfrm>
            <a:off x="6949440" y="2743200"/>
            <a:ext cx="1481328" cy="960120"/>
          </a:xfrm>
          <a:prstGeom prst="roundRect">
            <a:avLst>
              <a:gd name="adj" fmla="val 5714"/>
            </a:avLst>
          </a:prstGeom>
          <a:solidFill>
            <a:srgbClr val="1B2A3A"/>
          </a:solidFill>
          <a:ln/>
        </p:spPr>
      </p:sp>
      <p:sp>
        <p:nvSpPr>
          <p:cNvPr id="18" name="Text 16"/>
          <p:cNvSpPr/>
          <p:nvPr/>
        </p:nvSpPr>
        <p:spPr>
          <a:xfrm>
            <a:off x="6949440" y="2743200"/>
            <a:ext cx="1481328"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Append-only</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 WORM audit</a:t>
            </a:r>
            <a:endParaRPr lang="en-US" sz="1050" dirty="0"/>
          </a:p>
        </p:txBody>
      </p:sp>
      <p:sp>
        <p:nvSpPr>
          <p:cNvPr id="19" name="Text 17"/>
          <p:cNvSpPr/>
          <p:nvPr/>
        </p:nvSpPr>
        <p:spPr>
          <a:xfrm>
            <a:off x="8403336" y="2743200"/>
            <a:ext cx="173736" cy="960120"/>
          </a:xfrm>
          <a:prstGeom prst="rect">
            <a:avLst/>
          </a:prstGeom>
          <a:noFill/>
          <a:ln/>
        </p:spPr>
        <p:txBody>
          <a:bodyPr wrap="square" lIns="0" tIns="0" rIns="0" bIns="0" rtlCol="0" anchor="ctr"/>
          <a:lstStyle/>
          <a:p>
            <a:pPr algn="ctr" indent="0" marL="0">
              <a:buNone/>
            </a:pPr>
            <a:r>
              <a:rPr lang="en-US" sz="1300" dirty="0">
                <a:solidFill>
                  <a:srgbClr val="545B64"/>
                </a:solidFill>
                <a:latin typeface="Calibri" pitchFamily="34" charset="0"/>
                <a:ea typeface="Calibri" pitchFamily="34" charset="-122"/>
                <a:cs typeface="Calibri" pitchFamily="34" charset="-120"/>
              </a:rPr>
              <a:t>→</a:t>
            </a:r>
            <a:endParaRPr lang="en-US" sz="1300" dirty="0"/>
          </a:p>
        </p:txBody>
      </p:sp>
      <p:sp>
        <p:nvSpPr>
          <p:cNvPr id="20" name="Shape 18"/>
          <p:cNvSpPr/>
          <p:nvPr/>
        </p:nvSpPr>
        <p:spPr>
          <a:xfrm>
            <a:off x="8549640" y="2743200"/>
            <a:ext cx="1481328" cy="960120"/>
          </a:xfrm>
          <a:prstGeom prst="roundRect">
            <a:avLst>
              <a:gd name="adj" fmla="val 5714"/>
            </a:avLst>
          </a:prstGeom>
          <a:solidFill>
            <a:srgbClr val="0B6E4F"/>
          </a:solidFill>
          <a:ln/>
        </p:spPr>
      </p:sp>
      <p:sp>
        <p:nvSpPr>
          <p:cNvPr id="21" name="Text 19"/>
          <p:cNvSpPr/>
          <p:nvPr/>
        </p:nvSpPr>
        <p:spPr>
          <a:xfrm>
            <a:off x="8549640" y="2743200"/>
            <a:ext cx="1481328"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Token</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budgets</a:t>
            </a:r>
            <a:endParaRPr lang="en-US" sz="1050" dirty="0"/>
          </a:p>
        </p:txBody>
      </p:sp>
      <p:sp>
        <p:nvSpPr>
          <p:cNvPr id="22" name="Text 20"/>
          <p:cNvSpPr/>
          <p:nvPr/>
        </p:nvSpPr>
        <p:spPr>
          <a:xfrm>
            <a:off x="10003536" y="2743200"/>
            <a:ext cx="173736" cy="960120"/>
          </a:xfrm>
          <a:prstGeom prst="rect">
            <a:avLst/>
          </a:prstGeom>
          <a:noFill/>
          <a:ln/>
        </p:spPr>
        <p:txBody>
          <a:bodyPr wrap="square" lIns="0" tIns="0" rIns="0" bIns="0" rtlCol="0" anchor="ctr"/>
          <a:lstStyle/>
          <a:p>
            <a:pPr algn="ctr" indent="0" marL="0">
              <a:buNone/>
            </a:pPr>
            <a:r>
              <a:rPr lang="en-US" sz="1300" dirty="0">
                <a:solidFill>
                  <a:srgbClr val="545B64"/>
                </a:solidFill>
                <a:latin typeface="Calibri" pitchFamily="34" charset="0"/>
                <a:ea typeface="Calibri" pitchFamily="34" charset="-122"/>
                <a:cs typeface="Calibri" pitchFamily="34" charset="-120"/>
              </a:rPr>
              <a:t>→</a:t>
            </a:r>
            <a:endParaRPr lang="en-US" sz="1300" dirty="0"/>
          </a:p>
        </p:txBody>
      </p:sp>
      <p:sp>
        <p:nvSpPr>
          <p:cNvPr id="23" name="Shape 21"/>
          <p:cNvSpPr/>
          <p:nvPr/>
        </p:nvSpPr>
        <p:spPr>
          <a:xfrm>
            <a:off x="10149840" y="2743200"/>
            <a:ext cx="1481328" cy="960120"/>
          </a:xfrm>
          <a:prstGeom prst="roundRect">
            <a:avLst>
              <a:gd name="adj" fmla="val 5714"/>
            </a:avLst>
          </a:prstGeom>
          <a:solidFill>
            <a:srgbClr val="1B2A3A"/>
          </a:solidFill>
          <a:ln/>
        </p:spPr>
      </p:sp>
      <p:sp>
        <p:nvSpPr>
          <p:cNvPr id="24" name="Text 22"/>
          <p:cNvSpPr/>
          <p:nvPr/>
        </p:nvSpPr>
        <p:spPr>
          <a:xfrm>
            <a:off x="10149840" y="2743200"/>
            <a:ext cx="1481328"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Grounded</a:t>
            </a:r>
            <a:endParaRPr lang="en-US" sz="1050" dirty="0"/>
          </a:p>
          <a:p>
            <a:pPr algn="ctr" indent="0" marL="0">
              <a:buNone/>
            </a:pPr>
            <a:r>
              <a:rPr lang="en-US" sz="1050" b="1" dirty="0">
                <a:solidFill>
                  <a:srgbClr val="FFFFFF"/>
                </a:solidFill>
                <a:latin typeface="Calibri" pitchFamily="34" charset="0"/>
                <a:ea typeface="Calibri" pitchFamily="34" charset="-122"/>
                <a:cs typeface="Calibri" pitchFamily="34" charset="-120"/>
              </a:rPr>
              <a:t>model gateway</a:t>
            </a:r>
            <a:endParaRPr lang="en-US" sz="1050" dirty="0"/>
          </a:p>
        </p:txBody>
      </p:sp>
      <p:sp>
        <p:nvSpPr>
          <p:cNvPr id="25" name="Text 23"/>
          <p:cNvSpPr/>
          <p:nvPr/>
        </p:nvSpPr>
        <p:spPr>
          <a:xfrm>
            <a:off x="548640" y="3886200"/>
            <a:ext cx="11064240" cy="365760"/>
          </a:xfrm>
          <a:prstGeom prst="rect">
            <a:avLst/>
          </a:prstGeom>
          <a:noFill/>
          <a:ln/>
        </p:spPr>
        <p:txBody>
          <a:bodyPr wrap="square" lIns="0" tIns="0" rIns="0" bIns="0" rtlCol="0" anchor="ctr"/>
          <a:lstStyle/>
          <a:p>
            <a:pPr algn="ctr" indent="0" marL="0">
              <a:buNone/>
            </a:pPr>
            <a:r>
              <a:rPr lang="en-US" sz="1200" i="1" dirty="0">
                <a:solidFill>
                  <a:srgbClr val="545B64"/>
                </a:solidFill>
                <a:latin typeface="Calibri" pitchFamily="34" charset="0"/>
                <a:ea typeface="Calibri" pitchFamily="34" charset="-122"/>
                <a:cs typeface="Calibri" pitchFamily="34" charset="-120"/>
              </a:rPr>
              <a:t>The Aegis Governance Pattern (AGP v1.0) — 8 fail-closed controls, each proven by a negative test</a:t>
            </a:r>
            <a:endParaRPr lang="en-US" sz="1200" dirty="0"/>
          </a:p>
        </p:txBody>
      </p:sp>
      <p:sp>
        <p:nvSpPr>
          <p:cNvPr id="26" name="Shape 24"/>
          <p:cNvSpPr/>
          <p:nvPr/>
        </p:nvSpPr>
        <p:spPr>
          <a:xfrm>
            <a:off x="548640" y="4434840"/>
            <a:ext cx="5440680" cy="1508760"/>
          </a:xfrm>
          <a:prstGeom prst="roundRect">
            <a:avLst>
              <a:gd name="adj" fmla="val 3636"/>
            </a:avLst>
          </a:prstGeom>
          <a:solidFill>
            <a:srgbClr val="F2F3F3"/>
          </a:solidFill>
          <a:ln w="9525">
            <a:solidFill>
              <a:srgbClr val="D5DBDB"/>
            </a:solidFill>
            <a:prstDash val="solid"/>
          </a:ln>
        </p:spPr>
      </p:sp>
      <p:sp>
        <p:nvSpPr>
          <p:cNvPr id="27" name="Text 25"/>
          <p:cNvSpPr/>
          <p:nvPr/>
        </p:nvSpPr>
        <p:spPr>
          <a:xfrm>
            <a:off x="713232" y="4544568"/>
            <a:ext cx="511149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An agent never exceeds its human</a:t>
            </a:r>
            <a:endParaRPr lang="en-US" sz="1400" dirty="0"/>
          </a:p>
        </p:txBody>
      </p:sp>
      <p:sp>
        <p:nvSpPr>
          <p:cNvPr id="28" name="Text 26"/>
          <p:cNvSpPr/>
          <p:nvPr/>
        </p:nvSpPr>
        <p:spPr>
          <a:xfrm>
            <a:off x="713232" y="4892040"/>
            <a:ext cx="5111496" cy="9418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Effective permission = the agent's declared grant ∩ the acting person's entitlement. Consequential actions require a second human — bound, single-use, replay-rejected approvals.</a:t>
            </a:r>
            <a:endParaRPr lang="en-US" sz="1100" dirty="0"/>
          </a:p>
        </p:txBody>
      </p:sp>
      <p:sp>
        <p:nvSpPr>
          <p:cNvPr id="29" name="Shape 27"/>
          <p:cNvSpPr/>
          <p:nvPr/>
        </p:nvSpPr>
        <p:spPr>
          <a:xfrm>
            <a:off x="6126480" y="4434840"/>
            <a:ext cx="5532120" cy="1508760"/>
          </a:xfrm>
          <a:prstGeom prst="roundRect">
            <a:avLst>
              <a:gd name="adj" fmla="val 3636"/>
            </a:avLst>
          </a:prstGeom>
          <a:solidFill>
            <a:srgbClr val="FDF3E7"/>
          </a:solidFill>
          <a:ln w="9525">
            <a:solidFill>
              <a:srgbClr val="C88A00"/>
            </a:solidFill>
            <a:prstDash val="solid"/>
          </a:ln>
        </p:spPr>
      </p:sp>
      <p:sp>
        <p:nvSpPr>
          <p:cNvPr id="30" name="Text 28"/>
          <p:cNvSpPr/>
          <p:nvPr/>
        </p:nvSpPr>
        <p:spPr>
          <a:xfrm>
            <a:off x="6291072" y="4544568"/>
            <a:ext cx="5202936" cy="329184"/>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Plus the named Kill Switch</a:t>
            </a:r>
            <a:endParaRPr lang="en-US" sz="1400" dirty="0"/>
          </a:p>
        </p:txBody>
      </p:sp>
      <p:sp>
        <p:nvSpPr>
          <p:cNvPr id="31" name="Text 29"/>
          <p:cNvSpPr/>
          <p:nvPr/>
        </p:nvSpPr>
        <p:spPr>
          <a:xfrm>
            <a:off x="6291072" y="4892040"/>
            <a:ext cx="5202936" cy="9418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One command denies every agent action platform-wide — audited, reversible, with separation of duties on release. Drilled quarterly, not just documented.</a:t>
            </a:r>
            <a:endParaRPr lang="en-US" sz="1100" dirty="0"/>
          </a:p>
        </p:txBody>
      </p:sp>
      <p:sp>
        <p:nvSpPr>
          <p:cNvPr id="32" name="Text 30"/>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33" name="Text 31"/>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02 · THE ANSWER</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You Already Own the Components — This Is the Assembly</a:t>
            </a:r>
            <a:endParaRPr lang="en-US" sz="3000" dirty="0"/>
          </a:p>
        </p:txBody>
      </p:sp>
      <p:sp>
        <p:nvSpPr>
          <p:cNvPr id="4" name="Shape 2"/>
          <p:cNvSpPr/>
          <p:nvPr/>
        </p:nvSpPr>
        <p:spPr>
          <a:xfrm>
            <a:off x="548640" y="1572768"/>
            <a:ext cx="1965960" cy="475488"/>
          </a:xfrm>
          <a:prstGeom prst="roundRect">
            <a:avLst>
              <a:gd name="adj" fmla="val 7692"/>
            </a:avLst>
          </a:prstGeom>
          <a:solidFill>
            <a:srgbClr val="1B2A3A"/>
          </a:solidFill>
          <a:ln/>
        </p:spPr>
      </p:sp>
      <p:sp>
        <p:nvSpPr>
          <p:cNvPr id="5" name="Text 3"/>
          <p:cNvSpPr/>
          <p:nvPr/>
        </p:nvSpPr>
        <p:spPr>
          <a:xfrm>
            <a:off x="685800" y="1572768"/>
            <a:ext cx="178308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Identity</a:t>
            </a:r>
            <a:endParaRPr lang="en-US" sz="1150" dirty="0"/>
          </a:p>
        </p:txBody>
      </p:sp>
      <p:sp>
        <p:nvSpPr>
          <p:cNvPr id="6" name="Shape 4"/>
          <p:cNvSpPr/>
          <p:nvPr/>
        </p:nvSpPr>
        <p:spPr>
          <a:xfrm>
            <a:off x="2606040" y="1572768"/>
            <a:ext cx="4892040" cy="475488"/>
          </a:xfrm>
          <a:prstGeom prst="roundRect">
            <a:avLst>
              <a:gd name="adj" fmla="val 7692"/>
            </a:avLst>
          </a:prstGeom>
          <a:solidFill>
            <a:srgbClr val="F2F3F3"/>
          </a:solidFill>
          <a:ln w="6350">
            <a:solidFill>
              <a:srgbClr val="D5DBDB"/>
            </a:solidFill>
            <a:prstDash val="solid"/>
          </a:ln>
        </p:spPr>
      </p:sp>
      <p:sp>
        <p:nvSpPr>
          <p:cNvPr id="7" name="Text 5"/>
          <p:cNvSpPr/>
          <p:nvPr/>
        </p:nvSpPr>
        <p:spPr>
          <a:xfrm>
            <a:off x="2743200" y="1572768"/>
            <a:ext cx="466344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Amazon Cognito / your IdP (Entra) · AgentCore Identity</a:t>
            </a:r>
            <a:endParaRPr lang="en-US" sz="1050" dirty="0"/>
          </a:p>
        </p:txBody>
      </p:sp>
      <p:sp>
        <p:nvSpPr>
          <p:cNvPr id="8" name="Shape 6"/>
          <p:cNvSpPr/>
          <p:nvPr/>
        </p:nvSpPr>
        <p:spPr>
          <a:xfrm>
            <a:off x="7589520" y="1572768"/>
            <a:ext cx="4069080" cy="475488"/>
          </a:xfrm>
          <a:prstGeom prst="roundRect">
            <a:avLst>
              <a:gd name="adj" fmla="val 7692"/>
            </a:avLst>
          </a:prstGeom>
          <a:solidFill>
            <a:srgbClr val="FFFFFF"/>
          </a:solidFill>
          <a:ln w="6350">
            <a:solidFill>
              <a:srgbClr val="D5DBDB"/>
            </a:solidFill>
            <a:prstDash val="solid"/>
          </a:ln>
        </p:spPr>
      </p:sp>
      <p:sp>
        <p:nvSpPr>
          <p:cNvPr id="9" name="Text 7"/>
          <p:cNvSpPr/>
          <p:nvPr/>
        </p:nvSpPr>
        <p:spPr>
          <a:xfrm>
            <a:off x="7726680" y="1572768"/>
            <a:ext cx="384048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Every action attributable to a verified person</a:t>
            </a:r>
            <a:endParaRPr lang="en-US" sz="1050" dirty="0"/>
          </a:p>
        </p:txBody>
      </p:sp>
      <p:sp>
        <p:nvSpPr>
          <p:cNvPr id="10" name="Shape 8"/>
          <p:cNvSpPr/>
          <p:nvPr/>
        </p:nvSpPr>
        <p:spPr>
          <a:xfrm>
            <a:off x="548640" y="2139696"/>
            <a:ext cx="1965960" cy="475488"/>
          </a:xfrm>
          <a:prstGeom prst="roundRect">
            <a:avLst>
              <a:gd name="adj" fmla="val 7692"/>
            </a:avLst>
          </a:prstGeom>
          <a:solidFill>
            <a:srgbClr val="1B2A3A"/>
          </a:solidFill>
          <a:ln/>
        </p:spPr>
      </p:sp>
      <p:sp>
        <p:nvSpPr>
          <p:cNvPr id="11" name="Text 9"/>
          <p:cNvSpPr/>
          <p:nvPr/>
        </p:nvSpPr>
        <p:spPr>
          <a:xfrm>
            <a:off x="685800" y="2139696"/>
            <a:ext cx="178308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Authorization</a:t>
            </a:r>
            <a:endParaRPr lang="en-US" sz="1150" dirty="0"/>
          </a:p>
        </p:txBody>
      </p:sp>
      <p:sp>
        <p:nvSpPr>
          <p:cNvPr id="12" name="Shape 10"/>
          <p:cNvSpPr/>
          <p:nvPr/>
        </p:nvSpPr>
        <p:spPr>
          <a:xfrm>
            <a:off x="2606040" y="2139696"/>
            <a:ext cx="4892040" cy="475488"/>
          </a:xfrm>
          <a:prstGeom prst="roundRect">
            <a:avLst>
              <a:gd name="adj" fmla="val 7692"/>
            </a:avLst>
          </a:prstGeom>
          <a:solidFill>
            <a:srgbClr val="F2F3F3"/>
          </a:solidFill>
          <a:ln w="6350">
            <a:solidFill>
              <a:srgbClr val="D5DBDB"/>
            </a:solidFill>
            <a:prstDash val="solid"/>
          </a:ln>
        </p:spPr>
      </p:sp>
      <p:sp>
        <p:nvSpPr>
          <p:cNvPr id="13" name="Text 11"/>
          <p:cNvSpPr/>
          <p:nvPr/>
        </p:nvSpPr>
        <p:spPr>
          <a:xfrm>
            <a:off x="2743200" y="2139696"/>
            <a:ext cx="466344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Cedar policies — AgentCore policy engine / Verified Permissions</a:t>
            </a:r>
            <a:endParaRPr lang="en-US" sz="1050" dirty="0"/>
          </a:p>
        </p:txBody>
      </p:sp>
      <p:sp>
        <p:nvSpPr>
          <p:cNvPr id="14" name="Shape 12"/>
          <p:cNvSpPr/>
          <p:nvPr/>
        </p:nvSpPr>
        <p:spPr>
          <a:xfrm>
            <a:off x="7589520" y="2139696"/>
            <a:ext cx="4069080" cy="475488"/>
          </a:xfrm>
          <a:prstGeom prst="roundRect">
            <a:avLst>
              <a:gd name="adj" fmla="val 7692"/>
            </a:avLst>
          </a:prstGeom>
          <a:solidFill>
            <a:srgbClr val="FFFFFF"/>
          </a:solidFill>
          <a:ln w="6350">
            <a:solidFill>
              <a:srgbClr val="D5DBDB"/>
            </a:solidFill>
            <a:prstDash val="solid"/>
          </a:ln>
        </p:spPr>
      </p:sp>
      <p:sp>
        <p:nvSpPr>
          <p:cNvPr id="15" name="Text 13"/>
          <p:cNvSpPr/>
          <p:nvPr/>
        </p:nvSpPr>
        <p:spPr>
          <a:xfrm>
            <a:off x="7726680" y="2139696"/>
            <a:ext cx="384048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Deny-by-default; agent ∩ human least privilege</a:t>
            </a:r>
            <a:endParaRPr lang="en-US" sz="1050" dirty="0"/>
          </a:p>
        </p:txBody>
      </p:sp>
      <p:sp>
        <p:nvSpPr>
          <p:cNvPr id="16" name="Shape 14"/>
          <p:cNvSpPr/>
          <p:nvPr/>
        </p:nvSpPr>
        <p:spPr>
          <a:xfrm>
            <a:off x="548640" y="2706624"/>
            <a:ext cx="1965960" cy="475488"/>
          </a:xfrm>
          <a:prstGeom prst="roundRect">
            <a:avLst>
              <a:gd name="adj" fmla="val 7692"/>
            </a:avLst>
          </a:prstGeom>
          <a:solidFill>
            <a:srgbClr val="1B2A3A"/>
          </a:solidFill>
          <a:ln/>
        </p:spPr>
      </p:sp>
      <p:sp>
        <p:nvSpPr>
          <p:cNvPr id="17" name="Text 15"/>
          <p:cNvSpPr/>
          <p:nvPr/>
        </p:nvSpPr>
        <p:spPr>
          <a:xfrm>
            <a:off x="685800" y="2706624"/>
            <a:ext cx="178308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Tool gateway</a:t>
            </a:r>
            <a:endParaRPr lang="en-US" sz="1150" dirty="0"/>
          </a:p>
        </p:txBody>
      </p:sp>
      <p:sp>
        <p:nvSpPr>
          <p:cNvPr id="18" name="Shape 16"/>
          <p:cNvSpPr/>
          <p:nvPr/>
        </p:nvSpPr>
        <p:spPr>
          <a:xfrm>
            <a:off x="2606040" y="2706624"/>
            <a:ext cx="4892040" cy="475488"/>
          </a:xfrm>
          <a:prstGeom prst="roundRect">
            <a:avLst>
              <a:gd name="adj" fmla="val 7692"/>
            </a:avLst>
          </a:prstGeom>
          <a:solidFill>
            <a:srgbClr val="F2F3F3"/>
          </a:solidFill>
          <a:ln w="6350">
            <a:solidFill>
              <a:srgbClr val="D5DBDB"/>
            </a:solidFill>
            <a:prstDash val="solid"/>
          </a:ln>
        </p:spPr>
      </p:sp>
      <p:sp>
        <p:nvSpPr>
          <p:cNvPr id="19" name="Text 17"/>
          <p:cNvSpPr/>
          <p:nvPr/>
        </p:nvSpPr>
        <p:spPr>
          <a:xfrm>
            <a:off x="2743200" y="2706624"/>
            <a:ext cx="466344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Bedrock AgentCore Gateway (MCP) · API Gateway · WAF</a:t>
            </a:r>
            <a:endParaRPr lang="en-US" sz="1050" dirty="0"/>
          </a:p>
        </p:txBody>
      </p:sp>
      <p:sp>
        <p:nvSpPr>
          <p:cNvPr id="20" name="Shape 18"/>
          <p:cNvSpPr/>
          <p:nvPr/>
        </p:nvSpPr>
        <p:spPr>
          <a:xfrm>
            <a:off x="7589520" y="2706624"/>
            <a:ext cx="4069080" cy="475488"/>
          </a:xfrm>
          <a:prstGeom prst="roundRect">
            <a:avLst>
              <a:gd name="adj" fmla="val 7692"/>
            </a:avLst>
          </a:prstGeom>
          <a:solidFill>
            <a:srgbClr val="FFFFFF"/>
          </a:solidFill>
          <a:ln w="6350">
            <a:solidFill>
              <a:srgbClr val="D5DBDB"/>
            </a:solidFill>
            <a:prstDash val="solid"/>
          </a:ln>
        </p:spPr>
      </p:sp>
      <p:sp>
        <p:nvSpPr>
          <p:cNvPr id="21" name="Text 19"/>
          <p:cNvSpPr/>
          <p:nvPr/>
        </p:nvSpPr>
        <p:spPr>
          <a:xfrm>
            <a:off x="7726680" y="2706624"/>
            <a:ext cx="384048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Undeclared tool call → denied, and audited</a:t>
            </a:r>
            <a:endParaRPr lang="en-US" sz="1050" dirty="0"/>
          </a:p>
        </p:txBody>
      </p:sp>
      <p:sp>
        <p:nvSpPr>
          <p:cNvPr id="22" name="Shape 20"/>
          <p:cNvSpPr/>
          <p:nvPr/>
        </p:nvSpPr>
        <p:spPr>
          <a:xfrm>
            <a:off x="548640" y="3273552"/>
            <a:ext cx="1965960" cy="475488"/>
          </a:xfrm>
          <a:prstGeom prst="roundRect">
            <a:avLst>
              <a:gd name="adj" fmla="val 7692"/>
            </a:avLst>
          </a:prstGeom>
          <a:solidFill>
            <a:srgbClr val="1B2A3A"/>
          </a:solidFill>
          <a:ln/>
        </p:spPr>
      </p:sp>
      <p:sp>
        <p:nvSpPr>
          <p:cNvPr id="23" name="Text 21"/>
          <p:cNvSpPr/>
          <p:nvPr/>
        </p:nvSpPr>
        <p:spPr>
          <a:xfrm>
            <a:off x="685800" y="3273552"/>
            <a:ext cx="178308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Human gate</a:t>
            </a:r>
            <a:endParaRPr lang="en-US" sz="1150" dirty="0"/>
          </a:p>
        </p:txBody>
      </p:sp>
      <p:sp>
        <p:nvSpPr>
          <p:cNvPr id="24" name="Shape 22"/>
          <p:cNvSpPr/>
          <p:nvPr/>
        </p:nvSpPr>
        <p:spPr>
          <a:xfrm>
            <a:off x="2606040" y="3273552"/>
            <a:ext cx="4892040" cy="475488"/>
          </a:xfrm>
          <a:prstGeom prst="roundRect">
            <a:avLst>
              <a:gd name="adj" fmla="val 7692"/>
            </a:avLst>
          </a:prstGeom>
          <a:solidFill>
            <a:srgbClr val="F2F3F3"/>
          </a:solidFill>
          <a:ln w="6350">
            <a:solidFill>
              <a:srgbClr val="D5DBDB"/>
            </a:solidFill>
            <a:prstDash val="solid"/>
          </a:ln>
        </p:spPr>
      </p:sp>
      <p:sp>
        <p:nvSpPr>
          <p:cNvPr id="25" name="Text 23"/>
          <p:cNvSpPr/>
          <p:nvPr/>
        </p:nvSpPr>
        <p:spPr>
          <a:xfrm>
            <a:off x="2743200" y="3273552"/>
            <a:ext cx="466344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Step Functions (waitForTaskToken) · SNS</a:t>
            </a:r>
            <a:endParaRPr lang="en-US" sz="1050" dirty="0"/>
          </a:p>
        </p:txBody>
      </p:sp>
      <p:sp>
        <p:nvSpPr>
          <p:cNvPr id="26" name="Shape 24"/>
          <p:cNvSpPr/>
          <p:nvPr/>
        </p:nvSpPr>
        <p:spPr>
          <a:xfrm>
            <a:off x="7589520" y="3273552"/>
            <a:ext cx="4069080" cy="475488"/>
          </a:xfrm>
          <a:prstGeom prst="roundRect">
            <a:avLst>
              <a:gd name="adj" fmla="val 7692"/>
            </a:avLst>
          </a:prstGeom>
          <a:solidFill>
            <a:srgbClr val="FFFFFF"/>
          </a:solidFill>
          <a:ln w="6350">
            <a:solidFill>
              <a:srgbClr val="D5DBDB"/>
            </a:solidFill>
            <a:prstDash val="solid"/>
          </a:ln>
        </p:spPr>
      </p:sp>
      <p:sp>
        <p:nvSpPr>
          <p:cNvPr id="27" name="Text 25"/>
          <p:cNvSpPr/>
          <p:nvPr/>
        </p:nvSpPr>
        <p:spPr>
          <a:xfrm>
            <a:off x="7726680" y="3273552"/>
            <a:ext cx="384048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Second-human approval; single-use; replay-rejected</a:t>
            </a:r>
            <a:endParaRPr lang="en-US" sz="1050" dirty="0"/>
          </a:p>
        </p:txBody>
      </p:sp>
      <p:sp>
        <p:nvSpPr>
          <p:cNvPr id="28" name="Shape 26"/>
          <p:cNvSpPr/>
          <p:nvPr/>
        </p:nvSpPr>
        <p:spPr>
          <a:xfrm>
            <a:off x="548640" y="3840480"/>
            <a:ext cx="1965960" cy="475488"/>
          </a:xfrm>
          <a:prstGeom prst="roundRect">
            <a:avLst>
              <a:gd name="adj" fmla="val 7692"/>
            </a:avLst>
          </a:prstGeom>
          <a:solidFill>
            <a:srgbClr val="1B2A3A"/>
          </a:solidFill>
          <a:ln/>
        </p:spPr>
      </p:sp>
      <p:sp>
        <p:nvSpPr>
          <p:cNvPr id="29" name="Text 27"/>
          <p:cNvSpPr/>
          <p:nvPr/>
        </p:nvSpPr>
        <p:spPr>
          <a:xfrm>
            <a:off x="685800" y="3840480"/>
            <a:ext cx="178308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Masking</a:t>
            </a:r>
            <a:endParaRPr lang="en-US" sz="1150" dirty="0"/>
          </a:p>
        </p:txBody>
      </p:sp>
      <p:sp>
        <p:nvSpPr>
          <p:cNvPr id="30" name="Shape 28"/>
          <p:cNvSpPr/>
          <p:nvPr/>
        </p:nvSpPr>
        <p:spPr>
          <a:xfrm>
            <a:off x="2606040" y="3840480"/>
            <a:ext cx="4892040" cy="475488"/>
          </a:xfrm>
          <a:prstGeom prst="roundRect">
            <a:avLst>
              <a:gd name="adj" fmla="val 7692"/>
            </a:avLst>
          </a:prstGeom>
          <a:solidFill>
            <a:srgbClr val="F2F3F3"/>
          </a:solidFill>
          <a:ln w="6350">
            <a:solidFill>
              <a:srgbClr val="D5DBDB"/>
            </a:solidFill>
            <a:prstDash val="solid"/>
          </a:ln>
        </p:spPr>
      </p:sp>
      <p:sp>
        <p:nvSpPr>
          <p:cNvPr id="31" name="Text 29"/>
          <p:cNvSpPr/>
          <p:nvPr/>
        </p:nvSpPr>
        <p:spPr>
          <a:xfrm>
            <a:off x="2743200" y="3840480"/>
            <a:ext cx="466344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Bedrock Guardrails (PII + prompt-attack) · Comprehend</a:t>
            </a:r>
            <a:endParaRPr lang="en-US" sz="1050" dirty="0"/>
          </a:p>
        </p:txBody>
      </p:sp>
      <p:sp>
        <p:nvSpPr>
          <p:cNvPr id="32" name="Shape 30"/>
          <p:cNvSpPr/>
          <p:nvPr/>
        </p:nvSpPr>
        <p:spPr>
          <a:xfrm>
            <a:off x="7589520" y="3840480"/>
            <a:ext cx="4069080" cy="475488"/>
          </a:xfrm>
          <a:prstGeom prst="roundRect">
            <a:avLst>
              <a:gd name="adj" fmla="val 7692"/>
            </a:avLst>
          </a:prstGeom>
          <a:solidFill>
            <a:srgbClr val="FFFFFF"/>
          </a:solidFill>
          <a:ln w="6350">
            <a:solidFill>
              <a:srgbClr val="D5DBDB"/>
            </a:solidFill>
            <a:prstDash val="solid"/>
          </a:ln>
        </p:spPr>
      </p:sp>
      <p:sp>
        <p:nvSpPr>
          <p:cNvPr id="33" name="Text 31"/>
          <p:cNvSpPr/>
          <p:nvPr/>
        </p:nvSpPr>
        <p:spPr>
          <a:xfrm>
            <a:off x="7726680" y="3840480"/>
            <a:ext cx="384048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Fail-closed; raw records never ride the prompt</a:t>
            </a:r>
            <a:endParaRPr lang="en-US" sz="1050" dirty="0"/>
          </a:p>
        </p:txBody>
      </p:sp>
      <p:sp>
        <p:nvSpPr>
          <p:cNvPr id="34" name="Shape 32"/>
          <p:cNvSpPr/>
          <p:nvPr/>
        </p:nvSpPr>
        <p:spPr>
          <a:xfrm>
            <a:off x="548640" y="4407408"/>
            <a:ext cx="1965960" cy="475488"/>
          </a:xfrm>
          <a:prstGeom prst="roundRect">
            <a:avLst>
              <a:gd name="adj" fmla="val 7692"/>
            </a:avLst>
          </a:prstGeom>
          <a:solidFill>
            <a:srgbClr val="1B2A3A"/>
          </a:solidFill>
          <a:ln/>
        </p:spPr>
      </p:sp>
      <p:sp>
        <p:nvSpPr>
          <p:cNvPr id="35" name="Text 33"/>
          <p:cNvSpPr/>
          <p:nvPr/>
        </p:nvSpPr>
        <p:spPr>
          <a:xfrm>
            <a:off x="685800" y="4407408"/>
            <a:ext cx="178308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Audit</a:t>
            </a:r>
            <a:endParaRPr lang="en-US" sz="1150" dirty="0"/>
          </a:p>
        </p:txBody>
      </p:sp>
      <p:sp>
        <p:nvSpPr>
          <p:cNvPr id="36" name="Shape 34"/>
          <p:cNvSpPr/>
          <p:nvPr/>
        </p:nvSpPr>
        <p:spPr>
          <a:xfrm>
            <a:off x="2606040" y="4407408"/>
            <a:ext cx="4892040" cy="475488"/>
          </a:xfrm>
          <a:prstGeom prst="roundRect">
            <a:avLst>
              <a:gd name="adj" fmla="val 7692"/>
            </a:avLst>
          </a:prstGeom>
          <a:solidFill>
            <a:srgbClr val="F2F3F3"/>
          </a:solidFill>
          <a:ln w="6350">
            <a:solidFill>
              <a:srgbClr val="D5DBDB"/>
            </a:solidFill>
            <a:prstDash val="solid"/>
          </a:ln>
        </p:spPr>
      </p:sp>
      <p:sp>
        <p:nvSpPr>
          <p:cNvPr id="37" name="Text 35"/>
          <p:cNvSpPr/>
          <p:nvPr/>
        </p:nvSpPr>
        <p:spPr>
          <a:xfrm>
            <a:off x="2743200" y="4407408"/>
            <a:ext cx="466344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DynamoDB · S3 Object Lock (WORM) · CloudTrail</a:t>
            </a:r>
            <a:endParaRPr lang="en-US" sz="1050" dirty="0"/>
          </a:p>
        </p:txBody>
      </p:sp>
      <p:sp>
        <p:nvSpPr>
          <p:cNvPr id="38" name="Shape 36"/>
          <p:cNvSpPr/>
          <p:nvPr/>
        </p:nvSpPr>
        <p:spPr>
          <a:xfrm>
            <a:off x="7589520" y="4407408"/>
            <a:ext cx="4069080" cy="475488"/>
          </a:xfrm>
          <a:prstGeom prst="roundRect">
            <a:avLst>
              <a:gd name="adj" fmla="val 7692"/>
            </a:avLst>
          </a:prstGeom>
          <a:solidFill>
            <a:srgbClr val="FFFFFF"/>
          </a:solidFill>
          <a:ln w="6350">
            <a:solidFill>
              <a:srgbClr val="D5DBDB"/>
            </a:solidFill>
            <a:prstDash val="solid"/>
          </a:ln>
        </p:spPr>
      </p:sp>
      <p:sp>
        <p:nvSpPr>
          <p:cNvPr id="39" name="Text 37"/>
          <p:cNvSpPr/>
          <p:nvPr/>
        </p:nvSpPr>
        <p:spPr>
          <a:xfrm>
            <a:off x="7726680" y="4407408"/>
            <a:ext cx="384048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Hash-chained, immutable; auditor answers = a query</a:t>
            </a:r>
            <a:endParaRPr lang="en-US" sz="1050" dirty="0"/>
          </a:p>
        </p:txBody>
      </p:sp>
      <p:sp>
        <p:nvSpPr>
          <p:cNvPr id="40" name="Shape 38"/>
          <p:cNvSpPr/>
          <p:nvPr/>
        </p:nvSpPr>
        <p:spPr>
          <a:xfrm>
            <a:off x="548640" y="4974336"/>
            <a:ext cx="1965960" cy="475488"/>
          </a:xfrm>
          <a:prstGeom prst="roundRect">
            <a:avLst>
              <a:gd name="adj" fmla="val 7692"/>
            </a:avLst>
          </a:prstGeom>
          <a:solidFill>
            <a:srgbClr val="1B2A3A"/>
          </a:solidFill>
          <a:ln/>
        </p:spPr>
      </p:sp>
      <p:sp>
        <p:nvSpPr>
          <p:cNvPr id="41" name="Text 39"/>
          <p:cNvSpPr/>
          <p:nvPr/>
        </p:nvSpPr>
        <p:spPr>
          <a:xfrm>
            <a:off x="685800" y="4974336"/>
            <a:ext cx="178308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Cost control</a:t>
            </a:r>
            <a:endParaRPr lang="en-US" sz="1150" dirty="0"/>
          </a:p>
        </p:txBody>
      </p:sp>
      <p:sp>
        <p:nvSpPr>
          <p:cNvPr id="42" name="Shape 40"/>
          <p:cNvSpPr/>
          <p:nvPr/>
        </p:nvSpPr>
        <p:spPr>
          <a:xfrm>
            <a:off x="2606040" y="4974336"/>
            <a:ext cx="4892040" cy="475488"/>
          </a:xfrm>
          <a:prstGeom prst="roundRect">
            <a:avLst>
              <a:gd name="adj" fmla="val 7692"/>
            </a:avLst>
          </a:prstGeom>
          <a:solidFill>
            <a:srgbClr val="F2F3F3"/>
          </a:solidFill>
          <a:ln w="6350">
            <a:solidFill>
              <a:srgbClr val="D5DBDB"/>
            </a:solidFill>
            <a:prstDash val="solid"/>
          </a:ln>
        </p:spPr>
      </p:sp>
      <p:sp>
        <p:nvSpPr>
          <p:cNvPr id="43" name="Text 41"/>
          <p:cNvSpPr/>
          <p:nvPr/>
        </p:nvSpPr>
        <p:spPr>
          <a:xfrm>
            <a:off x="2743200" y="4974336"/>
            <a:ext cx="466344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Bedrock inference profiles · CloudWatch</a:t>
            </a:r>
            <a:endParaRPr lang="en-US" sz="1050" dirty="0"/>
          </a:p>
        </p:txBody>
      </p:sp>
      <p:sp>
        <p:nvSpPr>
          <p:cNvPr id="44" name="Shape 42"/>
          <p:cNvSpPr/>
          <p:nvPr/>
        </p:nvSpPr>
        <p:spPr>
          <a:xfrm>
            <a:off x="7589520" y="4974336"/>
            <a:ext cx="4069080" cy="475488"/>
          </a:xfrm>
          <a:prstGeom prst="roundRect">
            <a:avLst>
              <a:gd name="adj" fmla="val 7692"/>
            </a:avLst>
          </a:prstGeom>
          <a:solidFill>
            <a:srgbClr val="FFFFFF"/>
          </a:solidFill>
          <a:ln w="6350">
            <a:solidFill>
              <a:srgbClr val="D5DBDB"/>
            </a:solidFill>
            <a:prstDash val="solid"/>
          </a:ln>
        </p:spPr>
      </p:sp>
      <p:sp>
        <p:nvSpPr>
          <p:cNvPr id="45" name="Text 43"/>
          <p:cNvSpPr/>
          <p:nvPr/>
        </p:nvSpPr>
        <p:spPr>
          <a:xfrm>
            <a:off x="7726680" y="4974336"/>
            <a:ext cx="384048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Hard token caps per agent + chargeback by department</a:t>
            </a:r>
            <a:endParaRPr lang="en-US" sz="1050" dirty="0"/>
          </a:p>
        </p:txBody>
      </p:sp>
      <p:sp>
        <p:nvSpPr>
          <p:cNvPr id="46" name="Shape 44"/>
          <p:cNvSpPr/>
          <p:nvPr/>
        </p:nvSpPr>
        <p:spPr>
          <a:xfrm>
            <a:off x="548640" y="5541264"/>
            <a:ext cx="1965960" cy="475488"/>
          </a:xfrm>
          <a:prstGeom prst="roundRect">
            <a:avLst>
              <a:gd name="adj" fmla="val 7692"/>
            </a:avLst>
          </a:prstGeom>
          <a:solidFill>
            <a:srgbClr val="1B2A3A"/>
          </a:solidFill>
          <a:ln/>
        </p:spPr>
      </p:sp>
      <p:sp>
        <p:nvSpPr>
          <p:cNvPr id="47" name="Text 45"/>
          <p:cNvSpPr/>
          <p:nvPr/>
        </p:nvSpPr>
        <p:spPr>
          <a:xfrm>
            <a:off x="685800" y="5541264"/>
            <a:ext cx="1783080" cy="47548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Containment</a:t>
            </a:r>
            <a:endParaRPr lang="en-US" sz="1150" dirty="0"/>
          </a:p>
        </p:txBody>
      </p:sp>
      <p:sp>
        <p:nvSpPr>
          <p:cNvPr id="48" name="Shape 46"/>
          <p:cNvSpPr/>
          <p:nvPr/>
        </p:nvSpPr>
        <p:spPr>
          <a:xfrm>
            <a:off x="2606040" y="5541264"/>
            <a:ext cx="4892040" cy="475488"/>
          </a:xfrm>
          <a:prstGeom prst="roundRect">
            <a:avLst>
              <a:gd name="adj" fmla="val 7692"/>
            </a:avLst>
          </a:prstGeom>
          <a:solidFill>
            <a:srgbClr val="F2F3F3"/>
          </a:solidFill>
          <a:ln w="6350">
            <a:solidFill>
              <a:srgbClr val="D5DBDB"/>
            </a:solidFill>
            <a:prstDash val="solid"/>
          </a:ln>
        </p:spPr>
      </p:sp>
      <p:sp>
        <p:nvSpPr>
          <p:cNvPr id="49" name="Text 47"/>
          <p:cNvSpPr/>
          <p:nvPr/>
        </p:nvSpPr>
        <p:spPr>
          <a:xfrm>
            <a:off x="2743200" y="5541264"/>
            <a:ext cx="466344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SSM Parameter Store · IAM (two-role SoD) · KMS</a:t>
            </a:r>
            <a:endParaRPr lang="en-US" sz="1050" dirty="0"/>
          </a:p>
        </p:txBody>
      </p:sp>
      <p:sp>
        <p:nvSpPr>
          <p:cNvPr id="50" name="Shape 48"/>
          <p:cNvSpPr/>
          <p:nvPr/>
        </p:nvSpPr>
        <p:spPr>
          <a:xfrm>
            <a:off x="7589520" y="5541264"/>
            <a:ext cx="4069080" cy="475488"/>
          </a:xfrm>
          <a:prstGeom prst="roundRect">
            <a:avLst>
              <a:gd name="adj" fmla="val 7692"/>
            </a:avLst>
          </a:prstGeom>
          <a:solidFill>
            <a:srgbClr val="FFFFFF"/>
          </a:solidFill>
          <a:ln w="6350">
            <a:solidFill>
              <a:srgbClr val="D5DBDB"/>
            </a:solidFill>
            <a:prstDash val="solid"/>
          </a:ln>
        </p:spPr>
      </p:sp>
      <p:sp>
        <p:nvSpPr>
          <p:cNvPr id="51" name="Text 49"/>
          <p:cNvSpPr/>
          <p:nvPr/>
        </p:nvSpPr>
        <p:spPr>
          <a:xfrm>
            <a:off x="7726680" y="5541264"/>
            <a:ext cx="3840480" cy="475488"/>
          </a:xfrm>
          <a:prstGeom prst="rect">
            <a:avLst/>
          </a:prstGeom>
          <a:noFill/>
          <a:ln/>
        </p:spPr>
        <p:txBody>
          <a:bodyPr wrap="square" lIns="0" tIns="0" rIns="0" bIns="0" rtlCol="0" anchor="ctr"/>
          <a:lstStyle/>
          <a:p>
            <a:pPr indent="0" marL="0">
              <a:buNone/>
            </a:pPr>
            <a:r>
              <a:rPr lang="en-US" sz="1050" dirty="0">
                <a:solidFill>
                  <a:srgbClr val="545B64"/>
                </a:solidFill>
                <a:latin typeface="Calibri" pitchFamily="34" charset="0"/>
                <a:ea typeface="Calibri" pitchFamily="34" charset="-122"/>
                <a:cs typeface="Calibri" pitchFamily="34" charset="-120"/>
              </a:rPr>
              <a:t>The Kill Switch — one command, platform-wide</a:t>
            </a:r>
            <a:endParaRPr lang="en-US" sz="1050" dirty="0"/>
          </a:p>
        </p:txBody>
      </p:sp>
      <p:sp>
        <p:nvSpPr>
          <p:cNvPr id="52" name="Text 50"/>
          <p:cNvSpPr/>
          <p:nvPr/>
        </p:nvSpPr>
        <p:spPr>
          <a:xfrm>
            <a:off x="548640" y="6181344"/>
            <a:ext cx="11064240" cy="320040"/>
          </a:xfrm>
          <a:prstGeom prst="rect">
            <a:avLst/>
          </a:prstGeom>
          <a:noFill/>
          <a:ln/>
        </p:spPr>
        <p:txBody>
          <a:bodyPr wrap="square" lIns="0" tIns="0" rIns="0" bIns="0" rtlCol="0" anchor="ctr"/>
          <a:lstStyle/>
          <a:p>
            <a:pPr indent="0" marL="0">
              <a:buNone/>
            </a:pPr>
            <a:r>
              <a:rPr lang="en-US" sz="1100" i="1" dirty="0">
                <a:solidFill>
                  <a:srgbClr val="545B64"/>
                </a:solidFill>
                <a:latin typeface="Calibri" pitchFamily="34" charset="0"/>
                <a:ea typeface="Calibri" pitchFamily="34" charset="-122"/>
                <a:cs typeface="Calibri" pitchFamily="34" charset="-120"/>
              </a:rPr>
              <a:t>All generally available services; HIPAA-eligible stack where required; GovCloud infrastructure variant included.</a:t>
            </a:r>
            <a:endParaRPr lang="en-US" sz="1100" dirty="0"/>
          </a:p>
        </p:txBody>
      </p:sp>
      <p:sp>
        <p:nvSpPr>
          <p:cNvPr id="53" name="Text 51"/>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54" name="Text 52"/>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03 · ANY AGENT, SAME RULES</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The Minimum Bar — Nine Gates, CI-Enforced</a:t>
            </a:r>
            <a:endParaRPr lang="en-US" sz="3000" dirty="0"/>
          </a:p>
        </p:txBody>
      </p:sp>
      <p:sp>
        <p:nvSpPr>
          <p:cNvPr id="4" name="Shape 2"/>
          <p:cNvSpPr/>
          <p:nvPr/>
        </p:nvSpPr>
        <p:spPr>
          <a:xfrm>
            <a:off x="548640" y="1645920"/>
            <a:ext cx="3593592" cy="960120"/>
          </a:xfrm>
          <a:prstGeom prst="roundRect">
            <a:avLst>
              <a:gd name="adj" fmla="val 4762"/>
            </a:avLst>
          </a:prstGeom>
          <a:solidFill>
            <a:srgbClr val="F2F3F3"/>
          </a:solidFill>
          <a:ln w="9525">
            <a:solidFill>
              <a:srgbClr val="D5DBDB"/>
            </a:solidFill>
            <a:prstDash val="solid"/>
          </a:ln>
        </p:spPr>
      </p:sp>
      <p:sp>
        <p:nvSpPr>
          <p:cNvPr id="5" name="Shape 3"/>
          <p:cNvSpPr/>
          <p:nvPr/>
        </p:nvSpPr>
        <p:spPr>
          <a:xfrm>
            <a:off x="676656" y="1920240"/>
            <a:ext cx="402336" cy="402336"/>
          </a:xfrm>
          <a:prstGeom prst="ellipse">
            <a:avLst/>
          </a:prstGeom>
          <a:solidFill>
            <a:srgbClr val="0B6E4F"/>
          </a:solidFill>
          <a:ln/>
        </p:spPr>
      </p:sp>
      <p:sp>
        <p:nvSpPr>
          <p:cNvPr id="6" name="Text 4"/>
          <p:cNvSpPr/>
          <p:nvPr/>
        </p:nvSpPr>
        <p:spPr>
          <a:xfrm>
            <a:off x="676656" y="1920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645920"/>
            <a:ext cx="2816352" cy="960120"/>
          </a:xfrm>
          <a:prstGeom prst="rect">
            <a:avLst/>
          </a:prstGeom>
          <a:noFill/>
          <a:ln/>
        </p:spPr>
        <p:txBody>
          <a:bodyPr wrap="square" lIns="0" tIns="0" rIns="0" bIns="0" rtlCol="0" anchor="ctr"/>
          <a:lstStyle/>
          <a:p>
            <a:pPr indent="0" marL="0">
              <a:lnSpc>
                <a:spcPct val="100000"/>
              </a:lnSpc>
              <a:buNone/>
            </a:pPr>
            <a:r>
              <a:rPr lang="en-US" sz="1200" b="1" dirty="0">
                <a:solidFill>
                  <a:srgbClr val="1B2A3A"/>
                </a:solidFill>
                <a:latin typeface="Calibri" pitchFamily="34" charset="0"/>
                <a:ea typeface="Calibri" pitchFamily="34" charset="-122"/>
                <a:cs typeface="Calibri" pitchFamily="34" charset="-120"/>
              </a:rPr>
              <a:t>Declared scope, nothing more</a:t>
            </a:r>
            <a:endParaRPr lang="en-US" sz="1200" dirty="0"/>
          </a:p>
        </p:txBody>
      </p:sp>
      <p:sp>
        <p:nvSpPr>
          <p:cNvPr id="8" name="Shape 6"/>
          <p:cNvSpPr/>
          <p:nvPr/>
        </p:nvSpPr>
        <p:spPr>
          <a:xfrm>
            <a:off x="4306824" y="1645920"/>
            <a:ext cx="3593592" cy="960120"/>
          </a:xfrm>
          <a:prstGeom prst="roundRect">
            <a:avLst>
              <a:gd name="adj" fmla="val 4762"/>
            </a:avLst>
          </a:prstGeom>
          <a:solidFill>
            <a:srgbClr val="F2F3F3"/>
          </a:solidFill>
          <a:ln w="9525">
            <a:solidFill>
              <a:srgbClr val="D5DBDB"/>
            </a:solidFill>
            <a:prstDash val="solid"/>
          </a:ln>
        </p:spPr>
      </p:sp>
      <p:sp>
        <p:nvSpPr>
          <p:cNvPr id="9" name="Shape 7"/>
          <p:cNvSpPr/>
          <p:nvPr/>
        </p:nvSpPr>
        <p:spPr>
          <a:xfrm>
            <a:off x="4434840" y="1920240"/>
            <a:ext cx="402336" cy="402336"/>
          </a:xfrm>
          <a:prstGeom prst="ellipse">
            <a:avLst/>
          </a:prstGeom>
          <a:solidFill>
            <a:srgbClr val="0B6E4F"/>
          </a:solidFill>
          <a:ln/>
        </p:spPr>
      </p:sp>
      <p:sp>
        <p:nvSpPr>
          <p:cNvPr id="10" name="Text 8"/>
          <p:cNvSpPr/>
          <p:nvPr/>
        </p:nvSpPr>
        <p:spPr>
          <a:xfrm>
            <a:off x="4434840" y="1920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4946904" y="1645920"/>
            <a:ext cx="2816352" cy="960120"/>
          </a:xfrm>
          <a:prstGeom prst="rect">
            <a:avLst/>
          </a:prstGeom>
          <a:noFill/>
          <a:ln/>
        </p:spPr>
        <p:txBody>
          <a:bodyPr wrap="square" lIns="0" tIns="0" rIns="0" bIns="0" rtlCol="0" anchor="ctr"/>
          <a:lstStyle/>
          <a:p>
            <a:pPr indent="0" marL="0">
              <a:lnSpc>
                <a:spcPct val="100000"/>
              </a:lnSpc>
              <a:buNone/>
            </a:pPr>
            <a:r>
              <a:rPr lang="en-US" sz="1200" b="1" dirty="0">
                <a:solidFill>
                  <a:srgbClr val="1B2A3A"/>
                </a:solidFill>
                <a:latin typeface="Calibri" pitchFamily="34" charset="0"/>
                <a:ea typeface="Calibri" pitchFamily="34" charset="-122"/>
                <a:cs typeface="Calibri" pitchFamily="34" charset="-120"/>
              </a:rPr>
              <a:t>Consequential actions withheld in code</a:t>
            </a:r>
            <a:endParaRPr lang="en-US" sz="1200" dirty="0"/>
          </a:p>
        </p:txBody>
      </p:sp>
      <p:sp>
        <p:nvSpPr>
          <p:cNvPr id="12" name="Shape 10"/>
          <p:cNvSpPr/>
          <p:nvPr/>
        </p:nvSpPr>
        <p:spPr>
          <a:xfrm>
            <a:off x="8065008" y="1645920"/>
            <a:ext cx="3593592" cy="960120"/>
          </a:xfrm>
          <a:prstGeom prst="roundRect">
            <a:avLst>
              <a:gd name="adj" fmla="val 4762"/>
            </a:avLst>
          </a:prstGeom>
          <a:solidFill>
            <a:srgbClr val="F2F3F3"/>
          </a:solidFill>
          <a:ln w="9525">
            <a:solidFill>
              <a:srgbClr val="D5DBDB"/>
            </a:solidFill>
            <a:prstDash val="solid"/>
          </a:ln>
        </p:spPr>
      </p:sp>
      <p:sp>
        <p:nvSpPr>
          <p:cNvPr id="13" name="Shape 11"/>
          <p:cNvSpPr/>
          <p:nvPr/>
        </p:nvSpPr>
        <p:spPr>
          <a:xfrm>
            <a:off x="8193024" y="1920240"/>
            <a:ext cx="402336" cy="402336"/>
          </a:xfrm>
          <a:prstGeom prst="ellipse">
            <a:avLst/>
          </a:prstGeom>
          <a:solidFill>
            <a:srgbClr val="0B6E4F"/>
          </a:solidFill>
          <a:ln/>
        </p:spPr>
      </p:sp>
      <p:sp>
        <p:nvSpPr>
          <p:cNvPr id="14" name="Text 12"/>
          <p:cNvSpPr/>
          <p:nvPr/>
        </p:nvSpPr>
        <p:spPr>
          <a:xfrm>
            <a:off x="8193024" y="1920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8705088" y="1645920"/>
            <a:ext cx="2816352" cy="960120"/>
          </a:xfrm>
          <a:prstGeom prst="rect">
            <a:avLst/>
          </a:prstGeom>
          <a:noFill/>
          <a:ln/>
        </p:spPr>
        <p:txBody>
          <a:bodyPr wrap="square" lIns="0" tIns="0" rIns="0" bIns="0" rtlCol="0" anchor="ctr"/>
          <a:lstStyle/>
          <a:p>
            <a:pPr indent="0" marL="0">
              <a:lnSpc>
                <a:spcPct val="100000"/>
              </a:lnSpc>
              <a:buNone/>
            </a:pPr>
            <a:r>
              <a:rPr lang="en-US" sz="1200" b="1" dirty="0">
                <a:solidFill>
                  <a:srgbClr val="1B2A3A"/>
                </a:solidFill>
                <a:latin typeface="Calibri" pitchFamily="34" charset="0"/>
                <a:ea typeface="Calibri" pitchFamily="34" charset="-122"/>
                <a:cs typeface="Calibri" pitchFamily="34" charset="-120"/>
              </a:rPr>
              <a:t>Bound, single-use SoD human gate</a:t>
            </a:r>
            <a:endParaRPr lang="en-US" sz="1200" dirty="0"/>
          </a:p>
        </p:txBody>
      </p:sp>
      <p:sp>
        <p:nvSpPr>
          <p:cNvPr id="16" name="Shape 14"/>
          <p:cNvSpPr/>
          <p:nvPr/>
        </p:nvSpPr>
        <p:spPr>
          <a:xfrm>
            <a:off x="548640" y="2761488"/>
            <a:ext cx="3593592" cy="960120"/>
          </a:xfrm>
          <a:prstGeom prst="roundRect">
            <a:avLst>
              <a:gd name="adj" fmla="val 4762"/>
            </a:avLst>
          </a:prstGeom>
          <a:solidFill>
            <a:srgbClr val="F2F3F3"/>
          </a:solidFill>
          <a:ln w="9525">
            <a:solidFill>
              <a:srgbClr val="D5DBDB"/>
            </a:solidFill>
            <a:prstDash val="solid"/>
          </a:ln>
        </p:spPr>
      </p:sp>
      <p:sp>
        <p:nvSpPr>
          <p:cNvPr id="17" name="Shape 15"/>
          <p:cNvSpPr/>
          <p:nvPr/>
        </p:nvSpPr>
        <p:spPr>
          <a:xfrm>
            <a:off x="676656" y="3035808"/>
            <a:ext cx="402336" cy="402336"/>
          </a:xfrm>
          <a:prstGeom prst="ellipse">
            <a:avLst/>
          </a:prstGeom>
          <a:solidFill>
            <a:srgbClr val="0B6E4F"/>
          </a:solidFill>
          <a:ln/>
        </p:spPr>
      </p:sp>
      <p:sp>
        <p:nvSpPr>
          <p:cNvPr id="18" name="Text 16"/>
          <p:cNvSpPr/>
          <p:nvPr/>
        </p:nvSpPr>
        <p:spPr>
          <a:xfrm>
            <a:off x="676656" y="30358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1188720" y="2761488"/>
            <a:ext cx="2816352" cy="960120"/>
          </a:xfrm>
          <a:prstGeom prst="rect">
            <a:avLst/>
          </a:prstGeom>
          <a:noFill/>
          <a:ln/>
        </p:spPr>
        <p:txBody>
          <a:bodyPr wrap="square" lIns="0" tIns="0" rIns="0" bIns="0" rtlCol="0" anchor="ctr"/>
          <a:lstStyle/>
          <a:p>
            <a:pPr indent="0" marL="0">
              <a:lnSpc>
                <a:spcPct val="100000"/>
              </a:lnSpc>
              <a:buNone/>
            </a:pPr>
            <a:r>
              <a:rPr lang="en-US" sz="1200" b="1" dirty="0">
                <a:solidFill>
                  <a:srgbClr val="1B2A3A"/>
                </a:solidFill>
                <a:latin typeface="Calibri" pitchFamily="34" charset="0"/>
                <a:ea typeface="Calibri" pitchFamily="34" charset="-122"/>
                <a:cs typeface="Calibri" pitchFamily="34" charset="-120"/>
              </a:rPr>
              <a:t>Declared grounding source + threshold</a:t>
            </a:r>
            <a:endParaRPr lang="en-US" sz="1200" dirty="0"/>
          </a:p>
        </p:txBody>
      </p:sp>
      <p:sp>
        <p:nvSpPr>
          <p:cNvPr id="20" name="Shape 18"/>
          <p:cNvSpPr/>
          <p:nvPr/>
        </p:nvSpPr>
        <p:spPr>
          <a:xfrm>
            <a:off x="4306824" y="2761488"/>
            <a:ext cx="3593592" cy="960120"/>
          </a:xfrm>
          <a:prstGeom prst="roundRect">
            <a:avLst>
              <a:gd name="adj" fmla="val 4762"/>
            </a:avLst>
          </a:prstGeom>
          <a:solidFill>
            <a:srgbClr val="F2F3F3"/>
          </a:solidFill>
          <a:ln w="9525">
            <a:solidFill>
              <a:srgbClr val="D5DBDB"/>
            </a:solidFill>
            <a:prstDash val="solid"/>
          </a:ln>
        </p:spPr>
      </p:sp>
      <p:sp>
        <p:nvSpPr>
          <p:cNvPr id="21" name="Shape 19"/>
          <p:cNvSpPr/>
          <p:nvPr/>
        </p:nvSpPr>
        <p:spPr>
          <a:xfrm>
            <a:off x="4434840" y="3035808"/>
            <a:ext cx="402336" cy="402336"/>
          </a:xfrm>
          <a:prstGeom prst="ellipse">
            <a:avLst/>
          </a:prstGeom>
          <a:solidFill>
            <a:srgbClr val="0B6E4F"/>
          </a:solidFill>
          <a:ln/>
        </p:spPr>
      </p:sp>
      <p:sp>
        <p:nvSpPr>
          <p:cNvPr id="22" name="Text 20"/>
          <p:cNvSpPr/>
          <p:nvPr/>
        </p:nvSpPr>
        <p:spPr>
          <a:xfrm>
            <a:off x="4434840" y="30358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4946904" y="2761488"/>
            <a:ext cx="2816352" cy="960120"/>
          </a:xfrm>
          <a:prstGeom prst="rect">
            <a:avLst/>
          </a:prstGeom>
          <a:noFill/>
          <a:ln/>
        </p:spPr>
        <p:txBody>
          <a:bodyPr wrap="square" lIns="0" tIns="0" rIns="0" bIns="0" rtlCol="0" anchor="ctr"/>
          <a:lstStyle/>
          <a:p>
            <a:pPr indent="0" marL="0">
              <a:lnSpc>
                <a:spcPct val="100000"/>
              </a:lnSpc>
              <a:buNone/>
            </a:pPr>
            <a:r>
              <a:rPr lang="en-US" sz="1200" b="1" dirty="0">
                <a:solidFill>
                  <a:srgbClr val="1B2A3A"/>
                </a:solidFill>
                <a:latin typeface="Calibri" pitchFamily="34" charset="0"/>
                <a:ea typeface="Calibri" pitchFamily="34" charset="-122"/>
                <a:cs typeface="Calibri" pitchFamily="34" charset="-120"/>
              </a:rPr>
              <a:t>Token budget with a hard cap</a:t>
            </a:r>
            <a:endParaRPr lang="en-US" sz="1200" dirty="0"/>
          </a:p>
        </p:txBody>
      </p:sp>
      <p:sp>
        <p:nvSpPr>
          <p:cNvPr id="24" name="Shape 22"/>
          <p:cNvSpPr/>
          <p:nvPr/>
        </p:nvSpPr>
        <p:spPr>
          <a:xfrm>
            <a:off x="8065008" y="2761488"/>
            <a:ext cx="3593592" cy="960120"/>
          </a:xfrm>
          <a:prstGeom prst="roundRect">
            <a:avLst>
              <a:gd name="adj" fmla="val 4762"/>
            </a:avLst>
          </a:prstGeom>
          <a:solidFill>
            <a:srgbClr val="F2F3F3"/>
          </a:solidFill>
          <a:ln w="9525">
            <a:solidFill>
              <a:srgbClr val="D5DBDB"/>
            </a:solidFill>
            <a:prstDash val="solid"/>
          </a:ln>
        </p:spPr>
      </p:sp>
      <p:sp>
        <p:nvSpPr>
          <p:cNvPr id="25" name="Shape 23"/>
          <p:cNvSpPr/>
          <p:nvPr/>
        </p:nvSpPr>
        <p:spPr>
          <a:xfrm>
            <a:off x="8193024" y="3035808"/>
            <a:ext cx="402336" cy="402336"/>
          </a:xfrm>
          <a:prstGeom prst="ellipse">
            <a:avLst/>
          </a:prstGeom>
          <a:solidFill>
            <a:srgbClr val="0B6E4F"/>
          </a:solidFill>
          <a:ln/>
        </p:spPr>
      </p:sp>
      <p:sp>
        <p:nvSpPr>
          <p:cNvPr id="26" name="Text 24"/>
          <p:cNvSpPr/>
          <p:nvPr/>
        </p:nvSpPr>
        <p:spPr>
          <a:xfrm>
            <a:off x="8193024" y="30358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8705088" y="2761488"/>
            <a:ext cx="2816352" cy="960120"/>
          </a:xfrm>
          <a:prstGeom prst="rect">
            <a:avLst/>
          </a:prstGeom>
          <a:noFill/>
          <a:ln/>
        </p:spPr>
        <p:txBody>
          <a:bodyPr wrap="square" lIns="0" tIns="0" rIns="0" bIns="0" rtlCol="0" anchor="ctr"/>
          <a:lstStyle/>
          <a:p>
            <a:pPr indent="0" marL="0">
              <a:lnSpc>
                <a:spcPct val="100000"/>
              </a:lnSpc>
              <a:buNone/>
            </a:pPr>
            <a:r>
              <a:rPr lang="en-US" sz="1200" b="1" dirty="0">
                <a:solidFill>
                  <a:srgbClr val="1B2A3A"/>
                </a:solidFill>
                <a:latin typeface="Calibri" pitchFamily="34" charset="0"/>
                <a:ea typeface="Calibri" pitchFamily="34" charset="-122"/>
                <a:cs typeface="Calibri" pitchFamily="34" charset="-120"/>
              </a:rPr>
              <a:t>Eval suite passing at declared rate</a:t>
            </a:r>
            <a:endParaRPr lang="en-US" sz="1200" dirty="0"/>
          </a:p>
        </p:txBody>
      </p:sp>
      <p:sp>
        <p:nvSpPr>
          <p:cNvPr id="28" name="Shape 26"/>
          <p:cNvSpPr/>
          <p:nvPr/>
        </p:nvSpPr>
        <p:spPr>
          <a:xfrm>
            <a:off x="548640" y="3877056"/>
            <a:ext cx="3593592" cy="960120"/>
          </a:xfrm>
          <a:prstGeom prst="roundRect">
            <a:avLst>
              <a:gd name="adj" fmla="val 4762"/>
            </a:avLst>
          </a:prstGeom>
          <a:solidFill>
            <a:srgbClr val="F2F3F3"/>
          </a:solidFill>
          <a:ln w="9525">
            <a:solidFill>
              <a:srgbClr val="D5DBDB"/>
            </a:solidFill>
            <a:prstDash val="solid"/>
          </a:ln>
        </p:spPr>
      </p:sp>
      <p:sp>
        <p:nvSpPr>
          <p:cNvPr id="29" name="Shape 27"/>
          <p:cNvSpPr/>
          <p:nvPr/>
        </p:nvSpPr>
        <p:spPr>
          <a:xfrm>
            <a:off x="676656" y="4151376"/>
            <a:ext cx="402336" cy="402336"/>
          </a:xfrm>
          <a:prstGeom prst="ellipse">
            <a:avLst/>
          </a:prstGeom>
          <a:solidFill>
            <a:srgbClr val="0B6E4F"/>
          </a:solidFill>
          <a:ln/>
        </p:spPr>
      </p:sp>
      <p:sp>
        <p:nvSpPr>
          <p:cNvPr id="30" name="Text 28"/>
          <p:cNvSpPr/>
          <p:nvPr/>
        </p:nvSpPr>
        <p:spPr>
          <a:xfrm>
            <a:off x="676656" y="41513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1" name="Text 29"/>
          <p:cNvSpPr/>
          <p:nvPr/>
        </p:nvSpPr>
        <p:spPr>
          <a:xfrm>
            <a:off x="1188720" y="3877056"/>
            <a:ext cx="2816352" cy="960120"/>
          </a:xfrm>
          <a:prstGeom prst="rect">
            <a:avLst/>
          </a:prstGeom>
          <a:noFill/>
          <a:ln/>
        </p:spPr>
        <p:txBody>
          <a:bodyPr wrap="square" lIns="0" tIns="0" rIns="0" bIns="0" rtlCol="0" anchor="ctr"/>
          <a:lstStyle/>
          <a:p>
            <a:pPr indent="0" marL="0">
              <a:lnSpc>
                <a:spcPct val="100000"/>
              </a:lnSpc>
              <a:buNone/>
            </a:pPr>
            <a:r>
              <a:rPr lang="en-US" sz="1200" b="1" dirty="0">
                <a:solidFill>
                  <a:srgbClr val="1B2A3A"/>
                </a:solidFill>
                <a:latin typeface="Calibri" pitchFamily="34" charset="0"/>
                <a:ea typeface="Calibri" pitchFamily="34" charset="-122"/>
                <a:cs typeface="Calibri" pitchFamily="34" charset="-120"/>
              </a:rPr>
              <a:t>Fail-closed masking per data class</a:t>
            </a:r>
            <a:endParaRPr lang="en-US" sz="1200" dirty="0"/>
          </a:p>
        </p:txBody>
      </p:sp>
      <p:sp>
        <p:nvSpPr>
          <p:cNvPr id="32" name="Shape 30"/>
          <p:cNvSpPr/>
          <p:nvPr/>
        </p:nvSpPr>
        <p:spPr>
          <a:xfrm>
            <a:off x="4306824" y="3877056"/>
            <a:ext cx="3593592" cy="960120"/>
          </a:xfrm>
          <a:prstGeom prst="roundRect">
            <a:avLst>
              <a:gd name="adj" fmla="val 4762"/>
            </a:avLst>
          </a:prstGeom>
          <a:solidFill>
            <a:srgbClr val="F2F3F3"/>
          </a:solidFill>
          <a:ln w="9525">
            <a:solidFill>
              <a:srgbClr val="D5DBDB"/>
            </a:solidFill>
            <a:prstDash val="solid"/>
          </a:ln>
        </p:spPr>
      </p:sp>
      <p:sp>
        <p:nvSpPr>
          <p:cNvPr id="33" name="Shape 31"/>
          <p:cNvSpPr/>
          <p:nvPr/>
        </p:nvSpPr>
        <p:spPr>
          <a:xfrm>
            <a:off x="4434840" y="4151376"/>
            <a:ext cx="402336" cy="402336"/>
          </a:xfrm>
          <a:prstGeom prst="ellipse">
            <a:avLst/>
          </a:prstGeom>
          <a:solidFill>
            <a:srgbClr val="0B6E4F"/>
          </a:solidFill>
          <a:ln/>
        </p:spPr>
      </p:sp>
      <p:sp>
        <p:nvSpPr>
          <p:cNvPr id="34" name="Text 32"/>
          <p:cNvSpPr/>
          <p:nvPr/>
        </p:nvSpPr>
        <p:spPr>
          <a:xfrm>
            <a:off x="4434840" y="41513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5" name="Text 33"/>
          <p:cNvSpPr/>
          <p:nvPr/>
        </p:nvSpPr>
        <p:spPr>
          <a:xfrm>
            <a:off x="4946904" y="3877056"/>
            <a:ext cx="2816352" cy="960120"/>
          </a:xfrm>
          <a:prstGeom prst="rect">
            <a:avLst/>
          </a:prstGeom>
          <a:noFill/>
          <a:ln/>
        </p:spPr>
        <p:txBody>
          <a:bodyPr wrap="square" lIns="0" tIns="0" rIns="0" bIns="0" rtlCol="0" anchor="ctr"/>
          <a:lstStyle/>
          <a:p>
            <a:pPr indent="0" marL="0">
              <a:lnSpc>
                <a:spcPct val="100000"/>
              </a:lnSpc>
              <a:buNone/>
            </a:pPr>
            <a:r>
              <a:rPr lang="en-US" sz="1200" b="1" dirty="0">
                <a:solidFill>
                  <a:srgbClr val="1B2A3A"/>
                </a:solidFill>
                <a:latin typeface="Calibri" pitchFamily="34" charset="0"/>
                <a:ea typeface="Calibri" pitchFamily="34" charset="-122"/>
                <a:cs typeface="Calibri" pitchFamily="34" charset="-120"/>
              </a:rPr>
              <a:t>Manifest signed by a known publisher</a:t>
            </a:r>
            <a:endParaRPr lang="en-US" sz="1200" dirty="0"/>
          </a:p>
        </p:txBody>
      </p:sp>
      <p:sp>
        <p:nvSpPr>
          <p:cNvPr id="36" name="Shape 34"/>
          <p:cNvSpPr/>
          <p:nvPr/>
        </p:nvSpPr>
        <p:spPr>
          <a:xfrm>
            <a:off x="8065008" y="3877056"/>
            <a:ext cx="3593592" cy="960120"/>
          </a:xfrm>
          <a:prstGeom prst="roundRect">
            <a:avLst>
              <a:gd name="adj" fmla="val 4762"/>
            </a:avLst>
          </a:prstGeom>
          <a:solidFill>
            <a:srgbClr val="F2F3F3"/>
          </a:solidFill>
          <a:ln w="9525">
            <a:solidFill>
              <a:srgbClr val="D5DBDB"/>
            </a:solidFill>
            <a:prstDash val="solid"/>
          </a:ln>
        </p:spPr>
      </p:sp>
      <p:sp>
        <p:nvSpPr>
          <p:cNvPr id="37" name="Shape 35"/>
          <p:cNvSpPr/>
          <p:nvPr/>
        </p:nvSpPr>
        <p:spPr>
          <a:xfrm>
            <a:off x="8193024" y="4151376"/>
            <a:ext cx="402336" cy="402336"/>
          </a:xfrm>
          <a:prstGeom prst="ellipse">
            <a:avLst/>
          </a:prstGeom>
          <a:solidFill>
            <a:srgbClr val="0B6E4F"/>
          </a:solidFill>
          <a:ln/>
        </p:spPr>
      </p:sp>
      <p:sp>
        <p:nvSpPr>
          <p:cNvPr id="38" name="Text 36"/>
          <p:cNvSpPr/>
          <p:nvPr/>
        </p:nvSpPr>
        <p:spPr>
          <a:xfrm>
            <a:off x="8193024" y="41513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9" name="Text 37"/>
          <p:cNvSpPr/>
          <p:nvPr/>
        </p:nvSpPr>
        <p:spPr>
          <a:xfrm>
            <a:off x="8705088" y="3877056"/>
            <a:ext cx="2816352" cy="960120"/>
          </a:xfrm>
          <a:prstGeom prst="rect">
            <a:avLst/>
          </a:prstGeom>
          <a:noFill/>
          <a:ln/>
        </p:spPr>
        <p:txBody>
          <a:bodyPr wrap="square" lIns="0" tIns="0" rIns="0" bIns="0" rtlCol="0" anchor="ctr"/>
          <a:lstStyle/>
          <a:p>
            <a:pPr indent="0" marL="0">
              <a:lnSpc>
                <a:spcPct val="100000"/>
              </a:lnSpc>
              <a:buNone/>
            </a:pPr>
            <a:r>
              <a:rPr lang="en-US" sz="1200" b="1" dirty="0">
                <a:solidFill>
                  <a:srgbClr val="1B2A3A"/>
                </a:solidFill>
                <a:latin typeface="Calibri" pitchFamily="34" charset="0"/>
                <a:ea typeface="Calibri" pitchFamily="34" charset="-122"/>
                <a:cs typeface="Calibri" pitchFamily="34" charset="-120"/>
              </a:rPr>
              <a:t>Vertical pack compatibility</a:t>
            </a:r>
            <a:endParaRPr lang="en-US" sz="1200" dirty="0"/>
          </a:p>
        </p:txBody>
      </p:sp>
      <p:sp>
        <p:nvSpPr>
          <p:cNvPr id="40" name="Shape 38"/>
          <p:cNvSpPr/>
          <p:nvPr/>
        </p:nvSpPr>
        <p:spPr>
          <a:xfrm>
            <a:off x="548640" y="5120640"/>
            <a:ext cx="11109960" cy="868680"/>
          </a:xfrm>
          <a:prstGeom prst="roundRect">
            <a:avLst>
              <a:gd name="adj" fmla="val 5263"/>
            </a:avLst>
          </a:prstGeom>
          <a:solidFill>
            <a:srgbClr val="1B2A3A"/>
          </a:solidFill>
          <a:ln/>
        </p:spPr>
      </p:sp>
      <p:sp>
        <p:nvSpPr>
          <p:cNvPr id="41" name="Text 39"/>
          <p:cNvSpPr/>
          <p:nvPr/>
        </p:nvSpPr>
        <p:spPr>
          <a:xfrm>
            <a:off x="777240" y="5212080"/>
            <a:ext cx="10698480" cy="713232"/>
          </a:xfrm>
          <a:prstGeom prst="rect">
            <a:avLst/>
          </a:prstGeom>
          <a:noFill/>
          <a:ln/>
        </p:spPr>
        <p:txBody>
          <a:bodyPr wrap="square" lIns="0" tIns="0" rIns="0" bIns="0" rtlCol="0" anchor="ctr"/>
          <a:lstStyle/>
          <a:p>
            <a:pPr indent="0" marL="0">
              <a:buNone/>
            </a:pPr>
            <a:r>
              <a:rPr lang="en-US" sz="1250" b="1" dirty="0">
                <a:solidFill>
                  <a:srgbClr val="F3B23E"/>
                </a:solidFill>
                <a:latin typeface="Calibri" pitchFamily="34" charset="0"/>
                <a:ea typeface="Calibri" pitchFamily="34" charset="-122"/>
                <a:cs typeface="Calibri" pitchFamily="34" charset="-120"/>
              </a:rPr>
              <a:t>Gates, not guidelines: </a:t>
            </a:r>
            <a:pPr indent="0" marL="0">
              <a:buNone/>
            </a:pPr>
            <a:r>
              <a:rPr lang="en-US" sz="1250" dirty="0">
                <a:solidFill>
                  <a:srgbClr val="FFFFFF"/>
                </a:solidFill>
                <a:latin typeface="Calibri" pitchFamily="34" charset="0"/>
                <a:ea typeface="Calibri" pitchFamily="34" charset="-122"/>
                <a:cs typeface="Calibri" pitchFamily="34" charset="-120"/>
              </a:rPr>
              <a:t>CI rejects an agent that fails any gate; the gateway refuses to load it at runtime; a delivery gate blocks placeholder credentials, demo retention, and unsigned manifests from ever reaching production.</a:t>
            </a:r>
            <a:endParaRPr lang="en-US" sz="1250" dirty="0"/>
          </a:p>
        </p:txBody>
      </p:sp>
      <p:sp>
        <p:nvSpPr>
          <p:cNvPr id="42" name="Text 40"/>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43" name="Text 41"/>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04 · PROOF, NOT PROMISES</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Working Agents on the Identical Template</a:t>
            </a:r>
            <a:endParaRPr lang="en-US" sz="3000" dirty="0"/>
          </a:p>
        </p:txBody>
      </p:sp>
      <p:sp>
        <p:nvSpPr>
          <p:cNvPr id="4" name="Shape 2"/>
          <p:cNvSpPr/>
          <p:nvPr/>
        </p:nvSpPr>
        <p:spPr>
          <a:xfrm>
            <a:off x="548640" y="1600200"/>
            <a:ext cx="7863840" cy="713232"/>
          </a:xfrm>
          <a:prstGeom prst="roundRect">
            <a:avLst>
              <a:gd name="adj" fmla="val 6410"/>
            </a:avLst>
          </a:prstGeom>
          <a:solidFill>
            <a:srgbClr val="F2F3F3"/>
          </a:solidFill>
          <a:ln w="9525">
            <a:solidFill>
              <a:srgbClr val="D5DBDB"/>
            </a:solidFill>
            <a:prstDash val="solid"/>
          </a:ln>
        </p:spPr>
      </p:sp>
      <p:sp>
        <p:nvSpPr>
          <p:cNvPr id="5" name="Text 3"/>
          <p:cNvSpPr/>
          <p:nvPr/>
        </p:nvSpPr>
        <p:spPr>
          <a:xfrm>
            <a:off x="731520" y="1600200"/>
            <a:ext cx="6583680" cy="713232"/>
          </a:xfrm>
          <a:prstGeom prst="rect">
            <a:avLst/>
          </a:prstGeom>
          <a:noFill/>
          <a:ln/>
        </p:spPr>
        <p:txBody>
          <a:bodyPr wrap="square" lIns="0" tIns="0" rIns="0" bIns="0" rtlCol="0" anchor="ctr"/>
          <a:lstStyle/>
          <a:p>
            <a:pPr indent="0" marL="0">
              <a:lnSpc>
                <a:spcPct val="102000"/>
              </a:lnSpc>
              <a:buNone/>
            </a:pPr>
            <a:r>
              <a:rPr lang="en-US" sz="1300" b="1" dirty="0">
                <a:solidFill>
                  <a:srgbClr val="1B2A3A"/>
                </a:solidFill>
                <a:latin typeface="Calibri" pitchFamily="34" charset="0"/>
                <a:ea typeface="Calibri" pitchFamily="34" charset="-122"/>
                <a:cs typeface="Calibri" pitchFamily="34" charset="-120"/>
              </a:rPr>
              <a:t>Benefits eligibility  </a:t>
            </a:r>
            <a:pPr indent="0" marL="0">
              <a:lnSpc>
                <a:spcPct val="102000"/>
              </a:lnSpc>
              <a:buNone/>
            </a:pPr>
            <a:r>
              <a:rPr lang="en-US" sz="1050" dirty="0">
                <a:solidFill>
                  <a:srgbClr val="545B64"/>
                </a:solidFill>
                <a:latin typeface="Calibri" pitchFamily="34" charset="0"/>
                <a:ea typeface="Calibri" pitchFamily="34" charset="-122"/>
                <a:cs typeface="Calibri" pitchFamily="34" charset="-120"/>
              </a:rPr>
              <a:t>· SNAP/Medicaid/TANF screening, FPL-pinned rules, caseworker sign-off, fraud-referral policy</a:t>
            </a:r>
            <a:endParaRPr lang="en-US" sz="1300" dirty="0"/>
          </a:p>
        </p:txBody>
      </p:sp>
      <p:sp>
        <p:nvSpPr>
          <p:cNvPr id="6" name="Shape 4"/>
          <p:cNvSpPr/>
          <p:nvPr/>
        </p:nvSpPr>
        <p:spPr>
          <a:xfrm>
            <a:off x="7360920" y="1755648"/>
            <a:ext cx="914400" cy="402336"/>
          </a:xfrm>
          <a:prstGeom prst="roundRect">
            <a:avLst>
              <a:gd name="adj" fmla="val 18182"/>
            </a:avLst>
          </a:prstGeom>
          <a:solidFill>
            <a:srgbClr val="0B6E4F"/>
          </a:solidFill>
          <a:ln/>
        </p:spPr>
      </p:sp>
      <p:sp>
        <p:nvSpPr>
          <p:cNvPr id="7" name="Text 5"/>
          <p:cNvSpPr/>
          <p:nvPr/>
        </p:nvSpPr>
        <p:spPr>
          <a:xfrm>
            <a:off x="7360920" y="1755648"/>
            <a:ext cx="91440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SLG</a:t>
            </a:r>
            <a:endParaRPr lang="en-US" sz="1000" dirty="0"/>
          </a:p>
        </p:txBody>
      </p:sp>
      <p:sp>
        <p:nvSpPr>
          <p:cNvPr id="8" name="Shape 6"/>
          <p:cNvSpPr/>
          <p:nvPr/>
        </p:nvSpPr>
        <p:spPr>
          <a:xfrm>
            <a:off x="548640" y="2441448"/>
            <a:ext cx="7863840" cy="713232"/>
          </a:xfrm>
          <a:prstGeom prst="roundRect">
            <a:avLst>
              <a:gd name="adj" fmla="val 6410"/>
            </a:avLst>
          </a:prstGeom>
          <a:solidFill>
            <a:srgbClr val="F2F3F3"/>
          </a:solidFill>
          <a:ln w="9525">
            <a:solidFill>
              <a:srgbClr val="D5DBDB"/>
            </a:solidFill>
            <a:prstDash val="solid"/>
          </a:ln>
        </p:spPr>
      </p:sp>
      <p:sp>
        <p:nvSpPr>
          <p:cNvPr id="9" name="Text 7"/>
          <p:cNvSpPr/>
          <p:nvPr/>
        </p:nvSpPr>
        <p:spPr>
          <a:xfrm>
            <a:off x="731520" y="2441448"/>
            <a:ext cx="6583680" cy="713232"/>
          </a:xfrm>
          <a:prstGeom prst="rect">
            <a:avLst/>
          </a:prstGeom>
          <a:noFill/>
          <a:ln/>
        </p:spPr>
        <p:txBody>
          <a:bodyPr wrap="square" lIns="0" tIns="0" rIns="0" bIns="0" rtlCol="0" anchor="ctr"/>
          <a:lstStyle/>
          <a:p>
            <a:pPr indent="0" marL="0">
              <a:lnSpc>
                <a:spcPct val="102000"/>
              </a:lnSpc>
              <a:buNone/>
            </a:pPr>
            <a:r>
              <a:rPr lang="en-US" sz="1300" b="1" dirty="0">
                <a:solidFill>
                  <a:srgbClr val="1B2A3A"/>
                </a:solidFill>
                <a:latin typeface="Calibri" pitchFamily="34" charset="0"/>
                <a:ea typeface="Calibri" pitchFamily="34" charset="-122"/>
                <a:cs typeface="Calibri" pitchFamily="34" charset="-120"/>
              </a:rPr>
              <a:t>Financial aid  </a:t>
            </a:r>
            <a:pPr indent="0" marL="0">
              <a:lnSpc>
                <a:spcPct val="102000"/>
              </a:lnSpc>
              <a:buNone/>
            </a:pPr>
            <a:r>
              <a:rPr lang="en-US" sz="1050" dirty="0">
                <a:solidFill>
                  <a:srgbClr val="545B64"/>
                </a:solidFill>
                <a:latin typeface="Calibri" pitchFamily="34" charset="0"/>
                <a:ea typeface="Calibri" pitchFamily="34" charset="-122"/>
                <a:cs typeface="Calibri" pitchFamily="34" charset="-120"/>
              </a:rPr>
              <a:t>· FAFSA intake, cost-of-attendance grounding, award-year gate, aid-officer sign-off</a:t>
            </a:r>
            <a:endParaRPr lang="en-US" sz="1300" dirty="0"/>
          </a:p>
        </p:txBody>
      </p:sp>
      <p:sp>
        <p:nvSpPr>
          <p:cNvPr id="10" name="Shape 8"/>
          <p:cNvSpPr/>
          <p:nvPr/>
        </p:nvSpPr>
        <p:spPr>
          <a:xfrm>
            <a:off x="7360920" y="2596896"/>
            <a:ext cx="914400" cy="402336"/>
          </a:xfrm>
          <a:prstGeom prst="roundRect">
            <a:avLst>
              <a:gd name="adj" fmla="val 18182"/>
            </a:avLst>
          </a:prstGeom>
          <a:solidFill>
            <a:srgbClr val="0B6E4F"/>
          </a:solidFill>
          <a:ln/>
        </p:spPr>
      </p:sp>
      <p:sp>
        <p:nvSpPr>
          <p:cNvPr id="11" name="Text 9"/>
          <p:cNvSpPr/>
          <p:nvPr/>
        </p:nvSpPr>
        <p:spPr>
          <a:xfrm>
            <a:off x="7360920" y="2596896"/>
            <a:ext cx="91440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EDU</a:t>
            </a:r>
            <a:endParaRPr lang="en-US" sz="1000" dirty="0"/>
          </a:p>
        </p:txBody>
      </p:sp>
      <p:sp>
        <p:nvSpPr>
          <p:cNvPr id="12" name="Shape 10"/>
          <p:cNvSpPr/>
          <p:nvPr/>
        </p:nvSpPr>
        <p:spPr>
          <a:xfrm>
            <a:off x="548640" y="3282696"/>
            <a:ext cx="7863840" cy="713232"/>
          </a:xfrm>
          <a:prstGeom prst="roundRect">
            <a:avLst>
              <a:gd name="adj" fmla="val 6410"/>
            </a:avLst>
          </a:prstGeom>
          <a:solidFill>
            <a:srgbClr val="F2F3F3"/>
          </a:solidFill>
          <a:ln w="9525">
            <a:solidFill>
              <a:srgbClr val="D5DBDB"/>
            </a:solidFill>
            <a:prstDash val="solid"/>
          </a:ln>
        </p:spPr>
      </p:sp>
      <p:sp>
        <p:nvSpPr>
          <p:cNvPr id="13" name="Text 11"/>
          <p:cNvSpPr/>
          <p:nvPr/>
        </p:nvSpPr>
        <p:spPr>
          <a:xfrm>
            <a:off x="731520" y="3282696"/>
            <a:ext cx="6583680" cy="713232"/>
          </a:xfrm>
          <a:prstGeom prst="rect">
            <a:avLst/>
          </a:prstGeom>
          <a:noFill/>
          <a:ln/>
        </p:spPr>
        <p:txBody>
          <a:bodyPr wrap="square" lIns="0" tIns="0" rIns="0" bIns="0" rtlCol="0" anchor="ctr"/>
          <a:lstStyle/>
          <a:p>
            <a:pPr indent="0" marL="0">
              <a:lnSpc>
                <a:spcPct val="102000"/>
              </a:lnSpc>
              <a:buNone/>
            </a:pPr>
            <a:r>
              <a:rPr lang="en-US" sz="1300" b="1" dirty="0">
                <a:solidFill>
                  <a:srgbClr val="1B2A3A"/>
                </a:solidFill>
                <a:latin typeface="Calibri" pitchFamily="34" charset="0"/>
                <a:ea typeface="Calibri" pitchFamily="34" charset="-122"/>
                <a:cs typeface="Calibri" pitchFamily="34" charset="-120"/>
              </a:rPr>
              <a:t>Housing eligibility  </a:t>
            </a:r>
            <a:pPr indent="0" marL="0">
              <a:lnSpc>
                <a:spcPct val="102000"/>
              </a:lnSpc>
              <a:buNone/>
            </a:pPr>
            <a:r>
              <a:rPr lang="en-US" sz="1050" dirty="0">
                <a:solidFill>
                  <a:srgbClr val="545B64"/>
                </a:solidFill>
                <a:latin typeface="Calibri" pitchFamily="34" charset="0"/>
                <a:ea typeface="Calibri" pitchFamily="34" charset="-122"/>
                <a:cs typeface="Calibri" pitchFamily="34" charset="-120"/>
              </a:rPr>
              <a:t>· Eligibility screening with the same governed template and human gate</a:t>
            </a:r>
            <a:endParaRPr lang="en-US" sz="1300" dirty="0"/>
          </a:p>
        </p:txBody>
      </p:sp>
      <p:sp>
        <p:nvSpPr>
          <p:cNvPr id="14" name="Shape 12"/>
          <p:cNvSpPr/>
          <p:nvPr/>
        </p:nvSpPr>
        <p:spPr>
          <a:xfrm>
            <a:off x="7360920" y="3438144"/>
            <a:ext cx="914400" cy="402336"/>
          </a:xfrm>
          <a:prstGeom prst="roundRect">
            <a:avLst>
              <a:gd name="adj" fmla="val 18182"/>
            </a:avLst>
          </a:prstGeom>
          <a:solidFill>
            <a:srgbClr val="0B6E4F"/>
          </a:solidFill>
          <a:ln/>
        </p:spPr>
      </p:sp>
      <p:sp>
        <p:nvSpPr>
          <p:cNvPr id="15" name="Text 13"/>
          <p:cNvSpPr/>
          <p:nvPr/>
        </p:nvSpPr>
        <p:spPr>
          <a:xfrm>
            <a:off x="7360920" y="3438144"/>
            <a:ext cx="91440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SLG</a:t>
            </a:r>
            <a:endParaRPr lang="en-US" sz="1000" dirty="0"/>
          </a:p>
        </p:txBody>
      </p:sp>
      <p:sp>
        <p:nvSpPr>
          <p:cNvPr id="16" name="Shape 14"/>
          <p:cNvSpPr/>
          <p:nvPr/>
        </p:nvSpPr>
        <p:spPr>
          <a:xfrm>
            <a:off x="548640" y="4123944"/>
            <a:ext cx="7863840" cy="713232"/>
          </a:xfrm>
          <a:prstGeom prst="roundRect">
            <a:avLst>
              <a:gd name="adj" fmla="val 6410"/>
            </a:avLst>
          </a:prstGeom>
          <a:solidFill>
            <a:srgbClr val="F2F3F3"/>
          </a:solidFill>
          <a:ln w="9525">
            <a:solidFill>
              <a:srgbClr val="D5DBDB"/>
            </a:solidFill>
            <a:prstDash val="solid"/>
          </a:ln>
        </p:spPr>
      </p:sp>
      <p:sp>
        <p:nvSpPr>
          <p:cNvPr id="17" name="Text 15"/>
          <p:cNvSpPr/>
          <p:nvPr/>
        </p:nvSpPr>
        <p:spPr>
          <a:xfrm>
            <a:off x="731520" y="4123944"/>
            <a:ext cx="6583680" cy="713232"/>
          </a:xfrm>
          <a:prstGeom prst="rect">
            <a:avLst/>
          </a:prstGeom>
          <a:noFill/>
          <a:ln/>
        </p:spPr>
        <p:txBody>
          <a:bodyPr wrap="square" lIns="0" tIns="0" rIns="0" bIns="0" rtlCol="0" anchor="ctr"/>
          <a:lstStyle/>
          <a:p>
            <a:pPr indent="0" marL="0">
              <a:lnSpc>
                <a:spcPct val="102000"/>
              </a:lnSpc>
              <a:buNone/>
            </a:pPr>
            <a:r>
              <a:rPr lang="en-US" sz="1300" b="1" dirty="0">
                <a:solidFill>
                  <a:srgbClr val="1B2A3A"/>
                </a:solidFill>
                <a:latin typeface="Calibri" pitchFamily="34" charset="0"/>
                <a:ea typeface="Calibri" pitchFamily="34" charset="-122"/>
                <a:cs typeface="Calibri" pitchFamily="34" charset="-120"/>
              </a:rPr>
              <a:t>Pharmacovigilance  </a:t>
            </a:r>
            <a:pPr indent="0" marL="0">
              <a:lnSpc>
                <a:spcPct val="102000"/>
              </a:lnSpc>
              <a:buNone/>
            </a:pPr>
            <a:r>
              <a:rPr lang="en-US" sz="1050" dirty="0">
                <a:solidFill>
                  <a:srgbClr val="545B64"/>
                </a:solidFill>
                <a:latin typeface="Calibri" pitchFamily="34" charset="0"/>
                <a:ea typeface="Calibri" pitchFamily="34" charset="-122"/>
                <a:cs typeface="Calibri" pitchFamily="34" charset="-120"/>
              </a:rPr>
              <a:t>· ICH-compliant drug-safety intake; the regulated-industry stress test of the same pattern</a:t>
            </a:r>
            <a:endParaRPr lang="en-US" sz="1300" dirty="0"/>
          </a:p>
        </p:txBody>
      </p:sp>
      <p:sp>
        <p:nvSpPr>
          <p:cNvPr id="18" name="Shape 16"/>
          <p:cNvSpPr/>
          <p:nvPr/>
        </p:nvSpPr>
        <p:spPr>
          <a:xfrm>
            <a:off x="7360920" y="4279392"/>
            <a:ext cx="914400" cy="402336"/>
          </a:xfrm>
          <a:prstGeom prst="roundRect">
            <a:avLst>
              <a:gd name="adj" fmla="val 18182"/>
            </a:avLst>
          </a:prstGeom>
          <a:solidFill>
            <a:srgbClr val="0B6E4F"/>
          </a:solidFill>
          <a:ln/>
        </p:spPr>
      </p:sp>
      <p:sp>
        <p:nvSpPr>
          <p:cNvPr id="19" name="Text 17"/>
          <p:cNvSpPr/>
          <p:nvPr/>
        </p:nvSpPr>
        <p:spPr>
          <a:xfrm>
            <a:off x="7360920" y="4279392"/>
            <a:ext cx="91440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Life sciences</a:t>
            </a:r>
            <a:endParaRPr lang="en-US" sz="1000" dirty="0"/>
          </a:p>
        </p:txBody>
      </p:sp>
      <p:sp>
        <p:nvSpPr>
          <p:cNvPr id="20" name="Shape 18"/>
          <p:cNvSpPr/>
          <p:nvPr/>
        </p:nvSpPr>
        <p:spPr>
          <a:xfrm>
            <a:off x="8549640" y="1600200"/>
            <a:ext cx="3108960" cy="3108960"/>
          </a:xfrm>
          <a:prstGeom prst="roundRect">
            <a:avLst>
              <a:gd name="adj" fmla="val 1765"/>
            </a:avLst>
          </a:prstGeom>
          <a:solidFill>
            <a:srgbClr val="F0F7F4"/>
          </a:solidFill>
          <a:ln w="9525">
            <a:solidFill>
              <a:srgbClr val="0B6E4F"/>
            </a:solidFill>
            <a:prstDash val="solid"/>
          </a:ln>
        </p:spPr>
      </p:sp>
      <p:sp>
        <p:nvSpPr>
          <p:cNvPr id="21" name="Text 19"/>
          <p:cNvSpPr/>
          <p:nvPr/>
        </p:nvSpPr>
        <p:spPr>
          <a:xfrm>
            <a:off x="8714232" y="1709928"/>
            <a:ext cx="2779776" cy="329184"/>
          </a:xfrm>
          <a:prstGeom prst="rect">
            <a:avLst/>
          </a:prstGeom>
          <a:noFill/>
          <a:ln/>
        </p:spPr>
        <p:txBody>
          <a:bodyPr wrap="square" lIns="0" tIns="0" rIns="0" bIns="0" rtlCol="0" anchor="ctr"/>
          <a:lstStyle/>
          <a:p>
            <a:pPr indent="0" marL="0">
              <a:buNone/>
            </a:pPr>
            <a:r>
              <a:rPr lang="en-US" sz="1400" b="1" dirty="0">
                <a:solidFill>
                  <a:srgbClr val="0B6E4F"/>
                </a:solidFill>
                <a:latin typeface="Calibri" pitchFamily="34" charset="0"/>
                <a:ea typeface="Calibri" pitchFamily="34" charset="-122"/>
                <a:cs typeface="Calibri" pitchFamily="34" charset="-120"/>
              </a:rPr>
              <a:t>The honesty system</a:t>
            </a:r>
            <a:endParaRPr lang="en-US" sz="1400" dirty="0"/>
          </a:p>
        </p:txBody>
      </p:sp>
      <p:sp>
        <p:nvSpPr>
          <p:cNvPr id="22" name="Text 20"/>
          <p:cNvSpPr/>
          <p:nvPr/>
        </p:nvSpPr>
        <p:spPr>
          <a:xfrm>
            <a:off x="8714232" y="2057400"/>
            <a:ext cx="2779776" cy="25420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55 negative tests green in CI · machine-readable maturity file governs every claim · NOT-CLAIMS boundary in writing · live deploy/invoke/prove evidence retained from clean AWS accounts</a:t>
            </a:r>
            <a:endParaRPr lang="en-US" sz="1100" dirty="0"/>
          </a:p>
        </p:txBody>
      </p:sp>
      <p:sp>
        <p:nvSpPr>
          <p:cNvPr id="23" name="Text 21"/>
          <p:cNvSpPr/>
          <p:nvPr/>
        </p:nvSpPr>
        <p:spPr>
          <a:xfrm>
            <a:off x="548640" y="5120640"/>
            <a:ext cx="11064240" cy="457200"/>
          </a:xfrm>
          <a:prstGeom prst="rect">
            <a:avLst/>
          </a:prstGeom>
          <a:noFill/>
          <a:ln/>
        </p:spPr>
        <p:txBody>
          <a:bodyPr wrap="square" lIns="0" tIns="0" rIns="0" bIns="0" rtlCol="0" anchor="ctr"/>
          <a:lstStyle/>
          <a:p>
            <a:pPr indent="0" marL="0">
              <a:buNone/>
            </a:pPr>
            <a:r>
              <a:rPr lang="en-US" sz="1300" i="1" dirty="0">
                <a:solidFill>
                  <a:srgbClr val="545B64"/>
                </a:solidFill>
                <a:latin typeface="Calibri" pitchFamily="34" charset="0"/>
                <a:ea typeface="Calibri" pitchFamily="34" charset="-122"/>
                <a:cs typeface="Calibri" pitchFamily="34" charset="-120"/>
              </a:rPr>
              <a:t>Each agent = one manifest + Cedar policies + tools + tests. Same template, different domain — that is the platform working.</a:t>
            </a:r>
            <a:endParaRPr lang="en-US" sz="1300" dirty="0"/>
          </a:p>
        </p:txBody>
      </p:sp>
      <p:sp>
        <p:nvSpPr>
          <p:cNvPr id="24" name="Text 22"/>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25" name="Text 23"/>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05 · COST</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At Rest, Pocket Change. The Meter Runs on Inference.</a:t>
            </a:r>
            <a:endParaRPr lang="en-US" sz="3000" dirty="0"/>
          </a:p>
        </p:txBody>
      </p:sp>
      <p:sp>
        <p:nvSpPr>
          <p:cNvPr id="4" name="Shape 2"/>
          <p:cNvSpPr/>
          <p:nvPr/>
        </p:nvSpPr>
        <p:spPr>
          <a:xfrm>
            <a:off x="548640" y="1600200"/>
            <a:ext cx="5486400" cy="2286000"/>
          </a:xfrm>
          <a:prstGeom prst="roundRect">
            <a:avLst>
              <a:gd name="adj" fmla="val 2400"/>
            </a:avLst>
          </a:prstGeom>
          <a:solidFill>
            <a:srgbClr val="F2F3F3"/>
          </a:solidFill>
          <a:ln w="9525">
            <a:solidFill>
              <a:srgbClr val="D5DBDB"/>
            </a:solidFill>
            <a:prstDash val="solid"/>
          </a:ln>
        </p:spPr>
      </p:sp>
      <p:sp>
        <p:nvSpPr>
          <p:cNvPr id="5" name="Text 3"/>
          <p:cNvSpPr/>
          <p:nvPr/>
        </p:nvSpPr>
        <p:spPr>
          <a:xfrm>
            <a:off x="713232" y="170992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At rest: about $1–3 a month</a:t>
            </a:r>
            <a:endParaRPr lang="en-US" sz="1400" dirty="0"/>
          </a:p>
        </p:txBody>
      </p:sp>
      <p:sp>
        <p:nvSpPr>
          <p:cNvPr id="6" name="Text 4"/>
          <p:cNvSpPr/>
          <p:nvPr/>
        </p:nvSpPr>
        <p:spPr>
          <a:xfrm>
            <a:off x="713232" y="2057400"/>
            <a:ext cx="5157216" cy="171907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The control plane is serverless — no instances, no minimums. KMS key $1/mo. DynamoDB on-demand bills nothing idle (first 25 GB stored free). S3 evidence: pennies. Cognito: free to 10,000 monthly users. Lambda, the SSM kill-switch parameter, and the Guardrail cost $0 until invoked. Deployed and waiting, the platform costs less than a coffee.</a:t>
            </a:r>
            <a:endParaRPr lang="en-US" sz="1100" dirty="0"/>
          </a:p>
        </p:txBody>
      </p:sp>
      <p:sp>
        <p:nvSpPr>
          <p:cNvPr id="7" name="Shape 5"/>
          <p:cNvSpPr/>
          <p:nvPr/>
        </p:nvSpPr>
        <p:spPr>
          <a:xfrm>
            <a:off x="6172200" y="1600200"/>
            <a:ext cx="5486400" cy="2286000"/>
          </a:xfrm>
          <a:prstGeom prst="roundRect">
            <a:avLst>
              <a:gd name="adj" fmla="val 2400"/>
            </a:avLst>
          </a:prstGeom>
          <a:solidFill>
            <a:srgbClr val="F2F3F3"/>
          </a:solidFill>
          <a:ln w="9525">
            <a:solidFill>
              <a:srgbClr val="D5DBDB"/>
            </a:solidFill>
            <a:prstDash val="solid"/>
          </a:ln>
        </p:spPr>
      </p:sp>
      <p:sp>
        <p:nvSpPr>
          <p:cNvPr id="8" name="Text 6"/>
          <p:cNvSpPr/>
          <p:nvPr/>
        </p:nvSpPr>
        <p:spPr>
          <a:xfrm>
            <a:off x="6336792" y="170992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In use: ~$6–8 per 1,000 governed actions</a:t>
            </a:r>
            <a:endParaRPr lang="en-US" sz="1400" dirty="0"/>
          </a:p>
        </p:txBody>
      </p:sp>
      <p:sp>
        <p:nvSpPr>
          <p:cNvPr id="9" name="Text 7"/>
          <p:cNvSpPr/>
          <p:nvPr/>
        </p:nvSpPr>
        <p:spPr>
          <a:xfrm>
            <a:off x="6336792" y="2057400"/>
            <a:ext cx="5157216" cy="171907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Model inference dominates — roughly $4–5 of it at small-model prices (frontier models cost more; model choice is the biggest lever). Guardrail checks add ~$1–2 (content filters and denied topics: $0.15 per 1,000 text units). The governance plumbing itself — Lambda, audit writes, logs — is under $0.50. Inference is 70–85% of every dollar.</a:t>
            </a:r>
            <a:endParaRPr lang="en-US" sz="1100" dirty="0"/>
          </a:p>
        </p:txBody>
      </p:sp>
      <p:sp>
        <p:nvSpPr>
          <p:cNvPr id="10" name="Shape 8"/>
          <p:cNvSpPr/>
          <p:nvPr/>
        </p:nvSpPr>
        <p:spPr>
          <a:xfrm>
            <a:off x="548640" y="4069080"/>
            <a:ext cx="5486400" cy="1783080"/>
          </a:xfrm>
          <a:prstGeom prst="roundRect">
            <a:avLst>
              <a:gd name="adj" fmla="val 3077"/>
            </a:avLst>
          </a:prstGeom>
          <a:solidFill>
            <a:srgbClr val="F2F3F3"/>
          </a:solidFill>
          <a:ln w="9525">
            <a:solidFill>
              <a:srgbClr val="D5DBDB"/>
            </a:solidFill>
            <a:prstDash val="solid"/>
          </a:ln>
        </p:spPr>
      </p:sp>
      <p:sp>
        <p:nvSpPr>
          <p:cNvPr id="11" name="Text 9"/>
          <p:cNvSpPr/>
          <p:nvPr/>
        </p:nvSpPr>
        <p:spPr>
          <a:xfrm>
            <a:off x="713232" y="417880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Budgets make cost a policy</a:t>
            </a:r>
            <a:endParaRPr lang="en-US" sz="1400" dirty="0"/>
          </a:p>
        </p:txBody>
      </p:sp>
      <p:sp>
        <p:nvSpPr>
          <p:cNvPr id="12" name="Text 10"/>
          <p:cNvSpPr/>
          <p:nvPr/>
        </p:nvSpPr>
        <p:spPr>
          <a:xfrm>
            <a:off x="713232" y="4526280"/>
            <a:ext cx="5157216" cy="121615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Hard token caps per agent, alert thresholds, chargeback by department. A runaway agent is a denied call, not a surprise invoice — cost is governed the same way access is.</a:t>
            </a:r>
            <a:endParaRPr lang="en-US" sz="1100" dirty="0"/>
          </a:p>
        </p:txBody>
      </p:sp>
      <p:sp>
        <p:nvSpPr>
          <p:cNvPr id="13" name="Shape 11"/>
          <p:cNvSpPr/>
          <p:nvPr/>
        </p:nvSpPr>
        <p:spPr>
          <a:xfrm>
            <a:off x="6172200" y="4069080"/>
            <a:ext cx="5486400" cy="1783080"/>
          </a:xfrm>
          <a:prstGeom prst="roundRect">
            <a:avLst>
              <a:gd name="adj" fmla="val 3077"/>
            </a:avLst>
          </a:prstGeom>
          <a:solidFill>
            <a:srgbClr val="FDF3E7"/>
          </a:solidFill>
          <a:ln w="9525">
            <a:solidFill>
              <a:srgbClr val="C88A00"/>
            </a:solidFill>
            <a:prstDash val="solid"/>
          </a:ln>
        </p:spPr>
      </p:sp>
      <p:sp>
        <p:nvSpPr>
          <p:cNvPr id="14" name="Text 12"/>
          <p:cNvSpPr/>
          <p:nvPr/>
        </p:nvSpPr>
        <p:spPr>
          <a:xfrm>
            <a:off x="6336792" y="4178808"/>
            <a:ext cx="5157216" cy="329184"/>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Sources &amp; honesty</a:t>
            </a:r>
            <a:endParaRPr lang="en-US" sz="1400" dirty="0"/>
          </a:p>
        </p:txBody>
      </p:sp>
      <p:sp>
        <p:nvSpPr>
          <p:cNvPr id="15" name="Text 13"/>
          <p:cNvSpPr/>
          <p:nvPr/>
        </p:nvSpPr>
        <p:spPr>
          <a:xfrm>
            <a:off x="6336792" y="4526280"/>
            <a:ext cx="5157216" cy="121615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us-east-1 list prices verified Aug 2026 against AWS pricing pages and the Bedrock Guardrails pricing announcement. Your volumes vary — the run-cost calculator in the repo takes your numbers. The honest second cost is human approval time: a control working as designed.</a:t>
            </a:r>
            <a:endParaRPr lang="en-US" sz="1100" dirty="0"/>
          </a:p>
        </p:txBody>
      </p:sp>
      <p:sp>
        <p:nvSpPr>
          <p:cNvPr id="16" name="Text 14"/>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17" name="Text 15"/>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05 · PREREQUISITES</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The Other Half: Your Data Has to Be Reachable — Governedly</a:t>
            </a:r>
            <a:endParaRPr lang="en-US" sz="3000" dirty="0"/>
          </a:p>
        </p:txBody>
      </p:sp>
      <p:sp>
        <p:nvSpPr>
          <p:cNvPr id="4" name="Shape 2"/>
          <p:cNvSpPr/>
          <p:nvPr/>
        </p:nvSpPr>
        <p:spPr>
          <a:xfrm>
            <a:off x="548640" y="1600200"/>
            <a:ext cx="5486400" cy="1965960"/>
          </a:xfrm>
          <a:prstGeom prst="roundRect">
            <a:avLst>
              <a:gd name="adj" fmla="val 2791"/>
            </a:avLst>
          </a:prstGeom>
          <a:solidFill>
            <a:srgbClr val="F2F3F3"/>
          </a:solidFill>
          <a:ln w="9525">
            <a:solidFill>
              <a:srgbClr val="D5DBDB"/>
            </a:solidFill>
            <a:prstDash val="solid"/>
          </a:ln>
        </p:spPr>
      </p:sp>
      <p:sp>
        <p:nvSpPr>
          <p:cNvPr id="5" name="Text 3"/>
          <p:cNvSpPr/>
          <p:nvPr/>
        </p:nvSpPr>
        <p:spPr>
          <a:xfrm>
            <a:off x="713232" y="170992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Agents are only as good as their access</a:t>
            </a:r>
            <a:endParaRPr lang="en-US" sz="1400" dirty="0"/>
          </a:p>
        </p:txBody>
      </p:sp>
      <p:sp>
        <p:nvSpPr>
          <p:cNvPr id="6" name="Text 4"/>
          <p:cNvSpPr/>
          <p:nvPr/>
        </p:nvSpPr>
        <p:spPr>
          <a:xfrm>
            <a:off x="713232" y="2057400"/>
            <a:ext cx="5157216" cy="13990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An eligibility agent needs the eligibility system; an aid agent needs student records. Access goes through governed connectors (MCP tools declared in the manifest) — never direct database credentials in a prompt.</a:t>
            </a:r>
            <a:endParaRPr lang="en-US" sz="1100" dirty="0"/>
          </a:p>
        </p:txBody>
      </p:sp>
      <p:sp>
        <p:nvSpPr>
          <p:cNvPr id="7" name="Shape 5"/>
          <p:cNvSpPr/>
          <p:nvPr/>
        </p:nvSpPr>
        <p:spPr>
          <a:xfrm>
            <a:off x="6172200" y="1600200"/>
            <a:ext cx="5486400" cy="1965960"/>
          </a:xfrm>
          <a:prstGeom prst="roundRect">
            <a:avLst>
              <a:gd name="adj" fmla="val 2791"/>
            </a:avLst>
          </a:prstGeom>
          <a:solidFill>
            <a:srgbClr val="F2F3F3"/>
          </a:solidFill>
          <a:ln w="9525">
            <a:solidFill>
              <a:srgbClr val="D5DBDB"/>
            </a:solidFill>
            <a:prstDash val="solid"/>
          </a:ln>
        </p:spPr>
      </p:sp>
      <p:sp>
        <p:nvSpPr>
          <p:cNvPr id="8" name="Text 6"/>
          <p:cNvSpPr/>
          <p:nvPr/>
        </p:nvSpPr>
        <p:spPr>
          <a:xfrm>
            <a:off x="6336792" y="170992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Connector maturity is declared</a:t>
            </a:r>
            <a:endParaRPr lang="en-US" sz="1400" dirty="0"/>
          </a:p>
        </p:txBody>
      </p:sp>
      <p:sp>
        <p:nvSpPr>
          <p:cNvPr id="9" name="Text 7"/>
          <p:cNvSpPr/>
          <p:nvPr/>
        </p:nvSpPr>
        <p:spPr>
          <a:xfrm>
            <a:off x="6336792" y="2057400"/>
            <a:ext cx="5157216" cy="13990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Every integration carries a maturity tier (live / reference / stubbed) in the machine-readable maturity file — you always know which connections are real versus engagement work. System-of-record integration is honest scoped work, not hand-waving.</a:t>
            </a:r>
            <a:endParaRPr lang="en-US" sz="1100" dirty="0"/>
          </a:p>
        </p:txBody>
      </p:sp>
      <p:sp>
        <p:nvSpPr>
          <p:cNvPr id="10" name="Shape 8"/>
          <p:cNvSpPr/>
          <p:nvPr/>
        </p:nvSpPr>
        <p:spPr>
          <a:xfrm>
            <a:off x="548640" y="3749040"/>
            <a:ext cx="5486400" cy="1965960"/>
          </a:xfrm>
          <a:prstGeom prst="roundRect">
            <a:avLst>
              <a:gd name="adj" fmla="val 2791"/>
            </a:avLst>
          </a:prstGeom>
          <a:solidFill>
            <a:srgbClr val="F2F3F3"/>
          </a:solidFill>
          <a:ln w="9525">
            <a:solidFill>
              <a:srgbClr val="D5DBDB"/>
            </a:solidFill>
            <a:prstDash val="solid"/>
          </a:ln>
        </p:spPr>
      </p:sp>
      <p:sp>
        <p:nvSpPr>
          <p:cNvPr id="11" name="Text 9"/>
          <p:cNvSpPr/>
          <p:nvPr/>
        </p:nvSpPr>
        <p:spPr>
          <a:xfrm>
            <a:off x="713232" y="385876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Data classes drive the controls</a:t>
            </a:r>
            <a:endParaRPr lang="en-US" sz="1400" dirty="0"/>
          </a:p>
        </p:txBody>
      </p:sp>
      <p:sp>
        <p:nvSpPr>
          <p:cNvPr id="12" name="Text 10"/>
          <p:cNvSpPr/>
          <p:nvPr/>
        </p:nvSpPr>
        <p:spPr>
          <a:xfrm>
            <a:off x="713232" y="4206240"/>
            <a:ext cx="5157216" cy="13990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Each dataset is classified in the manifest (PII, FERPA, PHI, CJI...). Classification selects masking behavior, audit retention, and which Cedar policies apply — governance follows the data automatically.</a:t>
            </a:r>
            <a:endParaRPr lang="en-US" sz="1100" dirty="0"/>
          </a:p>
        </p:txBody>
      </p:sp>
      <p:sp>
        <p:nvSpPr>
          <p:cNvPr id="13" name="Shape 11"/>
          <p:cNvSpPr/>
          <p:nvPr/>
        </p:nvSpPr>
        <p:spPr>
          <a:xfrm>
            <a:off x="6172200" y="3749040"/>
            <a:ext cx="5486400" cy="1965960"/>
          </a:xfrm>
          <a:prstGeom prst="roundRect">
            <a:avLst>
              <a:gd name="adj" fmla="val 2791"/>
            </a:avLst>
          </a:prstGeom>
          <a:solidFill>
            <a:srgbClr val="F2F3F3"/>
          </a:solidFill>
          <a:ln w="9525">
            <a:solidFill>
              <a:srgbClr val="D5DBDB"/>
            </a:solidFill>
            <a:prstDash val="solid"/>
          </a:ln>
        </p:spPr>
      </p:sp>
      <p:sp>
        <p:nvSpPr>
          <p:cNvPr id="14" name="Text 12"/>
          <p:cNvSpPr/>
          <p:nvPr/>
        </p:nvSpPr>
        <p:spPr>
          <a:xfrm>
            <a:off x="6336792" y="3858768"/>
            <a:ext cx="5157216"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Start where the data is ready</a:t>
            </a:r>
            <a:endParaRPr lang="en-US" sz="1400" dirty="0"/>
          </a:p>
        </p:txBody>
      </p:sp>
      <p:sp>
        <p:nvSpPr>
          <p:cNvPr id="15" name="Text 13"/>
          <p:cNvSpPr/>
          <p:nvPr/>
        </p:nvSpPr>
        <p:spPr>
          <a:xfrm>
            <a:off x="6336792" y="4206240"/>
            <a:ext cx="5157216" cy="13990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Pick the first agent where the system of record has an API and an owner. The platform doesn't require a data-lake program first — it requires one reachable system and one accountable department.</a:t>
            </a:r>
            <a:endParaRPr lang="en-US" sz="1100" dirty="0"/>
          </a:p>
        </p:txBody>
      </p:sp>
      <p:sp>
        <p:nvSpPr>
          <p:cNvPr id="16" name="Text 14"/>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17" name="Text 15"/>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06 · ROLLOUT</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Platform First, Then Agents as Configuration</a:t>
            </a:r>
            <a:endParaRPr lang="en-US" sz="3000" dirty="0"/>
          </a:p>
        </p:txBody>
      </p:sp>
      <p:sp>
        <p:nvSpPr>
          <p:cNvPr id="4" name="Shape 2"/>
          <p:cNvSpPr/>
          <p:nvPr/>
        </p:nvSpPr>
        <p:spPr>
          <a:xfrm>
            <a:off x="548640" y="1645920"/>
            <a:ext cx="3593592" cy="777240"/>
          </a:xfrm>
          <a:prstGeom prst="roundRect">
            <a:avLst>
              <a:gd name="adj" fmla="val 5882"/>
            </a:avLst>
          </a:prstGeom>
          <a:solidFill>
            <a:srgbClr val="1B2A3A"/>
          </a:solidFill>
          <a:ln/>
        </p:spPr>
      </p:sp>
      <p:sp>
        <p:nvSpPr>
          <p:cNvPr id="5" name="Text 3"/>
          <p:cNvSpPr/>
          <p:nvPr/>
        </p:nvSpPr>
        <p:spPr>
          <a:xfrm>
            <a:off x="731520" y="1719072"/>
            <a:ext cx="32461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Phase 1 · Platform pilot</a:t>
            </a:r>
            <a:endParaRPr lang="en-US" sz="1400" dirty="0"/>
          </a:p>
        </p:txBody>
      </p:sp>
      <p:sp>
        <p:nvSpPr>
          <p:cNvPr id="6" name="Text 4"/>
          <p:cNvSpPr/>
          <p:nvPr/>
        </p:nvSpPr>
        <p:spPr>
          <a:xfrm>
            <a:off x="731520" y="2048256"/>
            <a:ext cx="3246120" cy="292608"/>
          </a:xfrm>
          <a:prstGeom prst="rect">
            <a:avLst/>
          </a:prstGeom>
          <a:noFill/>
          <a:ln/>
        </p:spPr>
        <p:txBody>
          <a:bodyPr wrap="square" lIns="0" tIns="0" rIns="0" bIns="0" rtlCol="0" anchor="ctr"/>
          <a:lstStyle/>
          <a:p>
            <a:pPr indent="0" marL="0">
              <a:buNone/>
            </a:pPr>
            <a:r>
              <a:rPr lang="en-US" sz="1050" dirty="0">
                <a:solidFill>
                  <a:srgbClr val="F3B23E"/>
                </a:solidFill>
                <a:latin typeface="Calibri" pitchFamily="34" charset="0"/>
                <a:ea typeface="Calibri" pitchFamily="34" charset="-122"/>
                <a:cs typeface="Calibri" pitchFamily="34" charset="-120"/>
              </a:rPr>
              <a:t>4–6 weeks</a:t>
            </a:r>
            <a:endParaRPr lang="en-US" sz="1050" dirty="0"/>
          </a:p>
        </p:txBody>
      </p:sp>
      <p:sp>
        <p:nvSpPr>
          <p:cNvPr id="7" name="Shape 5"/>
          <p:cNvSpPr/>
          <p:nvPr/>
        </p:nvSpPr>
        <p:spPr>
          <a:xfrm>
            <a:off x="548640" y="2560320"/>
            <a:ext cx="3593592" cy="2651760"/>
          </a:xfrm>
          <a:prstGeom prst="roundRect">
            <a:avLst>
              <a:gd name="adj" fmla="val 1724"/>
            </a:avLst>
          </a:prstGeom>
          <a:solidFill>
            <a:srgbClr val="F2F3F3"/>
          </a:solidFill>
          <a:ln w="9525">
            <a:solidFill>
              <a:srgbClr val="D5DBDB"/>
            </a:solidFill>
            <a:prstDash val="solid"/>
          </a:ln>
        </p:spPr>
      </p:sp>
      <p:sp>
        <p:nvSpPr>
          <p:cNvPr id="8" name="Text 6"/>
          <p:cNvSpPr/>
          <p:nvPr/>
        </p:nvSpPr>
        <p:spPr>
          <a:xfrm>
            <a:off x="731520" y="2697480"/>
            <a:ext cx="3246120" cy="2377440"/>
          </a:xfrm>
          <a:prstGeom prst="rect">
            <a:avLst/>
          </a:prstGeom>
          <a:noFill/>
          <a:ln/>
        </p:spPr>
        <p:txBody>
          <a:bodyPr wrap="square" lIns="0" tIns="0" rIns="0" bIns="0" rtlCol="0" anchor="t"/>
          <a:lstStyle/>
          <a:p>
            <a:pPr indent="0" marL="0">
              <a:lnSpc>
                <a:spcPct val="112000"/>
              </a:lnSpc>
              <a:buNone/>
            </a:pPr>
            <a:r>
              <a:rPr lang="en-US" sz="1150" dirty="0">
                <a:solidFill>
                  <a:srgbClr val="545B64"/>
                </a:solidFill>
                <a:latin typeface="Calibri" pitchFamily="34" charset="0"/>
                <a:ea typeface="Calibri" pitchFamily="34" charset="-122"/>
                <a:cs typeface="Calibri" pitchFamily="34" charset="-120"/>
              </a:rPr>
              <a:t>Deploy the control plane into your AWS account (IaC). Federate your IdP. Stand up dashboards, audit, budgets. Run the acceptance script + Kill Switch drill with your security team in the room.</a:t>
            </a:r>
            <a:endParaRPr lang="en-US" sz="1150" dirty="0"/>
          </a:p>
        </p:txBody>
      </p:sp>
      <p:sp>
        <p:nvSpPr>
          <p:cNvPr id="9" name="Shape 7"/>
          <p:cNvSpPr/>
          <p:nvPr/>
        </p:nvSpPr>
        <p:spPr>
          <a:xfrm>
            <a:off x="4306824" y="1645920"/>
            <a:ext cx="3593592" cy="777240"/>
          </a:xfrm>
          <a:prstGeom prst="roundRect">
            <a:avLst>
              <a:gd name="adj" fmla="val 5882"/>
            </a:avLst>
          </a:prstGeom>
          <a:solidFill>
            <a:srgbClr val="1B2A3A"/>
          </a:solidFill>
          <a:ln/>
        </p:spPr>
      </p:sp>
      <p:sp>
        <p:nvSpPr>
          <p:cNvPr id="10" name="Text 8"/>
          <p:cNvSpPr/>
          <p:nvPr/>
        </p:nvSpPr>
        <p:spPr>
          <a:xfrm>
            <a:off x="4489704" y="1719072"/>
            <a:ext cx="32461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Phase 2 · First agent</a:t>
            </a:r>
            <a:endParaRPr lang="en-US" sz="1400" dirty="0"/>
          </a:p>
        </p:txBody>
      </p:sp>
      <p:sp>
        <p:nvSpPr>
          <p:cNvPr id="11" name="Text 9"/>
          <p:cNvSpPr/>
          <p:nvPr/>
        </p:nvSpPr>
        <p:spPr>
          <a:xfrm>
            <a:off x="4489704" y="2048256"/>
            <a:ext cx="3246120" cy="292608"/>
          </a:xfrm>
          <a:prstGeom prst="rect">
            <a:avLst/>
          </a:prstGeom>
          <a:noFill/>
          <a:ln/>
        </p:spPr>
        <p:txBody>
          <a:bodyPr wrap="square" lIns="0" tIns="0" rIns="0" bIns="0" rtlCol="0" anchor="ctr"/>
          <a:lstStyle/>
          <a:p>
            <a:pPr indent="0" marL="0">
              <a:buNone/>
            </a:pPr>
            <a:r>
              <a:rPr lang="en-US" sz="1050" dirty="0">
                <a:solidFill>
                  <a:srgbClr val="F3B23E"/>
                </a:solidFill>
                <a:latin typeface="Calibri" pitchFamily="34" charset="0"/>
                <a:ea typeface="Calibri" pitchFamily="34" charset="-122"/>
                <a:cs typeface="Calibri" pitchFamily="34" charset="-120"/>
              </a:rPr>
              <a:t>4–6 weeks</a:t>
            </a:r>
            <a:endParaRPr lang="en-US" sz="1050" dirty="0"/>
          </a:p>
        </p:txBody>
      </p:sp>
      <p:sp>
        <p:nvSpPr>
          <p:cNvPr id="12" name="Shape 10"/>
          <p:cNvSpPr/>
          <p:nvPr/>
        </p:nvSpPr>
        <p:spPr>
          <a:xfrm>
            <a:off x="4306824" y="2560320"/>
            <a:ext cx="3593592" cy="2651760"/>
          </a:xfrm>
          <a:prstGeom prst="roundRect">
            <a:avLst>
              <a:gd name="adj" fmla="val 1724"/>
            </a:avLst>
          </a:prstGeom>
          <a:solidFill>
            <a:srgbClr val="F2F3F3"/>
          </a:solidFill>
          <a:ln w="9525">
            <a:solidFill>
              <a:srgbClr val="D5DBDB"/>
            </a:solidFill>
            <a:prstDash val="solid"/>
          </a:ln>
        </p:spPr>
      </p:sp>
      <p:sp>
        <p:nvSpPr>
          <p:cNvPr id="13" name="Text 11"/>
          <p:cNvSpPr/>
          <p:nvPr/>
        </p:nvSpPr>
        <p:spPr>
          <a:xfrm>
            <a:off x="4489704" y="2697480"/>
            <a:ext cx="3246120" cy="2377440"/>
          </a:xfrm>
          <a:prstGeom prst="rect">
            <a:avLst/>
          </a:prstGeom>
          <a:noFill/>
          <a:ln/>
        </p:spPr>
        <p:txBody>
          <a:bodyPr wrap="square" lIns="0" tIns="0" rIns="0" bIns="0" rtlCol="0" anchor="t"/>
          <a:lstStyle/>
          <a:p>
            <a:pPr indent="0" marL="0">
              <a:lnSpc>
                <a:spcPct val="112000"/>
              </a:lnSpc>
              <a:buNone/>
            </a:pPr>
            <a:r>
              <a:rPr lang="en-US" sz="1150" dirty="0">
                <a:solidFill>
                  <a:srgbClr val="545B64"/>
                </a:solidFill>
                <a:latin typeface="Calibri" pitchFamily="34" charset="0"/>
                <a:ea typeface="Calibri" pitchFamily="34" charset="-122"/>
                <a:cs typeface="Calibri" pitchFamily="34" charset="-120"/>
              </a:rPr>
              <a:t>Pick one department, one reachable system of record. Author the manifest + Cedar policies with the business owner. Clear the nine-gate bar. Parallel-run with human review, then go live — governed from minute one.</a:t>
            </a:r>
            <a:endParaRPr lang="en-US" sz="1150" dirty="0"/>
          </a:p>
        </p:txBody>
      </p:sp>
      <p:sp>
        <p:nvSpPr>
          <p:cNvPr id="14" name="Shape 12"/>
          <p:cNvSpPr/>
          <p:nvPr/>
        </p:nvSpPr>
        <p:spPr>
          <a:xfrm>
            <a:off x="8065008" y="1645920"/>
            <a:ext cx="3593592" cy="777240"/>
          </a:xfrm>
          <a:prstGeom prst="roundRect">
            <a:avLst>
              <a:gd name="adj" fmla="val 5882"/>
            </a:avLst>
          </a:prstGeom>
          <a:solidFill>
            <a:srgbClr val="1B2A3A"/>
          </a:solidFill>
          <a:ln/>
        </p:spPr>
      </p:sp>
      <p:sp>
        <p:nvSpPr>
          <p:cNvPr id="15" name="Text 13"/>
          <p:cNvSpPr/>
          <p:nvPr/>
        </p:nvSpPr>
        <p:spPr>
          <a:xfrm>
            <a:off x="8247888" y="1719072"/>
            <a:ext cx="32461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Phase 3 · Every next agent</a:t>
            </a:r>
            <a:endParaRPr lang="en-US" sz="1400" dirty="0"/>
          </a:p>
        </p:txBody>
      </p:sp>
      <p:sp>
        <p:nvSpPr>
          <p:cNvPr id="16" name="Text 14"/>
          <p:cNvSpPr/>
          <p:nvPr/>
        </p:nvSpPr>
        <p:spPr>
          <a:xfrm>
            <a:off x="8247888" y="2048256"/>
            <a:ext cx="3246120" cy="292608"/>
          </a:xfrm>
          <a:prstGeom prst="rect">
            <a:avLst/>
          </a:prstGeom>
          <a:noFill/>
          <a:ln/>
        </p:spPr>
        <p:txBody>
          <a:bodyPr wrap="square" lIns="0" tIns="0" rIns="0" bIns="0" rtlCol="0" anchor="ctr"/>
          <a:lstStyle/>
          <a:p>
            <a:pPr indent="0" marL="0">
              <a:buNone/>
            </a:pPr>
            <a:r>
              <a:rPr lang="en-US" sz="1050" dirty="0">
                <a:solidFill>
                  <a:srgbClr val="F3B23E"/>
                </a:solidFill>
                <a:latin typeface="Calibri" pitchFamily="34" charset="0"/>
                <a:ea typeface="Calibri" pitchFamily="34" charset="-122"/>
                <a:cs typeface="Calibri" pitchFamily="34" charset="-120"/>
              </a:rPr>
              <a:t>1–2 weeks each</a:t>
            </a:r>
            <a:endParaRPr lang="en-US" sz="1050" dirty="0"/>
          </a:p>
        </p:txBody>
      </p:sp>
      <p:sp>
        <p:nvSpPr>
          <p:cNvPr id="17" name="Shape 15"/>
          <p:cNvSpPr/>
          <p:nvPr/>
        </p:nvSpPr>
        <p:spPr>
          <a:xfrm>
            <a:off x="8065008" y="2560320"/>
            <a:ext cx="3593592" cy="2651760"/>
          </a:xfrm>
          <a:prstGeom prst="roundRect">
            <a:avLst>
              <a:gd name="adj" fmla="val 1724"/>
            </a:avLst>
          </a:prstGeom>
          <a:solidFill>
            <a:srgbClr val="F2F3F3"/>
          </a:solidFill>
          <a:ln w="9525">
            <a:solidFill>
              <a:srgbClr val="D5DBDB"/>
            </a:solidFill>
            <a:prstDash val="solid"/>
          </a:ln>
        </p:spPr>
      </p:sp>
      <p:sp>
        <p:nvSpPr>
          <p:cNvPr id="18" name="Text 16"/>
          <p:cNvSpPr/>
          <p:nvPr/>
        </p:nvSpPr>
        <p:spPr>
          <a:xfrm>
            <a:off x="8247888" y="2697480"/>
            <a:ext cx="3246120" cy="2377440"/>
          </a:xfrm>
          <a:prstGeom prst="rect">
            <a:avLst/>
          </a:prstGeom>
          <a:noFill/>
          <a:ln/>
        </p:spPr>
        <p:txBody>
          <a:bodyPr wrap="square" lIns="0" tIns="0" rIns="0" bIns="0" rtlCol="0" anchor="t"/>
          <a:lstStyle/>
          <a:p>
            <a:pPr indent="0" marL="0">
              <a:lnSpc>
                <a:spcPct val="112000"/>
              </a:lnSpc>
              <a:buNone/>
            </a:pPr>
            <a:r>
              <a:rPr lang="en-US" sz="1150" dirty="0">
                <a:solidFill>
                  <a:srgbClr val="545B64"/>
                </a:solidFill>
                <a:latin typeface="Calibri" pitchFamily="34" charset="0"/>
                <a:ea typeface="Calibri" pitchFamily="34" charset="-122"/>
                <a:cs typeface="Calibri" pitchFamily="34" charset="-120"/>
              </a:rPr>
              <a:t>Onboarding is a runbook: manifest, policies, evals, sign-off roles. Vendor add-ons clear the same bar (signed manifests). The platform team reviews declarations — not architectures.</a:t>
            </a:r>
            <a:endParaRPr lang="en-US" sz="1150" dirty="0"/>
          </a:p>
        </p:txBody>
      </p:sp>
      <p:sp>
        <p:nvSpPr>
          <p:cNvPr id="19" name="Text 17"/>
          <p:cNvSpPr/>
          <p:nvPr/>
        </p:nvSpPr>
        <p:spPr>
          <a:xfrm>
            <a:off x="548640" y="5440680"/>
            <a:ext cx="11064240" cy="411480"/>
          </a:xfrm>
          <a:prstGeom prst="rect">
            <a:avLst/>
          </a:prstGeom>
          <a:noFill/>
          <a:ln/>
        </p:spPr>
        <p:txBody>
          <a:bodyPr wrap="square" lIns="0" tIns="0" rIns="0" bIns="0" rtlCol="0" anchor="ctr"/>
          <a:lstStyle/>
          <a:p>
            <a:pPr algn="ctr" indent="0" marL="0">
              <a:buNone/>
            </a:pPr>
            <a:r>
              <a:rPr lang="en-US" sz="1400" b="1" i="1" dirty="0">
                <a:solidFill>
                  <a:srgbClr val="0B6E4F"/>
                </a:solidFill>
                <a:latin typeface="Calibri" pitchFamily="34" charset="0"/>
                <a:ea typeface="Calibri" pitchFamily="34" charset="-122"/>
                <a:cs typeface="Calibri" pitchFamily="34" charset="-120"/>
              </a:rPr>
              <a:t>The economics invert: the second agent costs a manifest. So does the tenth.</a:t>
            </a:r>
            <a:endParaRPr lang="en-US" sz="1400" dirty="0"/>
          </a:p>
        </p:txBody>
      </p:sp>
      <p:sp>
        <p:nvSpPr>
          <p:cNvPr id="20" name="Text 18"/>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21" name="Text 19"/>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07 · COMPLEXITY, HONESTLY</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It's Smaller Than It Looks</a:t>
            </a:r>
            <a:endParaRPr lang="en-US" sz="3000" dirty="0"/>
          </a:p>
        </p:txBody>
      </p:sp>
      <p:sp>
        <p:nvSpPr>
          <p:cNvPr id="4" name="Text 2"/>
          <p:cNvSpPr/>
          <p:nvPr/>
        </p:nvSpPr>
        <p:spPr>
          <a:xfrm>
            <a:off x="548640" y="1481328"/>
            <a:ext cx="11064240" cy="502920"/>
          </a:xfrm>
          <a:prstGeom prst="rect">
            <a:avLst/>
          </a:prstGeom>
          <a:noFill/>
          <a:ln/>
        </p:spPr>
        <p:txBody>
          <a:bodyPr wrap="square" lIns="0" tIns="0" rIns="0" bIns="0" rtlCol="0" anchor="ctr"/>
          <a:lstStyle/>
          <a:p>
            <a:pPr indent="0" marL="0">
              <a:lnSpc>
                <a:spcPct val="110000"/>
              </a:lnSpc>
              <a:buNone/>
            </a:pPr>
            <a:r>
              <a:rPr lang="en-US" sz="1350" dirty="0">
                <a:solidFill>
                  <a:srgbClr val="545B64"/>
                </a:solidFill>
                <a:latin typeface="Calibri" pitchFamily="34" charset="0"/>
                <a:ea typeface="Calibri" pitchFamily="34" charset="-122"/>
                <a:cs typeface="Calibri" pitchFamily="34" charset="-120"/>
              </a:rPr>
              <a:t>The service map is real — but it is not what you operate. Operationally this is three planes answering the three questions your CISO already asks, deployed as one stack.</a:t>
            </a:r>
            <a:endParaRPr lang="en-US" sz="1350" dirty="0"/>
          </a:p>
        </p:txBody>
      </p:sp>
      <p:sp>
        <p:nvSpPr>
          <p:cNvPr id="5" name="Shape 3"/>
          <p:cNvSpPr/>
          <p:nvPr/>
        </p:nvSpPr>
        <p:spPr>
          <a:xfrm>
            <a:off x="548640" y="2148840"/>
            <a:ext cx="3593592" cy="1965960"/>
          </a:xfrm>
          <a:prstGeom prst="roundRect">
            <a:avLst>
              <a:gd name="adj" fmla="val 2791"/>
            </a:avLst>
          </a:prstGeom>
          <a:solidFill>
            <a:srgbClr val="F2F3F3"/>
          </a:solidFill>
          <a:ln w="9525">
            <a:solidFill>
              <a:srgbClr val="D5DBDB"/>
            </a:solidFill>
            <a:prstDash val="solid"/>
          </a:ln>
        </p:spPr>
      </p:sp>
      <p:sp>
        <p:nvSpPr>
          <p:cNvPr id="6" name="Text 4"/>
          <p:cNvSpPr/>
          <p:nvPr/>
        </p:nvSpPr>
        <p:spPr>
          <a:xfrm>
            <a:off x="713232" y="2258568"/>
            <a:ext cx="3264408"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Identity — who is acting?</a:t>
            </a:r>
            <a:endParaRPr lang="en-US" sz="1400" dirty="0"/>
          </a:p>
        </p:txBody>
      </p:sp>
      <p:sp>
        <p:nvSpPr>
          <p:cNvPr id="7" name="Text 5"/>
          <p:cNvSpPr/>
          <p:nvPr/>
        </p:nvSpPr>
        <p:spPr>
          <a:xfrm>
            <a:off x="713232" y="2606040"/>
            <a:ext cx="3264408" cy="13990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Cognito federated to YOUR IdP, IAM, verified JWTs. Services your account already runs — zero new operational surface.</a:t>
            </a:r>
            <a:endParaRPr lang="en-US" sz="1100" dirty="0"/>
          </a:p>
        </p:txBody>
      </p:sp>
      <p:sp>
        <p:nvSpPr>
          <p:cNvPr id="8" name="Shape 6"/>
          <p:cNvSpPr/>
          <p:nvPr/>
        </p:nvSpPr>
        <p:spPr>
          <a:xfrm>
            <a:off x="4306824" y="2148840"/>
            <a:ext cx="3593592" cy="1965960"/>
          </a:xfrm>
          <a:prstGeom prst="roundRect">
            <a:avLst>
              <a:gd name="adj" fmla="val 2791"/>
            </a:avLst>
          </a:prstGeom>
          <a:solidFill>
            <a:srgbClr val="F2F3F3"/>
          </a:solidFill>
          <a:ln w="9525">
            <a:solidFill>
              <a:srgbClr val="D5DBDB"/>
            </a:solidFill>
            <a:prstDash val="solid"/>
          </a:ln>
        </p:spPr>
      </p:sp>
      <p:sp>
        <p:nvSpPr>
          <p:cNvPr id="9" name="Text 7"/>
          <p:cNvSpPr/>
          <p:nvPr/>
        </p:nvSpPr>
        <p:spPr>
          <a:xfrm>
            <a:off x="4471416" y="2258568"/>
            <a:ext cx="3264408"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Control — what may happen?</a:t>
            </a:r>
            <a:endParaRPr lang="en-US" sz="1400" dirty="0"/>
          </a:p>
        </p:txBody>
      </p:sp>
      <p:sp>
        <p:nvSpPr>
          <p:cNvPr id="10" name="Text 8"/>
          <p:cNvSpPr/>
          <p:nvPr/>
        </p:nvSpPr>
        <p:spPr>
          <a:xfrm>
            <a:off x="4471416" y="2606040"/>
            <a:ext cx="3264408" cy="13990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The deny-by-default gateway: Cedar policies, the Guardrail, token budgets, the Kill Switch. One choke point — this is the platform's actual job.</a:t>
            </a:r>
            <a:endParaRPr lang="en-US" sz="1100" dirty="0"/>
          </a:p>
        </p:txBody>
      </p:sp>
      <p:sp>
        <p:nvSpPr>
          <p:cNvPr id="11" name="Shape 9"/>
          <p:cNvSpPr/>
          <p:nvPr/>
        </p:nvSpPr>
        <p:spPr>
          <a:xfrm>
            <a:off x="8065008" y="2148840"/>
            <a:ext cx="3593592" cy="1965960"/>
          </a:xfrm>
          <a:prstGeom prst="roundRect">
            <a:avLst>
              <a:gd name="adj" fmla="val 2791"/>
            </a:avLst>
          </a:prstGeom>
          <a:solidFill>
            <a:srgbClr val="F2F3F3"/>
          </a:solidFill>
          <a:ln w="9525">
            <a:solidFill>
              <a:srgbClr val="D5DBDB"/>
            </a:solidFill>
            <a:prstDash val="solid"/>
          </a:ln>
        </p:spPr>
      </p:sp>
      <p:sp>
        <p:nvSpPr>
          <p:cNvPr id="12" name="Text 10"/>
          <p:cNvSpPr/>
          <p:nvPr/>
        </p:nvSpPr>
        <p:spPr>
          <a:xfrm>
            <a:off x="8229600" y="2258568"/>
            <a:ext cx="3264408" cy="32918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Evidence — can you prove it?</a:t>
            </a:r>
            <a:endParaRPr lang="en-US" sz="1400" dirty="0"/>
          </a:p>
        </p:txBody>
      </p:sp>
      <p:sp>
        <p:nvSpPr>
          <p:cNvPr id="13" name="Text 11"/>
          <p:cNvSpPr/>
          <p:nvPr/>
        </p:nvSpPr>
        <p:spPr>
          <a:xfrm>
            <a:off x="8229600" y="2606040"/>
            <a:ext cx="3264408" cy="1399032"/>
          </a:xfrm>
          <a:prstGeom prst="rect">
            <a:avLst/>
          </a:prstGeom>
          <a:noFill/>
          <a:ln/>
        </p:spPr>
        <p:txBody>
          <a:bodyPr wrap="square" lIns="0" tIns="0" rIns="0" bIns="0" rtlCol="0" anchor="t"/>
          <a:lstStyle/>
          <a:p>
            <a:pPr indent="0" marL="0">
              <a:lnSpc>
                <a:spcPct val="108000"/>
              </a:lnSpc>
              <a:buNone/>
            </a:pPr>
            <a:r>
              <a:rPr lang="en-US" sz="1100" dirty="0">
                <a:solidFill>
                  <a:srgbClr val="545B64"/>
                </a:solidFill>
                <a:latin typeface="Calibri" pitchFamily="34" charset="0"/>
                <a:ea typeface="Calibri" pitchFamily="34" charset="-122"/>
                <a:cs typeface="Calibri" pitchFamily="34" charset="-120"/>
              </a:rPr>
              <a:t>Append-only audit, WORM evidence bucket, CloudWatch. Write-once services that run themselves — you read them, you don't tend them.</a:t>
            </a:r>
            <a:endParaRPr lang="en-US" sz="1100" dirty="0"/>
          </a:p>
        </p:txBody>
      </p:sp>
      <p:sp>
        <p:nvSpPr>
          <p:cNvPr id="14" name="Shape 12"/>
          <p:cNvSpPr/>
          <p:nvPr/>
        </p:nvSpPr>
        <p:spPr>
          <a:xfrm>
            <a:off x="548640" y="4343400"/>
            <a:ext cx="2651760" cy="1143000"/>
          </a:xfrm>
          <a:prstGeom prst="roundRect">
            <a:avLst>
              <a:gd name="adj" fmla="val 4800"/>
            </a:avLst>
          </a:prstGeom>
          <a:solidFill>
            <a:srgbClr val="1B2A3A"/>
          </a:solidFill>
          <a:ln/>
        </p:spPr>
      </p:sp>
      <p:sp>
        <p:nvSpPr>
          <p:cNvPr id="15" name="Text 13"/>
          <p:cNvSpPr/>
          <p:nvPr/>
        </p:nvSpPr>
        <p:spPr>
          <a:xfrm>
            <a:off x="548640" y="4434840"/>
            <a:ext cx="2651760" cy="548640"/>
          </a:xfrm>
          <a:prstGeom prst="rect">
            <a:avLst/>
          </a:prstGeom>
          <a:noFill/>
          <a:ln/>
        </p:spPr>
        <p:txBody>
          <a:bodyPr wrap="square" lIns="0" tIns="0" rIns="0" bIns="0" rtlCol="0" anchor="ctr"/>
          <a:lstStyle/>
          <a:p>
            <a:pPr algn="ctr" indent="0" marL="0">
              <a:buNone/>
            </a:pPr>
            <a:r>
              <a:rPr lang="en-US" sz="2600" b="1" dirty="0">
                <a:solidFill>
                  <a:srgbClr val="F3B23E"/>
                </a:solidFill>
                <a:latin typeface="Calibri" pitchFamily="34" charset="0"/>
                <a:ea typeface="Calibri" pitchFamily="34" charset="-122"/>
                <a:cs typeface="Calibri" pitchFamily="34" charset="-120"/>
              </a:rPr>
              <a:t>9</a:t>
            </a:r>
            <a:endParaRPr lang="en-US" sz="2600" dirty="0"/>
          </a:p>
        </p:txBody>
      </p:sp>
      <p:sp>
        <p:nvSpPr>
          <p:cNvPr id="16" name="Text 14"/>
          <p:cNvSpPr/>
          <p:nvPr/>
        </p:nvSpPr>
        <p:spPr>
          <a:xfrm>
            <a:off x="640080" y="4983480"/>
            <a:ext cx="2468880" cy="41148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managed services in the core</a:t>
            </a:r>
            <a:endParaRPr lang="en-US" sz="1050" dirty="0"/>
          </a:p>
        </p:txBody>
      </p:sp>
      <p:sp>
        <p:nvSpPr>
          <p:cNvPr id="17" name="Shape 15"/>
          <p:cNvSpPr/>
          <p:nvPr/>
        </p:nvSpPr>
        <p:spPr>
          <a:xfrm>
            <a:off x="3360420" y="4343400"/>
            <a:ext cx="2651760" cy="1143000"/>
          </a:xfrm>
          <a:prstGeom prst="roundRect">
            <a:avLst>
              <a:gd name="adj" fmla="val 4800"/>
            </a:avLst>
          </a:prstGeom>
          <a:solidFill>
            <a:srgbClr val="1B2A3A"/>
          </a:solidFill>
          <a:ln/>
        </p:spPr>
      </p:sp>
      <p:sp>
        <p:nvSpPr>
          <p:cNvPr id="18" name="Text 16"/>
          <p:cNvSpPr/>
          <p:nvPr/>
        </p:nvSpPr>
        <p:spPr>
          <a:xfrm>
            <a:off x="3360420" y="4434840"/>
            <a:ext cx="2651760" cy="548640"/>
          </a:xfrm>
          <a:prstGeom prst="rect">
            <a:avLst/>
          </a:prstGeom>
          <a:noFill/>
          <a:ln/>
        </p:spPr>
        <p:txBody>
          <a:bodyPr wrap="square" lIns="0" tIns="0" rIns="0" bIns="0" rtlCol="0" anchor="ctr"/>
          <a:lstStyle/>
          <a:p>
            <a:pPr algn="ctr" indent="0" marL="0">
              <a:buNone/>
            </a:pPr>
            <a:r>
              <a:rPr lang="en-US" sz="2600" b="1" dirty="0">
                <a:solidFill>
                  <a:srgbClr val="F3B23E"/>
                </a:solidFill>
                <a:latin typeface="Calibri" pitchFamily="34" charset="0"/>
                <a:ea typeface="Calibri" pitchFamily="34" charset="-122"/>
                <a:cs typeface="Calibri" pitchFamily="34" charset="-120"/>
              </a:rPr>
              <a:t>~$1–3/mo</a:t>
            </a:r>
            <a:endParaRPr lang="en-US" sz="2600" dirty="0"/>
          </a:p>
        </p:txBody>
      </p:sp>
      <p:sp>
        <p:nvSpPr>
          <p:cNvPr id="19" name="Text 17"/>
          <p:cNvSpPr/>
          <p:nvPr/>
        </p:nvSpPr>
        <p:spPr>
          <a:xfrm>
            <a:off x="3451860" y="4983480"/>
            <a:ext cx="2468880" cy="41148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standing still</a:t>
            </a:r>
            <a:endParaRPr lang="en-US" sz="1050" dirty="0"/>
          </a:p>
        </p:txBody>
      </p:sp>
      <p:sp>
        <p:nvSpPr>
          <p:cNvPr id="20" name="Shape 18"/>
          <p:cNvSpPr/>
          <p:nvPr/>
        </p:nvSpPr>
        <p:spPr>
          <a:xfrm>
            <a:off x="6172200" y="4343400"/>
            <a:ext cx="2651760" cy="1143000"/>
          </a:xfrm>
          <a:prstGeom prst="roundRect">
            <a:avLst>
              <a:gd name="adj" fmla="val 4800"/>
            </a:avLst>
          </a:prstGeom>
          <a:solidFill>
            <a:srgbClr val="1B2A3A"/>
          </a:solidFill>
          <a:ln/>
        </p:spPr>
      </p:sp>
      <p:sp>
        <p:nvSpPr>
          <p:cNvPr id="21" name="Text 19"/>
          <p:cNvSpPr/>
          <p:nvPr/>
        </p:nvSpPr>
        <p:spPr>
          <a:xfrm>
            <a:off x="6172200" y="4434840"/>
            <a:ext cx="2651760" cy="548640"/>
          </a:xfrm>
          <a:prstGeom prst="rect">
            <a:avLst/>
          </a:prstGeom>
          <a:noFill/>
          <a:ln/>
        </p:spPr>
        <p:txBody>
          <a:bodyPr wrap="square" lIns="0" tIns="0" rIns="0" bIns="0" rtlCol="0" anchor="ctr"/>
          <a:lstStyle/>
          <a:p>
            <a:pPr algn="ctr" indent="0" marL="0">
              <a:buNone/>
            </a:pPr>
            <a:r>
              <a:rPr lang="en-US" sz="2600" b="1" dirty="0">
                <a:solidFill>
                  <a:srgbClr val="F3B23E"/>
                </a:solidFill>
                <a:latin typeface="Calibri" pitchFamily="34" charset="0"/>
                <a:ea typeface="Calibri" pitchFamily="34" charset="-122"/>
                <a:cs typeface="Calibri" pitchFamily="34" charset="-120"/>
              </a:rPr>
              <a:t>1</a:t>
            </a:r>
            <a:endParaRPr lang="en-US" sz="2600" dirty="0"/>
          </a:p>
        </p:txBody>
      </p:sp>
      <p:sp>
        <p:nvSpPr>
          <p:cNvPr id="22" name="Text 20"/>
          <p:cNvSpPr/>
          <p:nvPr/>
        </p:nvSpPr>
        <p:spPr>
          <a:xfrm>
            <a:off x="6263640" y="4983480"/>
            <a:ext cx="2468880" cy="41148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deploy (cdk deploy)</a:t>
            </a:r>
            <a:endParaRPr lang="en-US" sz="1050" dirty="0"/>
          </a:p>
        </p:txBody>
      </p:sp>
      <p:sp>
        <p:nvSpPr>
          <p:cNvPr id="23" name="Shape 21"/>
          <p:cNvSpPr/>
          <p:nvPr/>
        </p:nvSpPr>
        <p:spPr>
          <a:xfrm>
            <a:off x="8983980" y="4343400"/>
            <a:ext cx="2651760" cy="1143000"/>
          </a:xfrm>
          <a:prstGeom prst="roundRect">
            <a:avLst>
              <a:gd name="adj" fmla="val 4800"/>
            </a:avLst>
          </a:prstGeom>
          <a:solidFill>
            <a:srgbClr val="1B2A3A"/>
          </a:solidFill>
          <a:ln/>
        </p:spPr>
      </p:sp>
      <p:sp>
        <p:nvSpPr>
          <p:cNvPr id="24" name="Text 22"/>
          <p:cNvSpPr/>
          <p:nvPr/>
        </p:nvSpPr>
        <p:spPr>
          <a:xfrm>
            <a:off x="8983980" y="4434840"/>
            <a:ext cx="2651760" cy="548640"/>
          </a:xfrm>
          <a:prstGeom prst="rect">
            <a:avLst/>
          </a:prstGeom>
          <a:noFill/>
          <a:ln/>
        </p:spPr>
        <p:txBody>
          <a:bodyPr wrap="square" lIns="0" tIns="0" rIns="0" bIns="0" rtlCol="0" anchor="ctr"/>
          <a:lstStyle/>
          <a:p>
            <a:pPr algn="ctr" indent="0" marL="0">
              <a:buNone/>
            </a:pPr>
            <a:r>
              <a:rPr lang="en-US" sz="2600" b="1" dirty="0">
                <a:solidFill>
                  <a:srgbClr val="F3B23E"/>
                </a:solidFill>
                <a:latin typeface="Calibri" pitchFamily="34" charset="0"/>
                <a:ea typeface="Calibri" pitchFamily="34" charset="-122"/>
                <a:cs typeface="Calibri" pitchFamily="34" charset="-120"/>
              </a:rPr>
              <a:t>~10</a:t>
            </a:r>
            <a:endParaRPr lang="en-US" sz="2600" dirty="0"/>
          </a:p>
        </p:txBody>
      </p:sp>
      <p:sp>
        <p:nvSpPr>
          <p:cNvPr id="25" name="Text 23"/>
          <p:cNvSpPr/>
          <p:nvPr/>
        </p:nvSpPr>
        <p:spPr>
          <a:xfrm>
            <a:off x="9075420" y="4983480"/>
            <a:ext cx="2468880" cy="41148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decisions you actually make</a:t>
            </a:r>
            <a:endParaRPr lang="en-US" sz="1050" dirty="0"/>
          </a:p>
        </p:txBody>
      </p:sp>
      <p:sp>
        <p:nvSpPr>
          <p:cNvPr id="26" name="Text 24"/>
          <p:cNvSpPr/>
          <p:nvPr/>
        </p:nvSpPr>
        <p:spPr>
          <a:xfrm>
            <a:off x="548640" y="5715000"/>
            <a:ext cx="11064240" cy="411480"/>
          </a:xfrm>
          <a:prstGeom prst="rect">
            <a:avLst/>
          </a:prstGeom>
          <a:noFill/>
          <a:ln/>
        </p:spPr>
        <p:txBody>
          <a:bodyPr wrap="square" lIns="0" tIns="0" rIns="0" bIns="0" rtlCol="0" anchor="ctr"/>
          <a:lstStyle/>
          <a:p>
            <a:pPr algn="ctr" indent="0" marL="0">
              <a:buNone/>
            </a:pPr>
            <a:r>
              <a:rPr lang="en-US" sz="1400" b="1" i="1" dirty="0">
                <a:solidFill>
                  <a:srgbClr val="0B6E4F"/>
                </a:solidFill>
                <a:latin typeface="Calibri" pitchFamily="34" charset="0"/>
                <a:ea typeface="Calibri" pitchFamily="34" charset="-122"/>
                <a:cs typeface="Calibri" pitchFamily="34" charset="-120"/>
              </a:rPr>
              <a:t>You don't operate thirty services. You answer three questions — and the stack answers back with evidence.</a:t>
            </a:r>
            <a:endParaRPr lang="en-US" sz="1400" dirty="0"/>
          </a:p>
        </p:txBody>
      </p:sp>
      <p:sp>
        <p:nvSpPr>
          <p:cNvPr id="27" name="Text 25"/>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28" name="Text 26"/>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8229600" cy="292608"/>
          </a:xfrm>
          <a:prstGeom prst="rect">
            <a:avLst/>
          </a:prstGeom>
          <a:noFill/>
          <a:ln/>
        </p:spPr>
        <p:txBody>
          <a:bodyPr wrap="square" lIns="0" tIns="0" rIns="0" bIns="0" rtlCol="0" anchor="ctr"/>
          <a:lstStyle/>
          <a:p>
            <a:pPr indent="0" marL="0">
              <a:buNone/>
            </a:pPr>
            <a:r>
              <a:rPr lang="en-US" sz="1200" b="1" spc="200" kern="0" dirty="0">
                <a:solidFill>
                  <a:srgbClr val="0B6E4F"/>
                </a:solidFill>
                <a:latin typeface="Calibri" pitchFamily="34" charset="0"/>
                <a:ea typeface="Calibri" pitchFamily="34" charset="-122"/>
                <a:cs typeface="Calibri" pitchFamily="34" charset="-120"/>
              </a:rPr>
              <a:t>08 · STRAIGHT ANSWERS</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1B2A3A"/>
                </a:solidFill>
                <a:latin typeface="Calibri" pitchFamily="34" charset="0"/>
                <a:ea typeface="Calibri" pitchFamily="34" charset="-122"/>
                <a:cs typeface="Calibri" pitchFamily="34" charset="-120"/>
              </a:rPr>
              <a:t>The Questions You Should Ask Us</a:t>
            </a:r>
            <a:endParaRPr lang="en-US" sz="3000" dirty="0"/>
          </a:p>
        </p:txBody>
      </p:sp>
      <p:sp>
        <p:nvSpPr>
          <p:cNvPr id="4" name="Shape 2"/>
          <p:cNvSpPr/>
          <p:nvPr/>
        </p:nvSpPr>
        <p:spPr>
          <a:xfrm>
            <a:off x="548640" y="1600200"/>
            <a:ext cx="3291840" cy="1005840"/>
          </a:xfrm>
          <a:prstGeom prst="roundRect">
            <a:avLst>
              <a:gd name="adj" fmla="val 4545"/>
            </a:avLst>
          </a:prstGeom>
          <a:solidFill>
            <a:srgbClr val="1B2A3A"/>
          </a:solidFill>
          <a:ln/>
        </p:spPr>
      </p:sp>
      <p:sp>
        <p:nvSpPr>
          <p:cNvPr id="5" name="Text 3"/>
          <p:cNvSpPr/>
          <p:nvPr/>
        </p:nvSpPr>
        <p:spPr>
          <a:xfrm>
            <a:off x="713232" y="1600200"/>
            <a:ext cx="2971800" cy="1005840"/>
          </a:xfrm>
          <a:prstGeom prst="rect">
            <a:avLst/>
          </a:prstGeom>
          <a:noFill/>
          <a:ln/>
        </p:spPr>
        <p:txBody>
          <a:bodyPr wrap="square" lIns="0" tIns="0" rIns="0" bIns="0" rtlCol="0" anchor="ctr"/>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“Is this an official product?”</a:t>
            </a:r>
            <a:endParaRPr lang="en-US" sz="1200" dirty="0"/>
          </a:p>
        </p:txBody>
      </p:sp>
      <p:sp>
        <p:nvSpPr>
          <p:cNvPr id="6" name="Shape 4"/>
          <p:cNvSpPr/>
          <p:nvPr/>
        </p:nvSpPr>
        <p:spPr>
          <a:xfrm>
            <a:off x="3931920" y="1600200"/>
            <a:ext cx="7726680" cy="1005840"/>
          </a:xfrm>
          <a:prstGeom prst="roundRect">
            <a:avLst>
              <a:gd name="adj" fmla="val 4545"/>
            </a:avLst>
          </a:prstGeom>
          <a:solidFill>
            <a:srgbClr val="F2F3F3"/>
          </a:solidFill>
          <a:ln w="9525">
            <a:solidFill>
              <a:srgbClr val="D5DBDB"/>
            </a:solidFill>
            <a:prstDash val="solid"/>
          </a:ln>
        </p:spPr>
      </p:sp>
      <p:sp>
        <p:nvSpPr>
          <p:cNvPr id="7" name="Text 5"/>
          <p:cNvSpPr/>
          <p:nvPr/>
        </p:nvSpPr>
        <p:spPr>
          <a:xfrm>
            <a:off x="4096512" y="1655064"/>
            <a:ext cx="7406640" cy="914400"/>
          </a:xfrm>
          <a:prstGeom prst="rect">
            <a:avLst/>
          </a:prstGeom>
          <a:noFill/>
          <a:ln/>
        </p:spPr>
        <p:txBody>
          <a:bodyPr wrap="square" lIns="0" tIns="0" rIns="0" bIns="0" rtlCol="0" anchor="ctr"/>
          <a:lstStyle/>
          <a:p>
            <a:pPr indent="0" marL="0">
              <a:lnSpc>
                <a:spcPct val="105000"/>
              </a:lnSpc>
              <a:buNone/>
            </a:pPr>
            <a:r>
              <a:rPr lang="en-US" sz="1050" dirty="0">
                <a:solidFill>
                  <a:srgbClr val="545B64"/>
                </a:solidFill>
                <a:latin typeface="Calibri" pitchFamily="34" charset="0"/>
                <a:ea typeface="Calibri" pitchFamily="34" charset="-122"/>
                <a:cs typeface="Calibri" pitchFamily="34" charset="-120"/>
              </a:rPr>
              <a:t>No — and the repo says so in writing (NOT-CLAIMS). It's an open reference architecture built on AWS services: you fork it, review every line, and own what you run. No lock-in, no license fee, no black box.</a:t>
            </a:r>
            <a:endParaRPr lang="en-US" sz="1050" dirty="0"/>
          </a:p>
        </p:txBody>
      </p:sp>
      <p:sp>
        <p:nvSpPr>
          <p:cNvPr id="8" name="Shape 6"/>
          <p:cNvSpPr/>
          <p:nvPr/>
        </p:nvSpPr>
        <p:spPr>
          <a:xfrm>
            <a:off x="548640" y="2734056"/>
            <a:ext cx="3291840" cy="1005840"/>
          </a:xfrm>
          <a:prstGeom prst="roundRect">
            <a:avLst>
              <a:gd name="adj" fmla="val 4545"/>
            </a:avLst>
          </a:prstGeom>
          <a:solidFill>
            <a:srgbClr val="1B2A3A"/>
          </a:solidFill>
          <a:ln/>
        </p:spPr>
      </p:sp>
      <p:sp>
        <p:nvSpPr>
          <p:cNvPr id="9" name="Text 7"/>
          <p:cNvSpPr/>
          <p:nvPr/>
        </p:nvSpPr>
        <p:spPr>
          <a:xfrm>
            <a:off x="713232" y="2734056"/>
            <a:ext cx="2971800" cy="1005840"/>
          </a:xfrm>
          <a:prstGeom prst="rect">
            <a:avLst/>
          </a:prstGeom>
          <a:noFill/>
          <a:ln/>
        </p:spPr>
        <p:txBody>
          <a:bodyPr wrap="square" lIns="0" tIns="0" rIns="0" bIns="0" rtlCol="0" anchor="ctr"/>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“We already have IAM / a WAF / audit logs.”</a:t>
            </a:r>
            <a:endParaRPr lang="en-US" sz="1200" dirty="0"/>
          </a:p>
        </p:txBody>
      </p:sp>
      <p:sp>
        <p:nvSpPr>
          <p:cNvPr id="10" name="Shape 8"/>
          <p:cNvSpPr/>
          <p:nvPr/>
        </p:nvSpPr>
        <p:spPr>
          <a:xfrm>
            <a:off x="3931920" y="2734056"/>
            <a:ext cx="7726680" cy="1005840"/>
          </a:xfrm>
          <a:prstGeom prst="roundRect">
            <a:avLst>
              <a:gd name="adj" fmla="val 4545"/>
            </a:avLst>
          </a:prstGeom>
          <a:solidFill>
            <a:srgbClr val="F2F3F3"/>
          </a:solidFill>
          <a:ln w="9525">
            <a:solidFill>
              <a:srgbClr val="D5DBDB"/>
            </a:solidFill>
            <a:prstDash val="solid"/>
          </a:ln>
        </p:spPr>
      </p:sp>
      <p:sp>
        <p:nvSpPr>
          <p:cNvPr id="11" name="Text 9"/>
          <p:cNvSpPr/>
          <p:nvPr/>
        </p:nvSpPr>
        <p:spPr>
          <a:xfrm>
            <a:off x="4096512" y="2788920"/>
            <a:ext cx="7406640" cy="914400"/>
          </a:xfrm>
          <a:prstGeom prst="rect">
            <a:avLst/>
          </a:prstGeom>
          <a:noFill/>
          <a:ln/>
        </p:spPr>
        <p:txBody>
          <a:bodyPr wrap="square" lIns="0" tIns="0" rIns="0" bIns="0" rtlCol="0" anchor="ctr"/>
          <a:lstStyle/>
          <a:p>
            <a:pPr indent="0" marL="0">
              <a:lnSpc>
                <a:spcPct val="105000"/>
              </a:lnSpc>
              <a:buNone/>
            </a:pPr>
            <a:r>
              <a:rPr lang="en-US" sz="1050" dirty="0">
                <a:solidFill>
                  <a:srgbClr val="545B64"/>
                </a:solidFill>
                <a:latin typeface="Calibri" pitchFamily="34" charset="0"/>
                <a:ea typeface="Calibri" pitchFamily="34" charset="-122"/>
                <a:cs typeface="Calibri" pitchFamily="34" charset="-120"/>
              </a:rPr>
              <a:t>Keep them — the platform composes them. What you're missing is the agent-specific layer: agent∩human intersection, consequential-action gates, prompt-boundary masking, per-agent budgets, and one audit spine across departments.</a:t>
            </a:r>
            <a:endParaRPr lang="en-US" sz="1050" dirty="0"/>
          </a:p>
        </p:txBody>
      </p:sp>
      <p:sp>
        <p:nvSpPr>
          <p:cNvPr id="12" name="Shape 10"/>
          <p:cNvSpPr/>
          <p:nvPr/>
        </p:nvSpPr>
        <p:spPr>
          <a:xfrm>
            <a:off x="548640" y="3867912"/>
            <a:ext cx="3291840" cy="1005840"/>
          </a:xfrm>
          <a:prstGeom prst="roundRect">
            <a:avLst>
              <a:gd name="adj" fmla="val 4545"/>
            </a:avLst>
          </a:prstGeom>
          <a:solidFill>
            <a:srgbClr val="1B2A3A"/>
          </a:solidFill>
          <a:ln/>
        </p:spPr>
      </p:sp>
      <p:sp>
        <p:nvSpPr>
          <p:cNvPr id="13" name="Text 11"/>
          <p:cNvSpPr/>
          <p:nvPr/>
        </p:nvSpPr>
        <p:spPr>
          <a:xfrm>
            <a:off x="713232" y="3867912"/>
            <a:ext cx="2971800" cy="1005840"/>
          </a:xfrm>
          <a:prstGeom prst="rect">
            <a:avLst/>
          </a:prstGeom>
          <a:noFill/>
          <a:ln/>
        </p:spPr>
        <p:txBody>
          <a:bodyPr wrap="square" lIns="0" tIns="0" rIns="0" bIns="0" rtlCol="0" anchor="ctr"/>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“Can our existing agents fit?”</a:t>
            </a:r>
            <a:endParaRPr lang="en-US" sz="1200" dirty="0"/>
          </a:p>
        </p:txBody>
      </p:sp>
      <p:sp>
        <p:nvSpPr>
          <p:cNvPr id="14" name="Shape 12"/>
          <p:cNvSpPr/>
          <p:nvPr/>
        </p:nvSpPr>
        <p:spPr>
          <a:xfrm>
            <a:off x="3931920" y="3867912"/>
            <a:ext cx="7726680" cy="1005840"/>
          </a:xfrm>
          <a:prstGeom prst="roundRect">
            <a:avLst>
              <a:gd name="adj" fmla="val 4545"/>
            </a:avLst>
          </a:prstGeom>
          <a:solidFill>
            <a:srgbClr val="F2F3F3"/>
          </a:solidFill>
          <a:ln w="9525">
            <a:solidFill>
              <a:srgbClr val="D5DBDB"/>
            </a:solidFill>
            <a:prstDash val="solid"/>
          </a:ln>
        </p:spPr>
      </p:sp>
      <p:sp>
        <p:nvSpPr>
          <p:cNvPr id="15" name="Text 13"/>
          <p:cNvSpPr/>
          <p:nvPr/>
        </p:nvSpPr>
        <p:spPr>
          <a:xfrm>
            <a:off x="4096512" y="3922776"/>
            <a:ext cx="7406640" cy="914400"/>
          </a:xfrm>
          <a:prstGeom prst="rect">
            <a:avLst/>
          </a:prstGeom>
          <a:noFill/>
          <a:ln/>
        </p:spPr>
        <p:txBody>
          <a:bodyPr wrap="square" lIns="0" tIns="0" rIns="0" bIns="0" rtlCol="0" anchor="ctr"/>
          <a:lstStyle/>
          <a:p>
            <a:pPr indent="0" marL="0">
              <a:lnSpc>
                <a:spcPct val="105000"/>
              </a:lnSpc>
              <a:buNone/>
            </a:pPr>
            <a:r>
              <a:rPr lang="en-US" sz="1050" dirty="0">
                <a:solidFill>
                  <a:srgbClr val="545B64"/>
                </a:solidFill>
                <a:latin typeface="Calibri" pitchFamily="34" charset="0"/>
                <a:ea typeface="Calibri" pitchFamily="34" charset="-122"/>
                <a:cs typeface="Calibri" pitchFamily="34" charset="-120"/>
              </a:rPr>
              <a:t>If they can declare a manifest and clear the nine gates, yes. The bar is the retrofit checklist — most agents fail on scope declaration and the human gate first, and both are fixable.</a:t>
            </a:r>
            <a:endParaRPr lang="en-US" sz="1050" dirty="0"/>
          </a:p>
        </p:txBody>
      </p:sp>
      <p:sp>
        <p:nvSpPr>
          <p:cNvPr id="16" name="Shape 14"/>
          <p:cNvSpPr/>
          <p:nvPr/>
        </p:nvSpPr>
        <p:spPr>
          <a:xfrm>
            <a:off x="548640" y="5001768"/>
            <a:ext cx="3291840" cy="1005840"/>
          </a:xfrm>
          <a:prstGeom prst="roundRect">
            <a:avLst>
              <a:gd name="adj" fmla="val 4545"/>
            </a:avLst>
          </a:prstGeom>
          <a:solidFill>
            <a:srgbClr val="1B2A3A"/>
          </a:solidFill>
          <a:ln/>
        </p:spPr>
      </p:sp>
      <p:sp>
        <p:nvSpPr>
          <p:cNvPr id="17" name="Text 15"/>
          <p:cNvSpPr/>
          <p:nvPr/>
        </p:nvSpPr>
        <p:spPr>
          <a:xfrm>
            <a:off x="713232" y="5001768"/>
            <a:ext cx="2971800" cy="1005840"/>
          </a:xfrm>
          <a:prstGeom prst="rect">
            <a:avLst/>
          </a:prstGeom>
          <a:noFill/>
          <a:ln/>
        </p:spPr>
        <p:txBody>
          <a:bodyPr wrap="square" lIns="0" tIns="0" rIns="0" bIns="0" rtlCol="0" anchor="ctr"/>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“What about GovCloud / our BAA?”</a:t>
            </a:r>
            <a:endParaRPr lang="en-US" sz="1200" dirty="0"/>
          </a:p>
        </p:txBody>
      </p:sp>
      <p:sp>
        <p:nvSpPr>
          <p:cNvPr id="18" name="Shape 16"/>
          <p:cNvSpPr/>
          <p:nvPr/>
        </p:nvSpPr>
        <p:spPr>
          <a:xfrm>
            <a:off x="3931920" y="5001768"/>
            <a:ext cx="7726680" cy="1005840"/>
          </a:xfrm>
          <a:prstGeom prst="roundRect">
            <a:avLst>
              <a:gd name="adj" fmla="val 4545"/>
            </a:avLst>
          </a:prstGeom>
          <a:solidFill>
            <a:srgbClr val="F2F3F3"/>
          </a:solidFill>
          <a:ln w="9525">
            <a:solidFill>
              <a:srgbClr val="D5DBDB"/>
            </a:solidFill>
            <a:prstDash val="solid"/>
          </a:ln>
        </p:spPr>
      </p:sp>
      <p:sp>
        <p:nvSpPr>
          <p:cNvPr id="19" name="Text 17"/>
          <p:cNvSpPr/>
          <p:nvPr/>
        </p:nvSpPr>
        <p:spPr>
          <a:xfrm>
            <a:off x="4096512" y="5056632"/>
            <a:ext cx="7406640" cy="914400"/>
          </a:xfrm>
          <a:prstGeom prst="rect">
            <a:avLst/>
          </a:prstGeom>
          <a:noFill/>
          <a:ln/>
        </p:spPr>
        <p:txBody>
          <a:bodyPr wrap="square" lIns="0" tIns="0" rIns="0" bIns="0" rtlCol="0" anchor="ctr"/>
          <a:lstStyle/>
          <a:p>
            <a:pPr indent="0" marL="0">
              <a:lnSpc>
                <a:spcPct val="105000"/>
              </a:lnSpc>
              <a:buNone/>
            </a:pPr>
            <a:r>
              <a:rPr lang="en-US" sz="1050" dirty="0">
                <a:solidFill>
                  <a:srgbClr val="545B64"/>
                </a:solidFill>
                <a:latin typeface="Calibri" pitchFamily="34" charset="0"/>
                <a:ea typeface="Calibri" pitchFamily="34" charset="-122"/>
                <a:cs typeface="Calibri" pitchFamily="34" charset="-120"/>
              </a:rPr>
              <a:t>GovCloud IaC variant included; the service stack is HIPAA-eligible where required. Confirm your agreement scope per service during the pilot's week one.</a:t>
            </a:r>
            <a:endParaRPr lang="en-US" sz="1050" dirty="0"/>
          </a:p>
        </p:txBody>
      </p:sp>
      <p:sp>
        <p:nvSpPr>
          <p:cNvPr id="20" name="Text 18"/>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879196"/>
                </a:solidFill>
                <a:latin typeface="Calibri" pitchFamily="34" charset="0"/>
                <a:ea typeface="Calibri" pitchFamily="34" charset="-122"/>
                <a:cs typeface="Calibri" pitchFamily="34" charset="-120"/>
              </a:rPr>
              <a:t>Aegis — Governed AI Agents · Built on AWS · Reference architecture (see NOT-CLAIMS)</a:t>
            </a:r>
            <a:endParaRPr lang="en-US" sz="900" dirty="0"/>
          </a:p>
        </p:txBody>
      </p:sp>
      <p:sp>
        <p:nvSpPr>
          <p:cNvPr id="21" name="Text 19"/>
          <p:cNvSpPr/>
          <p:nvPr/>
        </p:nvSpPr>
        <p:spPr>
          <a:xfrm>
            <a:off x="10908792" y="6473952"/>
            <a:ext cx="731520" cy="274320"/>
          </a:xfrm>
          <a:prstGeom prst="rect">
            <a:avLst/>
          </a:prstGeom>
          <a:noFill/>
          <a:ln/>
        </p:spPr>
        <p:txBody>
          <a:bodyPr wrap="square" lIns="0" tIns="0" rIns="0" bIns="0" rtlCol="0" anchor="ctr"/>
          <a:lstStyle/>
          <a:p>
            <a:pPr algn="r" indent="0" marL="0">
              <a:buNone/>
            </a:pPr>
            <a:r>
              <a:rPr lang="en-US" sz="900" dirty="0">
                <a:solidFill>
                  <a:srgbClr val="879196"/>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3A"/>
        </a:solidFill>
      </p:bgPr>
    </p:bg>
    <p:spTree>
      <p:nvGrpSpPr>
        <p:cNvPr id="1" name=""/>
        <p:cNvGrpSpPr/>
        <p:nvPr/>
      </p:nvGrpSpPr>
      <p:grpSpPr>
        <a:xfrm>
          <a:off x="0" y="0"/>
          <a:ext cx="0" cy="0"/>
          <a:chOff x="0" y="0"/>
          <a:chExt cx="0" cy="0"/>
        </a:xfrm>
      </p:grpSpPr>
      <p:sp>
        <p:nvSpPr>
          <p:cNvPr id="2" name="Text 0"/>
          <p:cNvSpPr/>
          <p:nvPr/>
        </p:nvSpPr>
        <p:spPr>
          <a:xfrm>
            <a:off x="822960" y="731520"/>
            <a:ext cx="10515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The Ask: One Platform Pilot, One Real Agent</a:t>
            </a:r>
            <a:endParaRPr lang="en-US" sz="3200" dirty="0"/>
          </a:p>
        </p:txBody>
      </p:sp>
      <p:sp>
        <p:nvSpPr>
          <p:cNvPr id="3" name="Shape 1"/>
          <p:cNvSpPr/>
          <p:nvPr/>
        </p:nvSpPr>
        <p:spPr>
          <a:xfrm>
            <a:off x="822960" y="1746504"/>
            <a:ext cx="502920" cy="502920"/>
          </a:xfrm>
          <a:prstGeom prst="ellipse">
            <a:avLst/>
          </a:prstGeom>
          <a:solidFill>
            <a:srgbClr val="0B6E4F"/>
          </a:solidFill>
          <a:ln/>
        </p:spPr>
      </p:sp>
      <p:sp>
        <p:nvSpPr>
          <p:cNvPr id="4" name="Text 2"/>
          <p:cNvSpPr/>
          <p:nvPr/>
        </p:nvSpPr>
        <p:spPr>
          <a:xfrm>
            <a:off x="822960" y="1746504"/>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Text 3"/>
          <p:cNvSpPr/>
          <p:nvPr/>
        </p:nvSpPr>
        <p:spPr>
          <a:xfrm>
            <a:off x="1554480" y="1691640"/>
            <a:ext cx="9966960" cy="914400"/>
          </a:xfrm>
          <a:prstGeom prst="rect">
            <a:avLst/>
          </a:prstGeom>
          <a:noFill/>
          <a:ln/>
        </p:spPr>
        <p:txBody>
          <a:bodyPr wrap="square" lIns="0" tIns="0" rIns="0" bIns="0" rtlCol="0" anchor="t"/>
          <a:lstStyle/>
          <a:p>
            <a:pPr indent="0" marL="0">
              <a:lnSpc>
                <a:spcPct val="110000"/>
              </a:lnSpc>
              <a:buNone/>
            </a:pPr>
            <a:r>
              <a:rPr lang="en-US" sz="1350" b="1" dirty="0">
                <a:solidFill>
                  <a:srgbClr val="FFFFFF"/>
                </a:solidFill>
                <a:latin typeface="Calibri" pitchFamily="34" charset="0"/>
                <a:ea typeface="Calibri" pitchFamily="34" charset="-122"/>
                <a:cs typeface="Calibri" pitchFamily="34" charset="-120"/>
              </a:rPr>
              <a:t>Pick the department  —  </a:t>
            </a:r>
            <a:pPr indent="0" marL="0">
              <a:lnSpc>
                <a:spcPct val="110000"/>
              </a:lnSpc>
              <a:buNone/>
            </a:pPr>
            <a:r>
              <a:rPr lang="en-US" sz="1350" dirty="0">
                <a:solidFill>
                  <a:srgbClr val="AAB7B8"/>
                </a:solidFill>
                <a:latin typeface="Calibri" pitchFamily="34" charset="0"/>
                <a:ea typeface="Calibri" pitchFamily="34" charset="-122"/>
                <a:cs typeface="Calibri" pitchFamily="34" charset="-120"/>
              </a:rPr>
              <a:t>One accountable owner, one reachable system of record, one workflow with a human sign-off that already exists on paper.</a:t>
            </a:r>
            <a:endParaRPr lang="en-US" sz="1350" dirty="0"/>
          </a:p>
        </p:txBody>
      </p:sp>
      <p:sp>
        <p:nvSpPr>
          <p:cNvPr id="6" name="Shape 4"/>
          <p:cNvSpPr/>
          <p:nvPr/>
        </p:nvSpPr>
        <p:spPr>
          <a:xfrm>
            <a:off x="822960" y="2770632"/>
            <a:ext cx="502920" cy="502920"/>
          </a:xfrm>
          <a:prstGeom prst="ellipse">
            <a:avLst/>
          </a:prstGeom>
          <a:solidFill>
            <a:srgbClr val="0B6E4F"/>
          </a:solidFill>
          <a:ln/>
        </p:spPr>
      </p:sp>
      <p:sp>
        <p:nvSpPr>
          <p:cNvPr id="7" name="Text 5"/>
          <p:cNvSpPr/>
          <p:nvPr/>
        </p:nvSpPr>
        <p:spPr>
          <a:xfrm>
            <a:off x="822960" y="277063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8" name="Text 6"/>
          <p:cNvSpPr/>
          <p:nvPr/>
        </p:nvSpPr>
        <p:spPr>
          <a:xfrm>
            <a:off x="1554480" y="2715768"/>
            <a:ext cx="9966960" cy="914400"/>
          </a:xfrm>
          <a:prstGeom prst="rect">
            <a:avLst/>
          </a:prstGeom>
          <a:noFill/>
          <a:ln/>
        </p:spPr>
        <p:txBody>
          <a:bodyPr wrap="square" lIns="0" tIns="0" rIns="0" bIns="0" rtlCol="0" anchor="t"/>
          <a:lstStyle/>
          <a:p>
            <a:pPr indent="0" marL="0">
              <a:lnSpc>
                <a:spcPct val="110000"/>
              </a:lnSpc>
              <a:buNone/>
            </a:pPr>
            <a:r>
              <a:rPr lang="en-US" sz="1350" b="1" dirty="0">
                <a:solidFill>
                  <a:srgbClr val="FFFFFF"/>
                </a:solidFill>
                <a:latin typeface="Calibri" pitchFamily="34" charset="0"/>
                <a:ea typeface="Calibri" pitchFamily="34" charset="-122"/>
                <a:cs typeface="Calibri" pitchFamily="34" charset="-120"/>
              </a:rPr>
              <a:t>Deploy the control plane  —  </a:t>
            </a:r>
            <a:pPr indent="0" marL="0">
              <a:lnSpc>
                <a:spcPct val="110000"/>
              </a:lnSpc>
              <a:buNone/>
            </a:pPr>
            <a:r>
              <a:rPr lang="en-US" sz="1350" dirty="0">
                <a:solidFill>
                  <a:srgbClr val="AAB7B8"/>
                </a:solidFill>
                <a:latin typeface="Calibri" pitchFamily="34" charset="0"/>
                <a:ea typeface="Calibri" pitchFamily="34" charset="-122"/>
                <a:cs typeface="Calibri" pitchFamily="34" charset="-120"/>
              </a:rPr>
              <a:t>Into your AWS account, from IaC, in weeks — ending with your security team running the acceptance script and the Kill Switch drill.</a:t>
            </a:r>
            <a:endParaRPr lang="en-US" sz="1350" dirty="0"/>
          </a:p>
        </p:txBody>
      </p:sp>
      <p:sp>
        <p:nvSpPr>
          <p:cNvPr id="9" name="Shape 7"/>
          <p:cNvSpPr/>
          <p:nvPr/>
        </p:nvSpPr>
        <p:spPr>
          <a:xfrm>
            <a:off x="822960" y="3794760"/>
            <a:ext cx="502920" cy="502920"/>
          </a:xfrm>
          <a:prstGeom prst="ellipse">
            <a:avLst/>
          </a:prstGeom>
          <a:solidFill>
            <a:srgbClr val="0B6E4F"/>
          </a:solidFill>
          <a:ln/>
        </p:spPr>
      </p:sp>
      <p:sp>
        <p:nvSpPr>
          <p:cNvPr id="10" name="Text 8"/>
          <p:cNvSpPr/>
          <p:nvPr/>
        </p:nvSpPr>
        <p:spPr>
          <a:xfrm>
            <a:off x="822960" y="37947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1" name="Text 9"/>
          <p:cNvSpPr/>
          <p:nvPr/>
        </p:nvSpPr>
        <p:spPr>
          <a:xfrm>
            <a:off x="1554480" y="3739896"/>
            <a:ext cx="9966960" cy="914400"/>
          </a:xfrm>
          <a:prstGeom prst="rect">
            <a:avLst/>
          </a:prstGeom>
          <a:noFill/>
          <a:ln/>
        </p:spPr>
        <p:txBody>
          <a:bodyPr wrap="square" lIns="0" tIns="0" rIns="0" bIns="0" rtlCol="0" anchor="t"/>
          <a:lstStyle/>
          <a:p>
            <a:pPr indent="0" marL="0">
              <a:lnSpc>
                <a:spcPct val="110000"/>
              </a:lnSpc>
              <a:buNone/>
            </a:pPr>
            <a:r>
              <a:rPr lang="en-US" sz="1350" b="1" dirty="0">
                <a:solidFill>
                  <a:srgbClr val="FFFFFF"/>
                </a:solidFill>
                <a:latin typeface="Calibri" pitchFamily="34" charset="0"/>
                <a:ea typeface="Calibri" pitchFamily="34" charset="-122"/>
                <a:cs typeface="Calibri" pitchFamily="34" charset="-120"/>
              </a:rPr>
              <a:t>Onboard the first agent  —  </a:t>
            </a:r>
            <a:pPr indent="0" marL="0">
              <a:lnSpc>
                <a:spcPct val="110000"/>
              </a:lnSpc>
              <a:buNone/>
            </a:pPr>
            <a:r>
              <a:rPr lang="en-US" sz="1350" dirty="0">
                <a:solidFill>
                  <a:srgbClr val="AAB7B8"/>
                </a:solidFill>
                <a:latin typeface="Calibri" pitchFamily="34" charset="0"/>
                <a:ea typeface="Calibri" pitchFamily="34" charset="-122"/>
                <a:cs typeface="Calibri" pitchFamily="34" charset="-120"/>
              </a:rPr>
              <a:t>Manifest + Cedar policies authored with the business owner; nine gates cleared; parallel-run; go live governed.</a:t>
            </a:r>
            <a:endParaRPr lang="en-US" sz="1350" dirty="0"/>
          </a:p>
        </p:txBody>
      </p:sp>
      <p:sp>
        <p:nvSpPr>
          <p:cNvPr id="12" name="Shape 10"/>
          <p:cNvSpPr/>
          <p:nvPr/>
        </p:nvSpPr>
        <p:spPr>
          <a:xfrm>
            <a:off x="822960" y="4818888"/>
            <a:ext cx="502920" cy="502920"/>
          </a:xfrm>
          <a:prstGeom prst="ellipse">
            <a:avLst/>
          </a:prstGeom>
          <a:solidFill>
            <a:srgbClr val="0B6E4F"/>
          </a:solidFill>
          <a:ln/>
        </p:spPr>
      </p:sp>
      <p:sp>
        <p:nvSpPr>
          <p:cNvPr id="13" name="Text 11"/>
          <p:cNvSpPr/>
          <p:nvPr/>
        </p:nvSpPr>
        <p:spPr>
          <a:xfrm>
            <a:off x="822960" y="481888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2"/>
          <p:cNvSpPr/>
          <p:nvPr/>
        </p:nvSpPr>
        <p:spPr>
          <a:xfrm>
            <a:off x="1554480" y="4764024"/>
            <a:ext cx="9966960" cy="914400"/>
          </a:xfrm>
          <a:prstGeom prst="rect">
            <a:avLst/>
          </a:prstGeom>
          <a:noFill/>
          <a:ln/>
        </p:spPr>
        <p:txBody>
          <a:bodyPr wrap="square" lIns="0" tIns="0" rIns="0" bIns="0" rtlCol="0" anchor="t"/>
          <a:lstStyle/>
          <a:p>
            <a:pPr indent="0" marL="0">
              <a:lnSpc>
                <a:spcPct val="110000"/>
              </a:lnSpc>
              <a:buNone/>
            </a:pPr>
            <a:r>
              <a:rPr lang="en-US" sz="1350" b="1" dirty="0">
                <a:solidFill>
                  <a:srgbClr val="FFFFFF"/>
                </a:solidFill>
                <a:latin typeface="Calibri" pitchFamily="34" charset="0"/>
                <a:ea typeface="Calibri" pitchFamily="34" charset="-122"/>
                <a:cs typeface="Calibri" pitchFamily="34" charset="-120"/>
              </a:rPr>
              <a:t>Set the standard  —  </a:t>
            </a:r>
            <a:pPr indent="0" marL="0">
              <a:lnSpc>
                <a:spcPct val="110000"/>
              </a:lnSpc>
              <a:buNone/>
            </a:pPr>
            <a:r>
              <a:rPr lang="en-US" sz="1350" dirty="0">
                <a:solidFill>
                  <a:srgbClr val="AAB7B8"/>
                </a:solidFill>
                <a:latin typeface="Calibri" pitchFamily="34" charset="0"/>
                <a:ea typeface="Calibri" pitchFamily="34" charset="-122"/>
                <a:cs typeface="Calibri" pitchFamily="34" charset="-120"/>
              </a:rPr>
              <a:t>Adopt the nine-gate bar as your agency's agent onboarding standard — for everything any department or vendor builds next.</a:t>
            </a:r>
            <a:endParaRPr lang="en-US" sz="1350" dirty="0"/>
          </a:p>
        </p:txBody>
      </p:sp>
      <p:sp>
        <p:nvSpPr>
          <p:cNvPr id="15" name="Text 13"/>
          <p:cNvSpPr/>
          <p:nvPr/>
        </p:nvSpPr>
        <p:spPr>
          <a:xfrm>
            <a:off x="822960" y="5806440"/>
            <a:ext cx="10058400" cy="457200"/>
          </a:xfrm>
          <a:prstGeom prst="rect">
            <a:avLst/>
          </a:prstGeom>
          <a:noFill/>
          <a:ln/>
        </p:spPr>
        <p:txBody>
          <a:bodyPr wrap="square" lIns="0" tIns="0" rIns="0" bIns="0" rtlCol="0" anchor="ctr"/>
          <a:lstStyle/>
          <a:p>
            <a:pPr indent="0" marL="0">
              <a:buNone/>
            </a:pPr>
            <a:r>
              <a:rPr lang="en-US" sz="1800" b="1" i="1" dirty="0">
                <a:solidFill>
                  <a:srgbClr val="F3B23E"/>
                </a:solidFill>
                <a:latin typeface="Calibri" pitchFamily="34" charset="0"/>
                <a:ea typeface="Calibri" pitchFamily="34" charset="-122"/>
                <a:cs typeface="Calibri" pitchFamily="34" charset="-120"/>
              </a:rPr>
              <a:t>Govern once. Then let every department build.</a:t>
            </a:r>
            <a:endParaRPr lang="en-US" sz="1800" dirty="0"/>
          </a:p>
        </p:txBody>
      </p:sp>
      <p:sp>
        <p:nvSpPr>
          <p:cNvPr id="16" name="Text 14"/>
          <p:cNvSpPr/>
          <p:nvPr/>
        </p:nvSpPr>
        <p:spPr>
          <a:xfrm>
            <a:off x="822960" y="6355080"/>
            <a:ext cx="8229600" cy="320040"/>
          </a:xfrm>
          <a:prstGeom prst="rect">
            <a:avLst/>
          </a:prstGeom>
          <a:noFill/>
          <a:ln/>
        </p:spPr>
        <p:txBody>
          <a:bodyPr wrap="square" lIns="0" tIns="0" rIns="0" bIns="0" rtlCol="0" anchor="ctr"/>
          <a:lstStyle/>
          <a:p>
            <a:pPr indent="0" marL="0">
              <a:buNone/>
            </a:pPr>
            <a:r>
              <a:rPr lang="en-US" sz="1050" dirty="0">
                <a:solidFill>
                  <a:srgbClr val="7B8A8B"/>
                </a:solidFill>
                <a:latin typeface="Calibri" pitchFamily="34" charset="0"/>
                <a:ea typeface="Calibri" pitchFamily="34" charset="-122"/>
                <a:cs typeface="Calibri" pitchFamily="34" charset="-120"/>
              </a:rPr>
              <a:t>Aegis reference architecture · Built on AWS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2026-08-20T20:59:21Z</dcterms:created>
  <dcterms:modified xsi:type="dcterms:W3CDTF">2026-08-20T20:59:21Z</dcterms:modified>
</cp:coreProperties>
</file>