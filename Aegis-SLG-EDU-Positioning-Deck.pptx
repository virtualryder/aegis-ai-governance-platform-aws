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~30s. One-sentence setup: your departments are already building agents — this is the platform that makes every one of them auditable, observable, least-privileged, human-gated, and stoppable. Everything in this deck exists as reviewable code with tests, deployed and exercised in clean AWS accounts. The ask at the end is a pilot of the platform plus one agent. Transition: 'Let me start with what's happening in your buildings right now.'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~90s. Land each card as recognition, not accusation — every agency in the room has shadow agents. The four questions in the top-right card are the exact questions counsel and auditors ask; say them slowly. The amber card is the emotional center of the deck: ask the kill-switch question out loud and pause. Most rooms go quiet. Transition: 'Here's the inversion that fixes the economics.'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~90s. Walk the pipeline left to right in one breath — the point is that EVERY action crosses ALL of it. Then the two cards: the intersection rule is the sentence CISOs remember ('an agent never exceeds the authority of the human it acts for'); the kill switch answers slide 2's meeting-ender — one command, audited, and the person who engaged it cannot be the one who releases it. Transition: 'You already own most of the pieces.'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~2min. This slide converts skeptics: nothing exotic, no new vendor — services they already license and audit, assembled with a thin open platform layer that makes behavior fail-closed and testable. Read two rows fully (identity, containment) and let them scan the rest. Note the direction of travel: what began as platform code increasingly has managed equivalents (AgentCore Gateway, Cedar policy engine), so the custom layer keeps shrinking toward manifests, policies, and tests — the parts that encode THEIR governance. GovCloud variant exists in the IaC. Transition: 'And when a new agent shows up, here's the bar it clears.'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~90s. The governance question every vendor add-on raises — 'can we trust this thing?' — becomes mechanical: does it clear the bar? Emphasize gate 2 (consequential actions absent from the agent's own tool grants — 'can the AI act alone' is answerably NO in code) and gate 8 (signed manifests: you know who published every agent). Enforcement is layered: CI at build, gateway at runtime, delivery gate at handoff. Transition: 'This isn't a diagram — it runs. Here's the proof.'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~90s. Four working agents, three verticals, one template — the platform claim is demonstrated, not asserted. The right card is a differentiator with public-sector buyers: a written honesty boundary (NOT-CLAIMS), a machine-readable maturity file that CI enforces against overstatement, and runtime evidence from clean-account deployments. Offer the live demo: the clean-account acceptance script runs the entire control plane end-to-end in front of them — deny unauthorized tool, block self-approval, reject replay, prove immutable audit. Transition: 'What does this cost?'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~90s. Do NOT quote hard dollar figures — regions and volumes vary; the run-cost model and calculator exist precisely so their finance team fills in their own numbers. The postures to land: the platform itself is thin and serverless; the expensive thing is inference they'd buy anyway; budgets make cost a governed dimension like access; and human approval time is the honest second cost — a feature, tuned via review depth per verdict class. Transition: 'Here's how a pilot actually goes.'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~75s. This slide pre-empts the 'our data isn't ready' objection honestly: you don't need a two-year data program — you need ONE reachable system of record for the first agent, and the connector-maturity discipline keeps everyone honest about which integrations are live vs. engagement work. The data-classification point matters to CISOs: classify once in the manifest, and masking/retention/policy follow automatically. Transition: 'The rollout.'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~90s. Phase 1 ends with THEIR security team running the kill-switch drill — that's the moment this stops being a slide deck for them. Phase 2's discipline: the manifest and policies are authored WITH the business owner, so governance encodes their actual rules (who signs off, what's consequential). Phase 3 is the payoff line — say it exactly: 'the second agent costs a manifest; so does the tenth.' Transition: 'A word on how this was built, because it's part of the offer.'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~75s. This is the AI-DLC positioning slide. The story: this wasn't a big team over years — it was disciplined AI-paired development: roughly thirty iterations per agent, each cycle tested and re-reviewed from a different critical angle, with drift-checkers so claims can never exceed evidence. Two punchlines: (1) it demonstrates the productivity your departments want from AI — governed; (2) the same lifecycle IS the onboarding path their teams follow. Transition: 'So here's what we do next.'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~2min. Volunteer these before they're asked — the candor IS the differentiator. On 'official product': the honesty boundary makes procurement easier, not harder (no vendor claims to verify — just code to review). On 'we have IAM': agree enthusiastically, then name the agent-specific gaps one by one. On retrofits: position the nine-gate bar as their AGENT REVIEW STANDARD even for agents that never run on this platform — that reframe alone is worth the meeting. Transition: 'The ask.'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~60s then discussion. The ask is deliberately small: one pilot, one agent, weeks not quarters — because the platform exists and deploys from IaC. Step 4 is the strategic hook: even before broad rollout, adopting the nine-gate bar as their agency-wide agent standard changes their posture immediately, costs nothing, and makes this platform the natural home for everything that clears it. Close on the tagline and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17830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AB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State &amp; Local Government and Education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224028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Once.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Let Every Department Build.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143000" y="3977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governed-agent platform on AWS: full auditability, observability, least-privilege access,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gates, and a kill switch — before the next agent ships.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5989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reference architecture · Built on AWS · August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Department Is Building Agents. Nobody Can Govern Them.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1481328"/>
          </a:xfrm>
          <a:prstGeom prst="roundRect">
            <a:avLst>
              <a:gd name="adj" fmla="val 3704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70992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agents by department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3232" y="2057400"/>
            <a:ext cx="5157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screeners, aid chatbots, records triage — each works in a demo, each wired differently, none visible to central IT until something goes wrong.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86400" cy="1481328"/>
          </a:xfrm>
          <a:prstGeom prst="roundRect">
            <a:avLst>
              <a:gd name="adj" fmla="val 3704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36792" y="170992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questions that stop deployment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36792" y="2057400"/>
            <a:ext cx="5157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it act for? What can it reach? Who approved that action? Where's the tamper-proof record? Can PII / FERPA / PHI reach a model?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5486400" cy="1481328"/>
          </a:xfrm>
          <a:prstGeom prst="roundRect">
            <a:avLst>
              <a:gd name="adj" fmla="val 3704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31012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deployment is a one-off review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3232" y="3657600"/>
            <a:ext cx="5157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controls means every agent is a bespoke risk assessment. Reviews take months; departments route around them; risk compounds.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3200400"/>
            <a:ext cx="5486400" cy="1481328"/>
          </a:xfrm>
          <a:prstGeom prst="roundRect">
            <a:avLst>
              <a:gd name="adj" fmla="val 3704"/>
            </a:avLst>
          </a:prstGeom>
          <a:solidFill>
            <a:srgbClr val="FDF3E7"/>
          </a:solidFill>
          <a:ln w="9525">
            <a:solidFill>
              <a:srgbClr val="C88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6792" y="331012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meeting-ender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36792" y="3657600"/>
            <a:ext cx="5157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an agent misbehaves at 2am, can you stop everything — right now — and prove you did?” Today, for most agencies: no.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109960" cy="914400"/>
          </a:xfrm>
          <a:prstGeom prst="roundRect">
            <a:avLst>
              <a:gd name="adj" fmla="val 5000"/>
            </a:avLst>
          </a:prstGeom>
          <a:solidFill>
            <a:srgbClr val="1B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blocker to agentic AI in government is governance, not model quality.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not a better agent — it is a platform every agent must pass through.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— Governed AI Agents · Built on AWS · Reference architecture (see NOT-CLAIMS)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Control Plane. Every Agent Through It.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Deny-by-default: every agent action — model call, tool call, retrieval — flows through one authorization gateway enforcing a versioned governance contract. Build the platform once; every agent after that is a configuration that inherits governance, not a project that reinvents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481328" cy="960120"/>
          </a:xfrm>
          <a:prstGeom prst="roundRect">
            <a:avLst>
              <a:gd name="adj" fmla="val 5714"/>
            </a:avLst>
          </a:prstGeom>
          <a:solidFill>
            <a:srgbClr val="1B2A3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4320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02536" y="2743200"/>
            <a:ext cx="173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48840" y="2743200"/>
            <a:ext cx="1481328" cy="960120"/>
          </a:xfrm>
          <a:prstGeom prst="roundRect">
            <a:avLst>
              <a:gd name="adj" fmla="val 5714"/>
            </a:avLst>
          </a:prstGeom>
          <a:solidFill>
            <a:srgbClr val="0B6E4F"/>
          </a:solidFill>
          <a:ln/>
        </p:spPr>
      </p:sp>
      <p:sp>
        <p:nvSpPr>
          <p:cNvPr id="9" name="Text 7"/>
          <p:cNvSpPr/>
          <p:nvPr/>
        </p:nvSpPr>
        <p:spPr>
          <a:xfrm>
            <a:off x="2148840" y="274320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(agent ∩ human)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02736" y="2743200"/>
            <a:ext cx="173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49040" y="2743200"/>
            <a:ext cx="1481328" cy="960120"/>
          </a:xfrm>
          <a:prstGeom prst="roundRect">
            <a:avLst>
              <a:gd name="adj" fmla="val 5714"/>
            </a:avLst>
          </a:prstGeom>
          <a:solidFill>
            <a:srgbClr val="1B2A3A"/>
          </a:solidFill>
          <a:ln/>
        </p:spPr>
      </p:sp>
      <p:sp>
        <p:nvSpPr>
          <p:cNvPr id="12" name="Text 10"/>
          <p:cNvSpPr/>
          <p:nvPr/>
        </p:nvSpPr>
        <p:spPr>
          <a:xfrm>
            <a:off x="3749040" y="274320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 acts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202936" y="2743200"/>
            <a:ext cx="173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49240" y="2743200"/>
            <a:ext cx="1481328" cy="960120"/>
          </a:xfrm>
          <a:prstGeom prst="roundRect">
            <a:avLst>
              <a:gd name="adj" fmla="val 5714"/>
            </a:avLst>
          </a:prstGeom>
          <a:solidFill>
            <a:srgbClr val="0B6E4F"/>
          </a:solidFill>
          <a:ln/>
        </p:spPr>
      </p:sp>
      <p:sp>
        <p:nvSpPr>
          <p:cNvPr id="15" name="Text 13"/>
          <p:cNvSpPr/>
          <p:nvPr/>
        </p:nvSpPr>
        <p:spPr>
          <a:xfrm>
            <a:off x="5349240" y="274320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803136" y="2743200"/>
            <a:ext cx="173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49440" y="2743200"/>
            <a:ext cx="1481328" cy="960120"/>
          </a:xfrm>
          <a:prstGeom prst="roundRect">
            <a:avLst>
              <a:gd name="adj" fmla="val 5714"/>
            </a:avLst>
          </a:prstGeom>
          <a:solidFill>
            <a:srgbClr val="1B2A3A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274320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WORM audit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403336" y="2743200"/>
            <a:ext cx="173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549640" y="2743200"/>
            <a:ext cx="1481328" cy="960120"/>
          </a:xfrm>
          <a:prstGeom prst="roundRect">
            <a:avLst>
              <a:gd name="adj" fmla="val 5714"/>
            </a:avLst>
          </a:prstGeom>
          <a:solidFill>
            <a:srgbClr val="0B6E4F"/>
          </a:solidFill>
          <a:ln/>
        </p:spPr>
      </p:sp>
      <p:sp>
        <p:nvSpPr>
          <p:cNvPr id="21" name="Text 19"/>
          <p:cNvSpPr/>
          <p:nvPr/>
        </p:nvSpPr>
        <p:spPr>
          <a:xfrm>
            <a:off x="8549640" y="274320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003536" y="2743200"/>
            <a:ext cx="173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49840" y="2743200"/>
            <a:ext cx="1481328" cy="960120"/>
          </a:xfrm>
          <a:prstGeom prst="roundRect">
            <a:avLst>
              <a:gd name="adj" fmla="val 5714"/>
            </a:avLst>
          </a:prstGeom>
          <a:solidFill>
            <a:srgbClr val="1B2A3A"/>
          </a:solidFill>
          <a:ln/>
        </p:spPr>
      </p:sp>
      <p:sp>
        <p:nvSpPr>
          <p:cNvPr id="24" name="Text 22"/>
          <p:cNvSpPr/>
          <p:nvPr/>
        </p:nvSpPr>
        <p:spPr>
          <a:xfrm>
            <a:off x="10149840" y="274320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gateway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Aegis Governance Pattern (AGP v1.0) — 8 fail-closed controls, each proven by a negative test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434840"/>
            <a:ext cx="5440680" cy="1508760"/>
          </a:xfrm>
          <a:prstGeom prst="roundRect">
            <a:avLst>
              <a:gd name="adj" fmla="val 3636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544568"/>
            <a:ext cx="51114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never exceeds its human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3232" y="4892040"/>
            <a:ext cx="511149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permission = the agent's declared grant ∩ the acting person's entitlement. Consequential actions require a second human — bound, single-use, replay-rejected approvals.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4434840"/>
            <a:ext cx="5532120" cy="1508760"/>
          </a:xfrm>
          <a:prstGeom prst="roundRect">
            <a:avLst>
              <a:gd name="adj" fmla="val 3636"/>
            </a:avLst>
          </a:prstGeom>
          <a:solidFill>
            <a:srgbClr val="FDF3E7"/>
          </a:solidFill>
          <a:ln w="9525">
            <a:solidFill>
              <a:srgbClr val="C88A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91072" y="4544568"/>
            <a:ext cx="5202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the named Kill Switch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91072" y="4892040"/>
            <a:ext cx="520293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denies every agent action platform-wide — audited, reversible, with separation of duties on release. Drilled quarterly, not just documented.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— Governed AI Agents · Built on AWS · Reference architecture (see NOT-CLAIMS)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Own the Components — This Is the Assembly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965960" cy="475488"/>
          </a:xfrm>
          <a:prstGeom prst="roundRect">
            <a:avLst>
              <a:gd name="adj" fmla="val 7692"/>
            </a:avLst>
          </a:prstGeom>
          <a:solidFill>
            <a:srgbClr val="1B2A3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72768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606040" y="1572768"/>
            <a:ext cx="4892040" cy="475488"/>
          </a:xfrm>
          <a:prstGeom prst="roundRect">
            <a:avLst>
              <a:gd name="adj" fmla="val 7692"/>
            </a:avLst>
          </a:prstGeom>
          <a:solidFill>
            <a:srgbClr val="F2F3F3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572768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/ your IdP (Entra) · AgentCore Identity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589520" y="1572768"/>
            <a:ext cx="406908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26680" y="157276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attributable to a verified person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139696"/>
            <a:ext cx="1965960" cy="475488"/>
          </a:xfrm>
          <a:prstGeom prst="roundRect">
            <a:avLst>
              <a:gd name="adj" fmla="val 7692"/>
            </a:avLst>
          </a:prstGeom>
          <a:solidFill>
            <a:srgbClr val="1B2A3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139696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606040" y="2139696"/>
            <a:ext cx="4892040" cy="475488"/>
          </a:xfrm>
          <a:prstGeom prst="roundRect">
            <a:avLst>
              <a:gd name="adj" fmla="val 7692"/>
            </a:avLst>
          </a:prstGeom>
          <a:solidFill>
            <a:srgbClr val="F2F3F3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2139696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policies — AgentCore policy engine / Verified Permissions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589520" y="2139696"/>
            <a:ext cx="406908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26680" y="213969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Deny-by-default; agent ∩ human least privilege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706624"/>
            <a:ext cx="1965960" cy="475488"/>
          </a:xfrm>
          <a:prstGeom prst="roundRect">
            <a:avLst>
              <a:gd name="adj" fmla="val 7692"/>
            </a:avLst>
          </a:prstGeom>
          <a:solidFill>
            <a:srgbClr val="1B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70662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gateway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606040" y="2706624"/>
            <a:ext cx="4892040" cy="475488"/>
          </a:xfrm>
          <a:prstGeom prst="roundRect">
            <a:avLst>
              <a:gd name="adj" fmla="val 7692"/>
            </a:avLst>
          </a:prstGeom>
          <a:solidFill>
            <a:srgbClr val="F2F3F3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706624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AgentCore Gateway (MCP) · API Gateway · WAF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589520" y="2706624"/>
            <a:ext cx="406908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26680" y="2706624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Undeclared tool call → denied, and audited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273552"/>
            <a:ext cx="1965960" cy="475488"/>
          </a:xfrm>
          <a:prstGeom prst="roundRect">
            <a:avLst>
              <a:gd name="adj" fmla="val 7692"/>
            </a:avLst>
          </a:prstGeom>
          <a:solidFill>
            <a:srgbClr val="1B2A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273552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606040" y="3273552"/>
            <a:ext cx="4892040" cy="475488"/>
          </a:xfrm>
          <a:prstGeom prst="roundRect">
            <a:avLst>
              <a:gd name="adj" fmla="val 7692"/>
            </a:avLst>
          </a:prstGeom>
          <a:solidFill>
            <a:srgbClr val="F2F3F3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27355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(waitForTaskToken) · SNS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89520" y="3273552"/>
            <a:ext cx="406908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26680" y="3273552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Second-human approval; single-use; replay-rejected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3840480"/>
            <a:ext cx="1965960" cy="475488"/>
          </a:xfrm>
          <a:prstGeom prst="roundRect">
            <a:avLst>
              <a:gd name="adj" fmla="val 7692"/>
            </a:avLst>
          </a:prstGeom>
          <a:solidFill>
            <a:srgbClr val="1B2A3A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3840480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606040" y="3840480"/>
            <a:ext cx="4892040" cy="475488"/>
          </a:xfrm>
          <a:prstGeom prst="roundRect">
            <a:avLst>
              <a:gd name="adj" fmla="val 7692"/>
            </a:avLst>
          </a:prstGeom>
          <a:solidFill>
            <a:srgbClr val="F2F3F3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8404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 (PII + prompt-attack) · Comprehend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589520" y="3840480"/>
            <a:ext cx="406908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26680" y="384048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Fail-closed; raw records never ride the prompt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407408"/>
            <a:ext cx="1965960" cy="475488"/>
          </a:xfrm>
          <a:prstGeom prst="roundRect">
            <a:avLst>
              <a:gd name="adj" fmla="val 7692"/>
            </a:avLst>
          </a:prstGeom>
          <a:solidFill>
            <a:srgbClr val="1B2A3A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407408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606040" y="4407408"/>
            <a:ext cx="4892040" cy="475488"/>
          </a:xfrm>
          <a:prstGeom prst="roundRect">
            <a:avLst>
              <a:gd name="adj" fmla="val 7692"/>
            </a:avLst>
          </a:prstGeom>
          <a:solidFill>
            <a:srgbClr val="F2F3F3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4407408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· S3 Object Lock (WORM) · CloudTrail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589520" y="4407408"/>
            <a:ext cx="406908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26680" y="440740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Hash-chained, immutable; auditor answers = a query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48640" y="4974336"/>
            <a:ext cx="1965960" cy="475488"/>
          </a:xfrm>
          <a:prstGeom prst="roundRect">
            <a:avLst>
              <a:gd name="adj" fmla="val 7692"/>
            </a:avLst>
          </a:prstGeom>
          <a:solidFill>
            <a:srgbClr val="1B2A3A"/>
          </a:solidFill>
          <a:ln/>
        </p:spPr>
      </p:sp>
      <p:sp>
        <p:nvSpPr>
          <p:cNvPr id="41" name="Text 39"/>
          <p:cNvSpPr/>
          <p:nvPr/>
        </p:nvSpPr>
        <p:spPr>
          <a:xfrm>
            <a:off x="685800" y="4974336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control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2606040" y="4974336"/>
            <a:ext cx="4892040" cy="475488"/>
          </a:xfrm>
          <a:prstGeom prst="roundRect">
            <a:avLst>
              <a:gd name="adj" fmla="val 7692"/>
            </a:avLst>
          </a:prstGeom>
          <a:solidFill>
            <a:srgbClr val="F2F3F3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0" y="4974336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inference profiles · CloudWatch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89520" y="4974336"/>
            <a:ext cx="406908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26680" y="497433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token caps per agent + chargeback by department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5541264"/>
            <a:ext cx="1965960" cy="475488"/>
          </a:xfrm>
          <a:prstGeom prst="roundRect">
            <a:avLst>
              <a:gd name="adj" fmla="val 7692"/>
            </a:avLst>
          </a:prstGeom>
          <a:solidFill>
            <a:srgbClr val="1B2A3A"/>
          </a:solidFill>
          <a:ln/>
        </p:spPr>
      </p:sp>
      <p:sp>
        <p:nvSpPr>
          <p:cNvPr id="47" name="Text 45"/>
          <p:cNvSpPr/>
          <p:nvPr/>
        </p:nvSpPr>
        <p:spPr>
          <a:xfrm>
            <a:off x="685800" y="554126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Containment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606040" y="5541264"/>
            <a:ext cx="4892040" cy="475488"/>
          </a:xfrm>
          <a:prstGeom prst="roundRect">
            <a:avLst>
              <a:gd name="adj" fmla="val 7692"/>
            </a:avLst>
          </a:prstGeom>
          <a:solidFill>
            <a:srgbClr val="F2F3F3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0" y="5541264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SSM Parameter Store · IAM (two-role SoD) · KMS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589520" y="5541264"/>
            <a:ext cx="406908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5DBD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26680" y="5541264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Kill Switch — one command, platform-wide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48640" y="618134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generally available services; HIPAA-eligible stack where required; GovCloud infrastructure variant included.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— Governed AI Agents · Built on AWS · Reference architecture (see NOT-CLAIMS)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ANY AGENT, SAME RULES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Minimum Bar — Nine Gates, CI-Enforced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93592" cy="960120"/>
          </a:xfrm>
          <a:prstGeom prst="roundRect">
            <a:avLst>
              <a:gd name="adj" fmla="val 4762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920240"/>
            <a:ext cx="402336" cy="402336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645920"/>
            <a:ext cx="2816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 scope, nothing more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06824" y="1645920"/>
            <a:ext cx="3593592" cy="960120"/>
          </a:xfrm>
          <a:prstGeom prst="roundRect">
            <a:avLst>
              <a:gd name="adj" fmla="val 4762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34840" y="1920240"/>
            <a:ext cx="402336" cy="402336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10" name="Text 8"/>
          <p:cNvSpPr/>
          <p:nvPr/>
        </p:nvSpPr>
        <p:spPr>
          <a:xfrm>
            <a:off x="443484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46904" y="1645920"/>
            <a:ext cx="2816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 actions withheld in code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645920"/>
            <a:ext cx="3593592" cy="960120"/>
          </a:xfrm>
          <a:prstGeom prst="roundRect">
            <a:avLst>
              <a:gd name="adj" fmla="val 4762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93024" y="1920240"/>
            <a:ext cx="402336" cy="402336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14" name="Text 12"/>
          <p:cNvSpPr/>
          <p:nvPr/>
        </p:nvSpPr>
        <p:spPr>
          <a:xfrm>
            <a:off x="8193024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05088" y="1645920"/>
            <a:ext cx="2816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Bound, single-use SoD human gate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761488"/>
            <a:ext cx="3593592" cy="960120"/>
          </a:xfrm>
          <a:prstGeom prst="roundRect">
            <a:avLst>
              <a:gd name="adj" fmla="val 4762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035808"/>
            <a:ext cx="402336" cy="402336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2761488"/>
            <a:ext cx="2816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 grounding source + threshold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06824" y="2761488"/>
            <a:ext cx="3593592" cy="960120"/>
          </a:xfrm>
          <a:prstGeom prst="roundRect">
            <a:avLst>
              <a:gd name="adj" fmla="val 4762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34840" y="3035808"/>
            <a:ext cx="402336" cy="402336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22" name="Text 20"/>
          <p:cNvSpPr/>
          <p:nvPr/>
        </p:nvSpPr>
        <p:spPr>
          <a:xfrm>
            <a:off x="443484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46904" y="2761488"/>
            <a:ext cx="2816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budget with a hard cap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65008" y="2761488"/>
            <a:ext cx="3593592" cy="960120"/>
          </a:xfrm>
          <a:prstGeom prst="roundRect">
            <a:avLst>
              <a:gd name="adj" fmla="val 4762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93024" y="3035808"/>
            <a:ext cx="402336" cy="402336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26" name="Text 24"/>
          <p:cNvSpPr/>
          <p:nvPr/>
        </p:nvSpPr>
        <p:spPr>
          <a:xfrm>
            <a:off x="8193024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705088" y="2761488"/>
            <a:ext cx="2816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suite passing at declared rate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3877056"/>
            <a:ext cx="3593592" cy="960120"/>
          </a:xfrm>
          <a:prstGeom prst="roundRect">
            <a:avLst>
              <a:gd name="adj" fmla="val 4762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151376"/>
            <a:ext cx="402336" cy="402336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" y="4151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88720" y="3877056"/>
            <a:ext cx="2816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masking per data class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06824" y="3877056"/>
            <a:ext cx="3593592" cy="960120"/>
          </a:xfrm>
          <a:prstGeom prst="roundRect">
            <a:avLst>
              <a:gd name="adj" fmla="val 4762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34840" y="4151376"/>
            <a:ext cx="402336" cy="402336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34" name="Text 32"/>
          <p:cNvSpPr/>
          <p:nvPr/>
        </p:nvSpPr>
        <p:spPr>
          <a:xfrm>
            <a:off x="4434840" y="4151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946904" y="3877056"/>
            <a:ext cx="2816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signed by a known publisher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065008" y="3877056"/>
            <a:ext cx="3593592" cy="960120"/>
          </a:xfrm>
          <a:prstGeom prst="roundRect">
            <a:avLst>
              <a:gd name="adj" fmla="val 4762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93024" y="4151376"/>
            <a:ext cx="402336" cy="402336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38" name="Text 36"/>
          <p:cNvSpPr/>
          <p:nvPr/>
        </p:nvSpPr>
        <p:spPr>
          <a:xfrm>
            <a:off x="8193024" y="4151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05088" y="3877056"/>
            <a:ext cx="2816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pack compatibility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5120640"/>
            <a:ext cx="11109960" cy="868680"/>
          </a:xfrm>
          <a:prstGeom prst="roundRect">
            <a:avLst>
              <a:gd name="adj" fmla="val 5263"/>
            </a:avLst>
          </a:prstGeom>
          <a:solidFill>
            <a:srgbClr val="1B2A3A"/>
          </a:solidFill>
          <a:ln/>
        </p:spPr>
      </p:sp>
      <p:sp>
        <p:nvSpPr>
          <p:cNvPr id="41" name="Text 39"/>
          <p:cNvSpPr/>
          <p:nvPr/>
        </p:nvSpPr>
        <p:spPr>
          <a:xfrm>
            <a:off x="777240" y="5212080"/>
            <a:ext cx="10698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B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Gates, not guidelines: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rejects an agent that fails any gate; the gateway refuses to load it at runtime; a delivery gate blocks placeholder credentials, demo retention, and unsigned manifests from ever reaching production.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— Governed AI Agents · Built on AWS · Reference architecture (see NOT-CLAIMS)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PROOF, NOT PROMISES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Agents on the Identical Template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713232"/>
          </a:xfrm>
          <a:prstGeom prst="roundRect">
            <a:avLst>
              <a:gd name="adj" fmla="val 6410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 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SNAP/Medicaid/TANF screening, FPL-pinned rules, caseworker sign-off, fraud-referral policy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60920" y="1755648"/>
            <a:ext cx="914400" cy="402336"/>
          </a:xfrm>
          <a:prstGeom prst="roundRect">
            <a:avLst>
              <a:gd name="adj" fmla="val 18182"/>
            </a:avLst>
          </a:prstGeom>
          <a:solidFill>
            <a:srgbClr val="0B6E4F"/>
          </a:solidFill>
          <a:ln/>
        </p:spPr>
      </p:sp>
      <p:sp>
        <p:nvSpPr>
          <p:cNvPr id="7" name="Text 5"/>
          <p:cNvSpPr/>
          <p:nvPr/>
        </p:nvSpPr>
        <p:spPr>
          <a:xfrm>
            <a:off x="7360920" y="1755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441448"/>
            <a:ext cx="7863840" cy="713232"/>
          </a:xfrm>
          <a:prstGeom prst="roundRect">
            <a:avLst>
              <a:gd name="adj" fmla="val 6410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41448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 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FAFSA intake, cost-of-attendance grounding, award-year gate, aid-officer sign-off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60920" y="2596896"/>
            <a:ext cx="914400" cy="402336"/>
          </a:xfrm>
          <a:prstGeom prst="roundRect">
            <a:avLst>
              <a:gd name="adj" fmla="val 18182"/>
            </a:avLst>
          </a:prstGeom>
          <a:solidFill>
            <a:srgbClr val="0B6E4F"/>
          </a:solidFill>
          <a:ln/>
        </p:spPr>
      </p:sp>
      <p:sp>
        <p:nvSpPr>
          <p:cNvPr id="11" name="Text 9"/>
          <p:cNvSpPr/>
          <p:nvPr/>
        </p:nvSpPr>
        <p:spPr>
          <a:xfrm>
            <a:off x="7360920" y="25968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282696"/>
            <a:ext cx="7863840" cy="713232"/>
          </a:xfrm>
          <a:prstGeom prst="roundRect">
            <a:avLst>
              <a:gd name="adj" fmla="val 6410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82696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eligibility 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Eligibility screening with the same governed template and human gate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60920" y="3438144"/>
            <a:ext cx="914400" cy="402336"/>
          </a:xfrm>
          <a:prstGeom prst="roundRect">
            <a:avLst>
              <a:gd name="adj" fmla="val 18182"/>
            </a:avLst>
          </a:prstGeom>
          <a:solidFill>
            <a:srgbClr val="0B6E4F"/>
          </a:solidFill>
          <a:ln/>
        </p:spPr>
      </p:sp>
      <p:sp>
        <p:nvSpPr>
          <p:cNvPr id="15" name="Text 13"/>
          <p:cNvSpPr/>
          <p:nvPr/>
        </p:nvSpPr>
        <p:spPr>
          <a:xfrm>
            <a:off x="736092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123944"/>
            <a:ext cx="7863840" cy="713232"/>
          </a:xfrm>
          <a:prstGeom prst="roundRect">
            <a:avLst>
              <a:gd name="adj" fmla="val 6410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123944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 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ICH-compliant drug-safety intake; the regulated-industry stress test of the same pattern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60920" y="4279392"/>
            <a:ext cx="914400" cy="402336"/>
          </a:xfrm>
          <a:prstGeom prst="roundRect">
            <a:avLst>
              <a:gd name="adj" fmla="val 18182"/>
            </a:avLst>
          </a:prstGeom>
          <a:solidFill>
            <a:srgbClr val="0B6E4F"/>
          </a:solidFill>
          <a:ln/>
        </p:spPr>
      </p:sp>
      <p:sp>
        <p:nvSpPr>
          <p:cNvPr id="19" name="Text 17"/>
          <p:cNvSpPr/>
          <p:nvPr/>
        </p:nvSpPr>
        <p:spPr>
          <a:xfrm>
            <a:off x="7360920" y="427939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549640" y="1600200"/>
            <a:ext cx="3108960" cy="3108960"/>
          </a:xfrm>
          <a:prstGeom prst="roundRect">
            <a:avLst>
              <a:gd name="adj" fmla="val 1765"/>
            </a:avLst>
          </a:prstGeom>
          <a:solidFill>
            <a:srgbClr val="F0F7F4"/>
          </a:solidFill>
          <a:ln w="9525">
            <a:solidFill>
              <a:srgbClr val="0B6E4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14232" y="1709928"/>
            <a:ext cx="2779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system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714232" y="2057400"/>
            <a:ext cx="2779776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negative tests green in CI · machine-readable maturity file governs every claim · NOT-CLAIMS boundary in writing · live deploy/invoke/prove evidence retained from clean AWS accounts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= one manifest + Cedar policies + tools + tests. Same template, different domain — that is the platform working.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— Governed AI Agents · Built on AWS · Reference architecture (see NOT-CLAIMS)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Platform, Honest Numbers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2103120"/>
          </a:xfrm>
          <a:prstGeom prst="roundRect">
            <a:avLst>
              <a:gd name="adj" fmla="val 2609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70992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3232" y="2057400"/>
            <a:ext cx="5157216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control plane from infrastructure-as-code (Terraform; GovCloud variant included). Each new agent deploys as four small stacks rendered from its manifest — onboarding is authoring a manifest and policies, not building infrastructure.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86400" cy="2103120"/>
          </a:xfrm>
          <a:prstGeom prst="roundRect">
            <a:avLst>
              <a:gd name="adj" fmla="val 2609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36792" y="170992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lean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36792" y="2057400"/>
            <a:ext cx="5157216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floor is modest — endpoints, keys, dashboards: typically hundreds of dollars/month at pilot scale. Everything else is per-request. The dominant variable cost is model inference — which you'd pay with or without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5486400" cy="2103120"/>
          </a:xfrm>
          <a:prstGeom prst="roundRect">
            <a:avLst>
              <a:gd name="adj" fmla="val 2609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99592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you can see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3232" y="4343400"/>
            <a:ext cx="5157216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token budgets per agent, alert thresholds, and chargeback by department — runaway cost is a denied call, not a surprise invoice. Line-item run-cost model + fillable calculator ship with the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3886200"/>
            <a:ext cx="5486400" cy="2103120"/>
          </a:xfrm>
          <a:prstGeom prst="roundRect">
            <a:avLst>
              <a:gd name="adj" fmla="val 2609"/>
            </a:avLst>
          </a:prstGeom>
          <a:solidFill>
            <a:srgbClr val="FDF3E7"/>
          </a:solidFill>
          <a:ln w="9525">
            <a:solidFill>
              <a:srgbClr val="C88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6792" y="399592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honest notes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36792" y="4343400"/>
            <a:ext cx="5157216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lever is model choice and prompt size, not the governance layer. And the second-largest real cost is human approval time — that is a governance control working as designed, and it's the number the ROI worksheet helps you tune.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— Governed AI Agents · Built on AWS · Reference architecture (see NOT-CLAIMS)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PREREQUISITES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Half: Your Data Has to Be Reachable — Governedly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1965960"/>
          </a:xfrm>
          <a:prstGeom prst="roundRect">
            <a:avLst>
              <a:gd name="adj" fmla="val 2791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70992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only as good as their access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3232" y="2057400"/>
            <a:ext cx="515721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eligibility agent needs the eligibility system; an aid agent needs student records. Access goes through governed connectors (MCP tools declared in the manifest) — never direct database credentials in a prompt.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86400" cy="1965960"/>
          </a:xfrm>
          <a:prstGeom prst="roundRect">
            <a:avLst>
              <a:gd name="adj" fmla="val 2791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36792" y="170992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maturity is declared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36792" y="2057400"/>
            <a:ext cx="515721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carries a maturity tier (live / reference / stubbed) in the machine-readable maturity file — you always know which connections are real versus engagement work. System-of-record integration is honest scoped work, not hand-waving.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5486400" cy="1965960"/>
          </a:xfrm>
          <a:prstGeom prst="roundRect">
            <a:avLst>
              <a:gd name="adj" fmla="val 2791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85876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classes drive the controls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3232" y="4206240"/>
            <a:ext cx="515721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dataset is classified in the manifest (PII, FERPA, PHI, CJI...). Classification selects masking behavior, audit retention, and which Cedar policies apply — governance follows the data automatically.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3749040"/>
            <a:ext cx="5486400" cy="1965960"/>
          </a:xfrm>
          <a:prstGeom prst="roundRect">
            <a:avLst>
              <a:gd name="adj" fmla="val 2791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6792" y="385876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where the data is ready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36792" y="4206240"/>
            <a:ext cx="515721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first agent where the system of record has an API and an owner. The platform doesn't require a data-lake program first — it requires one reachable system and one accountable department.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— Governed AI Agents · Built on AWS · Reference architecture (see NOT-CLAIMS)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ROLLOUT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First, Then Agents as Configuration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93592" cy="777240"/>
          </a:xfrm>
          <a:prstGeom prst="roundRect">
            <a:avLst>
              <a:gd name="adj" fmla="val 5882"/>
            </a:avLst>
          </a:prstGeom>
          <a:solidFill>
            <a:srgbClr val="1B2A3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19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Platform pilot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4825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3B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560320"/>
            <a:ext cx="3593592" cy="2651760"/>
          </a:xfrm>
          <a:prstGeom prst="roundRect">
            <a:avLst>
              <a:gd name="adj" fmla="val 1724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69748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control plane into your AWS account (IaC). Federate your IdP. Stand up dashboards, audit, budgets. Run the acceptance script + Kill Switch drill with your security team in the room.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06824" y="1645920"/>
            <a:ext cx="3593592" cy="777240"/>
          </a:xfrm>
          <a:prstGeom prst="roundRect">
            <a:avLst>
              <a:gd name="adj" fmla="val 5882"/>
            </a:avLst>
          </a:prstGeom>
          <a:solidFill>
            <a:srgbClr val="1B2A3A"/>
          </a:solidFill>
          <a:ln/>
        </p:spPr>
      </p:sp>
      <p:sp>
        <p:nvSpPr>
          <p:cNvPr id="10" name="Text 8"/>
          <p:cNvSpPr/>
          <p:nvPr/>
        </p:nvSpPr>
        <p:spPr>
          <a:xfrm>
            <a:off x="4489704" y="1719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First agent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9704" y="204825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3B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06824" y="2560320"/>
            <a:ext cx="3593592" cy="2651760"/>
          </a:xfrm>
          <a:prstGeom prst="roundRect">
            <a:avLst>
              <a:gd name="adj" fmla="val 1724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9704" y="269748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department, one reachable system of record. Author the manifest + Cedar policies with the business owner. Clear the nine-gate bar. Parallel-run with human review, then go live — governed from minute one.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5008" y="1645920"/>
            <a:ext cx="3593592" cy="777240"/>
          </a:xfrm>
          <a:prstGeom prst="roundRect">
            <a:avLst>
              <a:gd name="adj" fmla="val 5882"/>
            </a:avLst>
          </a:prstGeom>
          <a:solidFill>
            <a:srgbClr val="1B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8247888" y="1719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Every next agent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47888" y="204825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3B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weeks each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65008" y="2560320"/>
            <a:ext cx="3593592" cy="2651760"/>
          </a:xfrm>
          <a:prstGeom prst="roundRect">
            <a:avLst>
              <a:gd name="adj" fmla="val 1724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47888" y="269748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is a runbook: manifest, policies, evals, sign-off roles. Vendor add-ons clear the same bar (signed manifests). The platform team reviews declarations — not architectures.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54406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economics invert: the second agent costs a manifest. So does the tenth.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— Governed AI Agents · Built on AWS · Reference architecture (see NOT-CLAIMS)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HOW IT WAS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Way We're Asking You to Build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platform and its agents were developed with an AI-driven development lifecycle (AI-DLC): requirements iterated conversationally with an AI pair, ~30 build-test-review cycles per agent, adversarial multi-angle reviews, and CI gates that refuse overstated claims. The same lifecycle is how your departments onboard their agents.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593592" cy="2377440"/>
          </a:xfrm>
          <a:prstGeom prst="roundRect">
            <a:avLst>
              <a:gd name="adj" fmla="val 2308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2852928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with AI, gate with CI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13232" y="3200400"/>
            <a:ext cx="326440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capability was drafted, attacked, and re-drafted in conversation — then locked behind a negative test. AI velocity, engineering discipline.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06824" y="2743200"/>
            <a:ext cx="3593592" cy="2377440"/>
          </a:xfrm>
          <a:prstGeom prst="roundRect">
            <a:avLst>
              <a:gd name="adj" fmla="val 2308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71416" y="2852928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from hostile angles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71416" y="3200400"/>
            <a:ext cx="326440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got independent review passes (security, compliance, domain) against a published bar — findings became commits, and the reviews ship in the repo.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65008" y="2743200"/>
            <a:ext cx="3593592" cy="2377440"/>
          </a:xfrm>
          <a:prstGeom prst="roundRect">
            <a:avLst>
              <a:gd name="adj" fmla="val 2308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852928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as infrastructure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3200400"/>
            <a:ext cx="326440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machine-readable maturity file is the single source of truth; a drift-checker fails CI when prose claims more than tests prove. Marketing cannot outrun the code.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to you: the same AI-DLC playbook — iterate, adversarially review, gate, prove — is the operating model your teams use on this platform.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— Governed AI Agents · Built on AWS · Reference architecture (see NOT-CLAIMS)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STRAIGHT ANSWERS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Questions You Should Ask 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1005840"/>
          </a:xfrm>
          <a:prstGeom prst="roundRect">
            <a:avLst>
              <a:gd name="adj" fmla="val 4545"/>
            </a:avLst>
          </a:prstGeom>
          <a:solidFill>
            <a:srgbClr val="1B2A3A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002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this an official product?”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931920" y="1600200"/>
            <a:ext cx="7726680" cy="1005840"/>
          </a:xfrm>
          <a:prstGeom prst="roundRect">
            <a:avLst>
              <a:gd name="adj" fmla="val 4545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96512" y="1655064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and the repo says so in writing (NOT-CLAIMS). It's an open reference architecture built on AWS services: you fork it, review every line, and own what you run. No lock-in, no license fee, no black box.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734056"/>
            <a:ext cx="3291840" cy="1005840"/>
          </a:xfrm>
          <a:prstGeom prst="roundRect">
            <a:avLst>
              <a:gd name="adj" fmla="val 4545"/>
            </a:avLst>
          </a:prstGeom>
          <a:solidFill>
            <a:srgbClr val="1B2A3A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2734056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already have IAM / a WAF / audit logs.”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931920" y="2734056"/>
            <a:ext cx="7726680" cy="1005840"/>
          </a:xfrm>
          <a:prstGeom prst="roundRect">
            <a:avLst>
              <a:gd name="adj" fmla="val 4545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96512" y="278892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them — the platform composes them. What you're missing is the agent-specific layer: agent∩human intersection, consequential-action gates, prompt-boundary masking, per-agent budgets, and one audit spine across departments.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867912"/>
            <a:ext cx="3291840" cy="1005840"/>
          </a:xfrm>
          <a:prstGeom prst="roundRect">
            <a:avLst>
              <a:gd name="adj" fmla="val 4545"/>
            </a:avLst>
          </a:prstGeom>
          <a:solidFill>
            <a:srgbClr val="1B2A3A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3867912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“Can our existing agents fit?”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931920" y="3867912"/>
            <a:ext cx="7726680" cy="1005840"/>
          </a:xfrm>
          <a:prstGeom prst="roundRect">
            <a:avLst>
              <a:gd name="adj" fmla="val 4545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96512" y="3922776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they can declare a manifest and clear the nine gates, yes. The bar is the retrofit checklist — most agents fail on scope declaration and the human gate first, and both are fixable.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5001768"/>
            <a:ext cx="3291840" cy="1005840"/>
          </a:xfrm>
          <a:prstGeom prst="roundRect">
            <a:avLst>
              <a:gd name="adj" fmla="val 4545"/>
            </a:avLst>
          </a:prstGeom>
          <a:solidFill>
            <a:srgbClr val="1B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5001768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about GovCloud / our BAA?”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31920" y="5001768"/>
            <a:ext cx="7726680" cy="1005840"/>
          </a:xfrm>
          <a:prstGeom prst="roundRect">
            <a:avLst>
              <a:gd name="adj" fmla="val 4545"/>
            </a:avLst>
          </a:prstGeom>
          <a:solidFill>
            <a:srgbClr val="F2F3F3"/>
          </a:solidFill>
          <a:ln w="9525">
            <a:solidFill>
              <a:srgbClr val="D5DB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96512" y="5056632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45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GovCloud IaC variant included; the service stack is HIPAA-eligible where required. Confirm your agreement scope per service during the pilot's week one.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— Governed AI Agents · Built on AWS · Reference architecture (see NOT-CLAIMS)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One Platform Pilot, One Real Agent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746504"/>
            <a:ext cx="502920" cy="502920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465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69164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department  —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AAB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accountable owner, one reachable system of record, one workflow with a human sign-off that already exists on paper.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2960" y="2770632"/>
            <a:ext cx="502920" cy="502920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770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715768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control plane  —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AAB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your AWS account, from IaC, in weeks — ending with your security team running the acceptance script and the Kill Switch drill.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3794760"/>
            <a:ext cx="502920" cy="502920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739896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the first agent  —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AAB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+ Cedar policies authored with the business owner; nine gates cleared; parallel-run; go live governed.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4818888"/>
            <a:ext cx="502920" cy="502920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818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764024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standard  —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AAB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the nine-gate bar as your agency's agent onboarding standard — for everything any department or vendor builds next.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2960" y="5806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3B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once. Then let every department build.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reference architecture · Built on AWS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2026-08-20T20:22:57Z</dcterms:created>
  <dcterms:modified xsi:type="dcterms:W3CDTF">2026-08-20T20:22:57Z</dcterms:modified>
</cp:coreProperties>
</file>