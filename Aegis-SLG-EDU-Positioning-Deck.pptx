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~45s. OPEN: 'Every department you have is building AI agents right now — with you or without you. This deck is about the platform that makes every one of them auditable, observable, least-privileged, human-gated, and stoppable.' WALK: nothing to walk — let the tagline breathe. Make one promise early: everything shown today exists as reviewable code with passing tests, exercised in clean AWS accounts; nothing here is a concept slide. The ask at the end is deliberately small — a pilot of the platform plus one agent. LAND (say verbatim): 'Govern once. Then let every department build.' IF ASKED 'is this an AWS product?': no — an open reference architecture built on AWS services you already license; the repo's NOT-CLAIMS page says so in writing, which makes procurement simpler, not harder (code to review, not vendor claims to verify). TRANSITION: 'Let me start with what's happening in your buildings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~2min. OPEN with recognition, not accusation: 'You already have these. Every agency does.' WALK the cards clockwise. Shadow agents: each one works in a demo, each is wired differently, none is visible to central IT until something goes wrong — name their own examples if you know them (benefits screener, records triage). Four questions: read them SLOWLY, one per breath — who did it act for, what can it reach, who approved that, where's the tamper-proof record — these are counsel's questions verbatim, not IT's. One-off reviews: no shared controls means every agent is a bespoke risk assessment; reviews take months, departments route around them, and the risk compounds quietly. Then the amber card. LAND: ask the 2am question out loud — 'if an agent misbehaves at 2am, can you stop everything, right now, and prove you did?' — then count three silent beats. Do not fill the silence; the room will. IF ASKED 'we have an AI policy': a policy tells people what they should do; a platform makes the wrong thing impossible — ask them how the policy is enforced at 2am on a Saturday. TRANSITION: 'Here's the inversion that fixes the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~2min. OPEN: 'One control plane. Every agent through it. Deny by default.' WALK: sweep the seven-stage pipeline left to right in a single breath first — the visual point is that EVERY action, every model call, tool call, and retrieval, crosses ALL of it — then slow down and touch three stages by name: least-privilege intersection, the human gate, the append-only audit. Then the two cards. Intersection rule — say it verbatim, it's the sentence CISOs repeat in their own meetings later: 'An agent never exceeds the authority of the human it acts for.' Kill switch — this answers slide 2's meeting-ender: one command denies everything platform-wide, it's audited, and the person who engaged it cannot be the person who releases it; it's drilled quarterly, not just documented. LAND: 'Build the platform once — every agent after that is configuration that inherits governance, not a project that reinvents it.' IF ASKED 'what is AGP v1.0?': a versioned governance contract — eight fail-closed controls, each proven by a negative test. Your reviewers approve the pattern once; after that they check conformance, not architecture. That's what collapses review time. TRANSITION: 'And here's the part that surprises people: you already own most of the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~2.5min. OPEN: 'Nothing on this slide is exotic. There is no new vendor here.' WALK: read exactly two rows end-to-end and let them scan the rest. Row one, Identity: Cognito federates to the IdP they already run (Entra), so every agent action is attributable to a verified person — start here because it's the row they already trust. Row eight, Containment: SSM parameter + two-role IAM separation + KMS = the kill switch from slide 3, now shown as the boring services it's made of. Point at the third column as you go: each row is bought for an OUTCOME, not for the service's own sake. Then the direction of travel: what began as platform code increasingly has managed equivalents — AgentCore Gateway for the tool boundary, the Cedar policy engine for authorization — so the custom layer keeps shrinking toward manifests, policies, and tests: the parts that encode THEIR rules, which is the only part that should ever be custom. GovCloud variant ships in the IaC. LAND: 'You already license and audit every service on this slide. What's new is the assembly — and the discipline.' IF ASKED 'is AgentCore required?': no — the reference implementation runs on plain Lambda and Step Functions; AgentCore primitives are the managed path where available, HIPAA-eligible per AWS's compliance documentation. TRANSITION: 'And when a new agent shows up — yours or a vendor's — here's the bar it clears.'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~2min. OPEN: 'Every new agent raises the same question — can we trust this thing? The bar makes that question mechanical: does it clear nine gates?' WALK: don't read all nine — spotlight three. Gate 2, consequential actions withheld in code: the issue/adjudicate/release actions are ABSENT from the agent's own tool grants and reachable only through the human gate — so 'can the AI act alone?' is answerably NO, in code, in a way that survives an audit. Gate 8, signed manifests: you know who published every agent running in your environment — including vendors'. Gate 5, hard token budgets: cost is a governed dimension, not a surprise. Then the dark band — enforcement is layered and none of it is manners: CI rejects at build, the gateway refuses to load at runtime, and a delivery gate blocks placeholder credentials, demo retention, and unsigned manifests from ever reaching production. LAND: 'Gates, not guidelines. An agent that fails any gate does not load.' IF ASKED 'who maintains the bar?': it's versioned in the repo; your platform team owns it after adoption, and changes to the bar go through the same CI as everything else. TRANSITION: 'This isn't a diagram — it runs. Here's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~2min. OPEN: 'Demonstrated, not asserted.' WALK: four working agents, three verticals, one IDENTICAL template. Point at pharmacovigilance and use it deliberately: drug-safety intake is the regulated-industry stress test — if ICH-grade pharmacovigilance clears this bar, a benefits screener will. Then the honesty card, slowly, because it's the differentiator with public-sector buyers: a written honesty boundary (NOT-CLAIMS — what we will NOT say), a machine-readable maturity file that CI enforces so prose can never claim more than tests prove, and retained deploy/invoke/prove evidence from clean AWS accounts. No vendor deck in their pile does this. LAND: 'Each agent is one manifest, a set of policies, its tools, and its tests. Same template, different domain — that is the platform working.' OFFER: the ten-minute live demo — the clean-account acceptance script runs the whole control plane in front of them: deny an unauthorized tool, block a self-approval, reject a replayed approval, prove the audit is immutable. Their account or ours. TRANSITION: 'So what does this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~2min. OPEN with the headline number and stop: 'Deployed and standing still, this whole platform costs one to three dollars a month.' Let it land — it's the number that kills the daunting feeling. WALK: at rest, KMS's $1 key fee is literally the only fixed line; DynamoDB bills nothing idle (first 25 GB free), Cognito is free to 10,000 monthly users, Lambda to a million requests, and the Guardrail costs nothing until invoked. Then in use: roughly $6–8 per 1,000 governed actions — and decompose it out loud: $4–5 is model inference they would buy with or without governance; ~$1.20 is guardrail checks; the governance plumbing itself is under fifty cents. So the governance premium is about a dollar per thousand actions. Budgets card: hard caps make a runaway agent a denied call, not a surprise invoice. LAND: 'The expensive part was never the platform — it's inference you'd buy anyway, and even that arrives with a budget around it.' IF CHALLENGED on figures: every number traces to an AWS pricing page; Guardrails' $0.15 per 1,000 text units is AWS's published price after the December 2024 reduction; the manual-deploy guide in the repo carries the citations line by line, and the calculator takes THEIR volumes. Honest close: the real second cost is human approval time — a control working as designed, tuned in the ROI worksheet. TRANSITION: 'Here's the other half of readiness — your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~90s. OPEN by naming the objection before they do: 'The next thought in the room is usually — our data isn't ready.' WALK: the honest answer is you don't need a two-year data program; you need ONE reachable system of record with an API and an owner, for one agent. The connector-maturity discipline keeps everyone honest about the rest: every integration is declared live, reference, or stubbed in a machine-readable file — no hand-waving about what's actually connected. Then the classification point, which is the CISO's favorite: each dataset is classified once in the manifest — PII, FERPA, PHI, CJI — and masking behavior, audit retention, and Cedar policy selection follow from the classification automatically. Governance follows the data. LAND: 'Start where the data is ready — one system, one accountable department. The platform doesn't wait for a data lake.' IF ASKED about FERPA/CJIS/HIPAA specifically: data classes are exactly how those obligations attach; the hardened identity profile notes CJIS's MFA mandate, and the stack is HIPAA-eligible where PHI is in scope. TRANSITION: 'So here's how a rollout actually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~2min. OPEN: 'Platform first. Then agents as configuration.' WALK the three phases with one emphasis each. Phase 1: it ends with THEIR security team running the kill-switch drill themselves — engage, watch everything deny, release with a second identity, read the audit — that is the moment this stops being a slide deck for them. Phase 2: the manifest and Cedar policies are authored WITH the business owner, not for them — so governance encodes their actual rules: who signs off, what counts as consequential, how deep review goes. Phase 3: onboarding becomes a runbook — and vendor add-ons clear the same bar as in-house agents, signed manifests and all. LAND (say it exactly): 'The second agent costs a manifest. So does the tenth.' IF ASKED about timeline: four to six weeks for the platform, the same for the first agent, then one to two weeks per agent after that — and the next slide is literally that runbook. TRANSITION: 'Here's what onboarding an agent actually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~2min. OPEN: 'This is the slide your application teams care about — what it actually takes to put a new agent on the platform.' WALK the six steps in order and emphasize the first: scoping happens with the business owner BEFORE any code, and the single most important output is the list of consequential actions — the things the agent must never do alone. Steps 2–4 are the build: copy the governed template (gateway wiring, audit, masking, and the human gate come with it), author the manifest and Cedar policies — about six artifacts total — and build only the tools the manifest declares. Step 5 is where governance bites: CI runs the nine gates, the manifest gets signed so the publisher is known, and the delivery gate refuses placeholder credentials and demo retention. Step 6: four small stacks deploy in minutes, the agent registers with the gateway, and the go-live drills run — canary, deny-by-default, kill switch. Then the green band, which is the actual sales point: LAND — 'the agent team writes business logic and evals; the dashboard, the immutable audit, the masking, the budget alarms, and the kill switch are all inherited. Zero observability code, one to two weeks, about six artifacts.' IF ASKED 'can our vendors follow this?': yes — the bar is public, the runbook ships in the repo, and signed manifests mean you always know who published what's running. TRANSITION: 'And if the whole service map still feels heavy, let me show you its honest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~90s. OPEN: deploy this slide the moment anyone glazes at the component map — or proactively right here. 'The service map is real. It is also not what you operate.' WALK: collapse everything into the three questions a CISO already owns — who is acting (identity plane: their IdP, Cognito, IAM — zero new operational surface), what may happen (control plane: the gateway, Cedar, the Guardrail, budgets, the kill switch — the platform's one real job), can you prove it (evidence plane: append-only audit, WORM, CloudWatch — write-once services you read, not tend). Then the four numbers, slowly: NINE managed services in the core; ONE to three dollars a month standing still; ONE command to deploy; about TEN decisions the customer actually makes — data classes, retention per class, guardrail thresholds, who approves consequential actions, token budgets, which IdP federates. Everything else is opinionated defaults they can change later. LAND (verbatim): 'You don't operate thirty services. You answer three questions — and the stack answers back with evidence.' IF ASKED 'what are the nine?': KMS, two DynamoDB tables, S3, Cognito, Lambda, CloudWatch, SSM, Bedrock — seven of which their account almost certainly runs today. TRANSITION: 'So let me raise the objections you're already forming.'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~2.5min. OPEN: 'Let me raise the objections for you — because the candor is the point.' WALK each one. 'This isn't an official AWS product': correct, and the repo says so in writing — which makes procurement EASIER: there are no vendor claims to verify, only code to review, and their security team can read every line before trusting any of it. 'We already have IAM': agree enthusiastically — IAM is the foundation — then name what IAM alone doesn't give an agent: the agent-and-human permission intersection, a human gate with single-use bound approvals, masking at the prompt boundary, per-agent token budgets, and a platform-wide kill switch. 'What about agents we already have?': the nine-gate bar works as their AGENT REVIEW STANDARD even for agents that never run on this platform — adopting the bar costs nothing and changes their posture immediately; that reframe alone is worth the meeting. LAND: 'Everything I just told you is checkable. That's the difference.' TRANSITION: 'So here's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~60s, then stop and let the room talk. OPEN: 'The ask is small on purpose.' WALK: one pilot — the platform plus one agent — in weeks, not quarters, because the platform already exists and deploys from IaC in minutes; their security team runs the kill-switch drill in week one, and the first agent is authored WITH their business owner. The strategic hook is step 4: even before any rollout, adopt the nine-gate bar as the agency-wide agent review standard — it costs nothing, changes their posture immediately, and makes this platform the natural home for everything that clears it. IF ASKED 'what do you need from us?': three things — an AWS account, an IdP admin for an afternoon, and one department with one reachable system of record. LAND: close on the tagline — 'Govern once. Then let every department build.' — and stop talking. The next voice should be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A"/>
        </a:solidFill>
      </p:bgPr>
    </p:bg>
    <p:spTree>
      <p:nvGrpSpPr>
        <p:cNvPr id="1" name=""/>
        <p:cNvGrpSpPr/>
        <p:nvPr/>
      </p:nvGrpSpPr>
      <p:grpSpPr>
        <a:xfrm>
          <a:off x="0" y="0"/>
          <a:ext cx="0" cy="0"/>
          <a:chOff x="0" y="0"/>
          <a:chExt cx="0" cy="0"/>
        </a:xfrm>
      </p:grpSpPr>
      <p:sp>
        <p:nvSpPr>
          <p:cNvPr id="2" name="Shape 0"/>
          <p:cNvSpPr/>
          <p:nvPr/>
        </p:nvSpPr>
        <p:spPr>
          <a:xfrm>
            <a:off x="822960" y="1828800"/>
            <a:ext cx="128016" cy="2011680"/>
          </a:xfrm>
          <a:prstGeom prst="rect">
            <a:avLst/>
          </a:prstGeom>
          <a:solidFill>
            <a:srgbClr val="0B6E4F"/>
          </a:solidFill>
          <a:ln/>
        </p:spPr>
      </p:sp>
      <p:sp>
        <p:nvSpPr>
          <p:cNvPr id="3" name="Text 1"/>
          <p:cNvSpPr/>
          <p:nvPr/>
        </p:nvSpPr>
        <p:spPr>
          <a:xfrm>
            <a:off x="1143000" y="1783080"/>
            <a:ext cx="9601200" cy="457200"/>
          </a:xfrm>
          <a:prstGeom prst="rect">
            <a:avLst/>
          </a:prstGeom>
          <a:noFill/>
          <a:ln/>
        </p:spPr>
        <p:txBody>
          <a:bodyPr wrap="square" lIns="0" tIns="0" rIns="0" bIns="0" rtlCol="0" anchor="ctr"/>
          <a:lstStyle/>
          <a:p>
            <a:pPr indent="0" marL="0">
              <a:buNone/>
            </a:pPr>
            <a:r>
              <a:rPr lang="en-US" sz="1800" dirty="0">
                <a:solidFill>
                  <a:srgbClr val="AAB7B8"/>
                </a:solidFill>
                <a:latin typeface="Calibri" pitchFamily="34" charset="0"/>
                <a:ea typeface="Calibri" pitchFamily="34" charset="-122"/>
                <a:cs typeface="Calibri" pitchFamily="34" charset="-120"/>
              </a:rPr>
              <a:t>For State &amp; Local Government and Education</a:t>
            </a:r>
            <a:endParaRPr lang="en-US" sz="1800" dirty="0"/>
          </a:p>
        </p:txBody>
      </p:sp>
      <p:sp>
        <p:nvSpPr>
          <p:cNvPr id="4" name="Text 2"/>
          <p:cNvSpPr/>
          <p:nvPr/>
        </p:nvSpPr>
        <p:spPr>
          <a:xfrm>
            <a:off x="1143000" y="2240280"/>
            <a:ext cx="10332720" cy="164592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Govern Once.</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Then Let Every Department Build.</a:t>
            </a:r>
            <a:endParaRPr lang="en-US" sz="4400" dirty="0"/>
          </a:p>
        </p:txBody>
      </p:sp>
      <p:sp>
        <p:nvSpPr>
          <p:cNvPr id="5" name="Text 3"/>
          <p:cNvSpPr/>
          <p:nvPr/>
        </p:nvSpPr>
        <p:spPr>
          <a:xfrm>
            <a:off x="1143000" y="3977640"/>
            <a:ext cx="10058400" cy="8686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 governed-agent platform on AWS: full auditability, observability, least-privilege access,</a:t>
            </a:r>
            <a:endParaRPr lang="en-US" sz="1600" dirty="0"/>
          </a:p>
          <a:p>
            <a:pPr indent="0" marL="0">
              <a:buNone/>
            </a:pPr>
            <a:r>
              <a:rPr lang="en-US" sz="1600" dirty="0">
                <a:solidFill>
                  <a:srgbClr val="CADCFC"/>
                </a:solidFill>
                <a:latin typeface="Calibri" pitchFamily="34" charset="0"/>
                <a:ea typeface="Calibri" pitchFamily="34" charset="-122"/>
                <a:cs typeface="Calibri" pitchFamily="34" charset="-120"/>
              </a:rPr>
              <a:t>human approval gates, and a kill switch — before the next agent ships.</a:t>
            </a:r>
            <a:endParaRPr lang="en-US" sz="1600" dirty="0"/>
          </a:p>
        </p:txBody>
      </p:sp>
      <p:sp>
        <p:nvSpPr>
          <p:cNvPr id="6" name="Text 4"/>
          <p:cNvSpPr/>
          <p:nvPr/>
        </p:nvSpPr>
        <p:spPr>
          <a:xfrm>
            <a:off x="1143000" y="5989320"/>
            <a:ext cx="8229600" cy="320040"/>
          </a:xfrm>
          <a:prstGeom prst="rect">
            <a:avLst/>
          </a:prstGeom>
          <a:noFill/>
          <a:ln/>
        </p:spPr>
        <p:txBody>
          <a:bodyPr wrap="square" lIns="0" tIns="0" rIns="0" bIns="0" rtlCol="0" anchor="ctr"/>
          <a:lstStyle/>
          <a:p>
            <a:pPr indent="0" marL="0">
              <a:buNone/>
            </a:pPr>
            <a:r>
              <a:rPr lang="en-US" sz="1100" dirty="0">
                <a:solidFill>
                  <a:srgbClr val="7B8A8B"/>
                </a:solidFill>
                <a:latin typeface="Calibri" pitchFamily="34" charset="0"/>
                <a:ea typeface="Calibri" pitchFamily="34" charset="-122"/>
                <a:cs typeface="Calibri" pitchFamily="34" charset="-120"/>
              </a:rPr>
              <a:t>Aegis reference architecture · Built on AWS · August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0B6E4F"/>
                </a:solidFill>
                <a:latin typeface="Calibri" pitchFamily="34" charset="0"/>
                <a:ea typeface="Calibri" pitchFamily="34" charset="-122"/>
                <a:cs typeface="Calibri" pitchFamily="34" charset="-120"/>
              </a:rPr>
              <a:t>01 · THE PROBLEM</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B2A3A"/>
                </a:solidFill>
                <a:latin typeface="Calibri" pitchFamily="34" charset="0"/>
                <a:ea typeface="Calibri" pitchFamily="34" charset="-122"/>
                <a:cs typeface="Calibri" pitchFamily="34" charset="-120"/>
              </a:rPr>
              <a:t>Every Department Is Building Agents. Nobody Can Govern Them.</a:t>
            </a:r>
            <a:endParaRPr lang="en-US" sz="3000" dirty="0"/>
          </a:p>
        </p:txBody>
      </p:sp>
      <p:sp>
        <p:nvSpPr>
          <p:cNvPr id="4" name="Shape 2"/>
          <p:cNvSpPr/>
          <p:nvPr/>
        </p:nvSpPr>
        <p:spPr>
          <a:xfrm>
            <a:off x="548640" y="1600200"/>
            <a:ext cx="5486400" cy="1481328"/>
          </a:xfrm>
          <a:prstGeom prst="roundRect">
            <a:avLst>
              <a:gd name="adj" fmla="val 3704"/>
            </a:avLst>
          </a:prstGeom>
          <a:solidFill>
            <a:srgbClr val="F2F3F3"/>
          </a:solidFill>
          <a:ln w="9525">
            <a:solidFill>
              <a:srgbClr val="D5DBDB"/>
            </a:solidFill>
            <a:prstDash val="solid"/>
          </a:ln>
        </p:spPr>
      </p:sp>
      <p:sp>
        <p:nvSpPr>
          <p:cNvPr id="5" name="Text 3"/>
          <p:cNvSpPr/>
          <p:nvPr/>
        </p:nvSpPr>
        <p:spPr>
          <a:xfrm>
            <a:off x="713232" y="1709928"/>
            <a:ext cx="5157216"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Shadow agents by department</a:t>
            </a:r>
            <a:endParaRPr lang="en-US" sz="1400" dirty="0"/>
          </a:p>
        </p:txBody>
      </p:sp>
      <p:sp>
        <p:nvSpPr>
          <p:cNvPr id="6" name="Text 4"/>
          <p:cNvSpPr/>
          <p:nvPr/>
        </p:nvSpPr>
        <p:spPr>
          <a:xfrm>
            <a:off x="713232" y="2057400"/>
            <a:ext cx="5157216" cy="914400"/>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Benefits screeners, aid chatbots, records triage — each works in a demo, each wired differently, none visible to central IT until something goes wrong.</a:t>
            </a:r>
            <a:endParaRPr lang="en-US" sz="1100" dirty="0"/>
          </a:p>
        </p:txBody>
      </p:sp>
      <p:sp>
        <p:nvSpPr>
          <p:cNvPr id="7" name="Shape 5"/>
          <p:cNvSpPr/>
          <p:nvPr/>
        </p:nvSpPr>
        <p:spPr>
          <a:xfrm>
            <a:off x="6172200" y="1600200"/>
            <a:ext cx="5486400" cy="1481328"/>
          </a:xfrm>
          <a:prstGeom prst="roundRect">
            <a:avLst>
              <a:gd name="adj" fmla="val 3704"/>
            </a:avLst>
          </a:prstGeom>
          <a:solidFill>
            <a:srgbClr val="F2F3F3"/>
          </a:solidFill>
          <a:ln w="9525">
            <a:solidFill>
              <a:srgbClr val="D5DBDB"/>
            </a:solidFill>
            <a:prstDash val="solid"/>
          </a:ln>
        </p:spPr>
      </p:sp>
      <p:sp>
        <p:nvSpPr>
          <p:cNvPr id="8" name="Text 6"/>
          <p:cNvSpPr/>
          <p:nvPr/>
        </p:nvSpPr>
        <p:spPr>
          <a:xfrm>
            <a:off x="6336792" y="1709928"/>
            <a:ext cx="5157216"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The questions that stop deployment</a:t>
            </a:r>
            <a:endParaRPr lang="en-US" sz="1400" dirty="0"/>
          </a:p>
        </p:txBody>
      </p:sp>
      <p:sp>
        <p:nvSpPr>
          <p:cNvPr id="9" name="Text 7"/>
          <p:cNvSpPr/>
          <p:nvPr/>
        </p:nvSpPr>
        <p:spPr>
          <a:xfrm>
            <a:off x="6336792" y="2057400"/>
            <a:ext cx="5157216" cy="914400"/>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Who did it act for? What can it reach? Who approved that action? Where's the tamper-proof record? Can PII / FERPA / PHI reach a model?</a:t>
            </a:r>
            <a:endParaRPr lang="en-US" sz="1100" dirty="0"/>
          </a:p>
        </p:txBody>
      </p:sp>
      <p:sp>
        <p:nvSpPr>
          <p:cNvPr id="10" name="Shape 8"/>
          <p:cNvSpPr/>
          <p:nvPr/>
        </p:nvSpPr>
        <p:spPr>
          <a:xfrm>
            <a:off x="548640" y="3200400"/>
            <a:ext cx="5486400" cy="1481328"/>
          </a:xfrm>
          <a:prstGeom prst="roundRect">
            <a:avLst>
              <a:gd name="adj" fmla="val 3704"/>
            </a:avLst>
          </a:prstGeom>
          <a:solidFill>
            <a:srgbClr val="F2F3F3"/>
          </a:solidFill>
          <a:ln w="9525">
            <a:solidFill>
              <a:srgbClr val="D5DBDB"/>
            </a:solidFill>
            <a:prstDash val="solid"/>
          </a:ln>
        </p:spPr>
      </p:sp>
      <p:sp>
        <p:nvSpPr>
          <p:cNvPr id="11" name="Text 9"/>
          <p:cNvSpPr/>
          <p:nvPr/>
        </p:nvSpPr>
        <p:spPr>
          <a:xfrm>
            <a:off x="713232" y="3310128"/>
            <a:ext cx="5157216"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Every deployment is a one-off review</a:t>
            </a:r>
            <a:endParaRPr lang="en-US" sz="1400" dirty="0"/>
          </a:p>
        </p:txBody>
      </p:sp>
      <p:sp>
        <p:nvSpPr>
          <p:cNvPr id="12" name="Text 10"/>
          <p:cNvSpPr/>
          <p:nvPr/>
        </p:nvSpPr>
        <p:spPr>
          <a:xfrm>
            <a:off x="713232" y="3657600"/>
            <a:ext cx="5157216" cy="914400"/>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No shared controls means every agent is a bespoke risk assessment. Reviews take months; departments route around them; risk compounds.</a:t>
            </a:r>
            <a:endParaRPr lang="en-US" sz="1100" dirty="0"/>
          </a:p>
        </p:txBody>
      </p:sp>
      <p:sp>
        <p:nvSpPr>
          <p:cNvPr id="13" name="Shape 11"/>
          <p:cNvSpPr/>
          <p:nvPr/>
        </p:nvSpPr>
        <p:spPr>
          <a:xfrm>
            <a:off x="6172200" y="3200400"/>
            <a:ext cx="5486400" cy="1481328"/>
          </a:xfrm>
          <a:prstGeom prst="roundRect">
            <a:avLst>
              <a:gd name="adj" fmla="val 3704"/>
            </a:avLst>
          </a:prstGeom>
          <a:solidFill>
            <a:srgbClr val="FDF3E7"/>
          </a:solidFill>
          <a:ln w="9525">
            <a:solidFill>
              <a:srgbClr val="C88A00"/>
            </a:solidFill>
            <a:prstDash val="solid"/>
          </a:ln>
        </p:spPr>
      </p:sp>
      <p:sp>
        <p:nvSpPr>
          <p:cNvPr id="14" name="Text 12"/>
          <p:cNvSpPr/>
          <p:nvPr/>
        </p:nvSpPr>
        <p:spPr>
          <a:xfrm>
            <a:off x="6336792" y="3310128"/>
            <a:ext cx="5157216" cy="329184"/>
          </a:xfrm>
          <a:prstGeom prst="rect">
            <a:avLst/>
          </a:prstGeom>
          <a:noFill/>
          <a:ln/>
        </p:spPr>
        <p:txBody>
          <a:bodyPr wrap="square" lIns="0" tIns="0" rIns="0" bIns="0" rtlCol="0" anchor="ctr"/>
          <a:lstStyle/>
          <a:p>
            <a:pPr indent="0" marL="0">
              <a:buNone/>
            </a:pPr>
            <a:r>
              <a:rPr lang="en-US" sz="1400" b="1" dirty="0">
                <a:solidFill>
                  <a:srgbClr val="8A5A00"/>
                </a:solidFill>
                <a:latin typeface="Calibri" pitchFamily="34" charset="0"/>
                <a:ea typeface="Calibri" pitchFamily="34" charset="-122"/>
                <a:cs typeface="Calibri" pitchFamily="34" charset="-120"/>
              </a:rPr>
              <a:t>And the meeting-ender</a:t>
            </a:r>
            <a:endParaRPr lang="en-US" sz="1400" dirty="0"/>
          </a:p>
        </p:txBody>
      </p:sp>
      <p:sp>
        <p:nvSpPr>
          <p:cNvPr id="15" name="Text 13"/>
          <p:cNvSpPr/>
          <p:nvPr/>
        </p:nvSpPr>
        <p:spPr>
          <a:xfrm>
            <a:off x="6336792" y="3657600"/>
            <a:ext cx="5157216" cy="914400"/>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“If an agent misbehaves at 2am, can you stop everything — right now — and prove you did?” Today, for most agencies: no.</a:t>
            </a:r>
            <a:endParaRPr lang="en-US" sz="1100" dirty="0"/>
          </a:p>
        </p:txBody>
      </p:sp>
      <p:sp>
        <p:nvSpPr>
          <p:cNvPr id="16" name="Shape 14"/>
          <p:cNvSpPr/>
          <p:nvPr/>
        </p:nvSpPr>
        <p:spPr>
          <a:xfrm>
            <a:off x="548640" y="4937760"/>
            <a:ext cx="11109960" cy="914400"/>
          </a:xfrm>
          <a:prstGeom prst="roundRect">
            <a:avLst>
              <a:gd name="adj" fmla="val 5000"/>
            </a:avLst>
          </a:prstGeom>
          <a:solidFill>
            <a:srgbClr val="1B2A3A"/>
          </a:solidFill>
          <a:ln/>
        </p:spPr>
      </p:sp>
      <p:sp>
        <p:nvSpPr>
          <p:cNvPr id="17" name="Text 15"/>
          <p:cNvSpPr/>
          <p:nvPr/>
        </p:nvSpPr>
        <p:spPr>
          <a:xfrm>
            <a:off x="777240" y="5029200"/>
            <a:ext cx="10698480" cy="7498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blocker to agentic AI in government is governance, not model quality. </a:t>
            </a:r>
            <a:pPr indent="0" marL="0">
              <a:buNone/>
            </a:pPr>
            <a:r>
              <a:rPr lang="en-US" sz="1400" dirty="0">
                <a:solidFill>
                  <a:srgbClr val="CADCFC"/>
                </a:solidFill>
                <a:latin typeface="Calibri" pitchFamily="34" charset="0"/>
                <a:ea typeface="Calibri" pitchFamily="34" charset="-122"/>
                <a:cs typeface="Calibri" pitchFamily="34" charset="-120"/>
              </a:rPr>
              <a:t>The fix is not a better agent — it is a platform every agent must pass through.</a:t>
            </a:r>
            <a:endParaRPr lang="en-US" sz="1400" dirty="0"/>
          </a:p>
        </p:txBody>
      </p:sp>
      <p:sp>
        <p:nvSpPr>
          <p:cNvPr id="18" name="Text 16"/>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879196"/>
                </a:solidFill>
                <a:latin typeface="Calibri" pitchFamily="34" charset="0"/>
                <a:ea typeface="Calibri" pitchFamily="34" charset="-122"/>
                <a:cs typeface="Calibri" pitchFamily="34" charset="-120"/>
              </a:rPr>
              <a:t>Aegis — Governed AI Agents · Built on AWS · Reference architecture (see NOT-CLAIMS)</a:t>
            </a:r>
            <a:endParaRPr lang="en-US" sz="900" dirty="0"/>
          </a:p>
        </p:txBody>
      </p:sp>
      <p:sp>
        <p:nvSpPr>
          <p:cNvPr id="19" name="Text 17"/>
          <p:cNvSpPr/>
          <p:nvPr/>
        </p:nvSpPr>
        <p:spPr>
          <a:xfrm>
            <a:off x="10908792" y="6473952"/>
            <a:ext cx="731520" cy="274320"/>
          </a:xfrm>
          <a:prstGeom prst="rect">
            <a:avLst/>
          </a:prstGeom>
          <a:noFill/>
          <a:ln/>
        </p:spPr>
        <p:txBody>
          <a:bodyPr wrap="square" lIns="0" tIns="0" rIns="0" bIns="0" rtlCol="0" anchor="ctr"/>
          <a:lstStyle/>
          <a:p>
            <a:pPr algn="r" indent="0" marL="0">
              <a:buNone/>
            </a:pPr>
            <a:r>
              <a:rPr lang="en-US" sz="900" dirty="0">
                <a:solidFill>
                  <a:srgbClr val="879196"/>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0B6E4F"/>
                </a:solidFill>
                <a:latin typeface="Calibri" pitchFamily="34" charset="0"/>
                <a:ea typeface="Calibri" pitchFamily="34" charset="-122"/>
                <a:cs typeface="Calibri" pitchFamily="34" charset="-120"/>
              </a:rPr>
              <a:t>02 · THE ANSWER</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B2A3A"/>
                </a:solidFill>
                <a:latin typeface="Calibri" pitchFamily="34" charset="0"/>
                <a:ea typeface="Calibri" pitchFamily="34" charset="-122"/>
                <a:cs typeface="Calibri" pitchFamily="34" charset="-120"/>
              </a:rPr>
              <a:t>One Control Plane. Every Agent Through It.</a:t>
            </a:r>
            <a:endParaRPr lang="en-US" sz="3000" dirty="0"/>
          </a:p>
        </p:txBody>
      </p:sp>
      <p:sp>
        <p:nvSpPr>
          <p:cNvPr id="4" name="Text 2"/>
          <p:cNvSpPr/>
          <p:nvPr/>
        </p:nvSpPr>
        <p:spPr>
          <a:xfrm>
            <a:off x="548640" y="1554480"/>
            <a:ext cx="11064240" cy="868680"/>
          </a:xfrm>
          <a:prstGeom prst="rect">
            <a:avLst/>
          </a:prstGeom>
          <a:noFill/>
          <a:ln/>
        </p:spPr>
        <p:txBody>
          <a:bodyPr wrap="square" lIns="0" tIns="0" rIns="0" bIns="0" rtlCol="0" anchor="ctr"/>
          <a:lstStyle/>
          <a:p>
            <a:pPr indent="0" marL="0">
              <a:lnSpc>
                <a:spcPct val="112000"/>
              </a:lnSpc>
              <a:buNone/>
            </a:pPr>
            <a:r>
              <a:rPr lang="en-US" sz="1400" dirty="0">
                <a:solidFill>
                  <a:srgbClr val="545B64"/>
                </a:solidFill>
                <a:latin typeface="Calibri" pitchFamily="34" charset="0"/>
                <a:ea typeface="Calibri" pitchFamily="34" charset="-122"/>
                <a:cs typeface="Calibri" pitchFamily="34" charset="-120"/>
              </a:rPr>
              <a:t>Deny-by-default: every agent action — model call, tool call, retrieval — flows through one authorization gateway enforcing a versioned governance contract. Build the platform once; every agent after that is a configuration that inherits governance, not a project that reinvents it.</a:t>
            </a:r>
            <a:endParaRPr lang="en-US" sz="1400" dirty="0"/>
          </a:p>
        </p:txBody>
      </p:sp>
      <p:sp>
        <p:nvSpPr>
          <p:cNvPr id="5" name="Shape 3"/>
          <p:cNvSpPr/>
          <p:nvPr/>
        </p:nvSpPr>
        <p:spPr>
          <a:xfrm>
            <a:off x="548640" y="2743200"/>
            <a:ext cx="1481328" cy="960120"/>
          </a:xfrm>
          <a:prstGeom prst="roundRect">
            <a:avLst>
              <a:gd name="adj" fmla="val 5714"/>
            </a:avLst>
          </a:prstGeom>
          <a:solidFill>
            <a:srgbClr val="1B2A3A"/>
          </a:solidFill>
          <a:ln/>
        </p:spPr>
      </p:sp>
      <p:sp>
        <p:nvSpPr>
          <p:cNvPr id="6" name="Text 4"/>
          <p:cNvSpPr/>
          <p:nvPr/>
        </p:nvSpPr>
        <p:spPr>
          <a:xfrm>
            <a:off x="548640" y="2743200"/>
            <a:ext cx="1481328" cy="9601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Verified identity</a:t>
            </a:r>
            <a:endParaRPr lang="en-US" sz="1050" dirty="0"/>
          </a:p>
        </p:txBody>
      </p:sp>
      <p:sp>
        <p:nvSpPr>
          <p:cNvPr id="7" name="Text 5"/>
          <p:cNvSpPr/>
          <p:nvPr/>
        </p:nvSpPr>
        <p:spPr>
          <a:xfrm>
            <a:off x="2002536" y="2743200"/>
            <a:ext cx="173736" cy="960120"/>
          </a:xfrm>
          <a:prstGeom prst="rect">
            <a:avLst/>
          </a:prstGeom>
          <a:noFill/>
          <a:ln/>
        </p:spPr>
        <p:txBody>
          <a:bodyPr wrap="square" lIns="0" tIns="0" rIns="0" bIns="0" rtlCol="0" anchor="ctr"/>
          <a:lstStyle/>
          <a:p>
            <a:pPr algn="ctr" indent="0" marL="0">
              <a:buNone/>
            </a:pPr>
            <a:r>
              <a:rPr lang="en-US" sz="1300" dirty="0">
                <a:solidFill>
                  <a:srgbClr val="545B64"/>
                </a:solidFill>
                <a:latin typeface="Calibri" pitchFamily="34" charset="0"/>
                <a:ea typeface="Calibri" pitchFamily="34" charset="-122"/>
                <a:cs typeface="Calibri" pitchFamily="34" charset="-120"/>
              </a:rPr>
              <a:t>→</a:t>
            </a:r>
            <a:endParaRPr lang="en-US" sz="1300" dirty="0"/>
          </a:p>
        </p:txBody>
      </p:sp>
      <p:sp>
        <p:nvSpPr>
          <p:cNvPr id="8" name="Shape 6"/>
          <p:cNvSpPr/>
          <p:nvPr/>
        </p:nvSpPr>
        <p:spPr>
          <a:xfrm>
            <a:off x="2148840" y="2743200"/>
            <a:ext cx="1481328" cy="960120"/>
          </a:xfrm>
          <a:prstGeom prst="roundRect">
            <a:avLst>
              <a:gd name="adj" fmla="val 5714"/>
            </a:avLst>
          </a:prstGeom>
          <a:solidFill>
            <a:srgbClr val="0B6E4F"/>
          </a:solidFill>
          <a:ln/>
        </p:spPr>
      </p:sp>
      <p:sp>
        <p:nvSpPr>
          <p:cNvPr id="9" name="Text 7"/>
          <p:cNvSpPr/>
          <p:nvPr/>
        </p:nvSpPr>
        <p:spPr>
          <a:xfrm>
            <a:off x="2148840" y="2743200"/>
            <a:ext cx="1481328" cy="9601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Least-privilege</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(agent ∩ human)</a:t>
            </a:r>
            <a:endParaRPr lang="en-US" sz="1050" dirty="0"/>
          </a:p>
        </p:txBody>
      </p:sp>
      <p:sp>
        <p:nvSpPr>
          <p:cNvPr id="10" name="Text 8"/>
          <p:cNvSpPr/>
          <p:nvPr/>
        </p:nvSpPr>
        <p:spPr>
          <a:xfrm>
            <a:off x="3602736" y="2743200"/>
            <a:ext cx="173736" cy="960120"/>
          </a:xfrm>
          <a:prstGeom prst="rect">
            <a:avLst/>
          </a:prstGeom>
          <a:noFill/>
          <a:ln/>
        </p:spPr>
        <p:txBody>
          <a:bodyPr wrap="square" lIns="0" tIns="0" rIns="0" bIns="0" rtlCol="0" anchor="ctr"/>
          <a:lstStyle/>
          <a:p>
            <a:pPr algn="ctr" indent="0" marL="0">
              <a:buNone/>
            </a:pPr>
            <a:r>
              <a:rPr lang="en-US" sz="1300" dirty="0">
                <a:solidFill>
                  <a:srgbClr val="545B64"/>
                </a:solidFill>
                <a:latin typeface="Calibri" pitchFamily="34" charset="0"/>
                <a:ea typeface="Calibri" pitchFamily="34" charset="-122"/>
                <a:cs typeface="Calibri" pitchFamily="34" charset="-120"/>
              </a:rPr>
              <a:t>→</a:t>
            </a:r>
            <a:endParaRPr lang="en-US" sz="1300" dirty="0"/>
          </a:p>
        </p:txBody>
      </p:sp>
      <p:sp>
        <p:nvSpPr>
          <p:cNvPr id="11" name="Shape 9"/>
          <p:cNvSpPr/>
          <p:nvPr/>
        </p:nvSpPr>
        <p:spPr>
          <a:xfrm>
            <a:off x="3749040" y="2743200"/>
            <a:ext cx="1481328" cy="960120"/>
          </a:xfrm>
          <a:prstGeom prst="roundRect">
            <a:avLst>
              <a:gd name="adj" fmla="val 5714"/>
            </a:avLst>
          </a:prstGeom>
          <a:solidFill>
            <a:srgbClr val="1B2A3A"/>
          </a:solidFill>
          <a:ln/>
        </p:spPr>
      </p:sp>
      <p:sp>
        <p:nvSpPr>
          <p:cNvPr id="12" name="Text 10"/>
          <p:cNvSpPr/>
          <p:nvPr/>
        </p:nvSpPr>
        <p:spPr>
          <a:xfrm>
            <a:off x="3749040" y="2743200"/>
            <a:ext cx="1481328" cy="9601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Human gate for</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consequential acts</a:t>
            </a:r>
            <a:endParaRPr lang="en-US" sz="1050" dirty="0"/>
          </a:p>
        </p:txBody>
      </p:sp>
      <p:sp>
        <p:nvSpPr>
          <p:cNvPr id="13" name="Text 11"/>
          <p:cNvSpPr/>
          <p:nvPr/>
        </p:nvSpPr>
        <p:spPr>
          <a:xfrm>
            <a:off x="5202936" y="2743200"/>
            <a:ext cx="173736" cy="960120"/>
          </a:xfrm>
          <a:prstGeom prst="rect">
            <a:avLst/>
          </a:prstGeom>
          <a:noFill/>
          <a:ln/>
        </p:spPr>
        <p:txBody>
          <a:bodyPr wrap="square" lIns="0" tIns="0" rIns="0" bIns="0" rtlCol="0" anchor="ctr"/>
          <a:lstStyle/>
          <a:p>
            <a:pPr algn="ctr" indent="0" marL="0">
              <a:buNone/>
            </a:pPr>
            <a:r>
              <a:rPr lang="en-US" sz="1300" dirty="0">
                <a:solidFill>
                  <a:srgbClr val="545B64"/>
                </a:solidFill>
                <a:latin typeface="Calibri" pitchFamily="34" charset="0"/>
                <a:ea typeface="Calibri" pitchFamily="34" charset="-122"/>
                <a:cs typeface="Calibri" pitchFamily="34" charset="-120"/>
              </a:rPr>
              <a:t>→</a:t>
            </a:r>
            <a:endParaRPr lang="en-US" sz="1300" dirty="0"/>
          </a:p>
        </p:txBody>
      </p:sp>
      <p:sp>
        <p:nvSpPr>
          <p:cNvPr id="14" name="Shape 12"/>
          <p:cNvSpPr/>
          <p:nvPr/>
        </p:nvSpPr>
        <p:spPr>
          <a:xfrm>
            <a:off x="5349240" y="2743200"/>
            <a:ext cx="1481328" cy="960120"/>
          </a:xfrm>
          <a:prstGeom prst="roundRect">
            <a:avLst>
              <a:gd name="adj" fmla="val 5714"/>
            </a:avLst>
          </a:prstGeom>
          <a:solidFill>
            <a:srgbClr val="0B6E4F"/>
          </a:solidFill>
          <a:ln/>
        </p:spPr>
      </p:sp>
      <p:sp>
        <p:nvSpPr>
          <p:cNvPr id="15" name="Text 13"/>
          <p:cNvSpPr/>
          <p:nvPr/>
        </p:nvSpPr>
        <p:spPr>
          <a:xfrm>
            <a:off x="5349240" y="2743200"/>
            <a:ext cx="1481328" cy="9601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Fail-closed</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PII masking</a:t>
            </a:r>
            <a:endParaRPr lang="en-US" sz="1050" dirty="0"/>
          </a:p>
        </p:txBody>
      </p:sp>
      <p:sp>
        <p:nvSpPr>
          <p:cNvPr id="16" name="Text 14"/>
          <p:cNvSpPr/>
          <p:nvPr/>
        </p:nvSpPr>
        <p:spPr>
          <a:xfrm>
            <a:off x="6803136" y="2743200"/>
            <a:ext cx="173736" cy="960120"/>
          </a:xfrm>
          <a:prstGeom prst="rect">
            <a:avLst/>
          </a:prstGeom>
          <a:noFill/>
          <a:ln/>
        </p:spPr>
        <p:txBody>
          <a:bodyPr wrap="square" lIns="0" tIns="0" rIns="0" bIns="0" rtlCol="0" anchor="ctr"/>
          <a:lstStyle/>
          <a:p>
            <a:pPr algn="ctr" indent="0" marL="0">
              <a:buNone/>
            </a:pPr>
            <a:r>
              <a:rPr lang="en-US" sz="1300" dirty="0">
                <a:solidFill>
                  <a:srgbClr val="545B64"/>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6949440" y="2743200"/>
            <a:ext cx="1481328" cy="960120"/>
          </a:xfrm>
          <a:prstGeom prst="roundRect">
            <a:avLst>
              <a:gd name="adj" fmla="val 5714"/>
            </a:avLst>
          </a:prstGeom>
          <a:solidFill>
            <a:srgbClr val="1B2A3A"/>
          </a:solidFill>
          <a:ln/>
        </p:spPr>
      </p:sp>
      <p:sp>
        <p:nvSpPr>
          <p:cNvPr id="18" name="Text 16"/>
          <p:cNvSpPr/>
          <p:nvPr/>
        </p:nvSpPr>
        <p:spPr>
          <a:xfrm>
            <a:off x="6949440" y="2743200"/>
            <a:ext cx="1481328" cy="9601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Append-only</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 WORM audit</a:t>
            </a:r>
            <a:endParaRPr lang="en-US" sz="1050" dirty="0"/>
          </a:p>
        </p:txBody>
      </p:sp>
      <p:sp>
        <p:nvSpPr>
          <p:cNvPr id="19" name="Text 17"/>
          <p:cNvSpPr/>
          <p:nvPr/>
        </p:nvSpPr>
        <p:spPr>
          <a:xfrm>
            <a:off x="8403336" y="2743200"/>
            <a:ext cx="173736" cy="960120"/>
          </a:xfrm>
          <a:prstGeom prst="rect">
            <a:avLst/>
          </a:prstGeom>
          <a:noFill/>
          <a:ln/>
        </p:spPr>
        <p:txBody>
          <a:bodyPr wrap="square" lIns="0" tIns="0" rIns="0" bIns="0" rtlCol="0" anchor="ctr"/>
          <a:lstStyle/>
          <a:p>
            <a:pPr algn="ctr" indent="0" marL="0">
              <a:buNone/>
            </a:pPr>
            <a:r>
              <a:rPr lang="en-US" sz="1300" dirty="0">
                <a:solidFill>
                  <a:srgbClr val="545B64"/>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8549640" y="2743200"/>
            <a:ext cx="1481328" cy="960120"/>
          </a:xfrm>
          <a:prstGeom prst="roundRect">
            <a:avLst>
              <a:gd name="adj" fmla="val 5714"/>
            </a:avLst>
          </a:prstGeom>
          <a:solidFill>
            <a:srgbClr val="0B6E4F"/>
          </a:solidFill>
          <a:ln/>
        </p:spPr>
      </p:sp>
      <p:sp>
        <p:nvSpPr>
          <p:cNvPr id="21" name="Text 19"/>
          <p:cNvSpPr/>
          <p:nvPr/>
        </p:nvSpPr>
        <p:spPr>
          <a:xfrm>
            <a:off x="8549640" y="2743200"/>
            <a:ext cx="1481328" cy="9601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Token</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budgets</a:t>
            </a:r>
            <a:endParaRPr lang="en-US" sz="1050" dirty="0"/>
          </a:p>
        </p:txBody>
      </p:sp>
      <p:sp>
        <p:nvSpPr>
          <p:cNvPr id="22" name="Text 20"/>
          <p:cNvSpPr/>
          <p:nvPr/>
        </p:nvSpPr>
        <p:spPr>
          <a:xfrm>
            <a:off x="10003536" y="2743200"/>
            <a:ext cx="173736" cy="960120"/>
          </a:xfrm>
          <a:prstGeom prst="rect">
            <a:avLst/>
          </a:prstGeom>
          <a:noFill/>
          <a:ln/>
        </p:spPr>
        <p:txBody>
          <a:bodyPr wrap="square" lIns="0" tIns="0" rIns="0" bIns="0" rtlCol="0" anchor="ctr"/>
          <a:lstStyle/>
          <a:p>
            <a:pPr algn="ctr" indent="0" marL="0">
              <a:buNone/>
            </a:pPr>
            <a:r>
              <a:rPr lang="en-US" sz="1300" dirty="0">
                <a:solidFill>
                  <a:srgbClr val="545B64"/>
                </a:solidFill>
                <a:latin typeface="Calibri" pitchFamily="34" charset="0"/>
                <a:ea typeface="Calibri" pitchFamily="34" charset="-122"/>
                <a:cs typeface="Calibri" pitchFamily="34" charset="-120"/>
              </a:rPr>
              <a:t>→</a:t>
            </a:r>
            <a:endParaRPr lang="en-US" sz="1300" dirty="0"/>
          </a:p>
        </p:txBody>
      </p:sp>
      <p:sp>
        <p:nvSpPr>
          <p:cNvPr id="23" name="Shape 21"/>
          <p:cNvSpPr/>
          <p:nvPr/>
        </p:nvSpPr>
        <p:spPr>
          <a:xfrm>
            <a:off x="10149840" y="2743200"/>
            <a:ext cx="1481328" cy="960120"/>
          </a:xfrm>
          <a:prstGeom prst="roundRect">
            <a:avLst>
              <a:gd name="adj" fmla="val 5714"/>
            </a:avLst>
          </a:prstGeom>
          <a:solidFill>
            <a:srgbClr val="1B2A3A"/>
          </a:solidFill>
          <a:ln/>
        </p:spPr>
      </p:sp>
      <p:sp>
        <p:nvSpPr>
          <p:cNvPr id="24" name="Text 22"/>
          <p:cNvSpPr/>
          <p:nvPr/>
        </p:nvSpPr>
        <p:spPr>
          <a:xfrm>
            <a:off x="10149840" y="2743200"/>
            <a:ext cx="1481328" cy="9601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Grounded</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model gateway</a:t>
            </a:r>
            <a:endParaRPr lang="en-US" sz="1050" dirty="0"/>
          </a:p>
        </p:txBody>
      </p:sp>
      <p:sp>
        <p:nvSpPr>
          <p:cNvPr id="25" name="Text 23"/>
          <p:cNvSpPr/>
          <p:nvPr/>
        </p:nvSpPr>
        <p:spPr>
          <a:xfrm>
            <a:off x="548640" y="3886200"/>
            <a:ext cx="11064240" cy="365760"/>
          </a:xfrm>
          <a:prstGeom prst="rect">
            <a:avLst/>
          </a:prstGeom>
          <a:noFill/>
          <a:ln/>
        </p:spPr>
        <p:txBody>
          <a:bodyPr wrap="square" lIns="0" tIns="0" rIns="0" bIns="0" rtlCol="0" anchor="ctr"/>
          <a:lstStyle/>
          <a:p>
            <a:pPr algn="ctr" indent="0" marL="0">
              <a:buNone/>
            </a:pPr>
            <a:r>
              <a:rPr lang="en-US" sz="1200" i="1" dirty="0">
                <a:solidFill>
                  <a:srgbClr val="545B64"/>
                </a:solidFill>
                <a:latin typeface="Calibri" pitchFamily="34" charset="0"/>
                <a:ea typeface="Calibri" pitchFamily="34" charset="-122"/>
                <a:cs typeface="Calibri" pitchFamily="34" charset="-120"/>
              </a:rPr>
              <a:t>The Aegis Governance Pattern (AGP v1.0) — 8 fail-closed controls, each proven by a negative test</a:t>
            </a:r>
            <a:endParaRPr lang="en-US" sz="1200" dirty="0"/>
          </a:p>
        </p:txBody>
      </p:sp>
      <p:sp>
        <p:nvSpPr>
          <p:cNvPr id="26" name="Shape 24"/>
          <p:cNvSpPr/>
          <p:nvPr/>
        </p:nvSpPr>
        <p:spPr>
          <a:xfrm>
            <a:off x="548640" y="4434840"/>
            <a:ext cx="5440680" cy="1508760"/>
          </a:xfrm>
          <a:prstGeom prst="roundRect">
            <a:avLst>
              <a:gd name="adj" fmla="val 3636"/>
            </a:avLst>
          </a:prstGeom>
          <a:solidFill>
            <a:srgbClr val="F2F3F3"/>
          </a:solidFill>
          <a:ln w="9525">
            <a:solidFill>
              <a:srgbClr val="D5DBDB"/>
            </a:solidFill>
            <a:prstDash val="solid"/>
          </a:ln>
        </p:spPr>
      </p:sp>
      <p:sp>
        <p:nvSpPr>
          <p:cNvPr id="27" name="Text 25"/>
          <p:cNvSpPr/>
          <p:nvPr/>
        </p:nvSpPr>
        <p:spPr>
          <a:xfrm>
            <a:off x="713232" y="4544568"/>
            <a:ext cx="5111496"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An agent never exceeds its human</a:t>
            </a:r>
            <a:endParaRPr lang="en-US" sz="1400" dirty="0"/>
          </a:p>
        </p:txBody>
      </p:sp>
      <p:sp>
        <p:nvSpPr>
          <p:cNvPr id="28" name="Text 26"/>
          <p:cNvSpPr/>
          <p:nvPr/>
        </p:nvSpPr>
        <p:spPr>
          <a:xfrm>
            <a:off x="713232" y="4892040"/>
            <a:ext cx="5111496" cy="94183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Effective permission = the agent's declared grant ∩ the acting person's entitlement. Consequential actions require a second human — bound, single-use, replay-rejected approvals.</a:t>
            </a:r>
            <a:endParaRPr lang="en-US" sz="1100" dirty="0"/>
          </a:p>
        </p:txBody>
      </p:sp>
      <p:sp>
        <p:nvSpPr>
          <p:cNvPr id="29" name="Shape 27"/>
          <p:cNvSpPr/>
          <p:nvPr/>
        </p:nvSpPr>
        <p:spPr>
          <a:xfrm>
            <a:off x="6126480" y="4434840"/>
            <a:ext cx="5532120" cy="1508760"/>
          </a:xfrm>
          <a:prstGeom prst="roundRect">
            <a:avLst>
              <a:gd name="adj" fmla="val 3636"/>
            </a:avLst>
          </a:prstGeom>
          <a:solidFill>
            <a:srgbClr val="FDF3E7"/>
          </a:solidFill>
          <a:ln w="9525">
            <a:solidFill>
              <a:srgbClr val="C88A00"/>
            </a:solidFill>
            <a:prstDash val="solid"/>
          </a:ln>
        </p:spPr>
      </p:sp>
      <p:sp>
        <p:nvSpPr>
          <p:cNvPr id="30" name="Text 28"/>
          <p:cNvSpPr/>
          <p:nvPr/>
        </p:nvSpPr>
        <p:spPr>
          <a:xfrm>
            <a:off x="6291072" y="4544568"/>
            <a:ext cx="5202936" cy="329184"/>
          </a:xfrm>
          <a:prstGeom prst="rect">
            <a:avLst/>
          </a:prstGeom>
          <a:noFill/>
          <a:ln/>
        </p:spPr>
        <p:txBody>
          <a:bodyPr wrap="square" lIns="0" tIns="0" rIns="0" bIns="0" rtlCol="0" anchor="ctr"/>
          <a:lstStyle/>
          <a:p>
            <a:pPr indent="0" marL="0">
              <a:buNone/>
            </a:pPr>
            <a:r>
              <a:rPr lang="en-US" sz="1400" b="1" dirty="0">
                <a:solidFill>
                  <a:srgbClr val="8A5A00"/>
                </a:solidFill>
                <a:latin typeface="Calibri" pitchFamily="34" charset="0"/>
                <a:ea typeface="Calibri" pitchFamily="34" charset="-122"/>
                <a:cs typeface="Calibri" pitchFamily="34" charset="-120"/>
              </a:rPr>
              <a:t>Plus the named Kill Switch</a:t>
            </a:r>
            <a:endParaRPr lang="en-US" sz="1400" dirty="0"/>
          </a:p>
        </p:txBody>
      </p:sp>
      <p:sp>
        <p:nvSpPr>
          <p:cNvPr id="31" name="Text 29"/>
          <p:cNvSpPr/>
          <p:nvPr/>
        </p:nvSpPr>
        <p:spPr>
          <a:xfrm>
            <a:off x="6291072" y="4892040"/>
            <a:ext cx="5202936" cy="94183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One command denies every agent action platform-wide — audited, reversible, with separation of duties on release. Drilled quarterly, not just documented.</a:t>
            </a:r>
            <a:endParaRPr lang="en-US" sz="1100" dirty="0"/>
          </a:p>
        </p:txBody>
      </p:sp>
      <p:sp>
        <p:nvSpPr>
          <p:cNvPr id="32" name="Text 30"/>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879196"/>
                </a:solidFill>
                <a:latin typeface="Calibri" pitchFamily="34" charset="0"/>
                <a:ea typeface="Calibri" pitchFamily="34" charset="-122"/>
                <a:cs typeface="Calibri" pitchFamily="34" charset="-120"/>
              </a:rPr>
              <a:t>Aegis — Governed AI Agents · Built on AWS · Reference architecture (see NOT-CLAIMS)</a:t>
            </a:r>
            <a:endParaRPr lang="en-US" sz="900" dirty="0"/>
          </a:p>
        </p:txBody>
      </p:sp>
      <p:sp>
        <p:nvSpPr>
          <p:cNvPr id="33" name="Text 31"/>
          <p:cNvSpPr/>
          <p:nvPr/>
        </p:nvSpPr>
        <p:spPr>
          <a:xfrm>
            <a:off x="10908792" y="6473952"/>
            <a:ext cx="731520" cy="274320"/>
          </a:xfrm>
          <a:prstGeom prst="rect">
            <a:avLst/>
          </a:prstGeom>
          <a:noFill/>
          <a:ln/>
        </p:spPr>
        <p:txBody>
          <a:bodyPr wrap="square" lIns="0" tIns="0" rIns="0" bIns="0" rtlCol="0" anchor="ctr"/>
          <a:lstStyle/>
          <a:p>
            <a:pPr algn="r" indent="0" marL="0">
              <a:buNone/>
            </a:pPr>
            <a:r>
              <a:rPr lang="en-US" sz="900" dirty="0">
                <a:solidFill>
                  <a:srgbClr val="879196"/>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0B6E4F"/>
                </a:solidFill>
                <a:latin typeface="Calibri" pitchFamily="34" charset="0"/>
                <a:ea typeface="Calibri" pitchFamily="34" charset="-122"/>
                <a:cs typeface="Calibri" pitchFamily="34" charset="-120"/>
              </a:rPr>
              <a:t>02 · THE ANSWER</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B2A3A"/>
                </a:solidFill>
                <a:latin typeface="Calibri" pitchFamily="34" charset="0"/>
                <a:ea typeface="Calibri" pitchFamily="34" charset="-122"/>
                <a:cs typeface="Calibri" pitchFamily="34" charset="-120"/>
              </a:rPr>
              <a:t>You Already Own the Components — This Is the Assembly</a:t>
            </a:r>
            <a:endParaRPr lang="en-US" sz="3000" dirty="0"/>
          </a:p>
        </p:txBody>
      </p:sp>
      <p:sp>
        <p:nvSpPr>
          <p:cNvPr id="4" name="Shape 2"/>
          <p:cNvSpPr/>
          <p:nvPr/>
        </p:nvSpPr>
        <p:spPr>
          <a:xfrm>
            <a:off x="548640" y="1572768"/>
            <a:ext cx="1965960" cy="475488"/>
          </a:xfrm>
          <a:prstGeom prst="roundRect">
            <a:avLst>
              <a:gd name="adj" fmla="val 7692"/>
            </a:avLst>
          </a:prstGeom>
          <a:solidFill>
            <a:srgbClr val="1B2A3A"/>
          </a:solidFill>
          <a:ln/>
        </p:spPr>
      </p:sp>
      <p:sp>
        <p:nvSpPr>
          <p:cNvPr id="5" name="Text 3"/>
          <p:cNvSpPr/>
          <p:nvPr/>
        </p:nvSpPr>
        <p:spPr>
          <a:xfrm>
            <a:off x="685800" y="1572768"/>
            <a:ext cx="1783080"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Identity</a:t>
            </a:r>
            <a:endParaRPr lang="en-US" sz="1150" dirty="0"/>
          </a:p>
        </p:txBody>
      </p:sp>
      <p:sp>
        <p:nvSpPr>
          <p:cNvPr id="6" name="Shape 4"/>
          <p:cNvSpPr/>
          <p:nvPr/>
        </p:nvSpPr>
        <p:spPr>
          <a:xfrm>
            <a:off x="2606040" y="1572768"/>
            <a:ext cx="4892040" cy="475488"/>
          </a:xfrm>
          <a:prstGeom prst="roundRect">
            <a:avLst>
              <a:gd name="adj" fmla="val 7692"/>
            </a:avLst>
          </a:prstGeom>
          <a:solidFill>
            <a:srgbClr val="F2F3F3"/>
          </a:solidFill>
          <a:ln w="6350">
            <a:solidFill>
              <a:srgbClr val="D5DBDB"/>
            </a:solidFill>
            <a:prstDash val="solid"/>
          </a:ln>
        </p:spPr>
      </p:sp>
      <p:sp>
        <p:nvSpPr>
          <p:cNvPr id="7" name="Text 5"/>
          <p:cNvSpPr/>
          <p:nvPr/>
        </p:nvSpPr>
        <p:spPr>
          <a:xfrm>
            <a:off x="2743200" y="1572768"/>
            <a:ext cx="466344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Amazon Cognito / your IdP (Entra) · AgentCore Identity</a:t>
            </a:r>
            <a:endParaRPr lang="en-US" sz="1050" dirty="0"/>
          </a:p>
        </p:txBody>
      </p:sp>
      <p:sp>
        <p:nvSpPr>
          <p:cNvPr id="8" name="Shape 6"/>
          <p:cNvSpPr/>
          <p:nvPr/>
        </p:nvSpPr>
        <p:spPr>
          <a:xfrm>
            <a:off x="7589520" y="1572768"/>
            <a:ext cx="4069080" cy="475488"/>
          </a:xfrm>
          <a:prstGeom prst="roundRect">
            <a:avLst>
              <a:gd name="adj" fmla="val 7692"/>
            </a:avLst>
          </a:prstGeom>
          <a:solidFill>
            <a:srgbClr val="FFFFFF"/>
          </a:solidFill>
          <a:ln w="6350">
            <a:solidFill>
              <a:srgbClr val="D5DBDB"/>
            </a:solidFill>
            <a:prstDash val="solid"/>
          </a:ln>
        </p:spPr>
      </p:sp>
      <p:sp>
        <p:nvSpPr>
          <p:cNvPr id="9" name="Text 7"/>
          <p:cNvSpPr/>
          <p:nvPr/>
        </p:nvSpPr>
        <p:spPr>
          <a:xfrm>
            <a:off x="7726680" y="1572768"/>
            <a:ext cx="384048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Every action attributable to a verified person</a:t>
            </a:r>
            <a:endParaRPr lang="en-US" sz="1050" dirty="0"/>
          </a:p>
        </p:txBody>
      </p:sp>
      <p:sp>
        <p:nvSpPr>
          <p:cNvPr id="10" name="Shape 8"/>
          <p:cNvSpPr/>
          <p:nvPr/>
        </p:nvSpPr>
        <p:spPr>
          <a:xfrm>
            <a:off x="548640" y="2139696"/>
            <a:ext cx="1965960" cy="475488"/>
          </a:xfrm>
          <a:prstGeom prst="roundRect">
            <a:avLst>
              <a:gd name="adj" fmla="val 7692"/>
            </a:avLst>
          </a:prstGeom>
          <a:solidFill>
            <a:srgbClr val="1B2A3A"/>
          </a:solidFill>
          <a:ln/>
        </p:spPr>
      </p:sp>
      <p:sp>
        <p:nvSpPr>
          <p:cNvPr id="11" name="Text 9"/>
          <p:cNvSpPr/>
          <p:nvPr/>
        </p:nvSpPr>
        <p:spPr>
          <a:xfrm>
            <a:off x="685800" y="2139696"/>
            <a:ext cx="1783080"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Authorization</a:t>
            </a:r>
            <a:endParaRPr lang="en-US" sz="1150" dirty="0"/>
          </a:p>
        </p:txBody>
      </p:sp>
      <p:sp>
        <p:nvSpPr>
          <p:cNvPr id="12" name="Shape 10"/>
          <p:cNvSpPr/>
          <p:nvPr/>
        </p:nvSpPr>
        <p:spPr>
          <a:xfrm>
            <a:off x="2606040" y="2139696"/>
            <a:ext cx="4892040" cy="475488"/>
          </a:xfrm>
          <a:prstGeom prst="roundRect">
            <a:avLst>
              <a:gd name="adj" fmla="val 7692"/>
            </a:avLst>
          </a:prstGeom>
          <a:solidFill>
            <a:srgbClr val="F2F3F3"/>
          </a:solidFill>
          <a:ln w="6350">
            <a:solidFill>
              <a:srgbClr val="D5DBDB"/>
            </a:solidFill>
            <a:prstDash val="solid"/>
          </a:ln>
        </p:spPr>
      </p:sp>
      <p:sp>
        <p:nvSpPr>
          <p:cNvPr id="13" name="Text 11"/>
          <p:cNvSpPr/>
          <p:nvPr/>
        </p:nvSpPr>
        <p:spPr>
          <a:xfrm>
            <a:off x="2743200" y="2139696"/>
            <a:ext cx="466344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Cedar policies — AgentCore policy engine / Verified Permissions</a:t>
            </a:r>
            <a:endParaRPr lang="en-US" sz="1050" dirty="0"/>
          </a:p>
        </p:txBody>
      </p:sp>
      <p:sp>
        <p:nvSpPr>
          <p:cNvPr id="14" name="Shape 12"/>
          <p:cNvSpPr/>
          <p:nvPr/>
        </p:nvSpPr>
        <p:spPr>
          <a:xfrm>
            <a:off x="7589520" y="2139696"/>
            <a:ext cx="4069080" cy="475488"/>
          </a:xfrm>
          <a:prstGeom prst="roundRect">
            <a:avLst>
              <a:gd name="adj" fmla="val 7692"/>
            </a:avLst>
          </a:prstGeom>
          <a:solidFill>
            <a:srgbClr val="FFFFFF"/>
          </a:solidFill>
          <a:ln w="6350">
            <a:solidFill>
              <a:srgbClr val="D5DBDB"/>
            </a:solidFill>
            <a:prstDash val="solid"/>
          </a:ln>
        </p:spPr>
      </p:sp>
      <p:sp>
        <p:nvSpPr>
          <p:cNvPr id="15" name="Text 13"/>
          <p:cNvSpPr/>
          <p:nvPr/>
        </p:nvSpPr>
        <p:spPr>
          <a:xfrm>
            <a:off x="7726680" y="2139696"/>
            <a:ext cx="384048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Deny-by-default; agent ∩ human least privilege</a:t>
            </a:r>
            <a:endParaRPr lang="en-US" sz="1050" dirty="0"/>
          </a:p>
        </p:txBody>
      </p:sp>
      <p:sp>
        <p:nvSpPr>
          <p:cNvPr id="16" name="Shape 14"/>
          <p:cNvSpPr/>
          <p:nvPr/>
        </p:nvSpPr>
        <p:spPr>
          <a:xfrm>
            <a:off x="548640" y="2706624"/>
            <a:ext cx="1965960" cy="475488"/>
          </a:xfrm>
          <a:prstGeom prst="roundRect">
            <a:avLst>
              <a:gd name="adj" fmla="val 7692"/>
            </a:avLst>
          </a:prstGeom>
          <a:solidFill>
            <a:srgbClr val="1B2A3A"/>
          </a:solidFill>
          <a:ln/>
        </p:spPr>
      </p:sp>
      <p:sp>
        <p:nvSpPr>
          <p:cNvPr id="17" name="Text 15"/>
          <p:cNvSpPr/>
          <p:nvPr/>
        </p:nvSpPr>
        <p:spPr>
          <a:xfrm>
            <a:off x="685800" y="2706624"/>
            <a:ext cx="1783080"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Tool gateway</a:t>
            </a:r>
            <a:endParaRPr lang="en-US" sz="1150" dirty="0"/>
          </a:p>
        </p:txBody>
      </p:sp>
      <p:sp>
        <p:nvSpPr>
          <p:cNvPr id="18" name="Shape 16"/>
          <p:cNvSpPr/>
          <p:nvPr/>
        </p:nvSpPr>
        <p:spPr>
          <a:xfrm>
            <a:off x="2606040" y="2706624"/>
            <a:ext cx="4892040" cy="475488"/>
          </a:xfrm>
          <a:prstGeom prst="roundRect">
            <a:avLst>
              <a:gd name="adj" fmla="val 7692"/>
            </a:avLst>
          </a:prstGeom>
          <a:solidFill>
            <a:srgbClr val="F2F3F3"/>
          </a:solidFill>
          <a:ln w="6350">
            <a:solidFill>
              <a:srgbClr val="D5DBDB"/>
            </a:solidFill>
            <a:prstDash val="solid"/>
          </a:ln>
        </p:spPr>
      </p:sp>
      <p:sp>
        <p:nvSpPr>
          <p:cNvPr id="19" name="Text 17"/>
          <p:cNvSpPr/>
          <p:nvPr/>
        </p:nvSpPr>
        <p:spPr>
          <a:xfrm>
            <a:off x="2743200" y="2706624"/>
            <a:ext cx="466344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Bedrock AgentCore Gateway (MCP) · API Gateway · WAF</a:t>
            </a:r>
            <a:endParaRPr lang="en-US" sz="1050" dirty="0"/>
          </a:p>
        </p:txBody>
      </p:sp>
      <p:sp>
        <p:nvSpPr>
          <p:cNvPr id="20" name="Shape 18"/>
          <p:cNvSpPr/>
          <p:nvPr/>
        </p:nvSpPr>
        <p:spPr>
          <a:xfrm>
            <a:off x="7589520" y="2706624"/>
            <a:ext cx="4069080" cy="475488"/>
          </a:xfrm>
          <a:prstGeom prst="roundRect">
            <a:avLst>
              <a:gd name="adj" fmla="val 7692"/>
            </a:avLst>
          </a:prstGeom>
          <a:solidFill>
            <a:srgbClr val="FFFFFF"/>
          </a:solidFill>
          <a:ln w="6350">
            <a:solidFill>
              <a:srgbClr val="D5DBDB"/>
            </a:solidFill>
            <a:prstDash val="solid"/>
          </a:ln>
        </p:spPr>
      </p:sp>
      <p:sp>
        <p:nvSpPr>
          <p:cNvPr id="21" name="Text 19"/>
          <p:cNvSpPr/>
          <p:nvPr/>
        </p:nvSpPr>
        <p:spPr>
          <a:xfrm>
            <a:off x="7726680" y="2706624"/>
            <a:ext cx="384048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Undeclared tool call → denied, and audited</a:t>
            </a:r>
            <a:endParaRPr lang="en-US" sz="1050" dirty="0"/>
          </a:p>
        </p:txBody>
      </p:sp>
      <p:sp>
        <p:nvSpPr>
          <p:cNvPr id="22" name="Shape 20"/>
          <p:cNvSpPr/>
          <p:nvPr/>
        </p:nvSpPr>
        <p:spPr>
          <a:xfrm>
            <a:off x="548640" y="3273552"/>
            <a:ext cx="1965960" cy="475488"/>
          </a:xfrm>
          <a:prstGeom prst="roundRect">
            <a:avLst>
              <a:gd name="adj" fmla="val 7692"/>
            </a:avLst>
          </a:prstGeom>
          <a:solidFill>
            <a:srgbClr val="1B2A3A"/>
          </a:solidFill>
          <a:ln/>
        </p:spPr>
      </p:sp>
      <p:sp>
        <p:nvSpPr>
          <p:cNvPr id="23" name="Text 21"/>
          <p:cNvSpPr/>
          <p:nvPr/>
        </p:nvSpPr>
        <p:spPr>
          <a:xfrm>
            <a:off x="685800" y="3273552"/>
            <a:ext cx="1783080"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Human gate</a:t>
            </a:r>
            <a:endParaRPr lang="en-US" sz="1150" dirty="0"/>
          </a:p>
        </p:txBody>
      </p:sp>
      <p:sp>
        <p:nvSpPr>
          <p:cNvPr id="24" name="Shape 22"/>
          <p:cNvSpPr/>
          <p:nvPr/>
        </p:nvSpPr>
        <p:spPr>
          <a:xfrm>
            <a:off x="2606040" y="3273552"/>
            <a:ext cx="4892040" cy="475488"/>
          </a:xfrm>
          <a:prstGeom prst="roundRect">
            <a:avLst>
              <a:gd name="adj" fmla="val 7692"/>
            </a:avLst>
          </a:prstGeom>
          <a:solidFill>
            <a:srgbClr val="F2F3F3"/>
          </a:solidFill>
          <a:ln w="6350">
            <a:solidFill>
              <a:srgbClr val="D5DBDB"/>
            </a:solidFill>
            <a:prstDash val="solid"/>
          </a:ln>
        </p:spPr>
      </p:sp>
      <p:sp>
        <p:nvSpPr>
          <p:cNvPr id="25" name="Text 23"/>
          <p:cNvSpPr/>
          <p:nvPr/>
        </p:nvSpPr>
        <p:spPr>
          <a:xfrm>
            <a:off x="2743200" y="3273552"/>
            <a:ext cx="466344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Step Functions (waitForTaskToken) · SNS</a:t>
            </a:r>
            <a:endParaRPr lang="en-US" sz="1050" dirty="0"/>
          </a:p>
        </p:txBody>
      </p:sp>
      <p:sp>
        <p:nvSpPr>
          <p:cNvPr id="26" name="Shape 24"/>
          <p:cNvSpPr/>
          <p:nvPr/>
        </p:nvSpPr>
        <p:spPr>
          <a:xfrm>
            <a:off x="7589520" y="3273552"/>
            <a:ext cx="4069080" cy="475488"/>
          </a:xfrm>
          <a:prstGeom prst="roundRect">
            <a:avLst>
              <a:gd name="adj" fmla="val 7692"/>
            </a:avLst>
          </a:prstGeom>
          <a:solidFill>
            <a:srgbClr val="FFFFFF"/>
          </a:solidFill>
          <a:ln w="6350">
            <a:solidFill>
              <a:srgbClr val="D5DBDB"/>
            </a:solidFill>
            <a:prstDash val="solid"/>
          </a:ln>
        </p:spPr>
      </p:sp>
      <p:sp>
        <p:nvSpPr>
          <p:cNvPr id="27" name="Text 25"/>
          <p:cNvSpPr/>
          <p:nvPr/>
        </p:nvSpPr>
        <p:spPr>
          <a:xfrm>
            <a:off x="7726680" y="3273552"/>
            <a:ext cx="384048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Second-human approval; single-use; replay-rejected</a:t>
            </a:r>
            <a:endParaRPr lang="en-US" sz="1050" dirty="0"/>
          </a:p>
        </p:txBody>
      </p:sp>
      <p:sp>
        <p:nvSpPr>
          <p:cNvPr id="28" name="Shape 26"/>
          <p:cNvSpPr/>
          <p:nvPr/>
        </p:nvSpPr>
        <p:spPr>
          <a:xfrm>
            <a:off x="548640" y="3840480"/>
            <a:ext cx="1965960" cy="475488"/>
          </a:xfrm>
          <a:prstGeom prst="roundRect">
            <a:avLst>
              <a:gd name="adj" fmla="val 7692"/>
            </a:avLst>
          </a:prstGeom>
          <a:solidFill>
            <a:srgbClr val="1B2A3A"/>
          </a:solidFill>
          <a:ln/>
        </p:spPr>
      </p:sp>
      <p:sp>
        <p:nvSpPr>
          <p:cNvPr id="29" name="Text 27"/>
          <p:cNvSpPr/>
          <p:nvPr/>
        </p:nvSpPr>
        <p:spPr>
          <a:xfrm>
            <a:off x="685800" y="3840480"/>
            <a:ext cx="1783080"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Masking</a:t>
            </a:r>
            <a:endParaRPr lang="en-US" sz="1150" dirty="0"/>
          </a:p>
        </p:txBody>
      </p:sp>
      <p:sp>
        <p:nvSpPr>
          <p:cNvPr id="30" name="Shape 28"/>
          <p:cNvSpPr/>
          <p:nvPr/>
        </p:nvSpPr>
        <p:spPr>
          <a:xfrm>
            <a:off x="2606040" y="3840480"/>
            <a:ext cx="4892040" cy="475488"/>
          </a:xfrm>
          <a:prstGeom prst="roundRect">
            <a:avLst>
              <a:gd name="adj" fmla="val 7692"/>
            </a:avLst>
          </a:prstGeom>
          <a:solidFill>
            <a:srgbClr val="F2F3F3"/>
          </a:solidFill>
          <a:ln w="6350">
            <a:solidFill>
              <a:srgbClr val="D5DBDB"/>
            </a:solidFill>
            <a:prstDash val="solid"/>
          </a:ln>
        </p:spPr>
      </p:sp>
      <p:sp>
        <p:nvSpPr>
          <p:cNvPr id="31" name="Text 29"/>
          <p:cNvSpPr/>
          <p:nvPr/>
        </p:nvSpPr>
        <p:spPr>
          <a:xfrm>
            <a:off x="2743200" y="3840480"/>
            <a:ext cx="466344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Bedrock Guardrails (PII + prompt-attack) · Comprehend</a:t>
            </a:r>
            <a:endParaRPr lang="en-US" sz="1050" dirty="0"/>
          </a:p>
        </p:txBody>
      </p:sp>
      <p:sp>
        <p:nvSpPr>
          <p:cNvPr id="32" name="Shape 30"/>
          <p:cNvSpPr/>
          <p:nvPr/>
        </p:nvSpPr>
        <p:spPr>
          <a:xfrm>
            <a:off x="7589520" y="3840480"/>
            <a:ext cx="4069080" cy="475488"/>
          </a:xfrm>
          <a:prstGeom prst="roundRect">
            <a:avLst>
              <a:gd name="adj" fmla="val 7692"/>
            </a:avLst>
          </a:prstGeom>
          <a:solidFill>
            <a:srgbClr val="FFFFFF"/>
          </a:solidFill>
          <a:ln w="6350">
            <a:solidFill>
              <a:srgbClr val="D5DBDB"/>
            </a:solidFill>
            <a:prstDash val="solid"/>
          </a:ln>
        </p:spPr>
      </p:sp>
      <p:sp>
        <p:nvSpPr>
          <p:cNvPr id="33" name="Text 31"/>
          <p:cNvSpPr/>
          <p:nvPr/>
        </p:nvSpPr>
        <p:spPr>
          <a:xfrm>
            <a:off x="7726680" y="3840480"/>
            <a:ext cx="384048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Fail-closed; raw records never ride the prompt</a:t>
            </a:r>
            <a:endParaRPr lang="en-US" sz="1050" dirty="0"/>
          </a:p>
        </p:txBody>
      </p:sp>
      <p:sp>
        <p:nvSpPr>
          <p:cNvPr id="34" name="Shape 32"/>
          <p:cNvSpPr/>
          <p:nvPr/>
        </p:nvSpPr>
        <p:spPr>
          <a:xfrm>
            <a:off x="548640" y="4407408"/>
            <a:ext cx="1965960" cy="475488"/>
          </a:xfrm>
          <a:prstGeom prst="roundRect">
            <a:avLst>
              <a:gd name="adj" fmla="val 7692"/>
            </a:avLst>
          </a:prstGeom>
          <a:solidFill>
            <a:srgbClr val="1B2A3A"/>
          </a:solidFill>
          <a:ln/>
        </p:spPr>
      </p:sp>
      <p:sp>
        <p:nvSpPr>
          <p:cNvPr id="35" name="Text 33"/>
          <p:cNvSpPr/>
          <p:nvPr/>
        </p:nvSpPr>
        <p:spPr>
          <a:xfrm>
            <a:off x="685800" y="4407408"/>
            <a:ext cx="1783080"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Audit</a:t>
            </a:r>
            <a:endParaRPr lang="en-US" sz="1150" dirty="0"/>
          </a:p>
        </p:txBody>
      </p:sp>
      <p:sp>
        <p:nvSpPr>
          <p:cNvPr id="36" name="Shape 34"/>
          <p:cNvSpPr/>
          <p:nvPr/>
        </p:nvSpPr>
        <p:spPr>
          <a:xfrm>
            <a:off x="2606040" y="4407408"/>
            <a:ext cx="4892040" cy="475488"/>
          </a:xfrm>
          <a:prstGeom prst="roundRect">
            <a:avLst>
              <a:gd name="adj" fmla="val 7692"/>
            </a:avLst>
          </a:prstGeom>
          <a:solidFill>
            <a:srgbClr val="F2F3F3"/>
          </a:solidFill>
          <a:ln w="6350">
            <a:solidFill>
              <a:srgbClr val="D5DBDB"/>
            </a:solidFill>
            <a:prstDash val="solid"/>
          </a:ln>
        </p:spPr>
      </p:sp>
      <p:sp>
        <p:nvSpPr>
          <p:cNvPr id="37" name="Text 35"/>
          <p:cNvSpPr/>
          <p:nvPr/>
        </p:nvSpPr>
        <p:spPr>
          <a:xfrm>
            <a:off x="2743200" y="4407408"/>
            <a:ext cx="466344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DynamoDB · S3 Object Lock (WORM) · CloudTrail</a:t>
            </a:r>
            <a:endParaRPr lang="en-US" sz="1050" dirty="0"/>
          </a:p>
        </p:txBody>
      </p:sp>
      <p:sp>
        <p:nvSpPr>
          <p:cNvPr id="38" name="Shape 36"/>
          <p:cNvSpPr/>
          <p:nvPr/>
        </p:nvSpPr>
        <p:spPr>
          <a:xfrm>
            <a:off x="7589520" y="4407408"/>
            <a:ext cx="4069080" cy="475488"/>
          </a:xfrm>
          <a:prstGeom prst="roundRect">
            <a:avLst>
              <a:gd name="adj" fmla="val 7692"/>
            </a:avLst>
          </a:prstGeom>
          <a:solidFill>
            <a:srgbClr val="FFFFFF"/>
          </a:solidFill>
          <a:ln w="6350">
            <a:solidFill>
              <a:srgbClr val="D5DBDB"/>
            </a:solidFill>
            <a:prstDash val="solid"/>
          </a:ln>
        </p:spPr>
      </p:sp>
      <p:sp>
        <p:nvSpPr>
          <p:cNvPr id="39" name="Text 37"/>
          <p:cNvSpPr/>
          <p:nvPr/>
        </p:nvSpPr>
        <p:spPr>
          <a:xfrm>
            <a:off x="7726680" y="4407408"/>
            <a:ext cx="384048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Hash-chained, immutable; auditor answers = a query</a:t>
            </a:r>
            <a:endParaRPr lang="en-US" sz="1050" dirty="0"/>
          </a:p>
        </p:txBody>
      </p:sp>
      <p:sp>
        <p:nvSpPr>
          <p:cNvPr id="40" name="Shape 38"/>
          <p:cNvSpPr/>
          <p:nvPr/>
        </p:nvSpPr>
        <p:spPr>
          <a:xfrm>
            <a:off x="548640" y="4974336"/>
            <a:ext cx="1965960" cy="475488"/>
          </a:xfrm>
          <a:prstGeom prst="roundRect">
            <a:avLst>
              <a:gd name="adj" fmla="val 7692"/>
            </a:avLst>
          </a:prstGeom>
          <a:solidFill>
            <a:srgbClr val="1B2A3A"/>
          </a:solidFill>
          <a:ln/>
        </p:spPr>
      </p:sp>
      <p:sp>
        <p:nvSpPr>
          <p:cNvPr id="41" name="Text 39"/>
          <p:cNvSpPr/>
          <p:nvPr/>
        </p:nvSpPr>
        <p:spPr>
          <a:xfrm>
            <a:off x="685800" y="4974336"/>
            <a:ext cx="1783080"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Cost control</a:t>
            </a:r>
            <a:endParaRPr lang="en-US" sz="1150" dirty="0"/>
          </a:p>
        </p:txBody>
      </p:sp>
      <p:sp>
        <p:nvSpPr>
          <p:cNvPr id="42" name="Shape 40"/>
          <p:cNvSpPr/>
          <p:nvPr/>
        </p:nvSpPr>
        <p:spPr>
          <a:xfrm>
            <a:off x="2606040" y="4974336"/>
            <a:ext cx="4892040" cy="475488"/>
          </a:xfrm>
          <a:prstGeom prst="roundRect">
            <a:avLst>
              <a:gd name="adj" fmla="val 7692"/>
            </a:avLst>
          </a:prstGeom>
          <a:solidFill>
            <a:srgbClr val="F2F3F3"/>
          </a:solidFill>
          <a:ln w="6350">
            <a:solidFill>
              <a:srgbClr val="D5DBDB"/>
            </a:solidFill>
            <a:prstDash val="solid"/>
          </a:ln>
        </p:spPr>
      </p:sp>
      <p:sp>
        <p:nvSpPr>
          <p:cNvPr id="43" name="Text 41"/>
          <p:cNvSpPr/>
          <p:nvPr/>
        </p:nvSpPr>
        <p:spPr>
          <a:xfrm>
            <a:off x="2743200" y="4974336"/>
            <a:ext cx="466344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Bedrock inference profiles · CloudWatch</a:t>
            </a:r>
            <a:endParaRPr lang="en-US" sz="1050" dirty="0"/>
          </a:p>
        </p:txBody>
      </p:sp>
      <p:sp>
        <p:nvSpPr>
          <p:cNvPr id="44" name="Shape 42"/>
          <p:cNvSpPr/>
          <p:nvPr/>
        </p:nvSpPr>
        <p:spPr>
          <a:xfrm>
            <a:off x="7589520" y="4974336"/>
            <a:ext cx="4069080" cy="475488"/>
          </a:xfrm>
          <a:prstGeom prst="roundRect">
            <a:avLst>
              <a:gd name="adj" fmla="val 7692"/>
            </a:avLst>
          </a:prstGeom>
          <a:solidFill>
            <a:srgbClr val="FFFFFF"/>
          </a:solidFill>
          <a:ln w="6350">
            <a:solidFill>
              <a:srgbClr val="D5DBDB"/>
            </a:solidFill>
            <a:prstDash val="solid"/>
          </a:ln>
        </p:spPr>
      </p:sp>
      <p:sp>
        <p:nvSpPr>
          <p:cNvPr id="45" name="Text 43"/>
          <p:cNvSpPr/>
          <p:nvPr/>
        </p:nvSpPr>
        <p:spPr>
          <a:xfrm>
            <a:off x="7726680" y="4974336"/>
            <a:ext cx="384048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Hard token caps per agent + chargeback by department</a:t>
            </a:r>
            <a:endParaRPr lang="en-US" sz="1050" dirty="0"/>
          </a:p>
        </p:txBody>
      </p:sp>
      <p:sp>
        <p:nvSpPr>
          <p:cNvPr id="46" name="Shape 44"/>
          <p:cNvSpPr/>
          <p:nvPr/>
        </p:nvSpPr>
        <p:spPr>
          <a:xfrm>
            <a:off x="548640" y="5541264"/>
            <a:ext cx="1965960" cy="475488"/>
          </a:xfrm>
          <a:prstGeom prst="roundRect">
            <a:avLst>
              <a:gd name="adj" fmla="val 7692"/>
            </a:avLst>
          </a:prstGeom>
          <a:solidFill>
            <a:srgbClr val="1B2A3A"/>
          </a:solidFill>
          <a:ln/>
        </p:spPr>
      </p:sp>
      <p:sp>
        <p:nvSpPr>
          <p:cNvPr id="47" name="Text 45"/>
          <p:cNvSpPr/>
          <p:nvPr/>
        </p:nvSpPr>
        <p:spPr>
          <a:xfrm>
            <a:off x="685800" y="5541264"/>
            <a:ext cx="1783080" cy="47548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Containment</a:t>
            </a:r>
            <a:endParaRPr lang="en-US" sz="1150" dirty="0"/>
          </a:p>
        </p:txBody>
      </p:sp>
      <p:sp>
        <p:nvSpPr>
          <p:cNvPr id="48" name="Shape 46"/>
          <p:cNvSpPr/>
          <p:nvPr/>
        </p:nvSpPr>
        <p:spPr>
          <a:xfrm>
            <a:off x="2606040" y="5541264"/>
            <a:ext cx="4892040" cy="475488"/>
          </a:xfrm>
          <a:prstGeom prst="roundRect">
            <a:avLst>
              <a:gd name="adj" fmla="val 7692"/>
            </a:avLst>
          </a:prstGeom>
          <a:solidFill>
            <a:srgbClr val="F2F3F3"/>
          </a:solidFill>
          <a:ln w="6350">
            <a:solidFill>
              <a:srgbClr val="D5DBDB"/>
            </a:solidFill>
            <a:prstDash val="solid"/>
          </a:ln>
        </p:spPr>
      </p:sp>
      <p:sp>
        <p:nvSpPr>
          <p:cNvPr id="49" name="Text 47"/>
          <p:cNvSpPr/>
          <p:nvPr/>
        </p:nvSpPr>
        <p:spPr>
          <a:xfrm>
            <a:off x="2743200" y="5541264"/>
            <a:ext cx="466344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SSM Parameter Store · IAM (two-role SoD) · KMS</a:t>
            </a:r>
            <a:endParaRPr lang="en-US" sz="1050" dirty="0"/>
          </a:p>
        </p:txBody>
      </p:sp>
      <p:sp>
        <p:nvSpPr>
          <p:cNvPr id="50" name="Shape 48"/>
          <p:cNvSpPr/>
          <p:nvPr/>
        </p:nvSpPr>
        <p:spPr>
          <a:xfrm>
            <a:off x="7589520" y="5541264"/>
            <a:ext cx="4069080" cy="475488"/>
          </a:xfrm>
          <a:prstGeom prst="roundRect">
            <a:avLst>
              <a:gd name="adj" fmla="val 7692"/>
            </a:avLst>
          </a:prstGeom>
          <a:solidFill>
            <a:srgbClr val="FFFFFF"/>
          </a:solidFill>
          <a:ln w="6350">
            <a:solidFill>
              <a:srgbClr val="D5DBDB"/>
            </a:solidFill>
            <a:prstDash val="solid"/>
          </a:ln>
        </p:spPr>
      </p:sp>
      <p:sp>
        <p:nvSpPr>
          <p:cNvPr id="51" name="Text 49"/>
          <p:cNvSpPr/>
          <p:nvPr/>
        </p:nvSpPr>
        <p:spPr>
          <a:xfrm>
            <a:off x="7726680" y="5541264"/>
            <a:ext cx="3840480" cy="475488"/>
          </a:xfrm>
          <a:prstGeom prst="rect">
            <a:avLst/>
          </a:prstGeom>
          <a:noFill/>
          <a:ln/>
        </p:spPr>
        <p:txBody>
          <a:bodyPr wrap="square" lIns="0" tIns="0" rIns="0" bIns="0" rtlCol="0" anchor="ctr"/>
          <a:lstStyle/>
          <a:p>
            <a:pPr indent="0" marL="0">
              <a:buNone/>
            </a:pPr>
            <a:r>
              <a:rPr lang="en-US" sz="1050" dirty="0">
                <a:solidFill>
                  <a:srgbClr val="545B64"/>
                </a:solidFill>
                <a:latin typeface="Calibri" pitchFamily="34" charset="0"/>
                <a:ea typeface="Calibri" pitchFamily="34" charset="-122"/>
                <a:cs typeface="Calibri" pitchFamily="34" charset="-120"/>
              </a:rPr>
              <a:t>The Kill Switch — one command, platform-wide</a:t>
            </a:r>
            <a:endParaRPr lang="en-US" sz="1050" dirty="0"/>
          </a:p>
        </p:txBody>
      </p:sp>
      <p:sp>
        <p:nvSpPr>
          <p:cNvPr id="52" name="Text 50"/>
          <p:cNvSpPr/>
          <p:nvPr/>
        </p:nvSpPr>
        <p:spPr>
          <a:xfrm>
            <a:off x="548640" y="6181344"/>
            <a:ext cx="11064240" cy="320040"/>
          </a:xfrm>
          <a:prstGeom prst="rect">
            <a:avLst/>
          </a:prstGeom>
          <a:noFill/>
          <a:ln/>
        </p:spPr>
        <p:txBody>
          <a:bodyPr wrap="square" lIns="0" tIns="0" rIns="0" bIns="0" rtlCol="0" anchor="ctr"/>
          <a:lstStyle/>
          <a:p>
            <a:pPr indent="0" marL="0">
              <a:buNone/>
            </a:pPr>
            <a:r>
              <a:rPr lang="en-US" sz="1100" i="1" dirty="0">
                <a:solidFill>
                  <a:srgbClr val="545B64"/>
                </a:solidFill>
                <a:latin typeface="Calibri" pitchFamily="34" charset="0"/>
                <a:ea typeface="Calibri" pitchFamily="34" charset="-122"/>
                <a:cs typeface="Calibri" pitchFamily="34" charset="-120"/>
              </a:rPr>
              <a:t>All generally available services; HIPAA-eligible stack where required; GovCloud infrastructure variant included.</a:t>
            </a:r>
            <a:endParaRPr lang="en-US" sz="1100" dirty="0"/>
          </a:p>
        </p:txBody>
      </p:sp>
      <p:sp>
        <p:nvSpPr>
          <p:cNvPr id="53" name="Text 51"/>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879196"/>
                </a:solidFill>
                <a:latin typeface="Calibri" pitchFamily="34" charset="0"/>
                <a:ea typeface="Calibri" pitchFamily="34" charset="-122"/>
                <a:cs typeface="Calibri" pitchFamily="34" charset="-120"/>
              </a:rPr>
              <a:t>Aegis — Governed AI Agents · Built on AWS · Reference architecture (see NOT-CLAIMS)</a:t>
            </a:r>
            <a:endParaRPr lang="en-US" sz="900" dirty="0"/>
          </a:p>
        </p:txBody>
      </p:sp>
      <p:sp>
        <p:nvSpPr>
          <p:cNvPr id="54" name="Text 52"/>
          <p:cNvSpPr/>
          <p:nvPr/>
        </p:nvSpPr>
        <p:spPr>
          <a:xfrm>
            <a:off x="10908792" y="6473952"/>
            <a:ext cx="731520" cy="274320"/>
          </a:xfrm>
          <a:prstGeom prst="rect">
            <a:avLst/>
          </a:prstGeom>
          <a:noFill/>
          <a:ln/>
        </p:spPr>
        <p:txBody>
          <a:bodyPr wrap="square" lIns="0" tIns="0" rIns="0" bIns="0" rtlCol="0" anchor="ctr"/>
          <a:lstStyle/>
          <a:p>
            <a:pPr algn="r" indent="0" marL="0">
              <a:buNone/>
            </a:pPr>
            <a:r>
              <a:rPr lang="en-US" sz="900" dirty="0">
                <a:solidFill>
                  <a:srgbClr val="879196"/>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0B6E4F"/>
                </a:solidFill>
                <a:latin typeface="Calibri" pitchFamily="34" charset="0"/>
                <a:ea typeface="Calibri" pitchFamily="34" charset="-122"/>
                <a:cs typeface="Calibri" pitchFamily="34" charset="-120"/>
              </a:rPr>
              <a:t>03 · ANY AGENT, SAME RULES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B2A3A"/>
                </a:solidFill>
                <a:latin typeface="Calibri" pitchFamily="34" charset="0"/>
                <a:ea typeface="Calibri" pitchFamily="34" charset="-122"/>
                <a:cs typeface="Calibri" pitchFamily="34" charset="-120"/>
              </a:rPr>
              <a:t>The Minimum Bar — Nine Gates, CI-Enforced</a:t>
            </a:r>
            <a:endParaRPr lang="en-US" sz="3000" dirty="0"/>
          </a:p>
        </p:txBody>
      </p:sp>
      <p:sp>
        <p:nvSpPr>
          <p:cNvPr id="4" name="Shape 2"/>
          <p:cNvSpPr/>
          <p:nvPr/>
        </p:nvSpPr>
        <p:spPr>
          <a:xfrm>
            <a:off x="548640" y="1645920"/>
            <a:ext cx="3593592" cy="960120"/>
          </a:xfrm>
          <a:prstGeom prst="roundRect">
            <a:avLst>
              <a:gd name="adj" fmla="val 4762"/>
            </a:avLst>
          </a:prstGeom>
          <a:solidFill>
            <a:srgbClr val="F2F3F3"/>
          </a:solidFill>
          <a:ln w="9525">
            <a:solidFill>
              <a:srgbClr val="D5DBDB"/>
            </a:solidFill>
            <a:prstDash val="solid"/>
          </a:ln>
        </p:spPr>
      </p:sp>
      <p:sp>
        <p:nvSpPr>
          <p:cNvPr id="5" name="Shape 3"/>
          <p:cNvSpPr/>
          <p:nvPr/>
        </p:nvSpPr>
        <p:spPr>
          <a:xfrm>
            <a:off x="676656" y="1920240"/>
            <a:ext cx="402336" cy="402336"/>
          </a:xfrm>
          <a:prstGeom prst="ellipse">
            <a:avLst/>
          </a:prstGeom>
          <a:solidFill>
            <a:srgbClr val="0B6E4F"/>
          </a:solidFill>
          <a:ln/>
        </p:spPr>
      </p:sp>
      <p:sp>
        <p:nvSpPr>
          <p:cNvPr id="6" name="Text 4"/>
          <p:cNvSpPr/>
          <p:nvPr/>
        </p:nvSpPr>
        <p:spPr>
          <a:xfrm>
            <a:off x="676656" y="19202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645920"/>
            <a:ext cx="2816352" cy="960120"/>
          </a:xfrm>
          <a:prstGeom prst="rect">
            <a:avLst/>
          </a:prstGeom>
          <a:noFill/>
          <a:ln/>
        </p:spPr>
        <p:txBody>
          <a:bodyPr wrap="square" lIns="0" tIns="0" rIns="0" bIns="0" rtlCol="0" anchor="ctr"/>
          <a:lstStyle/>
          <a:p>
            <a:pPr indent="0" marL="0">
              <a:lnSpc>
                <a:spcPct val="100000"/>
              </a:lnSpc>
              <a:buNone/>
            </a:pPr>
            <a:r>
              <a:rPr lang="en-US" sz="1200" b="1" dirty="0">
                <a:solidFill>
                  <a:srgbClr val="1B2A3A"/>
                </a:solidFill>
                <a:latin typeface="Calibri" pitchFamily="34" charset="0"/>
                <a:ea typeface="Calibri" pitchFamily="34" charset="-122"/>
                <a:cs typeface="Calibri" pitchFamily="34" charset="-120"/>
              </a:rPr>
              <a:t>Declared scope, nothing more</a:t>
            </a:r>
            <a:endParaRPr lang="en-US" sz="1200" dirty="0"/>
          </a:p>
        </p:txBody>
      </p:sp>
      <p:sp>
        <p:nvSpPr>
          <p:cNvPr id="8" name="Shape 6"/>
          <p:cNvSpPr/>
          <p:nvPr/>
        </p:nvSpPr>
        <p:spPr>
          <a:xfrm>
            <a:off x="4306824" y="1645920"/>
            <a:ext cx="3593592" cy="960120"/>
          </a:xfrm>
          <a:prstGeom prst="roundRect">
            <a:avLst>
              <a:gd name="adj" fmla="val 4762"/>
            </a:avLst>
          </a:prstGeom>
          <a:solidFill>
            <a:srgbClr val="F2F3F3"/>
          </a:solidFill>
          <a:ln w="9525">
            <a:solidFill>
              <a:srgbClr val="D5DBDB"/>
            </a:solidFill>
            <a:prstDash val="solid"/>
          </a:ln>
        </p:spPr>
      </p:sp>
      <p:sp>
        <p:nvSpPr>
          <p:cNvPr id="9" name="Shape 7"/>
          <p:cNvSpPr/>
          <p:nvPr/>
        </p:nvSpPr>
        <p:spPr>
          <a:xfrm>
            <a:off x="4434840" y="1920240"/>
            <a:ext cx="402336" cy="402336"/>
          </a:xfrm>
          <a:prstGeom prst="ellipse">
            <a:avLst/>
          </a:prstGeom>
          <a:solidFill>
            <a:srgbClr val="0B6E4F"/>
          </a:solidFill>
          <a:ln/>
        </p:spPr>
      </p:sp>
      <p:sp>
        <p:nvSpPr>
          <p:cNvPr id="10" name="Text 8"/>
          <p:cNvSpPr/>
          <p:nvPr/>
        </p:nvSpPr>
        <p:spPr>
          <a:xfrm>
            <a:off x="4434840" y="19202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946904" y="1645920"/>
            <a:ext cx="2816352" cy="960120"/>
          </a:xfrm>
          <a:prstGeom prst="rect">
            <a:avLst/>
          </a:prstGeom>
          <a:noFill/>
          <a:ln/>
        </p:spPr>
        <p:txBody>
          <a:bodyPr wrap="square" lIns="0" tIns="0" rIns="0" bIns="0" rtlCol="0" anchor="ctr"/>
          <a:lstStyle/>
          <a:p>
            <a:pPr indent="0" marL="0">
              <a:lnSpc>
                <a:spcPct val="100000"/>
              </a:lnSpc>
              <a:buNone/>
            </a:pPr>
            <a:r>
              <a:rPr lang="en-US" sz="1200" b="1" dirty="0">
                <a:solidFill>
                  <a:srgbClr val="1B2A3A"/>
                </a:solidFill>
                <a:latin typeface="Calibri" pitchFamily="34" charset="0"/>
                <a:ea typeface="Calibri" pitchFamily="34" charset="-122"/>
                <a:cs typeface="Calibri" pitchFamily="34" charset="-120"/>
              </a:rPr>
              <a:t>Consequential actions withheld in code</a:t>
            </a:r>
            <a:endParaRPr lang="en-US" sz="1200" dirty="0"/>
          </a:p>
        </p:txBody>
      </p:sp>
      <p:sp>
        <p:nvSpPr>
          <p:cNvPr id="12" name="Shape 10"/>
          <p:cNvSpPr/>
          <p:nvPr/>
        </p:nvSpPr>
        <p:spPr>
          <a:xfrm>
            <a:off x="8065008" y="1645920"/>
            <a:ext cx="3593592" cy="960120"/>
          </a:xfrm>
          <a:prstGeom prst="roundRect">
            <a:avLst>
              <a:gd name="adj" fmla="val 4762"/>
            </a:avLst>
          </a:prstGeom>
          <a:solidFill>
            <a:srgbClr val="F2F3F3"/>
          </a:solidFill>
          <a:ln w="9525">
            <a:solidFill>
              <a:srgbClr val="D5DBDB"/>
            </a:solidFill>
            <a:prstDash val="solid"/>
          </a:ln>
        </p:spPr>
      </p:sp>
      <p:sp>
        <p:nvSpPr>
          <p:cNvPr id="13" name="Shape 11"/>
          <p:cNvSpPr/>
          <p:nvPr/>
        </p:nvSpPr>
        <p:spPr>
          <a:xfrm>
            <a:off x="8193024" y="1920240"/>
            <a:ext cx="402336" cy="402336"/>
          </a:xfrm>
          <a:prstGeom prst="ellipse">
            <a:avLst/>
          </a:prstGeom>
          <a:solidFill>
            <a:srgbClr val="0B6E4F"/>
          </a:solidFill>
          <a:ln/>
        </p:spPr>
      </p:sp>
      <p:sp>
        <p:nvSpPr>
          <p:cNvPr id="14" name="Text 12"/>
          <p:cNvSpPr/>
          <p:nvPr/>
        </p:nvSpPr>
        <p:spPr>
          <a:xfrm>
            <a:off x="8193024" y="19202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8705088" y="1645920"/>
            <a:ext cx="2816352" cy="960120"/>
          </a:xfrm>
          <a:prstGeom prst="rect">
            <a:avLst/>
          </a:prstGeom>
          <a:noFill/>
          <a:ln/>
        </p:spPr>
        <p:txBody>
          <a:bodyPr wrap="square" lIns="0" tIns="0" rIns="0" bIns="0" rtlCol="0" anchor="ctr"/>
          <a:lstStyle/>
          <a:p>
            <a:pPr indent="0" marL="0">
              <a:lnSpc>
                <a:spcPct val="100000"/>
              </a:lnSpc>
              <a:buNone/>
            </a:pPr>
            <a:r>
              <a:rPr lang="en-US" sz="1200" b="1" dirty="0">
                <a:solidFill>
                  <a:srgbClr val="1B2A3A"/>
                </a:solidFill>
                <a:latin typeface="Calibri" pitchFamily="34" charset="0"/>
                <a:ea typeface="Calibri" pitchFamily="34" charset="-122"/>
                <a:cs typeface="Calibri" pitchFamily="34" charset="-120"/>
              </a:rPr>
              <a:t>Bound, single-use SoD human gate</a:t>
            </a:r>
            <a:endParaRPr lang="en-US" sz="1200" dirty="0"/>
          </a:p>
        </p:txBody>
      </p:sp>
      <p:sp>
        <p:nvSpPr>
          <p:cNvPr id="16" name="Shape 14"/>
          <p:cNvSpPr/>
          <p:nvPr/>
        </p:nvSpPr>
        <p:spPr>
          <a:xfrm>
            <a:off x="548640" y="2761488"/>
            <a:ext cx="3593592" cy="960120"/>
          </a:xfrm>
          <a:prstGeom prst="roundRect">
            <a:avLst>
              <a:gd name="adj" fmla="val 4762"/>
            </a:avLst>
          </a:prstGeom>
          <a:solidFill>
            <a:srgbClr val="F2F3F3"/>
          </a:solidFill>
          <a:ln w="9525">
            <a:solidFill>
              <a:srgbClr val="D5DBDB"/>
            </a:solidFill>
            <a:prstDash val="solid"/>
          </a:ln>
        </p:spPr>
      </p:sp>
      <p:sp>
        <p:nvSpPr>
          <p:cNvPr id="17" name="Shape 15"/>
          <p:cNvSpPr/>
          <p:nvPr/>
        </p:nvSpPr>
        <p:spPr>
          <a:xfrm>
            <a:off x="676656" y="3035808"/>
            <a:ext cx="402336" cy="402336"/>
          </a:xfrm>
          <a:prstGeom prst="ellipse">
            <a:avLst/>
          </a:prstGeom>
          <a:solidFill>
            <a:srgbClr val="0B6E4F"/>
          </a:solidFill>
          <a:ln/>
        </p:spPr>
      </p:sp>
      <p:sp>
        <p:nvSpPr>
          <p:cNvPr id="18" name="Text 16"/>
          <p:cNvSpPr/>
          <p:nvPr/>
        </p:nvSpPr>
        <p:spPr>
          <a:xfrm>
            <a:off x="676656" y="30358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188720" y="2761488"/>
            <a:ext cx="2816352" cy="960120"/>
          </a:xfrm>
          <a:prstGeom prst="rect">
            <a:avLst/>
          </a:prstGeom>
          <a:noFill/>
          <a:ln/>
        </p:spPr>
        <p:txBody>
          <a:bodyPr wrap="square" lIns="0" tIns="0" rIns="0" bIns="0" rtlCol="0" anchor="ctr"/>
          <a:lstStyle/>
          <a:p>
            <a:pPr indent="0" marL="0">
              <a:lnSpc>
                <a:spcPct val="100000"/>
              </a:lnSpc>
              <a:buNone/>
            </a:pPr>
            <a:r>
              <a:rPr lang="en-US" sz="1200" b="1" dirty="0">
                <a:solidFill>
                  <a:srgbClr val="1B2A3A"/>
                </a:solidFill>
                <a:latin typeface="Calibri" pitchFamily="34" charset="0"/>
                <a:ea typeface="Calibri" pitchFamily="34" charset="-122"/>
                <a:cs typeface="Calibri" pitchFamily="34" charset="-120"/>
              </a:rPr>
              <a:t>Declared grounding source + threshold</a:t>
            </a:r>
            <a:endParaRPr lang="en-US" sz="1200" dirty="0"/>
          </a:p>
        </p:txBody>
      </p:sp>
      <p:sp>
        <p:nvSpPr>
          <p:cNvPr id="20" name="Shape 18"/>
          <p:cNvSpPr/>
          <p:nvPr/>
        </p:nvSpPr>
        <p:spPr>
          <a:xfrm>
            <a:off x="4306824" y="2761488"/>
            <a:ext cx="3593592" cy="960120"/>
          </a:xfrm>
          <a:prstGeom prst="roundRect">
            <a:avLst>
              <a:gd name="adj" fmla="val 4762"/>
            </a:avLst>
          </a:prstGeom>
          <a:solidFill>
            <a:srgbClr val="F2F3F3"/>
          </a:solidFill>
          <a:ln w="9525">
            <a:solidFill>
              <a:srgbClr val="D5DBDB"/>
            </a:solidFill>
            <a:prstDash val="solid"/>
          </a:ln>
        </p:spPr>
      </p:sp>
      <p:sp>
        <p:nvSpPr>
          <p:cNvPr id="21" name="Shape 19"/>
          <p:cNvSpPr/>
          <p:nvPr/>
        </p:nvSpPr>
        <p:spPr>
          <a:xfrm>
            <a:off x="4434840" y="3035808"/>
            <a:ext cx="402336" cy="402336"/>
          </a:xfrm>
          <a:prstGeom prst="ellipse">
            <a:avLst/>
          </a:prstGeom>
          <a:solidFill>
            <a:srgbClr val="0B6E4F"/>
          </a:solidFill>
          <a:ln/>
        </p:spPr>
      </p:sp>
      <p:sp>
        <p:nvSpPr>
          <p:cNvPr id="22" name="Text 20"/>
          <p:cNvSpPr/>
          <p:nvPr/>
        </p:nvSpPr>
        <p:spPr>
          <a:xfrm>
            <a:off x="4434840" y="30358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4946904" y="2761488"/>
            <a:ext cx="2816352" cy="960120"/>
          </a:xfrm>
          <a:prstGeom prst="rect">
            <a:avLst/>
          </a:prstGeom>
          <a:noFill/>
          <a:ln/>
        </p:spPr>
        <p:txBody>
          <a:bodyPr wrap="square" lIns="0" tIns="0" rIns="0" bIns="0" rtlCol="0" anchor="ctr"/>
          <a:lstStyle/>
          <a:p>
            <a:pPr indent="0" marL="0">
              <a:lnSpc>
                <a:spcPct val="100000"/>
              </a:lnSpc>
              <a:buNone/>
            </a:pPr>
            <a:r>
              <a:rPr lang="en-US" sz="1200" b="1" dirty="0">
                <a:solidFill>
                  <a:srgbClr val="1B2A3A"/>
                </a:solidFill>
                <a:latin typeface="Calibri" pitchFamily="34" charset="0"/>
                <a:ea typeface="Calibri" pitchFamily="34" charset="-122"/>
                <a:cs typeface="Calibri" pitchFamily="34" charset="-120"/>
              </a:rPr>
              <a:t>Token budget with a hard cap</a:t>
            </a:r>
            <a:endParaRPr lang="en-US" sz="1200" dirty="0"/>
          </a:p>
        </p:txBody>
      </p:sp>
      <p:sp>
        <p:nvSpPr>
          <p:cNvPr id="24" name="Shape 22"/>
          <p:cNvSpPr/>
          <p:nvPr/>
        </p:nvSpPr>
        <p:spPr>
          <a:xfrm>
            <a:off x="8065008" y="2761488"/>
            <a:ext cx="3593592" cy="960120"/>
          </a:xfrm>
          <a:prstGeom prst="roundRect">
            <a:avLst>
              <a:gd name="adj" fmla="val 4762"/>
            </a:avLst>
          </a:prstGeom>
          <a:solidFill>
            <a:srgbClr val="F2F3F3"/>
          </a:solidFill>
          <a:ln w="9525">
            <a:solidFill>
              <a:srgbClr val="D5DBDB"/>
            </a:solidFill>
            <a:prstDash val="solid"/>
          </a:ln>
        </p:spPr>
      </p:sp>
      <p:sp>
        <p:nvSpPr>
          <p:cNvPr id="25" name="Shape 23"/>
          <p:cNvSpPr/>
          <p:nvPr/>
        </p:nvSpPr>
        <p:spPr>
          <a:xfrm>
            <a:off x="8193024" y="3035808"/>
            <a:ext cx="402336" cy="402336"/>
          </a:xfrm>
          <a:prstGeom prst="ellipse">
            <a:avLst/>
          </a:prstGeom>
          <a:solidFill>
            <a:srgbClr val="0B6E4F"/>
          </a:solidFill>
          <a:ln/>
        </p:spPr>
      </p:sp>
      <p:sp>
        <p:nvSpPr>
          <p:cNvPr id="26" name="Text 24"/>
          <p:cNvSpPr/>
          <p:nvPr/>
        </p:nvSpPr>
        <p:spPr>
          <a:xfrm>
            <a:off x="8193024" y="303580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8705088" y="2761488"/>
            <a:ext cx="2816352" cy="960120"/>
          </a:xfrm>
          <a:prstGeom prst="rect">
            <a:avLst/>
          </a:prstGeom>
          <a:noFill/>
          <a:ln/>
        </p:spPr>
        <p:txBody>
          <a:bodyPr wrap="square" lIns="0" tIns="0" rIns="0" bIns="0" rtlCol="0" anchor="ctr"/>
          <a:lstStyle/>
          <a:p>
            <a:pPr indent="0" marL="0">
              <a:lnSpc>
                <a:spcPct val="100000"/>
              </a:lnSpc>
              <a:buNone/>
            </a:pPr>
            <a:r>
              <a:rPr lang="en-US" sz="1200" b="1" dirty="0">
                <a:solidFill>
                  <a:srgbClr val="1B2A3A"/>
                </a:solidFill>
                <a:latin typeface="Calibri" pitchFamily="34" charset="0"/>
                <a:ea typeface="Calibri" pitchFamily="34" charset="-122"/>
                <a:cs typeface="Calibri" pitchFamily="34" charset="-120"/>
              </a:rPr>
              <a:t>Eval suite passing at declared rate</a:t>
            </a:r>
            <a:endParaRPr lang="en-US" sz="1200" dirty="0"/>
          </a:p>
        </p:txBody>
      </p:sp>
      <p:sp>
        <p:nvSpPr>
          <p:cNvPr id="28" name="Shape 26"/>
          <p:cNvSpPr/>
          <p:nvPr/>
        </p:nvSpPr>
        <p:spPr>
          <a:xfrm>
            <a:off x="548640" y="3877056"/>
            <a:ext cx="3593592" cy="960120"/>
          </a:xfrm>
          <a:prstGeom prst="roundRect">
            <a:avLst>
              <a:gd name="adj" fmla="val 4762"/>
            </a:avLst>
          </a:prstGeom>
          <a:solidFill>
            <a:srgbClr val="F2F3F3"/>
          </a:solidFill>
          <a:ln w="9525">
            <a:solidFill>
              <a:srgbClr val="D5DBDB"/>
            </a:solidFill>
            <a:prstDash val="solid"/>
          </a:ln>
        </p:spPr>
      </p:sp>
      <p:sp>
        <p:nvSpPr>
          <p:cNvPr id="29" name="Shape 27"/>
          <p:cNvSpPr/>
          <p:nvPr/>
        </p:nvSpPr>
        <p:spPr>
          <a:xfrm>
            <a:off x="676656" y="4151376"/>
            <a:ext cx="402336" cy="402336"/>
          </a:xfrm>
          <a:prstGeom prst="ellipse">
            <a:avLst/>
          </a:prstGeom>
          <a:solidFill>
            <a:srgbClr val="0B6E4F"/>
          </a:solidFill>
          <a:ln/>
        </p:spPr>
      </p:sp>
      <p:sp>
        <p:nvSpPr>
          <p:cNvPr id="30" name="Text 28"/>
          <p:cNvSpPr/>
          <p:nvPr/>
        </p:nvSpPr>
        <p:spPr>
          <a:xfrm>
            <a:off x="676656" y="41513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1188720" y="3877056"/>
            <a:ext cx="2816352" cy="960120"/>
          </a:xfrm>
          <a:prstGeom prst="rect">
            <a:avLst/>
          </a:prstGeom>
          <a:noFill/>
          <a:ln/>
        </p:spPr>
        <p:txBody>
          <a:bodyPr wrap="square" lIns="0" tIns="0" rIns="0" bIns="0" rtlCol="0" anchor="ctr"/>
          <a:lstStyle/>
          <a:p>
            <a:pPr indent="0" marL="0">
              <a:lnSpc>
                <a:spcPct val="100000"/>
              </a:lnSpc>
              <a:buNone/>
            </a:pPr>
            <a:r>
              <a:rPr lang="en-US" sz="1200" b="1" dirty="0">
                <a:solidFill>
                  <a:srgbClr val="1B2A3A"/>
                </a:solidFill>
                <a:latin typeface="Calibri" pitchFamily="34" charset="0"/>
                <a:ea typeface="Calibri" pitchFamily="34" charset="-122"/>
                <a:cs typeface="Calibri" pitchFamily="34" charset="-120"/>
              </a:rPr>
              <a:t>Fail-closed masking per data class</a:t>
            </a:r>
            <a:endParaRPr lang="en-US" sz="1200" dirty="0"/>
          </a:p>
        </p:txBody>
      </p:sp>
      <p:sp>
        <p:nvSpPr>
          <p:cNvPr id="32" name="Shape 30"/>
          <p:cNvSpPr/>
          <p:nvPr/>
        </p:nvSpPr>
        <p:spPr>
          <a:xfrm>
            <a:off x="4306824" y="3877056"/>
            <a:ext cx="3593592" cy="960120"/>
          </a:xfrm>
          <a:prstGeom prst="roundRect">
            <a:avLst>
              <a:gd name="adj" fmla="val 4762"/>
            </a:avLst>
          </a:prstGeom>
          <a:solidFill>
            <a:srgbClr val="F2F3F3"/>
          </a:solidFill>
          <a:ln w="9525">
            <a:solidFill>
              <a:srgbClr val="D5DBDB"/>
            </a:solidFill>
            <a:prstDash val="solid"/>
          </a:ln>
        </p:spPr>
      </p:sp>
      <p:sp>
        <p:nvSpPr>
          <p:cNvPr id="33" name="Shape 31"/>
          <p:cNvSpPr/>
          <p:nvPr/>
        </p:nvSpPr>
        <p:spPr>
          <a:xfrm>
            <a:off x="4434840" y="4151376"/>
            <a:ext cx="402336" cy="402336"/>
          </a:xfrm>
          <a:prstGeom prst="ellipse">
            <a:avLst/>
          </a:prstGeom>
          <a:solidFill>
            <a:srgbClr val="0B6E4F"/>
          </a:solidFill>
          <a:ln/>
        </p:spPr>
      </p:sp>
      <p:sp>
        <p:nvSpPr>
          <p:cNvPr id="34" name="Text 32"/>
          <p:cNvSpPr/>
          <p:nvPr/>
        </p:nvSpPr>
        <p:spPr>
          <a:xfrm>
            <a:off x="4434840" y="41513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5" name="Text 33"/>
          <p:cNvSpPr/>
          <p:nvPr/>
        </p:nvSpPr>
        <p:spPr>
          <a:xfrm>
            <a:off x="4946904" y="3877056"/>
            <a:ext cx="2816352" cy="960120"/>
          </a:xfrm>
          <a:prstGeom prst="rect">
            <a:avLst/>
          </a:prstGeom>
          <a:noFill/>
          <a:ln/>
        </p:spPr>
        <p:txBody>
          <a:bodyPr wrap="square" lIns="0" tIns="0" rIns="0" bIns="0" rtlCol="0" anchor="ctr"/>
          <a:lstStyle/>
          <a:p>
            <a:pPr indent="0" marL="0">
              <a:lnSpc>
                <a:spcPct val="100000"/>
              </a:lnSpc>
              <a:buNone/>
            </a:pPr>
            <a:r>
              <a:rPr lang="en-US" sz="1200" b="1" dirty="0">
                <a:solidFill>
                  <a:srgbClr val="1B2A3A"/>
                </a:solidFill>
                <a:latin typeface="Calibri" pitchFamily="34" charset="0"/>
                <a:ea typeface="Calibri" pitchFamily="34" charset="-122"/>
                <a:cs typeface="Calibri" pitchFamily="34" charset="-120"/>
              </a:rPr>
              <a:t>Manifest signed by a known publisher</a:t>
            </a:r>
            <a:endParaRPr lang="en-US" sz="1200" dirty="0"/>
          </a:p>
        </p:txBody>
      </p:sp>
      <p:sp>
        <p:nvSpPr>
          <p:cNvPr id="36" name="Shape 34"/>
          <p:cNvSpPr/>
          <p:nvPr/>
        </p:nvSpPr>
        <p:spPr>
          <a:xfrm>
            <a:off x="8065008" y="3877056"/>
            <a:ext cx="3593592" cy="960120"/>
          </a:xfrm>
          <a:prstGeom prst="roundRect">
            <a:avLst>
              <a:gd name="adj" fmla="val 4762"/>
            </a:avLst>
          </a:prstGeom>
          <a:solidFill>
            <a:srgbClr val="F2F3F3"/>
          </a:solidFill>
          <a:ln w="9525">
            <a:solidFill>
              <a:srgbClr val="D5DBDB"/>
            </a:solidFill>
            <a:prstDash val="solid"/>
          </a:ln>
        </p:spPr>
      </p:sp>
      <p:sp>
        <p:nvSpPr>
          <p:cNvPr id="37" name="Shape 35"/>
          <p:cNvSpPr/>
          <p:nvPr/>
        </p:nvSpPr>
        <p:spPr>
          <a:xfrm>
            <a:off x="8193024" y="4151376"/>
            <a:ext cx="402336" cy="402336"/>
          </a:xfrm>
          <a:prstGeom prst="ellipse">
            <a:avLst/>
          </a:prstGeom>
          <a:solidFill>
            <a:srgbClr val="0B6E4F"/>
          </a:solidFill>
          <a:ln/>
        </p:spPr>
      </p:sp>
      <p:sp>
        <p:nvSpPr>
          <p:cNvPr id="38" name="Text 36"/>
          <p:cNvSpPr/>
          <p:nvPr/>
        </p:nvSpPr>
        <p:spPr>
          <a:xfrm>
            <a:off x="8193024" y="41513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9" name="Text 37"/>
          <p:cNvSpPr/>
          <p:nvPr/>
        </p:nvSpPr>
        <p:spPr>
          <a:xfrm>
            <a:off x="8705088" y="3877056"/>
            <a:ext cx="2816352" cy="960120"/>
          </a:xfrm>
          <a:prstGeom prst="rect">
            <a:avLst/>
          </a:prstGeom>
          <a:noFill/>
          <a:ln/>
        </p:spPr>
        <p:txBody>
          <a:bodyPr wrap="square" lIns="0" tIns="0" rIns="0" bIns="0" rtlCol="0" anchor="ctr"/>
          <a:lstStyle/>
          <a:p>
            <a:pPr indent="0" marL="0">
              <a:lnSpc>
                <a:spcPct val="100000"/>
              </a:lnSpc>
              <a:buNone/>
            </a:pPr>
            <a:r>
              <a:rPr lang="en-US" sz="1200" b="1" dirty="0">
                <a:solidFill>
                  <a:srgbClr val="1B2A3A"/>
                </a:solidFill>
                <a:latin typeface="Calibri" pitchFamily="34" charset="0"/>
                <a:ea typeface="Calibri" pitchFamily="34" charset="-122"/>
                <a:cs typeface="Calibri" pitchFamily="34" charset="-120"/>
              </a:rPr>
              <a:t>Vertical pack compatibility</a:t>
            </a:r>
            <a:endParaRPr lang="en-US" sz="1200" dirty="0"/>
          </a:p>
        </p:txBody>
      </p:sp>
      <p:sp>
        <p:nvSpPr>
          <p:cNvPr id="40" name="Shape 38"/>
          <p:cNvSpPr/>
          <p:nvPr/>
        </p:nvSpPr>
        <p:spPr>
          <a:xfrm>
            <a:off x="548640" y="5120640"/>
            <a:ext cx="11109960" cy="868680"/>
          </a:xfrm>
          <a:prstGeom prst="roundRect">
            <a:avLst>
              <a:gd name="adj" fmla="val 5263"/>
            </a:avLst>
          </a:prstGeom>
          <a:solidFill>
            <a:srgbClr val="1B2A3A"/>
          </a:solidFill>
          <a:ln/>
        </p:spPr>
      </p:sp>
      <p:sp>
        <p:nvSpPr>
          <p:cNvPr id="41" name="Text 39"/>
          <p:cNvSpPr/>
          <p:nvPr/>
        </p:nvSpPr>
        <p:spPr>
          <a:xfrm>
            <a:off x="777240" y="5212080"/>
            <a:ext cx="10698480" cy="713232"/>
          </a:xfrm>
          <a:prstGeom prst="rect">
            <a:avLst/>
          </a:prstGeom>
          <a:noFill/>
          <a:ln/>
        </p:spPr>
        <p:txBody>
          <a:bodyPr wrap="square" lIns="0" tIns="0" rIns="0" bIns="0" rtlCol="0" anchor="ctr"/>
          <a:lstStyle/>
          <a:p>
            <a:pPr indent="0" marL="0">
              <a:buNone/>
            </a:pPr>
            <a:r>
              <a:rPr lang="en-US" sz="1250" b="1" dirty="0">
                <a:solidFill>
                  <a:srgbClr val="F3B23E"/>
                </a:solidFill>
                <a:latin typeface="Calibri" pitchFamily="34" charset="0"/>
                <a:ea typeface="Calibri" pitchFamily="34" charset="-122"/>
                <a:cs typeface="Calibri" pitchFamily="34" charset="-120"/>
              </a:rPr>
              <a:t>Gates, not guidelines: </a:t>
            </a:r>
            <a:pPr indent="0" marL="0">
              <a:buNone/>
            </a:pPr>
            <a:r>
              <a:rPr lang="en-US" sz="1250" dirty="0">
                <a:solidFill>
                  <a:srgbClr val="FFFFFF"/>
                </a:solidFill>
                <a:latin typeface="Calibri" pitchFamily="34" charset="0"/>
                <a:ea typeface="Calibri" pitchFamily="34" charset="-122"/>
                <a:cs typeface="Calibri" pitchFamily="34" charset="-120"/>
              </a:rPr>
              <a:t>CI rejects an agent that fails any gate; the gateway refuses to load it at runtime; a delivery gate blocks placeholder credentials, demo retention, and unsigned manifests from ever reaching production.</a:t>
            </a:r>
            <a:endParaRPr lang="en-US" sz="1250" dirty="0"/>
          </a:p>
        </p:txBody>
      </p:sp>
      <p:sp>
        <p:nvSpPr>
          <p:cNvPr id="42" name="Text 40"/>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879196"/>
                </a:solidFill>
                <a:latin typeface="Calibri" pitchFamily="34" charset="0"/>
                <a:ea typeface="Calibri" pitchFamily="34" charset="-122"/>
                <a:cs typeface="Calibri" pitchFamily="34" charset="-120"/>
              </a:rPr>
              <a:t>Aegis — Governed AI Agents · Built on AWS · Reference architecture (see NOT-CLAIMS)</a:t>
            </a:r>
            <a:endParaRPr lang="en-US" sz="900" dirty="0"/>
          </a:p>
        </p:txBody>
      </p:sp>
      <p:sp>
        <p:nvSpPr>
          <p:cNvPr id="43" name="Text 41"/>
          <p:cNvSpPr/>
          <p:nvPr/>
        </p:nvSpPr>
        <p:spPr>
          <a:xfrm>
            <a:off x="10908792" y="6473952"/>
            <a:ext cx="731520" cy="274320"/>
          </a:xfrm>
          <a:prstGeom prst="rect">
            <a:avLst/>
          </a:prstGeom>
          <a:noFill/>
          <a:ln/>
        </p:spPr>
        <p:txBody>
          <a:bodyPr wrap="square" lIns="0" tIns="0" rIns="0" bIns="0" rtlCol="0" anchor="ctr"/>
          <a:lstStyle/>
          <a:p>
            <a:pPr algn="r" indent="0" marL="0">
              <a:buNone/>
            </a:pPr>
            <a:r>
              <a:rPr lang="en-US" sz="900" dirty="0">
                <a:solidFill>
                  <a:srgbClr val="879196"/>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0B6E4F"/>
                </a:solidFill>
                <a:latin typeface="Calibri" pitchFamily="34" charset="0"/>
                <a:ea typeface="Calibri" pitchFamily="34" charset="-122"/>
                <a:cs typeface="Calibri" pitchFamily="34" charset="-120"/>
              </a:rPr>
              <a:t>04 · PROOF, NOT PROMISES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B2A3A"/>
                </a:solidFill>
                <a:latin typeface="Calibri" pitchFamily="34" charset="0"/>
                <a:ea typeface="Calibri" pitchFamily="34" charset="-122"/>
                <a:cs typeface="Calibri" pitchFamily="34" charset="-120"/>
              </a:rPr>
              <a:t>Working Agents on the Identical Template</a:t>
            </a:r>
            <a:endParaRPr lang="en-US" sz="3000" dirty="0"/>
          </a:p>
        </p:txBody>
      </p:sp>
      <p:sp>
        <p:nvSpPr>
          <p:cNvPr id="4" name="Shape 2"/>
          <p:cNvSpPr/>
          <p:nvPr/>
        </p:nvSpPr>
        <p:spPr>
          <a:xfrm>
            <a:off x="548640" y="1600200"/>
            <a:ext cx="7863840" cy="713232"/>
          </a:xfrm>
          <a:prstGeom prst="roundRect">
            <a:avLst>
              <a:gd name="adj" fmla="val 6410"/>
            </a:avLst>
          </a:prstGeom>
          <a:solidFill>
            <a:srgbClr val="F2F3F3"/>
          </a:solidFill>
          <a:ln w="9525">
            <a:solidFill>
              <a:srgbClr val="D5DBDB"/>
            </a:solidFill>
            <a:prstDash val="solid"/>
          </a:ln>
        </p:spPr>
      </p:sp>
      <p:sp>
        <p:nvSpPr>
          <p:cNvPr id="5" name="Text 3"/>
          <p:cNvSpPr/>
          <p:nvPr/>
        </p:nvSpPr>
        <p:spPr>
          <a:xfrm>
            <a:off x="731520" y="1600200"/>
            <a:ext cx="6583680" cy="713232"/>
          </a:xfrm>
          <a:prstGeom prst="rect">
            <a:avLst/>
          </a:prstGeom>
          <a:noFill/>
          <a:ln/>
        </p:spPr>
        <p:txBody>
          <a:bodyPr wrap="square" lIns="0" tIns="0" rIns="0" bIns="0" rtlCol="0" anchor="ctr"/>
          <a:lstStyle/>
          <a:p>
            <a:pPr indent="0" marL="0">
              <a:lnSpc>
                <a:spcPct val="102000"/>
              </a:lnSpc>
              <a:buNone/>
            </a:pPr>
            <a:r>
              <a:rPr lang="en-US" sz="1300" b="1" dirty="0">
                <a:solidFill>
                  <a:srgbClr val="1B2A3A"/>
                </a:solidFill>
                <a:latin typeface="Calibri" pitchFamily="34" charset="0"/>
                <a:ea typeface="Calibri" pitchFamily="34" charset="-122"/>
                <a:cs typeface="Calibri" pitchFamily="34" charset="-120"/>
              </a:rPr>
              <a:t>Benefits eligibility  </a:t>
            </a:r>
            <a:pPr indent="0" marL="0">
              <a:lnSpc>
                <a:spcPct val="102000"/>
              </a:lnSpc>
              <a:buNone/>
            </a:pPr>
            <a:r>
              <a:rPr lang="en-US" sz="1050" dirty="0">
                <a:solidFill>
                  <a:srgbClr val="545B64"/>
                </a:solidFill>
                <a:latin typeface="Calibri" pitchFamily="34" charset="0"/>
                <a:ea typeface="Calibri" pitchFamily="34" charset="-122"/>
                <a:cs typeface="Calibri" pitchFamily="34" charset="-120"/>
              </a:rPr>
              <a:t>· SNAP/Medicaid/TANF screening, FPL-pinned rules, caseworker sign-off, fraud-referral policy</a:t>
            </a:r>
            <a:endParaRPr lang="en-US" sz="1300" dirty="0"/>
          </a:p>
        </p:txBody>
      </p:sp>
      <p:sp>
        <p:nvSpPr>
          <p:cNvPr id="6" name="Shape 4"/>
          <p:cNvSpPr/>
          <p:nvPr/>
        </p:nvSpPr>
        <p:spPr>
          <a:xfrm>
            <a:off x="7360920" y="1755648"/>
            <a:ext cx="914400" cy="402336"/>
          </a:xfrm>
          <a:prstGeom prst="roundRect">
            <a:avLst>
              <a:gd name="adj" fmla="val 18182"/>
            </a:avLst>
          </a:prstGeom>
          <a:solidFill>
            <a:srgbClr val="0B6E4F"/>
          </a:solidFill>
          <a:ln/>
        </p:spPr>
      </p:sp>
      <p:sp>
        <p:nvSpPr>
          <p:cNvPr id="7" name="Text 5"/>
          <p:cNvSpPr/>
          <p:nvPr/>
        </p:nvSpPr>
        <p:spPr>
          <a:xfrm>
            <a:off x="7360920" y="1755648"/>
            <a:ext cx="91440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SLG</a:t>
            </a:r>
            <a:endParaRPr lang="en-US" sz="1000" dirty="0"/>
          </a:p>
        </p:txBody>
      </p:sp>
      <p:sp>
        <p:nvSpPr>
          <p:cNvPr id="8" name="Shape 6"/>
          <p:cNvSpPr/>
          <p:nvPr/>
        </p:nvSpPr>
        <p:spPr>
          <a:xfrm>
            <a:off x="548640" y="2441448"/>
            <a:ext cx="7863840" cy="713232"/>
          </a:xfrm>
          <a:prstGeom prst="roundRect">
            <a:avLst>
              <a:gd name="adj" fmla="val 6410"/>
            </a:avLst>
          </a:prstGeom>
          <a:solidFill>
            <a:srgbClr val="F2F3F3"/>
          </a:solidFill>
          <a:ln w="9525">
            <a:solidFill>
              <a:srgbClr val="D5DBDB"/>
            </a:solidFill>
            <a:prstDash val="solid"/>
          </a:ln>
        </p:spPr>
      </p:sp>
      <p:sp>
        <p:nvSpPr>
          <p:cNvPr id="9" name="Text 7"/>
          <p:cNvSpPr/>
          <p:nvPr/>
        </p:nvSpPr>
        <p:spPr>
          <a:xfrm>
            <a:off x="731520" y="2441448"/>
            <a:ext cx="6583680" cy="713232"/>
          </a:xfrm>
          <a:prstGeom prst="rect">
            <a:avLst/>
          </a:prstGeom>
          <a:noFill/>
          <a:ln/>
        </p:spPr>
        <p:txBody>
          <a:bodyPr wrap="square" lIns="0" tIns="0" rIns="0" bIns="0" rtlCol="0" anchor="ctr"/>
          <a:lstStyle/>
          <a:p>
            <a:pPr indent="0" marL="0">
              <a:lnSpc>
                <a:spcPct val="102000"/>
              </a:lnSpc>
              <a:buNone/>
            </a:pPr>
            <a:r>
              <a:rPr lang="en-US" sz="1300" b="1" dirty="0">
                <a:solidFill>
                  <a:srgbClr val="1B2A3A"/>
                </a:solidFill>
                <a:latin typeface="Calibri" pitchFamily="34" charset="0"/>
                <a:ea typeface="Calibri" pitchFamily="34" charset="-122"/>
                <a:cs typeface="Calibri" pitchFamily="34" charset="-120"/>
              </a:rPr>
              <a:t>Financial aid  </a:t>
            </a:r>
            <a:pPr indent="0" marL="0">
              <a:lnSpc>
                <a:spcPct val="102000"/>
              </a:lnSpc>
              <a:buNone/>
            </a:pPr>
            <a:r>
              <a:rPr lang="en-US" sz="1050" dirty="0">
                <a:solidFill>
                  <a:srgbClr val="545B64"/>
                </a:solidFill>
                <a:latin typeface="Calibri" pitchFamily="34" charset="0"/>
                <a:ea typeface="Calibri" pitchFamily="34" charset="-122"/>
                <a:cs typeface="Calibri" pitchFamily="34" charset="-120"/>
              </a:rPr>
              <a:t>· FAFSA intake, cost-of-attendance grounding, award-year gate, aid-officer sign-off</a:t>
            </a:r>
            <a:endParaRPr lang="en-US" sz="1300" dirty="0"/>
          </a:p>
        </p:txBody>
      </p:sp>
      <p:sp>
        <p:nvSpPr>
          <p:cNvPr id="10" name="Shape 8"/>
          <p:cNvSpPr/>
          <p:nvPr/>
        </p:nvSpPr>
        <p:spPr>
          <a:xfrm>
            <a:off x="7360920" y="2596896"/>
            <a:ext cx="914400" cy="402336"/>
          </a:xfrm>
          <a:prstGeom prst="roundRect">
            <a:avLst>
              <a:gd name="adj" fmla="val 18182"/>
            </a:avLst>
          </a:prstGeom>
          <a:solidFill>
            <a:srgbClr val="0B6E4F"/>
          </a:solidFill>
          <a:ln/>
        </p:spPr>
      </p:sp>
      <p:sp>
        <p:nvSpPr>
          <p:cNvPr id="11" name="Text 9"/>
          <p:cNvSpPr/>
          <p:nvPr/>
        </p:nvSpPr>
        <p:spPr>
          <a:xfrm>
            <a:off x="7360920" y="2596896"/>
            <a:ext cx="91440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EDU</a:t>
            </a:r>
            <a:endParaRPr lang="en-US" sz="1000" dirty="0"/>
          </a:p>
        </p:txBody>
      </p:sp>
      <p:sp>
        <p:nvSpPr>
          <p:cNvPr id="12" name="Shape 10"/>
          <p:cNvSpPr/>
          <p:nvPr/>
        </p:nvSpPr>
        <p:spPr>
          <a:xfrm>
            <a:off x="548640" y="3282696"/>
            <a:ext cx="7863840" cy="713232"/>
          </a:xfrm>
          <a:prstGeom prst="roundRect">
            <a:avLst>
              <a:gd name="adj" fmla="val 6410"/>
            </a:avLst>
          </a:prstGeom>
          <a:solidFill>
            <a:srgbClr val="F2F3F3"/>
          </a:solidFill>
          <a:ln w="9525">
            <a:solidFill>
              <a:srgbClr val="D5DBDB"/>
            </a:solidFill>
            <a:prstDash val="solid"/>
          </a:ln>
        </p:spPr>
      </p:sp>
      <p:sp>
        <p:nvSpPr>
          <p:cNvPr id="13" name="Text 11"/>
          <p:cNvSpPr/>
          <p:nvPr/>
        </p:nvSpPr>
        <p:spPr>
          <a:xfrm>
            <a:off x="731520" y="3282696"/>
            <a:ext cx="6583680" cy="713232"/>
          </a:xfrm>
          <a:prstGeom prst="rect">
            <a:avLst/>
          </a:prstGeom>
          <a:noFill/>
          <a:ln/>
        </p:spPr>
        <p:txBody>
          <a:bodyPr wrap="square" lIns="0" tIns="0" rIns="0" bIns="0" rtlCol="0" anchor="ctr"/>
          <a:lstStyle/>
          <a:p>
            <a:pPr indent="0" marL="0">
              <a:lnSpc>
                <a:spcPct val="102000"/>
              </a:lnSpc>
              <a:buNone/>
            </a:pPr>
            <a:r>
              <a:rPr lang="en-US" sz="1300" b="1" dirty="0">
                <a:solidFill>
                  <a:srgbClr val="1B2A3A"/>
                </a:solidFill>
                <a:latin typeface="Calibri" pitchFamily="34" charset="0"/>
                <a:ea typeface="Calibri" pitchFamily="34" charset="-122"/>
                <a:cs typeface="Calibri" pitchFamily="34" charset="-120"/>
              </a:rPr>
              <a:t>Housing eligibility  </a:t>
            </a:r>
            <a:pPr indent="0" marL="0">
              <a:lnSpc>
                <a:spcPct val="102000"/>
              </a:lnSpc>
              <a:buNone/>
            </a:pPr>
            <a:r>
              <a:rPr lang="en-US" sz="1050" dirty="0">
                <a:solidFill>
                  <a:srgbClr val="545B64"/>
                </a:solidFill>
                <a:latin typeface="Calibri" pitchFamily="34" charset="0"/>
                <a:ea typeface="Calibri" pitchFamily="34" charset="-122"/>
                <a:cs typeface="Calibri" pitchFamily="34" charset="-120"/>
              </a:rPr>
              <a:t>· Eligibility screening with the same governed template and human gate</a:t>
            </a:r>
            <a:endParaRPr lang="en-US" sz="1300" dirty="0"/>
          </a:p>
        </p:txBody>
      </p:sp>
      <p:sp>
        <p:nvSpPr>
          <p:cNvPr id="14" name="Shape 12"/>
          <p:cNvSpPr/>
          <p:nvPr/>
        </p:nvSpPr>
        <p:spPr>
          <a:xfrm>
            <a:off x="7360920" y="3438144"/>
            <a:ext cx="914400" cy="402336"/>
          </a:xfrm>
          <a:prstGeom prst="roundRect">
            <a:avLst>
              <a:gd name="adj" fmla="val 18182"/>
            </a:avLst>
          </a:prstGeom>
          <a:solidFill>
            <a:srgbClr val="0B6E4F"/>
          </a:solidFill>
          <a:ln/>
        </p:spPr>
      </p:sp>
      <p:sp>
        <p:nvSpPr>
          <p:cNvPr id="15" name="Text 13"/>
          <p:cNvSpPr/>
          <p:nvPr/>
        </p:nvSpPr>
        <p:spPr>
          <a:xfrm>
            <a:off x="7360920" y="3438144"/>
            <a:ext cx="91440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SLG</a:t>
            </a:r>
            <a:endParaRPr lang="en-US" sz="1000" dirty="0"/>
          </a:p>
        </p:txBody>
      </p:sp>
      <p:sp>
        <p:nvSpPr>
          <p:cNvPr id="16" name="Shape 14"/>
          <p:cNvSpPr/>
          <p:nvPr/>
        </p:nvSpPr>
        <p:spPr>
          <a:xfrm>
            <a:off x="548640" y="4123944"/>
            <a:ext cx="7863840" cy="713232"/>
          </a:xfrm>
          <a:prstGeom prst="roundRect">
            <a:avLst>
              <a:gd name="adj" fmla="val 6410"/>
            </a:avLst>
          </a:prstGeom>
          <a:solidFill>
            <a:srgbClr val="F2F3F3"/>
          </a:solidFill>
          <a:ln w="9525">
            <a:solidFill>
              <a:srgbClr val="D5DBDB"/>
            </a:solidFill>
            <a:prstDash val="solid"/>
          </a:ln>
        </p:spPr>
      </p:sp>
      <p:sp>
        <p:nvSpPr>
          <p:cNvPr id="17" name="Text 15"/>
          <p:cNvSpPr/>
          <p:nvPr/>
        </p:nvSpPr>
        <p:spPr>
          <a:xfrm>
            <a:off x="731520" y="4123944"/>
            <a:ext cx="6583680" cy="713232"/>
          </a:xfrm>
          <a:prstGeom prst="rect">
            <a:avLst/>
          </a:prstGeom>
          <a:noFill/>
          <a:ln/>
        </p:spPr>
        <p:txBody>
          <a:bodyPr wrap="square" lIns="0" tIns="0" rIns="0" bIns="0" rtlCol="0" anchor="ctr"/>
          <a:lstStyle/>
          <a:p>
            <a:pPr indent="0" marL="0">
              <a:lnSpc>
                <a:spcPct val="102000"/>
              </a:lnSpc>
              <a:buNone/>
            </a:pPr>
            <a:r>
              <a:rPr lang="en-US" sz="1300" b="1" dirty="0">
                <a:solidFill>
                  <a:srgbClr val="1B2A3A"/>
                </a:solidFill>
                <a:latin typeface="Calibri" pitchFamily="34" charset="0"/>
                <a:ea typeface="Calibri" pitchFamily="34" charset="-122"/>
                <a:cs typeface="Calibri" pitchFamily="34" charset="-120"/>
              </a:rPr>
              <a:t>Pharmacovigilance  </a:t>
            </a:r>
            <a:pPr indent="0" marL="0">
              <a:lnSpc>
                <a:spcPct val="102000"/>
              </a:lnSpc>
              <a:buNone/>
            </a:pPr>
            <a:r>
              <a:rPr lang="en-US" sz="1050" dirty="0">
                <a:solidFill>
                  <a:srgbClr val="545B64"/>
                </a:solidFill>
                <a:latin typeface="Calibri" pitchFamily="34" charset="0"/>
                <a:ea typeface="Calibri" pitchFamily="34" charset="-122"/>
                <a:cs typeface="Calibri" pitchFamily="34" charset="-120"/>
              </a:rPr>
              <a:t>· ICH-compliant drug-safety intake; the regulated-industry stress test of the same pattern</a:t>
            </a:r>
            <a:endParaRPr lang="en-US" sz="1300" dirty="0"/>
          </a:p>
        </p:txBody>
      </p:sp>
      <p:sp>
        <p:nvSpPr>
          <p:cNvPr id="18" name="Shape 16"/>
          <p:cNvSpPr/>
          <p:nvPr/>
        </p:nvSpPr>
        <p:spPr>
          <a:xfrm>
            <a:off x="7360920" y="4279392"/>
            <a:ext cx="914400" cy="402336"/>
          </a:xfrm>
          <a:prstGeom prst="roundRect">
            <a:avLst>
              <a:gd name="adj" fmla="val 18182"/>
            </a:avLst>
          </a:prstGeom>
          <a:solidFill>
            <a:srgbClr val="0B6E4F"/>
          </a:solidFill>
          <a:ln/>
        </p:spPr>
      </p:sp>
      <p:sp>
        <p:nvSpPr>
          <p:cNvPr id="19" name="Text 17"/>
          <p:cNvSpPr/>
          <p:nvPr/>
        </p:nvSpPr>
        <p:spPr>
          <a:xfrm>
            <a:off x="7360920" y="4279392"/>
            <a:ext cx="91440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Life sciences</a:t>
            </a:r>
            <a:endParaRPr lang="en-US" sz="1000" dirty="0"/>
          </a:p>
        </p:txBody>
      </p:sp>
      <p:sp>
        <p:nvSpPr>
          <p:cNvPr id="20" name="Shape 18"/>
          <p:cNvSpPr/>
          <p:nvPr/>
        </p:nvSpPr>
        <p:spPr>
          <a:xfrm>
            <a:off x="8549640" y="1600200"/>
            <a:ext cx="3108960" cy="3108960"/>
          </a:xfrm>
          <a:prstGeom prst="roundRect">
            <a:avLst>
              <a:gd name="adj" fmla="val 1765"/>
            </a:avLst>
          </a:prstGeom>
          <a:solidFill>
            <a:srgbClr val="F0F7F4"/>
          </a:solidFill>
          <a:ln w="9525">
            <a:solidFill>
              <a:srgbClr val="0B6E4F"/>
            </a:solidFill>
            <a:prstDash val="solid"/>
          </a:ln>
        </p:spPr>
      </p:sp>
      <p:sp>
        <p:nvSpPr>
          <p:cNvPr id="21" name="Text 19"/>
          <p:cNvSpPr/>
          <p:nvPr/>
        </p:nvSpPr>
        <p:spPr>
          <a:xfrm>
            <a:off x="8714232" y="1709928"/>
            <a:ext cx="2779776" cy="329184"/>
          </a:xfrm>
          <a:prstGeom prst="rect">
            <a:avLst/>
          </a:prstGeom>
          <a:noFill/>
          <a:ln/>
        </p:spPr>
        <p:txBody>
          <a:bodyPr wrap="square" lIns="0" tIns="0" rIns="0" bIns="0" rtlCol="0" anchor="ctr"/>
          <a:lstStyle/>
          <a:p>
            <a:pPr indent="0" marL="0">
              <a:buNone/>
            </a:pPr>
            <a:r>
              <a:rPr lang="en-US" sz="1400" b="1" dirty="0">
                <a:solidFill>
                  <a:srgbClr val="0B6E4F"/>
                </a:solidFill>
                <a:latin typeface="Calibri" pitchFamily="34" charset="0"/>
                <a:ea typeface="Calibri" pitchFamily="34" charset="-122"/>
                <a:cs typeface="Calibri" pitchFamily="34" charset="-120"/>
              </a:rPr>
              <a:t>The honesty system</a:t>
            </a:r>
            <a:endParaRPr lang="en-US" sz="1400" dirty="0"/>
          </a:p>
        </p:txBody>
      </p:sp>
      <p:sp>
        <p:nvSpPr>
          <p:cNvPr id="22" name="Text 20"/>
          <p:cNvSpPr/>
          <p:nvPr/>
        </p:nvSpPr>
        <p:spPr>
          <a:xfrm>
            <a:off x="8714232" y="2057400"/>
            <a:ext cx="2779776" cy="254203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55 negative tests green in CI · machine-readable maturity file governs every claim · NOT-CLAIMS boundary in writing · live deploy/invoke/prove evidence retained from clean AWS accounts</a:t>
            </a:r>
            <a:endParaRPr lang="en-US" sz="1100" dirty="0"/>
          </a:p>
        </p:txBody>
      </p:sp>
      <p:sp>
        <p:nvSpPr>
          <p:cNvPr id="23" name="Text 21"/>
          <p:cNvSpPr/>
          <p:nvPr/>
        </p:nvSpPr>
        <p:spPr>
          <a:xfrm>
            <a:off x="548640" y="5120640"/>
            <a:ext cx="11064240" cy="457200"/>
          </a:xfrm>
          <a:prstGeom prst="rect">
            <a:avLst/>
          </a:prstGeom>
          <a:noFill/>
          <a:ln/>
        </p:spPr>
        <p:txBody>
          <a:bodyPr wrap="square" lIns="0" tIns="0" rIns="0" bIns="0" rtlCol="0" anchor="ctr"/>
          <a:lstStyle/>
          <a:p>
            <a:pPr indent="0" marL="0">
              <a:buNone/>
            </a:pPr>
            <a:r>
              <a:rPr lang="en-US" sz="1300" i="1" dirty="0">
                <a:solidFill>
                  <a:srgbClr val="545B64"/>
                </a:solidFill>
                <a:latin typeface="Calibri" pitchFamily="34" charset="0"/>
                <a:ea typeface="Calibri" pitchFamily="34" charset="-122"/>
                <a:cs typeface="Calibri" pitchFamily="34" charset="-120"/>
              </a:rPr>
              <a:t>Each agent = one manifest + Cedar policies + tools + tests. Same template, different domain — that is the platform working.</a:t>
            </a:r>
            <a:endParaRPr lang="en-US" sz="1300" dirty="0"/>
          </a:p>
        </p:txBody>
      </p:sp>
      <p:sp>
        <p:nvSpPr>
          <p:cNvPr id="24" name="Text 22"/>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879196"/>
                </a:solidFill>
                <a:latin typeface="Calibri" pitchFamily="34" charset="0"/>
                <a:ea typeface="Calibri" pitchFamily="34" charset="-122"/>
                <a:cs typeface="Calibri" pitchFamily="34" charset="-120"/>
              </a:rPr>
              <a:t>Aegis — Governed AI Agents · Built on AWS · Reference architecture (see NOT-CLAIMS)</a:t>
            </a:r>
            <a:endParaRPr lang="en-US" sz="900" dirty="0"/>
          </a:p>
        </p:txBody>
      </p:sp>
      <p:sp>
        <p:nvSpPr>
          <p:cNvPr id="25" name="Text 23"/>
          <p:cNvSpPr/>
          <p:nvPr/>
        </p:nvSpPr>
        <p:spPr>
          <a:xfrm>
            <a:off x="10908792" y="6473952"/>
            <a:ext cx="731520" cy="274320"/>
          </a:xfrm>
          <a:prstGeom prst="rect">
            <a:avLst/>
          </a:prstGeom>
          <a:noFill/>
          <a:ln/>
        </p:spPr>
        <p:txBody>
          <a:bodyPr wrap="square" lIns="0" tIns="0" rIns="0" bIns="0" rtlCol="0" anchor="ctr"/>
          <a:lstStyle/>
          <a:p>
            <a:pPr algn="r" indent="0" marL="0">
              <a:buNone/>
            </a:pPr>
            <a:r>
              <a:rPr lang="en-US" sz="900" dirty="0">
                <a:solidFill>
                  <a:srgbClr val="879196"/>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0B6E4F"/>
                </a:solidFill>
                <a:latin typeface="Calibri" pitchFamily="34" charset="0"/>
                <a:ea typeface="Calibri" pitchFamily="34" charset="-122"/>
                <a:cs typeface="Calibri" pitchFamily="34" charset="-120"/>
              </a:rPr>
              <a:t>05 · COST</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B2A3A"/>
                </a:solidFill>
                <a:latin typeface="Calibri" pitchFamily="34" charset="0"/>
                <a:ea typeface="Calibri" pitchFamily="34" charset="-122"/>
                <a:cs typeface="Calibri" pitchFamily="34" charset="-120"/>
              </a:rPr>
              <a:t>At Rest, Pocket Change. The Meter Runs on Inference.</a:t>
            </a:r>
            <a:endParaRPr lang="en-US" sz="3000" dirty="0"/>
          </a:p>
        </p:txBody>
      </p:sp>
      <p:sp>
        <p:nvSpPr>
          <p:cNvPr id="4" name="Shape 2"/>
          <p:cNvSpPr/>
          <p:nvPr/>
        </p:nvSpPr>
        <p:spPr>
          <a:xfrm>
            <a:off x="548640" y="1600200"/>
            <a:ext cx="5486400" cy="2286000"/>
          </a:xfrm>
          <a:prstGeom prst="roundRect">
            <a:avLst>
              <a:gd name="adj" fmla="val 2400"/>
            </a:avLst>
          </a:prstGeom>
          <a:solidFill>
            <a:srgbClr val="F2F3F3"/>
          </a:solidFill>
          <a:ln w="9525">
            <a:solidFill>
              <a:srgbClr val="D5DBDB"/>
            </a:solidFill>
            <a:prstDash val="solid"/>
          </a:ln>
        </p:spPr>
      </p:sp>
      <p:sp>
        <p:nvSpPr>
          <p:cNvPr id="5" name="Text 3"/>
          <p:cNvSpPr/>
          <p:nvPr/>
        </p:nvSpPr>
        <p:spPr>
          <a:xfrm>
            <a:off x="713232" y="1709928"/>
            <a:ext cx="5157216"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At rest: about $1–3 a month</a:t>
            </a:r>
            <a:endParaRPr lang="en-US" sz="1400" dirty="0"/>
          </a:p>
        </p:txBody>
      </p:sp>
      <p:sp>
        <p:nvSpPr>
          <p:cNvPr id="6" name="Text 4"/>
          <p:cNvSpPr/>
          <p:nvPr/>
        </p:nvSpPr>
        <p:spPr>
          <a:xfrm>
            <a:off x="713232" y="2057400"/>
            <a:ext cx="5157216" cy="171907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The control plane is serverless — no instances, no minimums. KMS key $1/mo. DynamoDB on-demand bills nothing idle (first 25 GB stored free). S3 evidence: pennies. Cognito: free to 10,000 monthly users. Lambda, the SSM kill-switch parameter, and the Guardrail cost $0 until invoked. Deployed and waiting, the platform costs less than a coffee.</a:t>
            </a:r>
            <a:endParaRPr lang="en-US" sz="1100" dirty="0"/>
          </a:p>
        </p:txBody>
      </p:sp>
      <p:sp>
        <p:nvSpPr>
          <p:cNvPr id="7" name="Shape 5"/>
          <p:cNvSpPr/>
          <p:nvPr/>
        </p:nvSpPr>
        <p:spPr>
          <a:xfrm>
            <a:off x="6172200" y="1600200"/>
            <a:ext cx="5486400" cy="2286000"/>
          </a:xfrm>
          <a:prstGeom prst="roundRect">
            <a:avLst>
              <a:gd name="adj" fmla="val 2400"/>
            </a:avLst>
          </a:prstGeom>
          <a:solidFill>
            <a:srgbClr val="F2F3F3"/>
          </a:solidFill>
          <a:ln w="9525">
            <a:solidFill>
              <a:srgbClr val="D5DBDB"/>
            </a:solidFill>
            <a:prstDash val="solid"/>
          </a:ln>
        </p:spPr>
      </p:sp>
      <p:sp>
        <p:nvSpPr>
          <p:cNvPr id="8" name="Text 6"/>
          <p:cNvSpPr/>
          <p:nvPr/>
        </p:nvSpPr>
        <p:spPr>
          <a:xfrm>
            <a:off x="6336792" y="1709928"/>
            <a:ext cx="5157216"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In use: ~$6–8 per 1,000 governed actions</a:t>
            </a:r>
            <a:endParaRPr lang="en-US" sz="1400" dirty="0"/>
          </a:p>
        </p:txBody>
      </p:sp>
      <p:sp>
        <p:nvSpPr>
          <p:cNvPr id="9" name="Text 7"/>
          <p:cNvSpPr/>
          <p:nvPr/>
        </p:nvSpPr>
        <p:spPr>
          <a:xfrm>
            <a:off x="6336792" y="2057400"/>
            <a:ext cx="5157216" cy="171907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Model inference dominates — roughly $4–5 of it at small-model prices (frontier models cost more; model choice is the biggest lever). Guardrail checks add ~$1–2 (content filters and denied topics: $0.15 per 1,000 text units). The governance plumbing itself — Lambda, audit writes, logs — is under $0.50. Inference is 70–85% of every dollar.</a:t>
            </a:r>
            <a:endParaRPr lang="en-US" sz="1100" dirty="0"/>
          </a:p>
        </p:txBody>
      </p:sp>
      <p:sp>
        <p:nvSpPr>
          <p:cNvPr id="10" name="Shape 8"/>
          <p:cNvSpPr/>
          <p:nvPr/>
        </p:nvSpPr>
        <p:spPr>
          <a:xfrm>
            <a:off x="548640" y="4069080"/>
            <a:ext cx="5486400" cy="1783080"/>
          </a:xfrm>
          <a:prstGeom prst="roundRect">
            <a:avLst>
              <a:gd name="adj" fmla="val 3077"/>
            </a:avLst>
          </a:prstGeom>
          <a:solidFill>
            <a:srgbClr val="F2F3F3"/>
          </a:solidFill>
          <a:ln w="9525">
            <a:solidFill>
              <a:srgbClr val="D5DBDB"/>
            </a:solidFill>
            <a:prstDash val="solid"/>
          </a:ln>
        </p:spPr>
      </p:sp>
      <p:sp>
        <p:nvSpPr>
          <p:cNvPr id="11" name="Text 9"/>
          <p:cNvSpPr/>
          <p:nvPr/>
        </p:nvSpPr>
        <p:spPr>
          <a:xfrm>
            <a:off x="713232" y="4178808"/>
            <a:ext cx="5157216"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Budgets make cost a policy</a:t>
            </a:r>
            <a:endParaRPr lang="en-US" sz="1400" dirty="0"/>
          </a:p>
        </p:txBody>
      </p:sp>
      <p:sp>
        <p:nvSpPr>
          <p:cNvPr id="12" name="Text 10"/>
          <p:cNvSpPr/>
          <p:nvPr/>
        </p:nvSpPr>
        <p:spPr>
          <a:xfrm>
            <a:off x="713232" y="4526280"/>
            <a:ext cx="5157216" cy="121615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Hard token caps per agent, alert thresholds, chargeback by department. A runaway agent is a denied call, not a surprise invoice — cost is governed the same way access is.</a:t>
            </a:r>
            <a:endParaRPr lang="en-US" sz="1100" dirty="0"/>
          </a:p>
        </p:txBody>
      </p:sp>
      <p:sp>
        <p:nvSpPr>
          <p:cNvPr id="13" name="Shape 11"/>
          <p:cNvSpPr/>
          <p:nvPr/>
        </p:nvSpPr>
        <p:spPr>
          <a:xfrm>
            <a:off x="6172200" y="4069080"/>
            <a:ext cx="5486400" cy="1783080"/>
          </a:xfrm>
          <a:prstGeom prst="roundRect">
            <a:avLst>
              <a:gd name="adj" fmla="val 3077"/>
            </a:avLst>
          </a:prstGeom>
          <a:solidFill>
            <a:srgbClr val="FDF3E7"/>
          </a:solidFill>
          <a:ln w="9525">
            <a:solidFill>
              <a:srgbClr val="C88A00"/>
            </a:solidFill>
            <a:prstDash val="solid"/>
          </a:ln>
        </p:spPr>
      </p:sp>
      <p:sp>
        <p:nvSpPr>
          <p:cNvPr id="14" name="Text 12"/>
          <p:cNvSpPr/>
          <p:nvPr/>
        </p:nvSpPr>
        <p:spPr>
          <a:xfrm>
            <a:off x="6336792" y="4178808"/>
            <a:ext cx="5157216" cy="329184"/>
          </a:xfrm>
          <a:prstGeom prst="rect">
            <a:avLst/>
          </a:prstGeom>
          <a:noFill/>
          <a:ln/>
        </p:spPr>
        <p:txBody>
          <a:bodyPr wrap="square" lIns="0" tIns="0" rIns="0" bIns="0" rtlCol="0" anchor="ctr"/>
          <a:lstStyle/>
          <a:p>
            <a:pPr indent="0" marL="0">
              <a:buNone/>
            </a:pPr>
            <a:r>
              <a:rPr lang="en-US" sz="1400" b="1" dirty="0">
                <a:solidFill>
                  <a:srgbClr val="8A5A00"/>
                </a:solidFill>
                <a:latin typeface="Calibri" pitchFamily="34" charset="0"/>
                <a:ea typeface="Calibri" pitchFamily="34" charset="-122"/>
                <a:cs typeface="Calibri" pitchFamily="34" charset="-120"/>
              </a:rPr>
              <a:t>Sources &amp; honesty</a:t>
            </a:r>
            <a:endParaRPr lang="en-US" sz="1400" dirty="0"/>
          </a:p>
        </p:txBody>
      </p:sp>
      <p:sp>
        <p:nvSpPr>
          <p:cNvPr id="15" name="Text 13"/>
          <p:cNvSpPr/>
          <p:nvPr/>
        </p:nvSpPr>
        <p:spPr>
          <a:xfrm>
            <a:off x="6336792" y="4526280"/>
            <a:ext cx="5157216" cy="121615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us-east-1 list prices verified Aug 2026 against AWS pricing pages and the Bedrock Guardrails pricing announcement. Your volumes vary — the run-cost calculator in the repo takes your numbers. The honest second cost is human approval time: a control working as designed.</a:t>
            </a:r>
            <a:endParaRPr lang="en-US" sz="1100" dirty="0"/>
          </a:p>
        </p:txBody>
      </p:sp>
      <p:sp>
        <p:nvSpPr>
          <p:cNvPr id="16" name="Text 14"/>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879196"/>
                </a:solidFill>
                <a:latin typeface="Calibri" pitchFamily="34" charset="0"/>
                <a:ea typeface="Calibri" pitchFamily="34" charset="-122"/>
                <a:cs typeface="Calibri" pitchFamily="34" charset="-120"/>
              </a:rPr>
              <a:t>Aegis — Governed AI Agents · Built on AWS · Reference architecture (see NOT-CLAIMS)</a:t>
            </a:r>
            <a:endParaRPr lang="en-US" sz="900" dirty="0"/>
          </a:p>
        </p:txBody>
      </p:sp>
      <p:sp>
        <p:nvSpPr>
          <p:cNvPr id="17" name="Text 15"/>
          <p:cNvSpPr/>
          <p:nvPr/>
        </p:nvSpPr>
        <p:spPr>
          <a:xfrm>
            <a:off x="10908792" y="6473952"/>
            <a:ext cx="731520" cy="274320"/>
          </a:xfrm>
          <a:prstGeom prst="rect">
            <a:avLst/>
          </a:prstGeom>
          <a:noFill/>
          <a:ln/>
        </p:spPr>
        <p:txBody>
          <a:bodyPr wrap="square" lIns="0" tIns="0" rIns="0" bIns="0" rtlCol="0" anchor="ctr"/>
          <a:lstStyle/>
          <a:p>
            <a:pPr algn="r" indent="0" marL="0">
              <a:buNone/>
            </a:pPr>
            <a:r>
              <a:rPr lang="en-US" sz="900" dirty="0">
                <a:solidFill>
                  <a:srgbClr val="879196"/>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0B6E4F"/>
                </a:solidFill>
                <a:latin typeface="Calibri" pitchFamily="34" charset="0"/>
                <a:ea typeface="Calibri" pitchFamily="34" charset="-122"/>
                <a:cs typeface="Calibri" pitchFamily="34" charset="-120"/>
              </a:rPr>
              <a:t>05 · PREREQUISITES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B2A3A"/>
                </a:solidFill>
                <a:latin typeface="Calibri" pitchFamily="34" charset="0"/>
                <a:ea typeface="Calibri" pitchFamily="34" charset="-122"/>
                <a:cs typeface="Calibri" pitchFamily="34" charset="-120"/>
              </a:rPr>
              <a:t>The Other Half: Your Data Has to Be Reachable — Governedly</a:t>
            </a:r>
            <a:endParaRPr lang="en-US" sz="3000" dirty="0"/>
          </a:p>
        </p:txBody>
      </p:sp>
      <p:sp>
        <p:nvSpPr>
          <p:cNvPr id="4" name="Shape 2"/>
          <p:cNvSpPr/>
          <p:nvPr/>
        </p:nvSpPr>
        <p:spPr>
          <a:xfrm>
            <a:off x="548640" y="1600200"/>
            <a:ext cx="5486400" cy="1965960"/>
          </a:xfrm>
          <a:prstGeom prst="roundRect">
            <a:avLst>
              <a:gd name="adj" fmla="val 2791"/>
            </a:avLst>
          </a:prstGeom>
          <a:solidFill>
            <a:srgbClr val="F2F3F3"/>
          </a:solidFill>
          <a:ln w="9525">
            <a:solidFill>
              <a:srgbClr val="D5DBDB"/>
            </a:solidFill>
            <a:prstDash val="solid"/>
          </a:ln>
        </p:spPr>
      </p:sp>
      <p:sp>
        <p:nvSpPr>
          <p:cNvPr id="5" name="Text 3"/>
          <p:cNvSpPr/>
          <p:nvPr/>
        </p:nvSpPr>
        <p:spPr>
          <a:xfrm>
            <a:off x="713232" y="1709928"/>
            <a:ext cx="5157216"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Agents are only as good as their access</a:t>
            </a:r>
            <a:endParaRPr lang="en-US" sz="1400" dirty="0"/>
          </a:p>
        </p:txBody>
      </p:sp>
      <p:sp>
        <p:nvSpPr>
          <p:cNvPr id="6" name="Text 4"/>
          <p:cNvSpPr/>
          <p:nvPr/>
        </p:nvSpPr>
        <p:spPr>
          <a:xfrm>
            <a:off x="713232" y="2057400"/>
            <a:ext cx="5157216" cy="139903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An eligibility agent needs the eligibility system; an aid agent needs student records. Access goes through governed connectors (MCP tools declared in the manifest) — never direct database credentials in a prompt.</a:t>
            </a:r>
            <a:endParaRPr lang="en-US" sz="1100" dirty="0"/>
          </a:p>
        </p:txBody>
      </p:sp>
      <p:sp>
        <p:nvSpPr>
          <p:cNvPr id="7" name="Shape 5"/>
          <p:cNvSpPr/>
          <p:nvPr/>
        </p:nvSpPr>
        <p:spPr>
          <a:xfrm>
            <a:off x="6172200" y="1600200"/>
            <a:ext cx="5486400" cy="1965960"/>
          </a:xfrm>
          <a:prstGeom prst="roundRect">
            <a:avLst>
              <a:gd name="adj" fmla="val 2791"/>
            </a:avLst>
          </a:prstGeom>
          <a:solidFill>
            <a:srgbClr val="F2F3F3"/>
          </a:solidFill>
          <a:ln w="9525">
            <a:solidFill>
              <a:srgbClr val="D5DBDB"/>
            </a:solidFill>
            <a:prstDash val="solid"/>
          </a:ln>
        </p:spPr>
      </p:sp>
      <p:sp>
        <p:nvSpPr>
          <p:cNvPr id="8" name="Text 6"/>
          <p:cNvSpPr/>
          <p:nvPr/>
        </p:nvSpPr>
        <p:spPr>
          <a:xfrm>
            <a:off x="6336792" y="1709928"/>
            <a:ext cx="5157216"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Connector maturity is declared</a:t>
            </a:r>
            <a:endParaRPr lang="en-US" sz="1400" dirty="0"/>
          </a:p>
        </p:txBody>
      </p:sp>
      <p:sp>
        <p:nvSpPr>
          <p:cNvPr id="9" name="Text 7"/>
          <p:cNvSpPr/>
          <p:nvPr/>
        </p:nvSpPr>
        <p:spPr>
          <a:xfrm>
            <a:off x="6336792" y="2057400"/>
            <a:ext cx="5157216" cy="139903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Every integration carries a maturity tier (live / reference / stubbed) in the machine-readable maturity file — you always know which connections are real versus engagement work. System-of-record integration is honest scoped work, not hand-waving.</a:t>
            </a:r>
            <a:endParaRPr lang="en-US" sz="1100" dirty="0"/>
          </a:p>
        </p:txBody>
      </p:sp>
      <p:sp>
        <p:nvSpPr>
          <p:cNvPr id="10" name="Shape 8"/>
          <p:cNvSpPr/>
          <p:nvPr/>
        </p:nvSpPr>
        <p:spPr>
          <a:xfrm>
            <a:off x="548640" y="3749040"/>
            <a:ext cx="5486400" cy="1965960"/>
          </a:xfrm>
          <a:prstGeom prst="roundRect">
            <a:avLst>
              <a:gd name="adj" fmla="val 2791"/>
            </a:avLst>
          </a:prstGeom>
          <a:solidFill>
            <a:srgbClr val="F2F3F3"/>
          </a:solidFill>
          <a:ln w="9525">
            <a:solidFill>
              <a:srgbClr val="D5DBDB"/>
            </a:solidFill>
            <a:prstDash val="solid"/>
          </a:ln>
        </p:spPr>
      </p:sp>
      <p:sp>
        <p:nvSpPr>
          <p:cNvPr id="11" name="Text 9"/>
          <p:cNvSpPr/>
          <p:nvPr/>
        </p:nvSpPr>
        <p:spPr>
          <a:xfrm>
            <a:off x="713232" y="3858768"/>
            <a:ext cx="5157216"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Data classes drive the controls</a:t>
            </a:r>
            <a:endParaRPr lang="en-US" sz="1400" dirty="0"/>
          </a:p>
        </p:txBody>
      </p:sp>
      <p:sp>
        <p:nvSpPr>
          <p:cNvPr id="12" name="Text 10"/>
          <p:cNvSpPr/>
          <p:nvPr/>
        </p:nvSpPr>
        <p:spPr>
          <a:xfrm>
            <a:off x="713232" y="4206240"/>
            <a:ext cx="5157216" cy="139903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Each dataset is classified in the manifest (PII, FERPA, PHI, CJI...). Classification selects masking behavior, audit retention, and which Cedar policies apply — governance follows the data automatically.</a:t>
            </a:r>
            <a:endParaRPr lang="en-US" sz="1100" dirty="0"/>
          </a:p>
        </p:txBody>
      </p:sp>
      <p:sp>
        <p:nvSpPr>
          <p:cNvPr id="13" name="Shape 11"/>
          <p:cNvSpPr/>
          <p:nvPr/>
        </p:nvSpPr>
        <p:spPr>
          <a:xfrm>
            <a:off x="6172200" y="3749040"/>
            <a:ext cx="5486400" cy="1965960"/>
          </a:xfrm>
          <a:prstGeom prst="roundRect">
            <a:avLst>
              <a:gd name="adj" fmla="val 2791"/>
            </a:avLst>
          </a:prstGeom>
          <a:solidFill>
            <a:srgbClr val="F2F3F3"/>
          </a:solidFill>
          <a:ln w="9525">
            <a:solidFill>
              <a:srgbClr val="D5DBDB"/>
            </a:solidFill>
            <a:prstDash val="solid"/>
          </a:ln>
        </p:spPr>
      </p:sp>
      <p:sp>
        <p:nvSpPr>
          <p:cNvPr id="14" name="Text 12"/>
          <p:cNvSpPr/>
          <p:nvPr/>
        </p:nvSpPr>
        <p:spPr>
          <a:xfrm>
            <a:off x="6336792" y="3858768"/>
            <a:ext cx="5157216"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Start where the data is ready</a:t>
            </a:r>
            <a:endParaRPr lang="en-US" sz="1400" dirty="0"/>
          </a:p>
        </p:txBody>
      </p:sp>
      <p:sp>
        <p:nvSpPr>
          <p:cNvPr id="15" name="Text 13"/>
          <p:cNvSpPr/>
          <p:nvPr/>
        </p:nvSpPr>
        <p:spPr>
          <a:xfrm>
            <a:off x="6336792" y="4206240"/>
            <a:ext cx="5157216" cy="139903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Pick the first agent where the system of record has an API and an owner. The platform doesn't require a data-lake program first — it requires one reachable system and one accountable department.</a:t>
            </a:r>
            <a:endParaRPr lang="en-US" sz="1100" dirty="0"/>
          </a:p>
        </p:txBody>
      </p:sp>
      <p:sp>
        <p:nvSpPr>
          <p:cNvPr id="16" name="Text 14"/>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879196"/>
                </a:solidFill>
                <a:latin typeface="Calibri" pitchFamily="34" charset="0"/>
                <a:ea typeface="Calibri" pitchFamily="34" charset="-122"/>
                <a:cs typeface="Calibri" pitchFamily="34" charset="-120"/>
              </a:rPr>
              <a:t>Aegis — Governed AI Agents · Built on AWS · Reference architecture (see NOT-CLAIMS)</a:t>
            </a:r>
            <a:endParaRPr lang="en-US" sz="900" dirty="0"/>
          </a:p>
        </p:txBody>
      </p:sp>
      <p:sp>
        <p:nvSpPr>
          <p:cNvPr id="17" name="Text 15"/>
          <p:cNvSpPr/>
          <p:nvPr/>
        </p:nvSpPr>
        <p:spPr>
          <a:xfrm>
            <a:off x="10908792" y="6473952"/>
            <a:ext cx="731520" cy="274320"/>
          </a:xfrm>
          <a:prstGeom prst="rect">
            <a:avLst/>
          </a:prstGeom>
          <a:noFill/>
          <a:ln/>
        </p:spPr>
        <p:txBody>
          <a:bodyPr wrap="square" lIns="0" tIns="0" rIns="0" bIns="0" rtlCol="0" anchor="ctr"/>
          <a:lstStyle/>
          <a:p>
            <a:pPr algn="r" indent="0" marL="0">
              <a:buNone/>
            </a:pPr>
            <a:r>
              <a:rPr lang="en-US" sz="900" dirty="0">
                <a:solidFill>
                  <a:srgbClr val="879196"/>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0B6E4F"/>
                </a:solidFill>
                <a:latin typeface="Calibri" pitchFamily="34" charset="0"/>
                <a:ea typeface="Calibri" pitchFamily="34" charset="-122"/>
                <a:cs typeface="Calibri" pitchFamily="34" charset="-120"/>
              </a:rPr>
              <a:t>06 · ROLLOUT</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B2A3A"/>
                </a:solidFill>
                <a:latin typeface="Calibri" pitchFamily="34" charset="0"/>
                <a:ea typeface="Calibri" pitchFamily="34" charset="-122"/>
                <a:cs typeface="Calibri" pitchFamily="34" charset="-120"/>
              </a:rPr>
              <a:t>Platform First, Then Agents as Configuration</a:t>
            </a:r>
            <a:endParaRPr lang="en-US" sz="3000" dirty="0"/>
          </a:p>
        </p:txBody>
      </p:sp>
      <p:sp>
        <p:nvSpPr>
          <p:cNvPr id="4" name="Shape 2"/>
          <p:cNvSpPr/>
          <p:nvPr/>
        </p:nvSpPr>
        <p:spPr>
          <a:xfrm>
            <a:off x="548640" y="1645920"/>
            <a:ext cx="3593592" cy="777240"/>
          </a:xfrm>
          <a:prstGeom prst="roundRect">
            <a:avLst>
              <a:gd name="adj" fmla="val 5882"/>
            </a:avLst>
          </a:prstGeom>
          <a:solidFill>
            <a:srgbClr val="1B2A3A"/>
          </a:solidFill>
          <a:ln/>
        </p:spPr>
      </p:sp>
      <p:sp>
        <p:nvSpPr>
          <p:cNvPr id="5" name="Text 3"/>
          <p:cNvSpPr/>
          <p:nvPr/>
        </p:nvSpPr>
        <p:spPr>
          <a:xfrm>
            <a:off x="731520" y="1719072"/>
            <a:ext cx="32461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Phase 1 · Platform pilot</a:t>
            </a:r>
            <a:endParaRPr lang="en-US" sz="1400" dirty="0"/>
          </a:p>
        </p:txBody>
      </p:sp>
      <p:sp>
        <p:nvSpPr>
          <p:cNvPr id="6" name="Text 4"/>
          <p:cNvSpPr/>
          <p:nvPr/>
        </p:nvSpPr>
        <p:spPr>
          <a:xfrm>
            <a:off x="731520" y="2048256"/>
            <a:ext cx="3246120" cy="292608"/>
          </a:xfrm>
          <a:prstGeom prst="rect">
            <a:avLst/>
          </a:prstGeom>
          <a:noFill/>
          <a:ln/>
        </p:spPr>
        <p:txBody>
          <a:bodyPr wrap="square" lIns="0" tIns="0" rIns="0" bIns="0" rtlCol="0" anchor="ctr"/>
          <a:lstStyle/>
          <a:p>
            <a:pPr indent="0" marL="0">
              <a:buNone/>
            </a:pPr>
            <a:r>
              <a:rPr lang="en-US" sz="1050" dirty="0">
                <a:solidFill>
                  <a:srgbClr val="F3B23E"/>
                </a:solidFill>
                <a:latin typeface="Calibri" pitchFamily="34" charset="0"/>
                <a:ea typeface="Calibri" pitchFamily="34" charset="-122"/>
                <a:cs typeface="Calibri" pitchFamily="34" charset="-120"/>
              </a:rPr>
              <a:t>4–6 weeks</a:t>
            </a:r>
            <a:endParaRPr lang="en-US" sz="1050" dirty="0"/>
          </a:p>
        </p:txBody>
      </p:sp>
      <p:sp>
        <p:nvSpPr>
          <p:cNvPr id="7" name="Shape 5"/>
          <p:cNvSpPr/>
          <p:nvPr/>
        </p:nvSpPr>
        <p:spPr>
          <a:xfrm>
            <a:off x="548640" y="2560320"/>
            <a:ext cx="3593592" cy="2651760"/>
          </a:xfrm>
          <a:prstGeom prst="roundRect">
            <a:avLst>
              <a:gd name="adj" fmla="val 1724"/>
            </a:avLst>
          </a:prstGeom>
          <a:solidFill>
            <a:srgbClr val="F2F3F3"/>
          </a:solidFill>
          <a:ln w="9525">
            <a:solidFill>
              <a:srgbClr val="D5DBDB"/>
            </a:solidFill>
            <a:prstDash val="solid"/>
          </a:ln>
        </p:spPr>
      </p:sp>
      <p:sp>
        <p:nvSpPr>
          <p:cNvPr id="8" name="Text 6"/>
          <p:cNvSpPr/>
          <p:nvPr/>
        </p:nvSpPr>
        <p:spPr>
          <a:xfrm>
            <a:off x="731520" y="2697480"/>
            <a:ext cx="3246120" cy="2377440"/>
          </a:xfrm>
          <a:prstGeom prst="rect">
            <a:avLst/>
          </a:prstGeom>
          <a:noFill/>
          <a:ln/>
        </p:spPr>
        <p:txBody>
          <a:bodyPr wrap="square" lIns="0" tIns="0" rIns="0" bIns="0" rtlCol="0" anchor="t"/>
          <a:lstStyle/>
          <a:p>
            <a:pPr indent="0" marL="0">
              <a:lnSpc>
                <a:spcPct val="112000"/>
              </a:lnSpc>
              <a:buNone/>
            </a:pPr>
            <a:r>
              <a:rPr lang="en-US" sz="1150" dirty="0">
                <a:solidFill>
                  <a:srgbClr val="545B64"/>
                </a:solidFill>
                <a:latin typeface="Calibri" pitchFamily="34" charset="0"/>
                <a:ea typeface="Calibri" pitchFamily="34" charset="-122"/>
                <a:cs typeface="Calibri" pitchFamily="34" charset="-120"/>
              </a:rPr>
              <a:t>Deploy the control plane into your AWS account (IaC). Federate your IdP. Stand up dashboards, audit, budgets. Run the acceptance script + Kill Switch drill with your security team in the room.</a:t>
            </a:r>
            <a:endParaRPr lang="en-US" sz="1150" dirty="0"/>
          </a:p>
        </p:txBody>
      </p:sp>
      <p:sp>
        <p:nvSpPr>
          <p:cNvPr id="9" name="Shape 7"/>
          <p:cNvSpPr/>
          <p:nvPr/>
        </p:nvSpPr>
        <p:spPr>
          <a:xfrm>
            <a:off x="4306824" y="1645920"/>
            <a:ext cx="3593592" cy="777240"/>
          </a:xfrm>
          <a:prstGeom prst="roundRect">
            <a:avLst>
              <a:gd name="adj" fmla="val 5882"/>
            </a:avLst>
          </a:prstGeom>
          <a:solidFill>
            <a:srgbClr val="1B2A3A"/>
          </a:solidFill>
          <a:ln/>
        </p:spPr>
      </p:sp>
      <p:sp>
        <p:nvSpPr>
          <p:cNvPr id="10" name="Text 8"/>
          <p:cNvSpPr/>
          <p:nvPr/>
        </p:nvSpPr>
        <p:spPr>
          <a:xfrm>
            <a:off x="4489704" y="1719072"/>
            <a:ext cx="32461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Phase 2 · First agent</a:t>
            </a:r>
            <a:endParaRPr lang="en-US" sz="1400" dirty="0"/>
          </a:p>
        </p:txBody>
      </p:sp>
      <p:sp>
        <p:nvSpPr>
          <p:cNvPr id="11" name="Text 9"/>
          <p:cNvSpPr/>
          <p:nvPr/>
        </p:nvSpPr>
        <p:spPr>
          <a:xfrm>
            <a:off x="4489704" y="2048256"/>
            <a:ext cx="3246120" cy="292608"/>
          </a:xfrm>
          <a:prstGeom prst="rect">
            <a:avLst/>
          </a:prstGeom>
          <a:noFill/>
          <a:ln/>
        </p:spPr>
        <p:txBody>
          <a:bodyPr wrap="square" lIns="0" tIns="0" rIns="0" bIns="0" rtlCol="0" anchor="ctr"/>
          <a:lstStyle/>
          <a:p>
            <a:pPr indent="0" marL="0">
              <a:buNone/>
            </a:pPr>
            <a:r>
              <a:rPr lang="en-US" sz="1050" dirty="0">
                <a:solidFill>
                  <a:srgbClr val="F3B23E"/>
                </a:solidFill>
                <a:latin typeface="Calibri" pitchFamily="34" charset="0"/>
                <a:ea typeface="Calibri" pitchFamily="34" charset="-122"/>
                <a:cs typeface="Calibri" pitchFamily="34" charset="-120"/>
              </a:rPr>
              <a:t>4–6 weeks</a:t>
            </a:r>
            <a:endParaRPr lang="en-US" sz="1050" dirty="0"/>
          </a:p>
        </p:txBody>
      </p:sp>
      <p:sp>
        <p:nvSpPr>
          <p:cNvPr id="12" name="Shape 10"/>
          <p:cNvSpPr/>
          <p:nvPr/>
        </p:nvSpPr>
        <p:spPr>
          <a:xfrm>
            <a:off x="4306824" y="2560320"/>
            <a:ext cx="3593592" cy="2651760"/>
          </a:xfrm>
          <a:prstGeom prst="roundRect">
            <a:avLst>
              <a:gd name="adj" fmla="val 1724"/>
            </a:avLst>
          </a:prstGeom>
          <a:solidFill>
            <a:srgbClr val="F2F3F3"/>
          </a:solidFill>
          <a:ln w="9525">
            <a:solidFill>
              <a:srgbClr val="D5DBDB"/>
            </a:solidFill>
            <a:prstDash val="solid"/>
          </a:ln>
        </p:spPr>
      </p:sp>
      <p:sp>
        <p:nvSpPr>
          <p:cNvPr id="13" name="Text 11"/>
          <p:cNvSpPr/>
          <p:nvPr/>
        </p:nvSpPr>
        <p:spPr>
          <a:xfrm>
            <a:off x="4489704" y="2697480"/>
            <a:ext cx="3246120" cy="2377440"/>
          </a:xfrm>
          <a:prstGeom prst="rect">
            <a:avLst/>
          </a:prstGeom>
          <a:noFill/>
          <a:ln/>
        </p:spPr>
        <p:txBody>
          <a:bodyPr wrap="square" lIns="0" tIns="0" rIns="0" bIns="0" rtlCol="0" anchor="t"/>
          <a:lstStyle/>
          <a:p>
            <a:pPr indent="0" marL="0">
              <a:lnSpc>
                <a:spcPct val="112000"/>
              </a:lnSpc>
              <a:buNone/>
            </a:pPr>
            <a:r>
              <a:rPr lang="en-US" sz="1150" dirty="0">
                <a:solidFill>
                  <a:srgbClr val="545B64"/>
                </a:solidFill>
                <a:latin typeface="Calibri" pitchFamily="34" charset="0"/>
                <a:ea typeface="Calibri" pitchFamily="34" charset="-122"/>
                <a:cs typeface="Calibri" pitchFamily="34" charset="-120"/>
              </a:rPr>
              <a:t>Pick one department, one reachable system of record. Author the manifest + Cedar policies with the business owner. Clear the nine-gate bar. Parallel-run with human review, then go live — governed from minute one.</a:t>
            </a:r>
            <a:endParaRPr lang="en-US" sz="1150" dirty="0"/>
          </a:p>
        </p:txBody>
      </p:sp>
      <p:sp>
        <p:nvSpPr>
          <p:cNvPr id="14" name="Shape 12"/>
          <p:cNvSpPr/>
          <p:nvPr/>
        </p:nvSpPr>
        <p:spPr>
          <a:xfrm>
            <a:off x="8065008" y="1645920"/>
            <a:ext cx="3593592" cy="777240"/>
          </a:xfrm>
          <a:prstGeom prst="roundRect">
            <a:avLst>
              <a:gd name="adj" fmla="val 5882"/>
            </a:avLst>
          </a:prstGeom>
          <a:solidFill>
            <a:srgbClr val="1B2A3A"/>
          </a:solidFill>
          <a:ln/>
        </p:spPr>
      </p:sp>
      <p:sp>
        <p:nvSpPr>
          <p:cNvPr id="15" name="Text 13"/>
          <p:cNvSpPr/>
          <p:nvPr/>
        </p:nvSpPr>
        <p:spPr>
          <a:xfrm>
            <a:off x="8247888" y="1719072"/>
            <a:ext cx="32461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Phase 3 · Every next agent</a:t>
            </a:r>
            <a:endParaRPr lang="en-US" sz="1400" dirty="0"/>
          </a:p>
        </p:txBody>
      </p:sp>
      <p:sp>
        <p:nvSpPr>
          <p:cNvPr id="16" name="Text 14"/>
          <p:cNvSpPr/>
          <p:nvPr/>
        </p:nvSpPr>
        <p:spPr>
          <a:xfrm>
            <a:off x="8247888" y="2048256"/>
            <a:ext cx="3246120" cy="292608"/>
          </a:xfrm>
          <a:prstGeom prst="rect">
            <a:avLst/>
          </a:prstGeom>
          <a:noFill/>
          <a:ln/>
        </p:spPr>
        <p:txBody>
          <a:bodyPr wrap="square" lIns="0" tIns="0" rIns="0" bIns="0" rtlCol="0" anchor="ctr"/>
          <a:lstStyle/>
          <a:p>
            <a:pPr indent="0" marL="0">
              <a:buNone/>
            </a:pPr>
            <a:r>
              <a:rPr lang="en-US" sz="1050" dirty="0">
                <a:solidFill>
                  <a:srgbClr val="F3B23E"/>
                </a:solidFill>
                <a:latin typeface="Calibri" pitchFamily="34" charset="0"/>
                <a:ea typeface="Calibri" pitchFamily="34" charset="-122"/>
                <a:cs typeface="Calibri" pitchFamily="34" charset="-120"/>
              </a:rPr>
              <a:t>1–2 weeks each</a:t>
            </a:r>
            <a:endParaRPr lang="en-US" sz="1050" dirty="0"/>
          </a:p>
        </p:txBody>
      </p:sp>
      <p:sp>
        <p:nvSpPr>
          <p:cNvPr id="17" name="Shape 15"/>
          <p:cNvSpPr/>
          <p:nvPr/>
        </p:nvSpPr>
        <p:spPr>
          <a:xfrm>
            <a:off x="8065008" y="2560320"/>
            <a:ext cx="3593592" cy="2651760"/>
          </a:xfrm>
          <a:prstGeom prst="roundRect">
            <a:avLst>
              <a:gd name="adj" fmla="val 1724"/>
            </a:avLst>
          </a:prstGeom>
          <a:solidFill>
            <a:srgbClr val="F2F3F3"/>
          </a:solidFill>
          <a:ln w="9525">
            <a:solidFill>
              <a:srgbClr val="D5DBDB"/>
            </a:solidFill>
            <a:prstDash val="solid"/>
          </a:ln>
        </p:spPr>
      </p:sp>
      <p:sp>
        <p:nvSpPr>
          <p:cNvPr id="18" name="Text 16"/>
          <p:cNvSpPr/>
          <p:nvPr/>
        </p:nvSpPr>
        <p:spPr>
          <a:xfrm>
            <a:off x="8247888" y="2697480"/>
            <a:ext cx="3246120" cy="2377440"/>
          </a:xfrm>
          <a:prstGeom prst="rect">
            <a:avLst/>
          </a:prstGeom>
          <a:noFill/>
          <a:ln/>
        </p:spPr>
        <p:txBody>
          <a:bodyPr wrap="square" lIns="0" tIns="0" rIns="0" bIns="0" rtlCol="0" anchor="t"/>
          <a:lstStyle/>
          <a:p>
            <a:pPr indent="0" marL="0">
              <a:lnSpc>
                <a:spcPct val="112000"/>
              </a:lnSpc>
              <a:buNone/>
            </a:pPr>
            <a:r>
              <a:rPr lang="en-US" sz="1150" dirty="0">
                <a:solidFill>
                  <a:srgbClr val="545B64"/>
                </a:solidFill>
                <a:latin typeface="Calibri" pitchFamily="34" charset="0"/>
                <a:ea typeface="Calibri" pitchFamily="34" charset="-122"/>
                <a:cs typeface="Calibri" pitchFamily="34" charset="-120"/>
              </a:rPr>
              <a:t>Onboarding is a runbook: manifest, policies, evals, sign-off roles. Vendor add-ons clear the same bar (signed manifests). The platform team reviews declarations — not architectures.</a:t>
            </a:r>
            <a:endParaRPr lang="en-US" sz="1150" dirty="0"/>
          </a:p>
        </p:txBody>
      </p:sp>
      <p:sp>
        <p:nvSpPr>
          <p:cNvPr id="19" name="Text 17"/>
          <p:cNvSpPr/>
          <p:nvPr/>
        </p:nvSpPr>
        <p:spPr>
          <a:xfrm>
            <a:off x="548640" y="5440680"/>
            <a:ext cx="11064240" cy="411480"/>
          </a:xfrm>
          <a:prstGeom prst="rect">
            <a:avLst/>
          </a:prstGeom>
          <a:noFill/>
          <a:ln/>
        </p:spPr>
        <p:txBody>
          <a:bodyPr wrap="square" lIns="0" tIns="0" rIns="0" bIns="0" rtlCol="0" anchor="ctr"/>
          <a:lstStyle/>
          <a:p>
            <a:pPr algn="ctr" indent="0" marL="0">
              <a:buNone/>
            </a:pPr>
            <a:r>
              <a:rPr lang="en-US" sz="1400" b="1" i="1" dirty="0">
                <a:solidFill>
                  <a:srgbClr val="0B6E4F"/>
                </a:solidFill>
                <a:latin typeface="Calibri" pitchFamily="34" charset="0"/>
                <a:ea typeface="Calibri" pitchFamily="34" charset="-122"/>
                <a:cs typeface="Calibri" pitchFamily="34" charset="-120"/>
              </a:rPr>
              <a:t>The economics invert: the second agent costs a manifest. So does the tenth.</a:t>
            </a:r>
            <a:endParaRPr lang="en-US" sz="1400" dirty="0"/>
          </a:p>
        </p:txBody>
      </p:sp>
      <p:sp>
        <p:nvSpPr>
          <p:cNvPr id="20" name="Text 18"/>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879196"/>
                </a:solidFill>
                <a:latin typeface="Calibri" pitchFamily="34" charset="0"/>
                <a:ea typeface="Calibri" pitchFamily="34" charset="-122"/>
                <a:cs typeface="Calibri" pitchFamily="34" charset="-120"/>
              </a:rPr>
              <a:t>Aegis — Governed AI Agents · Built on AWS · Reference architecture (see NOT-CLAIMS)</a:t>
            </a:r>
            <a:endParaRPr lang="en-US" sz="900" dirty="0"/>
          </a:p>
        </p:txBody>
      </p:sp>
      <p:sp>
        <p:nvSpPr>
          <p:cNvPr id="21" name="Text 19"/>
          <p:cNvSpPr/>
          <p:nvPr/>
        </p:nvSpPr>
        <p:spPr>
          <a:xfrm>
            <a:off x="10908792" y="6473952"/>
            <a:ext cx="731520" cy="274320"/>
          </a:xfrm>
          <a:prstGeom prst="rect">
            <a:avLst/>
          </a:prstGeom>
          <a:noFill/>
          <a:ln/>
        </p:spPr>
        <p:txBody>
          <a:bodyPr wrap="square" lIns="0" tIns="0" rIns="0" bIns="0" rtlCol="0" anchor="ctr"/>
          <a:lstStyle/>
          <a:p>
            <a:pPr algn="r" indent="0" marL="0">
              <a:buNone/>
            </a:pPr>
            <a:r>
              <a:rPr lang="en-US" sz="900" dirty="0">
                <a:solidFill>
                  <a:srgbClr val="879196"/>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0B6E4F"/>
                </a:solidFill>
                <a:latin typeface="Calibri" pitchFamily="34" charset="0"/>
                <a:ea typeface="Calibri" pitchFamily="34" charset="-122"/>
                <a:cs typeface="Calibri" pitchFamily="34" charset="-120"/>
              </a:rPr>
              <a:t>07 · ONBOARDING</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B2A3A"/>
                </a:solidFill>
                <a:latin typeface="Calibri" pitchFamily="34" charset="0"/>
                <a:ea typeface="Calibri" pitchFamily="34" charset="-122"/>
                <a:cs typeface="Calibri" pitchFamily="34" charset="-120"/>
              </a:rPr>
              <a:t>A New Agent Is a Runbook, Not a Project</a:t>
            </a:r>
            <a:endParaRPr lang="en-US" sz="3000" dirty="0"/>
          </a:p>
        </p:txBody>
      </p:sp>
      <p:sp>
        <p:nvSpPr>
          <p:cNvPr id="4" name="Shape 2"/>
          <p:cNvSpPr/>
          <p:nvPr/>
        </p:nvSpPr>
        <p:spPr>
          <a:xfrm>
            <a:off x="548640" y="1572768"/>
            <a:ext cx="3593592" cy="1353312"/>
          </a:xfrm>
          <a:prstGeom prst="roundRect">
            <a:avLst>
              <a:gd name="adj" fmla="val 3378"/>
            </a:avLst>
          </a:prstGeom>
          <a:solidFill>
            <a:srgbClr val="F2F3F3"/>
          </a:solidFill>
          <a:ln w="9525">
            <a:solidFill>
              <a:srgbClr val="D5DBDB"/>
            </a:solidFill>
            <a:prstDash val="solid"/>
          </a:ln>
        </p:spPr>
      </p:sp>
      <p:sp>
        <p:nvSpPr>
          <p:cNvPr id="5" name="Text 3"/>
          <p:cNvSpPr/>
          <p:nvPr/>
        </p:nvSpPr>
        <p:spPr>
          <a:xfrm>
            <a:off x="694944" y="1664208"/>
            <a:ext cx="3291840" cy="310896"/>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1 · Scope with the owner</a:t>
            </a:r>
            <a:endParaRPr lang="en-US" sz="1250" dirty="0"/>
          </a:p>
        </p:txBody>
      </p:sp>
      <p:sp>
        <p:nvSpPr>
          <p:cNvPr id="6" name="Text 4"/>
          <p:cNvSpPr/>
          <p:nvPr/>
        </p:nvSpPr>
        <p:spPr>
          <a:xfrm>
            <a:off x="694944" y="1993392"/>
            <a:ext cx="3310128" cy="868680"/>
          </a:xfrm>
          <a:prstGeom prst="rect">
            <a:avLst/>
          </a:prstGeom>
          <a:noFill/>
          <a:ln/>
        </p:spPr>
        <p:txBody>
          <a:bodyPr wrap="square" lIns="0" tIns="0" rIns="0" bIns="0" rtlCol="0" anchor="t"/>
          <a:lstStyle/>
          <a:p>
            <a:pPr indent="0" marL="0">
              <a:lnSpc>
                <a:spcPct val="105000"/>
              </a:lnSpc>
              <a:buNone/>
            </a:pPr>
            <a:r>
              <a:rPr lang="en-US" sz="1050" dirty="0">
                <a:solidFill>
                  <a:srgbClr val="545B64"/>
                </a:solidFill>
                <a:latin typeface="Calibri" pitchFamily="34" charset="0"/>
                <a:ea typeface="Calibri" pitchFamily="34" charset="-122"/>
                <a:cs typeface="Calibri" pitchFamily="34" charset="-120"/>
              </a:rPr>
              <a:t>Name the purpose, the data classes, and every consequential action — before any code.</a:t>
            </a:r>
            <a:endParaRPr lang="en-US" sz="1050" dirty="0"/>
          </a:p>
        </p:txBody>
      </p:sp>
      <p:sp>
        <p:nvSpPr>
          <p:cNvPr id="7" name="Shape 5"/>
          <p:cNvSpPr/>
          <p:nvPr/>
        </p:nvSpPr>
        <p:spPr>
          <a:xfrm>
            <a:off x="4306824" y="1572768"/>
            <a:ext cx="3593592" cy="1353312"/>
          </a:xfrm>
          <a:prstGeom prst="roundRect">
            <a:avLst>
              <a:gd name="adj" fmla="val 3378"/>
            </a:avLst>
          </a:prstGeom>
          <a:solidFill>
            <a:srgbClr val="F2F3F3"/>
          </a:solidFill>
          <a:ln w="9525">
            <a:solidFill>
              <a:srgbClr val="D5DBDB"/>
            </a:solidFill>
            <a:prstDash val="solid"/>
          </a:ln>
        </p:spPr>
      </p:sp>
      <p:sp>
        <p:nvSpPr>
          <p:cNvPr id="8" name="Text 6"/>
          <p:cNvSpPr/>
          <p:nvPr/>
        </p:nvSpPr>
        <p:spPr>
          <a:xfrm>
            <a:off x="4453128" y="1664208"/>
            <a:ext cx="3291840" cy="310896"/>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2 · Copy the template</a:t>
            </a:r>
            <a:endParaRPr lang="en-US" sz="1250" dirty="0"/>
          </a:p>
        </p:txBody>
      </p:sp>
      <p:sp>
        <p:nvSpPr>
          <p:cNvPr id="9" name="Text 7"/>
          <p:cNvSpPr/>
          <p:nvPr/>
        </p:nvSpPr>
        <p:spPr>
          <a:xfrm>
            <a:off x="4453128" y="1993392"/>
            <a:ext cx="3310128" cy="868680"/>
          </a:xfrm>
          <a:prstGeom prst="rect">
            <a:avLst/>
          </a:prstGeom>
          <a:noFill/>
          <a:ln/>
        </p:spPr>
        <p:txBody>
          <a:bodyPr wrap="square" lIns="0" tIns="0" rIns="0" bIns="0" rtlCol="0" anchor="t"/>
          <a:lstStyle/>
          <a:p>
            <a:pPr indent="0" marL="0">
              <a:lnSpc>
                <a:spcPct val="105000"/>
              </a:lnSpc>
              <a:buNone/>
            </a:pPr>
            <a:r>
              <a:rPr lang="en-US" sz="1050" dirty="0">
                <a:solidFill>
                  <a:srgbClr val="545B64"/>
                </a:solidFill>
                <a:latin typeface="Calibri" pitchFamily="34" charset="0"/>
                <a:ea typeface="Calibri" pitchFamily="34" charset="-122"/>
                <a:cs typeface="Calibri" pitchFamily="34" charset="-120"/>
              </a:rPr>
              <a:t>The governed hero-agent template: gateway wiring, audit, masking, human gate already in place.</a:t>
            </a:r>
            <a:endParaRPr lang="en-US" sz="1050" dirty="0"/>
          </a:p>
        </p:txBody>
      </p:sp>
      <p:sp>
        <p:nvSpPr>
          <p:cNvPr id="10" name="Shape 8"/>
          <p:cNvSpPr/>
          <p:nvPr/>
        </p:nvSpPr>
        <p:spPr>
          <a:xfrm>
            <a:off x="8065008" y="1572768"/>
            <a:ext cx="3593592" cy="1353312"/>
          </a:xfrm>
          <a:prstGeom prst="roundRect">
            <a:avLst>
              <a:gd name="adj" fmla="val 3378"/>
            </a:avLst>
          </a:prstGeom>
          <a:solidFill>
            <a:srgbClr val="F2F3F3"/>
          </a:solidFill>
          <a:ln w="9525">
            <a:solidFill>
              <a:srgbClr val="D5DBDB"/>
            </a:solidFill>
            <a:prstDash val="solid"/>
          </a:ln>
        </p:spPr>
      </p:sp>
      <p:sp>
        <p:nvSpPr>
          <p:cNvPr id="11" name="Text 9"/>
          <p:cNvSpPr/>
          <p:nvPr/>
        </p:nvSpPr>
        <p:spPr>
          <a:xfrm>
            <a:off x="8211312" y="1664208"/>
            <a:ext cx="3291840" cy="310896"/>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3 · Author manifest + policies</a:t>
            </a:r>
            <a:endParaRPr lang="en-US" sz="1250" dirty="0"/>
          </a:p>
        </p:txBody>
      </p:sp>
      <p:sp>
        <p:nvSpPr>
          <p:cNvPr id="12" name="Text 10"/>
          <p:cNvSpPr/>
          <p:nvPr/>
        </p:nvSpPr>
        <p:spPr>
          <a:xfrm>
            <a:off x="8211312" y="1993392"/>
            <a:ext cx="3310128" cy="868680"/>
          </a:xfrm>
          <a:prstGeom prst="rect">
            <a:avLst/>
          </a:prstGeom>
          <a:noFill/>
          <a:ln/>
        </p:spPr>
        <p:txBody>
          <a:bodyPr wrap="square" lIns="0" tIns="0" rIns="0" bIns="0" rtlCol="0" anchor="t"/>
          <a:lstStyle/>
          <a:p>
            <a:pPr indent="0" marL="0">
              <a:lnSpc>
                <a:spcPct val="105000"/>
              </a:lnSpc>
              <a:buNone/>
            </a:pPr>
            <a:r>
              <a:rPr lang="en-US" sz="1050" dirty="0">
                <a:solidFill>
                  <a:srgbClr val="545B64"/>
                </a:solidFill>
                <a:latin typeface="Calibri" pitchFamily="34" charset="0"/>
                <a:ea typeface="Calibri" pitchFamily="34" charset="-122"/>
                <a:cs typeface="Calibri" pitchFamily="34" charset="-120"/>
              </a:rPr>
              <a:t>One YAML manifest (scope, grounding, budget, evals, pack, signing) + Cedar policy files.</a:t>
            </a:r>
            <a:endParaRPr lang="en-US" sz="1050" dirty="0"/>
          </a:p>
        </p:txBody>
      </p:sp>
      <p:sp>
        <p:nvSpPr>
          <p:cNvPr id="13" name="Shape 11"/>
          <p:cNvSpPr/>
          <p:nvPr/>
        </p:nvSpPr>
        <p:spPr>
          <a:xfrm>
            <a:off x="548640" y="3054096"/>
            <a:ext cx="3593592" cy="1353312"/>
          </a:xfrm>
          <a:prstGeom prst="roundRect">
            <a:avLst>
              <a:gd name="adj" fmla="val 3378"/>
            </a:avLst>
          </a:prstGeom>
          <a:solidFill>
            <a:srgbClr val="F2F3F3"/>
          </a:solidFill>
          <a:ln w="9525">
            <a:solidFill>
              <a:srgbClr val="D5DBDB"/>
            </a:solidFill>
            <a:prstDash val="solid"/>
          </a:ln>
        </p:spPr>
      </p:sp>
      <p:sp>
        <p:nvSpPr>
          <p:cNvPr id="14" name="Text 12"/>
          <p:cNvSpPr/>
          <p:nvPr/>
        </p:nvSpPr>
        <p:spPr>
          <a:xfrm>
            <a:off x="694944" y="3145536"/>
            <a:ext cx="3291840" cy="310896"/>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4 · Build tools + evals</a:t>
            </a:r>
            <a:endParaRPr lang="en-US" sz="1250" dirty="0"/>
          </a:p>
        </p:txBody>
      </p:sp>
      <p:sp>
        <p:nvSpPr>
          <p:cNvPr id="15" name="Text 13"/>
          <p:cNvSpPr/>
          <p:nvPr/>
        </p:nvSpPr>
        <p:spPr>
          <a:xfrm>
            <a:off x="694944" y="3474720"/>
            <a:ext cx="3310128" cy="868680"/>
          </a:xfrm>
          <a:prstGeom prst="rect">
            <a:avLst/>
          </a:prstGeom>
          <a:noFill/>
          <a:ln/>
        </p:spPr>
        <p:txBody>
          <a:bodyPr wrap="square" lIns="0" tIns="0" rIns="0" bIns="0" rtlCol="0" anchor="t"/>
          <a:lstStyle/>
          <a:p>
            <a:pPr indent="0" marL="0">
              <a:lnSpc>
                <a:spcPct val="105000"/>
              </a:lnSpc>
              <a:buNone/>
            </a:pPr>
            <a:r>
              <a:rPr lang="en-US" sz="1050" dirty="0">
                <a:solidFill>
                  <a:srgbClr val="545B64"/>
                </a:solidFill>
                <a:latin typeface="Calibri" pitchFamily="34" charset="0"/>
                <a:ea typeface="Calibri" pitchFamily="34" charset="-122"/>
                <a:cs typeface="Calibri" pitchFamily="34" charset="-120"/>
              </a:rPr>
              <a:t>Only declared tools; consequential actions live behind the human gate. Evals with a declared pass rate.</a:t>
            </a:r>
            <a:endParaRPr lang="en-US" sz="1050" dirty="0"/>
          </a:p>
        </p:txBody>
      </p:sp>
      <p:sp>
        <p:nvSpPr>
          <p:cNvPr id="16" name="Shape 14"/>
          <p:cNvSpPr/>
          <p:nvPr/>
        </p:nvSpPr>
        <p:spPr>
          <a:xfrm>
            <a:off x="4306824" y="3054096"/>
            <a:ext cx="3593592" cy="1353312"/>
          </a:xfrm>
          <a:prstGeom prst="roundRect">
            <a:avLst>
              <a:gd name="adj" fmla="val 3378"/>
            </a:avLst>
          </a:prstGeom>
          <a:solidFill>
            <a:srgbClr val="F2F3F3"/>
          </a:solidFill>
          <a:ln w="9525">
            <a:solidFill>
              <a:srgbClr val="D5DBDB"/>
            </a:solidFill>
            <a:prstDash val="solid"/>
          </a:ln>
        </p:spPr>
      </p:sp>
      <p:sp>
        <p:nvSpPr>
          <p:cNvPr id="17" name="Text 15"/>
          <p:cNvSpPr/>
          <p:nvPr/>
        </p:nvSpPr>
        <p:spPr>
          <a:xfrm>
            <a:off x="4453128" y="3145536"/>
            <a:ext cx="3291840" cy="310896"/>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5 · Clear the bar</a:t>
            </a:r>
            <a:endParaRPr lang="en-US" sz="1250" dirty="0"/>
          </a:p>
        </p:txBody>
      </p:sp>
      <p:sp>
        <p:nvSpPr>
          <p:cNvPr id="18" name="Text 16"/>
          <p:cNvSpPr/>
          <p:nvPr/>
        </p:nvSpPr>
        <p:spPr>
          <a:xfrm>
            <a:off x="4453128" y="3474720"/>
            <a:ext cx="3310128" cy="868680"/>
          </a:xfrm>
          <a:prstGeom prst="rect">
            <a:avLst/>
          </a:prstGeom>
          <a:noFill/>
          <a:ln/>
        </p:spPr>
        <p:txBody>
          <a:bodyPr wrap="square" lIns="0" tIns="0" rIns="0" bIns="0" rtlCol="0" anchor="t"/>
          <a:lstStyle/>
          <a:p>
            <a:pPr indent="0" marL="0">
              <a:lnSpc>
                <a:spcPct val="105000"/>
              </a:lnSpc>
              <a:buNone/>
            </a:pPr>
            <a:r>
              <a:rPr lang="en-US" sz="1050" dirty="0">
                <a:solidFill>
                  <a:srgbClr val="545B64"/>
                </a:solidFill>
                <a:latin typeface="Calibri" pitchFamily="34" charset="0"/>
                <a:ea typeface="Calibri" pitchFamily="34" charset="-122"/>
                <a:cs typeface="Calibri" pitchFamily="34" charset="-120"/>
              </a:rPr>
              <a:t>CI runs the nine gates; the manifest gets signed; the delivery gate blocks placeholders and demo retention.</a:t>
            </a:r>
            <a:endParaRPr lang="en-US" sz="1050" dirty="0"/>
          </a:p>
        </p:txBody>
      </p:sp>
      <p:sp>
        <p:nvSpPr>
          <p:cNvPr id="19" name="Shape 17"/>
          <p:cNvSpPr/>
          <p:nvPr/>
        </p:nvSpPr>
        <p:spPr>
          <a:xfrm>
            <a:off x="8065008" y="3054096"/>
            <a:ext cx="3593592" cy="1353312"/>
          </a:xfrm>
          <a:prstGeom prst="roundRect">
            <a:avLst>
              <a:gd name="adj" fmla="val 3378"/>
            </a:avLst>
          </a:prstGeom>
          <a:solidFill>
            <a:srgbClr val="F2F3F3"/>
          </a:solidFill>
          <a:ln w="9525">
            <a:solidFill>
              <a:srgbClr val="D5DBDB"/>
            </a:solidFill>
            <a:prstDash val="solid"/>
          </a:ln>
        </p:spPr>
      </p:sp>
      <p:sp>
        <p:nvSpPr>
          <p:cNvPr id="20" name="Text 18"/>
          <p:cNvSpPr/>
          <p:nvPr/>
        </p:nvSpPr>
        <p:spPr>
          <a:xfrm>
            <a:off x="8211312" y="3145536"/>
            <a:ext cx="3291840" cy="310896"/>
          </a:xfrm>
          <a:prstGeom prst="rect">
            <a:avLst/>
          </a:prstGeom>
          <a:noFill/>
          <a:ln/>
        </p:spPr>
        <p:txBody>
          <a:bodyPr wrap="square" lIns="0" tIns="0" rIns="0" bIns="0" rtlCol="0" anchor="ctr"/>
          <a:lstStyle/>
          <a:p>
            <a:pPr indent="0" marL="0">
              <a:buNone/>
            </a:pPr>
            <a:r>
              <a:rPr lang="en-US" sz="1250" b="1" dirty="0">
                <a:solidFill>
                  <a:srgbClr val="1B2A3A"/>
                </a:solidFill>
                <a:latin typeface="Calibri" pitchFamily="34" charset="0"/>
                <a:ea typeface="Calibri" pitchFamily="34" charset="-122"/>
                <a:cs typeface="Calibri" pitchFamily="34" charset="-120"/>
              </a:rPr>
              <a:t>6 · Deploy + drill</a:t>
            </a:r>
            <a:endParaRPr lang="en-US" sz="1250" dirty="0"/>
          </a:p>
        </p:txBody>
      </p:sp>
      <p:sp>
        <p:nvSpPr>
          <p:cNvPr id="21" name="Text 19"/>
          <p:cNvSpPr/>
          <p:nvPr/>
        </p:nvSpPr>
        <p:spPr>
          <a:xfrm>
            <a:off x="8211312" y="3474720"/>
            <a:ext cx="3310128" cy="868680"/>
          </a:xfrm>
          <a:prstGeom prst="rect">
            <a:avLst/>
          </a:prstGeom>
          <a:noFill/>
          <a:ln/>
        </p:spPr>
        <p:txBody>
          <a:bodyPr wrap="square" lIns="0" tIns="0" rIns="0" bIns="0" rtlCol="0" anchor="t"/>
          <a:lstStyle/>
          <a:p>
            <a:pPr indent="0" marL="0">
              <a:lnSpc>
                <a:spcPct val="105000"/>
              </a:lnSpc>
              <a:buNone/>
            </a:pPr>
            <a:r>
              <a:rPr lang="en-US" sz="1050" dirty="0">
                <a:solidFill>
                  <a:srgbClr val="545B64"/>
                </a:solidFill>
                <a:latin typeface="Calibri" pitchFamily="34" charset="0"/>
                <a:ea typeface="Calibri" pitchFamily="34" charset="-122"/>
                <a:cs typeface="Calibri" pitchFamily="34" charset="-120"/>
              </a:rPr>
              <a:t>Four small stacks (cdk deploy), register with the gateway, run the canary / deny / kill-switch drills. Live.</a:t>
            </a:r>
            <a:endParaRPr lang="en-US" sz="1050" dirty="0"/>
          </a:p>
        </p:txBody>
      </p:sp>
      <p:sp>
        <p:nvSpPr>
          <p:cNvPr id="22" name="Shape 20"/>
          <p:cNvSpPr/>
          <p:nvPr/>
        </p:nvSpPr>
        <p:spPr>
          <a:xfrm>
            <a:off x="548640" y="4709160"/>
            <a:ext cx="11109960" cy="960120"/>
          </a:xfrm>
          <a:prstGeom prst="roundRect">
            <a:avLst>
              <a:gd name="adj" fmla="val 4762"/>
            </a:avLst>
          </a:prstGeom>
          <a:solidFill>
            <a:srgbClr val="F0F7F4"/>
          </a:solidFill>
          <a:ln w="12700">
            <a:solidFill>
              <a:srgbClr val="0B6E4F"/>
            </a:solidFill>
            <a:prstDash val="solid"/>
          </a:ln>
        </p:spPr>
      </p:sp>
      <p:sp>
        <p:nvSpPr>
          <p:cNvPr id="23" name="Text 21"/>
          <p:cNvSpPr/>
          <p:nvPr/>
        </p:nvSpPr>
        <p:spPr>
          <a:xfrm>
            <a:off x="777240" y="4800600"/>
            <a:ext cx="10698480" cy="804672"/>
          </a:xfrm>
          <a:prstGeom prst="rect">
            <a:avLst/>
          </a:prstGeom>
          <a:noFill/>
          <a:ln/>
        </p:spPr>
        <p:txBody>
          <a:bodyPr wrap="square" lIns="0" tIns="0" rIns="0" bIns="0" rtlCol="0" anchor="ctr"/>
          <a:lstStyle/>
          <a:p>
            <a:pPr indent="0" marL="0">
              <a:lnSpc>
                <a:spcPct val="106000"/>
              </a:lnSpc>
              <a:buNone/>
            </a:pPr>
            <a:r>
              <a:rPr lang="en-US" sz="1200" b="1" dirty="0">
                <a:solidFill>
                  <a:srgbClr val="0B6E4F"/>
                </a:solidFill>
                <a:latin typeface="Calibri" pitchFamily="34" charset="0"/>
                <a:ea typeface="Calibri" pitchFamily="34" charset="-122"/>
                <a:cs typeface="Calibri" pitchFamily="34" charset="-120"/>
              </a:rPr>
              <a:t>What every agent inherits on day one — with zero observability code of its own:  </a:t>
            </a:r>
            <a:pPr indent="0" marL="0">
              <a:lnSpc>
                <a:spcPct val="106000"/>
              </a:lnSpc>
              <a:buNone/>
            </a:pPr>
            <a:r>
              <a:rPr lang="en-US" sz="1200" dirty="0">
                <a:solidFill>
                  <a:srgbClr val="29473C"/>
                </a:solidFill>
                <a:latin typeface="Calibri" pitchFamily="34" charset="0"/>
                <a:ea typeface="Calibri" pitchFamily="34" charset="-122"/>
                <a:cs typeface="Calibri" pitchFamily="34" charset="-120"/>
              </a:rPr>
              <a:t>the operations dashboard, hash-chained audit trail, guardrail masking, budget alarms and chargeback, and kill-switch coverage. The agent team writes business logic; the platform does the governing.</a:t>
            </a:r>
            <a:endParaRPr lang="en-US" sz="1200" dirty="0"/>
          </a:p>
        </p:txBody>
      </p:sp>
      <p:sp>
        <p:nvSpPr>
          <p:cNvPr id="24" name="Text 22"/>
          <p:cNvSpPr/>
          <p:nvPr/>
        </p:nvSpPr>
        <p:spPr>
          <a:xfrm>
            <a:off x="548640" y="5760720"/>
            <a:ext cx="11064240" cy="365760"/>
          </a:xfrm>
          <a:prstGeom prst="rect">
            <a:avLst/>
          </a:prstGeom>
          <a:noFill/>
          <a:ln/>
        </p:spPr>
        <p:txBody>
          <a:bodyPr wrap="square" lIns="0" tIns="0" rIns="0" bIns="0" rtlCol="0" anchor="ctr"/>
          <a:lstStyle/>
          <a:p>
            <a:pPr algn="ctr" indent="0" marL="0">
              <a:buNone/>
            </a:pPr>
            <a:r>
              <a:rPr lang="en-US" sz="1200" b="1" i="1" dirty="0">
                <a:solidFill>
                  <a:srgbClr val="0B6E4F"/>
                </a:solidFill>
                <a:latin typeface="Calibri" pitchFamily="34" charset="0"/>
                <a:ea typeface="Calibri" pitchFamily="34" charset="-122"/>
                <a:cs typeface="Calibri" pitchFamily="34" charset="-120"/>
              </a:rPr>
              <a:t>1–2 weeks  ·  ~6 artifacts authored  ·  0 lines of observability code  ·  full runbook ships in the repo (AGENT-ONBOARDING-RUNBOOK.md)</a:t>
            </a:r>
            <a:endParaRPr lang="en-US" sz="1200" dirty="0"/>
          </a:p>
        </p:txBody>
      </p:sp>
      <p:sp>
        <p:nvSpPr>
          <p:cNvPr id="25" name="Text 23"/>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879196"/>
                </a:solidFill>
                <a:latin typeface="Calibri" pitchFamily="34" charset="0"/>
                <a:ea typeface="Calibri" pitchFamily="34" charset="-122"/>
                <a:cs typeface="Calibri" pitchFamily="34" charset="-120"/>
              </a:rPr>
              <a:t>Aegis — Governed AI Agents · Built on AWS · Reference architecture (see NOT-CLAIMS)</a:t>
            </a:r>
            <a:endParaRPr lang="en-US" sz="900" dirty="0"/>
          </a:p>
        </p:txBody>
      </p:sp>
      <p:sp>
        <p:nvSpPr>
          <p:cNvPr id="26" name="Text 24"/>
          <p:cNvSpPr/>
          <p:nvPr/>
        </p:nvSpPr>
        <p:spPr>
          <a:xfrm>
            <a:off x="10908792" y="6473952"/>
            <a:ext cx="731520" cy="274320"/>
          </a:xfrm>
          <a:prstGeom prst="rect">
            <a:avLst/>
          </a:prstGeom>
          <a:noFill/>
          <a:ln/>
        </p:spPr>
        <p:txBody>
          <a:bodyPr wrap="square" lIns="0" tIns="0" rIns="0" bIns="0" rtlCol="0" anchor="ctr"/>
          <a:lstStyle/>
          <a:p>
            <a:pPr algn="r" indent="0" marL="0">
              <a:buNone/>
            </a:pPr>
            <a:r>
              <a:rPr lang="en-US" sz="900" dirty="0">
                <a:solidFill>
                  <a:srgbClr val="879196"/>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0B6E4F"/>
                </a:solidFill>
                <a:latin typeface="Calibri" pitchFamily="34" charset="0"/>
                <a:ea typeface="Calibri" pitchFamily="34" charset="-122"/>
                <a:cs typeface="Calibri" pitchFamily="34" charset="-120"/>
              </a:rPr>
              <a:t>07 · COMPLEXITY, HONESTLY</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B2A3A"/>
                </a:solidFill>
                <a:latin typeface="Calibri" pitchFamily="34" charset="0"/>
                <a:ea typeface="Calibri" pitchFamily="34" charset="-122"/>
                <a:cs typeface="Calibri" pitchFamily="34" charset="-120"/>
              </a:rPr>
              <a:t>It's Smaller Than It Looks</a:t>
            </a:r>
            <a:endParaRPr lang="en-US" sz="3000" dirty="0"/>
          </a:p>
        </p:txBody>
      </p:sp>
      <p:sp>
        <p:nvSpPr>
          <p:cNvPr id="4" name="Text 2"/>
          <p:cNvSpPr/>
          <p:nvPr/>
        </p:nvSpPr>
        <p:spPr>
          <a:xfrm>
            <a:off x="548640" y="1481328"/>
            <a:ext cx="11064240" cy="502920"/>
          </a:xfrm>
          <a:prstGeom prst="rect">
            <a:avLst/>
          </a:prstGeom>
          <a:noFill/>
          <a:ln/>
        </p:spPr>
        <p:txBody>
          <a:bodyPr wrap="square" lIns="0" tIns="0" rIns="0" bIns="0" rtlCol="0" anchor="ctr"/>
          <a:lstStyle/>
          <a:p>
            <a:pPr indent="0" marL="0">
              <a:lnSpc>
                <a:spcPct val="110000"/>
              </a:lnSpc>
              <a:buNone/>
            </a:pPr>
            <a:r>
              <a:rPr lang="en-US" sz="1350" dirty="0">
                <a:solidFill>
                  <a:srgbClr val="545B64"/>
                </a:solidFill>
                <a:latin typeface="Calibri" pitchFamily="34" charset="0"/>
                <a:ea typeface="Calibri" pitchFamily="34" charset="-122"/>
                <a:cs typeface="Calibri" pitchFamily="34" charset="-120"/>
              </a:rPr>
              <a:t>The service map is real — but it is not what you operate. Operationally this is three planes answering the three questions your CISO already asks, deployed as one stack.</a:t>
            </a:r>
            <a:endParaRPr lang="en-US" sz="1350" dirty="0"/>
          </a:p>
        </p:txBody>
      </p:sp>
      <p:sp>
        <p:nvSpPr>
          <p:cNvPr id="5" name="Shape 3"/>
          <p:cNvSpPr/>
          <p:nvPr/>
        </p:nvSpPr>
        <p:spPr>
          <a:xfrm>
            <a:off x="548640" y="2148840"/>
            <a:ext cx="3593592" cy="1965960"/>
          </a:xfrm>
          <a:prstGeom prst="roundRect">
            <a:avLst>
              <a:gd name="adj" fmla="val 2791"/>
            </a:avLst>
          </a:prstGeom>
          <a:solidFill>
            <a:srgbClr val="F2F3F3"/>
          </a:solidFill>
          <a:ln w="9525">
            <a:solidFill>
              <a:srgbClr val="D5DBDB"/>
            </a:solidFill>
            <a:prstDash val="solid"/>
          </a:ln>
        </p:spPr>
      </p:sp>
      <p:sp>
        <p:nvSpPr>
          <p:cNvPr id="6" name="Text 4"/>
          <p:cNvSpPr/>
          <p:nvPr/>
        </p:nvSpPr>
        <p:spPr>
          <a:xfrm>
            <a:off x="713232" y="2258568"/>
            <a:ext cx="3264408"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Identity — who is acting?</a:t>
            </a:r>
            <a:endParaRPr lang="en-US" sz="1400" dirty="0"/>
          </a:p>
        </p:txBody>
      </p:sp>
      <p:sp>
        <p:nvSpPr>
          <p:cNvPr id="7" name="Text 5"/>
          <p:cNvSpPr/>
          <p:nvPr/>
        </p:nvSpPr>
        <p:spPr>
          <a:xfrm>
            <a:off x="713232" y="2606040"/>
            <a:ext cx="3264408" cy="139903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Cognito federated to YOUR IdP, IAM, verified JWTs. Services your account already runs — zero new operational surface.</a:t>
            </a:r>
            <a:endParaRPr lang="en-US" sz="1100" dirty="0"/>
          </a:p>
        </p:txBody>
      </p:sp>
      <p:sp>
        <p:nvSpPr>
          <p:cNvPr id="8" name="Shape 6"/>
          <p:cNvSpPr/>
          <p:nvPr/>
        </p:nvSpPr>
        <p:spPr>
          <a:xfrm>
            <a:off x="4306824" y="2148840"/>
            <a:ext cx="3593592" cy="1965960"/>
          </a:xfrm>
          <a:prstGeom prst="roundRect">
            <a:avLst>
              <a:gd name="adj" fmla="val 2791"/>
            </a:avLst>
          </a:prstGeom>
          <a:solidFill>
            <a:srgbClr val="F2F3F3"/>
          </a:solidFill>
          <a:ln w="9525">
            <a:solidFill>
              <a:srgbClr val="D5DBDB"/>
            </a:solidFill>
            <a:prstDash val="solid"/>
          </a:ln>
        </p:spPr>
      </p:sp>
      <p:sp>
        <p:nvSpPr>
          <p:cNvPr id="9" name="Text 7"/>
          <p:cNvSpPr/>
          <p:nvPr/>
        </p:nvSpPr>
        <p:spPr>
          <a:xfrm>
            <a:off x="4471416" y="2258568"/>
            <a:ext cx="3264408"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Control — what may happen?</a:t>
            </a:r>
            <a:endParaRPr lang="en-US" sz="1400" dirty="0"/>
          </a:p>
        </p:txBody>
      </p:sp>
      <p:sp>
        <p:nvSpPr>
          <p:cNvPr id="10" name="Text 8"/>
          <p:cNvSpPr/>
          <p:nvPr/>
        </p:nvSpPr>
        <p:spPr>
          <a:xfrm>
            <a:off x="4471416" y="2606040"/>
            <a:ext cx="3264408" cy="139903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The deny-by-default gateway: Cedar policies, the Guardrail, token budgets, the Kill Switch. One choke point — this is the platform's actual job.</a:t>
            </a:r>
            <a:endParaRPr lang="en-US" sz="1100" dirty="0"/>
          </a:p>
        </p:txBody>
      </p:sp>
      <p:sp>
        <p:nvSpPr>
          <p:cNvPr id="11" name="Shape 9"/>
          <p:cNvSpPr/>
          <p:nvPr/>
        </p:nvSpPr>
        <p:spPr>
          <a:xfrm>
            <a:off x="8065008" y="2148840"/>
            <a:ext cx="3593592" cy="1965960"/>
          </a:xfrm>
          <a:prstGeom prst="roundRect">
            <a:avLst>
              <a:gd name="adj" fmla="val 2791"/>
            </a:avLst>
          </a:prstGeom>
          <a:solidFill>
            <a:srgbClr val="F2F3F3"/>
          </a:solidFill>
          <a:ln w="9525">
            <a:solidFill>
              <a:srgbClr val="D5DBDB"/>
            </a:solidFill>
            <a:prstDash val="solid"/>
          </a:ln>
        </p:spPr>
      </p:sp>
      <p:sp>
        <p:nvSpPr>
          <p:cNvPr id="12" name="Text 10"/>
          <p:cNvSpPr/>
          <p:nvPr/>
        </p:nvSpPr>
        <p:spPr>
          <a:xfrm>
            <a:off x="8229600" y="2258568"/>
            <a:ext cx="3264408" cy="329184"/>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Evidence — can you prove it?</a:t>
            </a:r>
            <a:endParaRPr lang="en-US" sz="1400" dirty="0"/>
          </a:p>
        </p:txBody>
      </p:sp>
      <p:sp>
        <p:nvSpPr>
          <p:cNvPr id="13" name="Text 11"/>
          <p:cNvSpPr/>
          <p:nvPr/>
        </p:nvSpPr>
        <p:spPr>
          <a:xfrm>
            <a:off x="8229600" y="2606040"/>
            <a:ext cx="3264408" cy="1399032"/>
          </a:xfrm>
          <a:prstGeom prst="rect">
            <a:avLst/>
          </a:prstGeom>
          <a:noFill/>
          <a:ln/>
        </p:spPr>
        <p:txBody>
          <a:bodyPr wrap="square" lIns="0" tIns="0" rIns="0" bIns="0" rtlCol="0" anchor="t"/>
          <a:lstStyle/>
          <a:p>
            <a:pPr indent="0" marL="0">
              <a:lnSpc>
                <a:spcPct val="108000"/>
              </a:lnSpc>
              <a:buNone/>
            </a:pPr>
            <a:r>
              <a:rPr lang="en-US" sz="1100" dirty="0">
                <a:solidFill>
                  <a:srgbClr val="545B64"/>
                </a:solidFill>
                <a:latin typeface="Calibri" pitchFamily="34" charset="0"/>
                <a:ea typeface="Calibri" pitchFamily="34" charset="-122"/>
                <a:cs typeface="Calibri" pitchFamily="34" charset="-120"/>
              </a:rPr>
              <a:t>Append-only audit, WORM evidence bucket, CloudWatch. Write-once services that run themselves — you read them, you don't tend them.</a:t>
            </a:r>
            <a:endParaRPr lang="en-US" sz="1100" dirty="0"/>
          </a:p>
        </p:txBody>
      </p:sp>
      <p:sp>
        <p:nvSpPr>
          <p:cNvPr id="14" name="Shape 12"/>
          <p:cNvSpPr/>
          <p:nvPr/>
        </p:nvSpPr>
        <p:spPr>
          <a:xfrm>
            <a:off x="548640" y="4343400"/>
            <a:ext cx="2651760" cy="1143000"/>
          </a:xfrm>
          <a:prstGeom prst="roundRect">
            <a:avLst>
              <a:gd name="adj" fmla="val 4800"/>
            </a:avLst>
          </a:prstGeom>
          <a:solidFill>
            <a:srgbClr val="1B2A3A"/>
          </a:solidFill>
          <a:ln/>
        </p:spPr>
      </p:sp>
      <p:sp>
        <p:nvSpPr>
          <p:cNvPr id="15" name="Text 13"/>
          <p:cNvSpPr/>
          <p:nvPr/>
        </p:nvSpPr>
        <p:spPr>
          <a:xfrm>
            <a:off x="548640" y="4434840"/>
            <a:ext cx="2651760" cy="548640"/>
          </a:xfrm>
          <a:prstGeom prst="rect">
            <a:avLst/>
          </a:prstGeom>
          <a:noFill/>
          <a:ln/>
        </p:spPr>
        <p:txBody>
          <a:bodyPr wrap="square" lIns="0" tIns="0" rIns="0" bIns="0" rtlCol="0" anchor="ctr"/>
          <a:lstStyle/>
          <a:p>
            <a:pPr algn="ctr" indent="0" marL="0">
              <a:buNone/>
            </a:pPr>
            <a:r>
              <a:rPr lang="en-US" sz="2600" b="1" dirty="0">
                <a:solidFill>
                  <a:srgbClr val="F3B23E"/>
                </a:solidFill>
                <a:latin typeface="Calibri" pitchFamily="34" charset="0"/>
                <a:ea typeface="Calibri" pitchFamily="34" charset="-122"/>
                <a:cs typeface="Calibri" pitchFamily="34" charset="-120"/>
              </a:rPr>
              <a:t>9</a:t>
            </a:r>
            <a:endParaRPr lang="en-US" sz="2600" dirty="0"/>
          </a:p>
        </p:txBody>
      </p:sp>
      <p:sp>
        <p:nvSpPr>
          <p:cNvPr id="16" name="Text 14"/>
          <p:cNvSpPr/>
          <p:nvPr/>
        </p:nvSpPr>
        <p:spPr>
          <a:xfrm>
            <a:off x="640080" y="4983480"/>
            <a:ext cx="2468880" cy="41148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managed services in the core</a:t>
            </a:r>
            <a:endParaRPr lang="en-US" sz="1050" dirty="0"/>
          </a:p>
        </p:txBody>
      </p:sp>
      <p:sp>
        <p:nvSpPr>
          <p:cNvPr id="17" name="Shape 15"/>
          <p:cNvSpPr/>
          <p:nvPr/>
        </p:nvSpPr>
        <p:spPr>
          <a:xfrm>
            <a:off x="3360420" y="4343400"/>
            <a:ext cx="2651760" cy="1143000"/>
          </a:xfrm>
          <a:prstGeom prst="roundRect">
            <a:avLst>
              <a:gd name="adj" fmla="val 4800"/>
            </a:avLst>
          </a:prstGeom>
          <a:solidFill>
            <a:srgbClr val="1B2A3A"/>
          </a:solidFill>
          <a:ln/>
        </p:spPr>
      </p:sp>
      <p:sp>
        <p:nvSpPr>
          <p:cNvPr id="18" name="Text 16"/>
          <p:cNvSpPr/>
          <p:nvPr/>
        </p:nvSpPr>
        <p:spPr>
          <a:xfrm>
            <a:off x="3360420" y="4434840"/>
            <a:ext cx="2651760" cy="548640"/>
          </a:xfrm>
          <a:prstGeom prst="rect">
            <a:avLst/>
          </a:prstGeom>
          <a:noFill/>
          <a:ln/>
        </p:spPr>
        <p:txBody>
          <a:bodyPr wrap="square" lIns="0" tIns="0" rIns="0" bIns="0" rtlCol="0" anchor="ctr"/>
          <a:lstStyle/>
          <a:p>
            <a:pPr algn="ctr" indent="0" marL="0">
              <a:buNone/>
            </a:pPr>
            <a:r>
              <a:rPr lang="en-US" sz="2600" b="1" dirty="0">
                <a:solidFill>
                  <a:srgbClr val="F3B23E"/>
                </a:solidFill>
                <a:latin typeface="Calibri" pitchFamily="34" charset="0"/>
                <a:ea typeface="Calibri" pitchFamily="34" charset="-122"/>
                <a:cs typeface="Calibri" pitchFamily="34" charset="-120"/>
              </a:rPr>
              <a:t>~$1–3/mo</a:t>
            </a:r>
            <a:endParaRPr lang="en-US" sz="2600" dirty="0"/>
          </a:p>
        </p:txBody>
      </p:sp>
      <p:sp>
        <p:nvSpPr>
          <p:cNvPr id="19" name="Text 17"/>
          <p:cNvSpPr/>
          <p:nvPr/>
        </p:nvSpPr>
        <p:spPr>
          <a:xfrm>
            <a:off x="3451860" y="4983480"/>
            <a:ext cx="2468880" cy="41148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standing still</a:t>
            </a:r>
            <a:endParaRPr lang="en-US" sz="1050" dirty="0"/>
          </a:p>
        </p:txBody>
      </p:sp>
      <p:sp>
        <p:nvSpPr>
          <p:cNvPr id="20" name="Shape 18"/>
          <p:cNvSpPr/>
          <p:nvPr/>
        </p:nvSpPr>
        <p:spPr>
          <a:xfrm>
            <a:off x="6172200" y="4343400"/>
            <a:ext cx="2651760" cy="1143000"/>
          </a:xfrm>
          <a:prstGeom prst="roundRect">
            <a:avLst>
              <a:gd name="adj" fmla="val 4800"/>
            </a:avLst>
          </a:prstGeom>
          <a:solidFill>
            <a:srgbClr val="1B2A3A"/>
          </a:solidFill>
          <a:ln/>
        </p:spPr>
      </p:sp>
      <p:sp>
        <p:nvSpPr>
          <p:cNvPr id="21" name="Text 19"/>
          <p:cNvSpPr/>
          <p:nvPr/>
        </p:nvSpPr>
        <p:spPr>
          <a:xfrm>
            <a:off x="6172200" y="4434840"/>
            <a:ext cx="2651760" cy="548640"/>
          </a:xfrm>
          <a:prstGeom prst="rect">
            <a:avLst/>
          </a:prstGeom>
          <a:noFill/>
          <a:ln/>
        </p:spPr>
        <p:txBody>
          <a:bodyPr wrap="square" lIns="0" tIns="0" rIns="0" bIns="0" rtlCol="0" anchor="ctr"/>
          <a:lstStyle/>
          <a:p>
            <a:pPr algn="ctr" indent="0" marL="0">
              <a:buNone/>
            </a:pPr>
            <a:r>
              <a:rPr lang="en-US" sz="2600" b="1" dirty="0">
                <a:solidFill>
                  <a:srgbClr val="F3B23E"/>
                </a:solidFill>
                <a:latin typeface="Calibri" pitchFamily="34" charset="0"/>
                <a:ea typeface="Calibri" pitchFamily="34" charset="-122"/>
                <a:cs typeface="Calibri" pitchFamily="34" charset="-120"/>
              </a:rPr>
              <a:t>1</a:t>
            </a:r>
            <a:endParaRPr lang="en-US" sz="2600" dirty="0"/>
          </a:p>
        </p:txBody>
      </p:sp>
      <p:sp>
        <p:nvSpPr>
          <p:cNvPr id="22" name="Text 20"/>
          <p:cNvSpPr/>
          <p:nvPr/>
        </p:nvSpPr>
        <p:spPr>
          <a:xfrm>
            <a:off x="6263640" y="4983480"/>
            <a:ext cx="2468880" cy="41148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deploy (cdk deploy)</a:t>
            </a:r>
            <a:endParaRPr lang="en-US" sz="1050" dirty="0"/>
          </a:p>
        </p:txBody>
      </p:sp>
      <p:sp>
        <p:nvSpPr>
          <p:cNvPr id="23" name="Shape 21"/>
          <p:cNvSpPr/>
          <p:nvPr/>
        </p:nvSpPr>
        <p:spPr>
          <a:xfrm>
            <a:off x="8983980" y="4343400"/>
            <a:ext cx="2651760" cy="1143000"/>
          </a:xfrm>
          <a:prstGeom prst="roundRect">
            <a:avLst>
              <a:gd name="adj" fmla="val 4800"/>
            </a:avLst>
          </a:prstGeom>
          <a:solidFill>
            <a:srgbClr val="1B2A3A"/>
          </a:solidFill>
          <a:ln/>
        </p:spPr>
      </p:sp>
      <p:sp>
        <p:nvSpPr>
          <p:cNvPr id="24" name="Text 22"/>
          <p:cNvSpPr/>
          <p:nvPr/>
        </p:nvSpPr>
        <p:spPr>
          <a:xfrm>
            <a:off x="8983980" y="4434840"/>
            <a:ext cx="2651760" cy="548640"/>
          </a:xfrm>
          <a:prstGeom prst="rect">
            <a:avLst/>
          </a:prstGeom>
          <a:noFill/>
          <a:ln/>
        </p:spPr>
        <p:txBody>
          <a:bodyPr wrap="square" lIns="0" tIns="0" rIns="0" bIns="0" rtlCol="0" anchor="ctr"/>
          <a:lstStyle/>
          <a:p>
            <a:pPr algn="ctr" indent="0" marL="0">
              <a:buNone/>
            </a:pPr>
            <a:r>
              <a:rPr lang="en-US" sz="2600" b="1" dirty="0">
                <a:solidFill>
                  <a:srgbClr val="F3B23E"/>
                </a:solidFill>
                <a:latin typeface="Calibri" pitchFamily="34" charset="0"/>
                <a:ea typeface="Calibri" pitchFamily="34" charset="-122"/>
                <a:cs typeface="Calibri" pitchFamily="34" charset="-120"/>
              </a:rPr>
              <a:t>~10</a:t>
            </a:r>
            <a:endParaRPr lang="en-US" sz="2600" dirty="0"/>
          </a:p>
        </p:txBody>
      </p:sp>
      <p:sp>
        <p:nvSpPr>
          <p:cNvPr id="25" name="Text 23"/>
          <p:cNvSpPr/>
          <p:nvPr/>
        </p:nvSpPr>
        <p:spPr>
          <a:xfrm>
            <a:off x="9075420" y="4983480"/>
            <a:ext cx="2468880" cy="41148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decisions you actually make</a:t>
            </a:r>
            <a:endParaRPr lang="en-US" sz="1050" dirty="0"/>
          </a:p>
        </p:txBody>
      </p:sp>
      <p:sp>
        <p:nvSpPr>
          <p:cNvPr id="26" name="Text 24"/>
          <p:cNvSpPr/>
          <p:nvPr/>
        </p:nvSpPr>
        <p:spPr>
          <a:xfrm>
            <a:off x="548640" y="5715000"/>
            <a:ext cx="11064240" cy="411480"/>
          </a:xfrm>
          <a:prstGeom prst="rect">
            <a:avLst/>
          </a:prstGeom>
          <a:noFill/>
          <a:ln/>
        </p:spPr>
        <p:txBody>
          <a:bodyPr wrap="square" lIns="0" tIns="0" rIns="0" bIns="0" rtlCol="0" anchor="ctr"/>
          <a:lstStyle/>
          <a:p>
            <a:pPr algn="ctr" indent="0" marL="0">
              <a:buNone/>
            </a:pPr>
            <a:r>
              <a:rPr lang="en-US" sz="1400" b="1" i="1" dirty="0">
                <a:solidFill>
                  <a:srgbClr val="0B6E4F"/>
                </a:solidFill>
                <a:latin typeface="Calibri" pitchFamily="34" charset="0"/>
                <a:ea typeface="Calibri" pitchFamily="34" charset="-122"/>
                <a:cs typeface="Calibri" pitchFamily="34" charset="-120"/>
              </a:rPr>
              <a:t>You don't operate thirty services. You answer three questions — and the stack answers back with evidence.</a:t>
            </a:r>
            <a:endParaRPr lang="en-US" sz="1400" dirty="0"/>
          </a:p>
        </p:txBody>
      </p:sp>
      <p:sp>
        <p:nvSpPr>
          <p:cNvPr id="27" name="Text 25"/>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879196"/>
                </a:solidFill>
                <a:latin typeface="Calibri" pitchFamily="34" charset="0"/>
                <a:ea typeface="Calibri" pitchFamily="34" charset="-122"/>
                <a:cs typeface="Calibri" pitchFamily="34" charset="-120"/>
              </a:rPr>
              <a:t>Aegis — Governed AI Agents · Built on AWS · Reference architecture (see NOT-CLAIMS)</a:t>
            </a:r>
            <a:endParaRPr lang="en-US" sz="900" dirty="0"/>
          </a:p>
        </p:txBody>
      </p:sp>
      <p:sp>
        <p:nvSpPr>
          <p:cNvPr id="28" name="Text 26"/>
          <p:cNvSpPr/>
          <p:nvPr/>
        </p:nvSpPr>
        <p:spPr>
          <a:xfrm>
            <a:off x="10908792" y="6473952"/>
            <a:ext cx="731520" cy="274320"/>
          </a:xfrm>
          <a:prstGeom prst="rect">
            <a:avLst/>
          </a:prstGeom>
          <a:noFill/>
          <a:ln/>
        </p:spPr>
        <p:txBody>
          <a:bodyPr wrap="square" lIns="0" tIns="0" rIns="0" bIns="0" rtlCol="0" anchor="ctr"/>
          <a:lstStyle/>
          <a:p>
            <a:pPr algn="r" indent="0" marL="0">
              <a:buNone/>
            </a:pPr>
            <a:r>
              <a:rPr lang="en-US" sz="900" dirty="0">
                <a:solidFill>
                  <a:srgbClr val="879196"/>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8229600" cy="292608"/>
          </a:xfrm>
          <a:prstGeom prst="rect">
            <a:avLst/>
          </a:prstGeom>
          <a:noFill/>
          <a:ln/>
        </p:spPr>
        <p:txBody>
          <a:bodyPr wrap="square" lIns="0" tIns="0" rIns="0" bIns="0" rtlCol="0" anchor="ctr"/>
          <a:lstStyle/>
          <a:p>
            <a:pPr indent="0" marL="0">
              <a:buNone/>
            </a:pPr>
            <a:r>
              <a:rPr lang="en-US" sz="1200" b="1" spc="200" kern="0" dirty="0">
                <a:solidFill>
                  <a:srgbClr val="0B6E4F"/>
                </a:solidFill>
                <a:latin typeface="Calibri" pitchFamily="34" charset="0"/>
                <a:ea typeface="Calibri" pitchFamily="34" charset="-122"/>
                <a:cs typeface="Calibri" pitchFamily="34" charset="-120"/>
              </a:rPr>
              <a:t>08 · STRAIGHT ANSWERS</a:t>
            </a:r>
            <a:endParaRPr lang="en-US" sz="1200" dirty="0"/>
          </a:p>
        </p:txBody>
      </p:sp>
      <p:sp>
        <p:nvSpPr>
          <p:cNvPr id="3" name="Text 1"/>
          <p:cNvSpPr/>
          <p:nvPr/>
        </p:nvSpPr>
        <p:spPr>
          <a:xfrm>
            <a:off x="548640" y="658368"/>
            <a:ext cx="11064240" cy="685800"/>
          </a:xfrm>
          <a:prstGeom prst="rect">
            <a:avLst/>
          </a:prstGeom>
          <a:noFill/>
          <a:ln/>
        </p:spPr>
        <p:txBody>
          <a:bodyPr wrap="square" lIns="0" tIns="0" rIns="0" bIns="0" rtlCol="0" anchor="ctr"/>
          <a:lstStyle/>
          <a:p>
            <a:pPr indent="0" marL="0">
              <a:buNone/>
            </a:pPr>
            <a:r>
              <a:rPr lang="en-US" sz="3000" b="1" dirty="0">
                <a:solidFill>
                  <a:srgbClr val="1B2A3A"/>
                </a:solidFill>
                <a:latin typeface="Calibri" pitchFamily="34" charset="0"/>
                <a:ea typeface="Calibri" pitchFamily="34" charset="-122"/>
                <a:cs typeface="Calibri" pitchFamily="34" charset="-120"/>
              </a:rPr>
              <a:t>The Questions You Should Ask Us</a:t>
            </a:r>
            <a:endParaRPr lang="en-US" sz="3000" dirty="0"/>
          </a:p>
        </p:txBody>
      </p:sp>
      <p:sp>
        <p:nvSpPr>
          <p:cNvPr id="4" name="Shape 2"/>
          <p:cNvSpPr/>
          <p:nvPr/>
        </p:nvSpPr>
        <p:spPr>
          <a:xfrm>
            <a:off x="548640" y="1600200"/>
            <a:ext cx="3291840" cy="1005840"/>
          </a:xfrm>
          <a:prstGeom prst="roundRect">
            <a:avLst>
              <a:gd name="adj" fmla="val 4545"/>
            </a:avLst>
          </a:prstGeom>
          <a:solidFill>
            <a:srgbClr val="1B2A3A"/>
          </a:solidFill>
          <a:ln/>
        </p:spPr>
      </p:sp>
      <p:sp>
        <p:nvSpPr>
          <p:cNvPr id="5" name="Text 3"/>
          <p:cNvSpPr/>
          <p:nvPr/>
        </p:nvSpPr>
        <p:spPr>
          <a:xfrm>
            <a:off x="713232" y="1600200"/>
            <a:ext cx="2971800" cy="1005840"/>
          </a:xfrm>
          <a:prstGeom prst="rect">
            <a:avLst/>
          </a:prstGeom>
          <a:noFill/>
          <a:ln/>
        </p:spPr>
        <p:txBody>
          <a:bodyPr wrap="square" lIns="0" tIns="0" rIns="0" bIns="0" rtlCol="0" anchor="ctr"/>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“Is this an official product?”</a:t>
            </a:r>
            <a:endParaRPr lang="en-US" sz="1200" dirty="0"/>
          </a:p>
        </p:txBody>
      </p:sp>
      <p:sp>
        <p:nvSpPr>
          <p:cNvPr id="6" name="Shape 4"/>
          <p:cNvSpPr/>
          <p:nvPr/>
        </p:nvSpPr>
        <p:spPr>
          <a:xfrm>
            <a:off x="3931920" y="1600200"/>
            <a:ext cx="7726680" cy="1005840"/>
          </a:xfrm>
          <a:prstGeom prst="roundRect">
            <a:avLst>
              <a:gd name="adj" fmla="val 4545"/>
            </a:avLst>
          </a:prstGeom>
          <a:solidFill>
            <a:srgbClr val="F2F3F3"/>
          </a:solidFill>
          <a:ln w="9525">
            <a:solidFill>
              <a:srgbClr val="D5DBDB"/>
            </a:solidFill>
            <a:prstDash val="solid"/>
          </a:ln>
        </p:spPr>
      </p:sp>
      <p:sp>
        <p:nvSpPr>
          <p:cNvPr id="7" name="Text 5"/>
          <p:cNvSpPr/>
          <p:nvPr/>
        </p:nvSpPr>
        <p:spPr>
          <a:xfrm>
            <a:off x="4096512" y="1655064"/>
            <a:ext cx="7406640" cy="914400"/>
          </a:xfrm>
          <a:prstGeom prst="rect">
            <a:avLst/>
          </a:prstGeom>
          <a:noFill/>
          <a:ln/>
        </p:spPr>
        <p:txBody>
          <a:bodyPr wrap="square" lIns="0" tIns="0" rIns="0" bIns="0" rtlCol="0" anchor="ctr"/>
          <a:lstStyle/>
          <a:p>
            <a:pPr indent="0" marL="0">
              <a:lnSpc>
                <a:spcPct val="105000"/>
              </a:lnSpc>
              <a:buNone/>
            </a:pPr>
            <a:r>
              <a:rPr lang="en-US" sz="1050" dirty="0">
                <a:solidFill>
                  <a:srgbClr val="545B64"/>
                </a:solidFill>
                <a:latin typeface="Calibri" pitchFamily="34" charset="0"/>
                <a:ea typeface="Calibri" pitchFamily="34" charset="-122"/>
                <a:cs typeface="Calibri" pitchFamily="34" charset="-120"/>
              </a:rPr>
              <a:t>No — and the repo says so in writing (NOT-CLAIMS). It's an open reference architecture built on AWS services: you fork it, review every line, and own what you run. No lock-in, no license fee, no black box.</a:t>
            </a:r>
            <a:endParaRPr lang="en-US" sz="1050" dirty="0"/>
          </a:p>
        </p:txBody>
      </p:sp>
      <p:sp>
        <p:nvSpPr>
          <p:cNvPr id="8" name="Shape 6"/>
          <p:cNvSpPr/>
          <p:nvPr/>
        </p:nvSpPr>
        <p:spPr>
          <a:xfrm>
            <a:off x="548640" y="2734056"/>
            <a:ext cx="3291840" cy="1005840"/>
          </a:xfrm>
          <a:prstGeom prst="roundRect">
            <a:avLst>
              <a:gd name="adj" fmla="val 4545"/>
            </a:avLst>
          </a:prstGeom>
          <a:solidFill>
            <a:srgbClr val="1B2A3A"/>
          </a:solidFill>
          <a:ln/>
        </p:spPr>
      </p:sp>
      <p:sp>
        <p:nvSpPr>
          <p:cNvPr id="9" name="Text 7"/>
          <p:cNvSpPr/>
          <p:nvPr/>
        </p:nvSpPr>
        <p:spPr>
          <a:xfrm>
            <a:off x="713232" y="2734056"/>
            <a:ext cx="2971800" cy="1005840"/>
          </a:xfrm>
          <a:prstGeom prst="rect">
            <a:avLst/>
          </a:prstGeom>
          <a:noFill/>
          <a:ln/>
        </p:spPr>
        <p:txBody>
          <a:bodyPr wrap="square" lIns="0" tIns="0" rIns="0" bIns="0" rtlCol="0" anchor="ctr"/>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“We already have IAM / a WAF / audit logs.”</a:t>
            </a:r>
            <a:endParaRPr lang="en-US" sz="1200" dirty="0"/>
          </a:p>
        </p:txBody>
      </p:sp>
      <p:sp>
        <p:nvSpPr>
          <p:cNvPr id="10" name="Shape 8"/>
          <p:cNvSpPr/>
          <p:nvPr/>
        </p:nvSpPr>
        <p:spPr>
          <a:xfrm>
            <a:off x="3931920" y="2734056"/>
            <a:ext cx="7726680" cy="1005840"/>
          </a:xfrm>
          <a:prstGeom prst="roundRect">
            <a:avLst>
              <a:gd name="adj" fmla="val 4545"/>
            </a:avLst>
          </a:prstGeom>
          <a:solidFill>
            <a:srgbClr val="F2F3F3"/>
          </a:solidFill>
          <a:ln w="9525">
            <a:solidFill>
              <a:srgbClr val="D5DBDB"/>
            </a:solidFill>
            <a:prstDash val="solid"/>
          </a:ln>
        </p:spPr>
      </p:sp>
      <p:sp>
        <p:nvSpPr>
          <p:cNvPr id="11" name="Text 9"/>
          <p:cNvSpPr/>
          <p:nvPr/>
        </p:nvSpPr>
        <p:spPr>
          <a:xfrm>
            <a:off x="4096512" y="2788920"/>
            <a:ext cx="7406640" cy="914400"/>
          </a:xfrm>
          <a:prstGeom prst="rect">
            <a:avLst/>
          </a:prstGeom>
          <a:noFill/>
          <a:ln/>
        </p:spPr>
        <p:txBody>
          <a:bodyPr wrap="square" lIns="0" tIns="0" rIns="0" bIns="0" rtlCol="0" anchor="ctr"/>
          <a:lstStyle/>
          <a:p>
            <a:pPr indent="0" marL="0">
              <a:lnSpc>
                <a:spcPct val="105000"/>
              </a:lnSpc>
              <a:buNone/>
            </a:pPr>
            <a:r>
              <a:rPr lang="en-US" sz="1050" dirty="0">
                <a:solidFill>
                  <a:srgbClr val="545B64"/>
                </a:solidFill>
                <a:latin typeface="Calibri" pitchFamily="34" charset="0"/>
                <a:ea typeface="Calibri" pitchFamily="34" charset="-122"/>
                <a:cs typeface="Calibri" pitchFamily="34" charset="-120"/>
              </a:rPr>
              <a:t>Keep them — the platform composes them. What you're missing is the agent-specific layer: agent∩human intersection, consequential-action gates, prompt-boundary masking, per-agent budgets, and one audit spine across departments.</a:t>
            </a:r>
            <a:endParaRPr lang="en-US" sz="1050" dirty="0"/>
          </a:p>
        </p:txBody>
      </p:sp>
      <p:sp>
        <p:nvSpPr>
          <p:cNvPr id="12" name="Shape 10"/>
          <p:cNvSpPr/>
          <p:nvPr/>
        </p:nvSpPr>
        <p:spPr>
          <a:xfrm>
            <a:off x="548640" y="3867912"/>
            <a:ext cx="3291840" cy="1005840"/>
          </a:xfrm>
          <a:prstGeom prst="roundRect">
            <a:avLst>
              <a:gd name="adj" fmla="val 4545"/>
            </a:avLst>
          </a:prstGeom>
          <a:solidFill>
            <a:srgbClr val="1B2A3A"/>
          </a:solidFill>
          <a:ln/>
        </p:spPr>
      </p:sp>
      <p:sp>
        <p:nvSpPr>
          <p:cNvPr id="13" name="Text 11"/>
          <p:cNvSpPr/>
          <p:nvPr/>
        </p:nvSpPr>
        <p:spPr>
          <a:xfrm>
            <a:off x="713232" y="3867912"/>
            <a:ext cx="2971800" cy="1005840"/>
          </a:xfrm>
          <a:prstGeom prst="rect">
            <a:avLst/>
          </a:prstGeom>
          <a:noFill/>
          <a:ln/>
        </p:spPr>
        <p:txBody>
          <a:bodyPr wrap="square" lIns="0" tIns="0" rIns="0" bIns="0" rtlCol="0" anchor="ctr"/>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“Can our existing agents fit?”</a:t>
            </a:r>
            <a:endParaRPr lang="en-US" sz="1200" dirty="0"/>
          </a:p>
        </p:txBody>
      </p:sp>
      <p:sp>
        <p:nvSpPr>
          <p:cNvPr id="14" name="Shape 12"/>
          <p:cNvSpPr/>
          <p:nvPr/>
        </p:nvSpPr>
        <p:spPr>
          <a:xfrm>
            <a:off x="3931920" y="3867912"/>
            <a:ext cx="7726680" cy="1005840"/>
          </a:xfrm>
          <a:prstGeom prst="roundRect">
            <a:avLst>
              <a:gd name="adj" fmla="val 4545"/>
            </a:avLst>
          </a:prstGeom>
          <a:solidFill>
            <a:srgbClr val="F2F3F3"/>
          </a:solidFill>
          <a:ln w="9525">
            <a:solidFill>
              <a:srgbClr val="D5DBDB"/>
            </a:solidFill>
            <a:prstDash val="solid"/>
          </a:ln>
        </p:spPr>
      </p:sp>
      <p:sp>
        <p:nvSpPr>
          <p:cNvPr id="15" name="Text 13"/>
          <p:cNvSpPr/>
          <p:nvPr/>
        </p:nvSpPr>
        <p:spPr>
          <a:xfrm>
            <a:off x="4096512" y="3922776"/>
            <a:ext cx="7406640" cy="914400"/>
          </a:xfrm>
          <a:prstGeom prst="rect">
            <a:avLst/>
          </a:prstGeom>
          <a:noFill/>
          <a:ln/>
        </p:spPr>
        <p:txBody>
          <a:bodyPr wrap="square" lIns="0" tIns="0" rIns="0" bIns="0" rtlCol="0" anchor="ctr"/>
          <a:lstStyle/>
          <a:p>
            <a:pPr indent="0" marL="0">
              <a:lnSpc>
                <a:spcPct val="105000"/>
              </a:lnSpc>
              <a:buNone/>
            </a:pPr>
            <a:r>
              <a:rPr lang="en-US" sz="1050" dirty="0">
                <a:solidFill>
                  <a:srgbClr val="545B64"/>
                </a:solidFill>
                <a:latin typeface="Calibri" pitchFamily="34" charset="0"/>
                <a:ea typeface="Calibri" pitchFamily="34" charset="-122"/>
                <a:cs typeface="Calibri" pitchFamily="34" charset="-120"/>
              </a:rPr>
              <a:t>If they can declare a manifest and clear the nine gates, yes. The bar is the retrofit checklist — most agents fail on scope declaration and the human gate first, and both are fixable.</a:t>
            </a:r>
            <a:endParaRPr lang="en-US" sz="1050" dirty="0"/>
          </a:p>
        </p:txBody>
      </p:sp>
      <p:sp>
        <p:nvSpPr>
          <p:cNvPr id="16" name="Shape 14"/>
          <p:cNvSpPr/>
          <p:nvPr/>
        </p:nvSpPr>
        <p:spPr>
          <a:xfrm>
            <a:off x="548640" y="5001768"/>
            <a:ext cx="3291840" cy="1005840"/>
          </a:xfrm>
          <a:prstGeom prst="roundRect">
            <a:avLst>
              <a:gd name="adj" fmla="val 4545"/>
            </a:avLst>
          </a:prstGeom>
          <a:solidFill>
            <a:srgbClr val="1B2A3A"/>
          </a:solidFill>
          <a:ln/>
        </p:spPr>
      </p:sp>
      <p:sp>
        <p:nvSpPr>
          <p:cNvPr id="17" name="Text 15"/>
          <p:cNvSpPr/>
          <p:nvPr/>
        </p:nvSpPr>
        <p:spPr>
          <a:xfrm>
            <a:off x="713232" y="5001768"/>
            <a:ext cx="2971800" cy="1005840"/>
          </a:xfrm>
          <a:prstGeom prst="rect">
            <a:avLst/>
          </a:prstGeom>
          <a:noFill/>
          <a:ln/>
        </p:spPr>
        <p:txBody>
          <a:bodyPr wrap="square" lIns="0" tIns="0" rIns="0" bIns="0" rtlCol="0" anchor="ctr"/>
          <a:lstStyle/>
          <a:p>
            <a:pPr indent="0" marL="0">
              <a:lnSpc>
                <a:spcPct val="105000"/>
              </a:lnSpc>
              <a:buNone/>
            </a:pPr>
            <a:r>
              <a:rPr lang="en-US" sz="1200" b="1" dirty="0">
                <a:solidFill>
                  <a:srgbClr val="FFFFFF"/>
                </a:solidFill>
                <a:latin typeface="Calibri" pitchFamily="34" charset="0"/>
                <a:ea typeface="Calibri" pitchFamily="34" charset="-122"/>
                <a:cs typeface="Calibri" pitchFamily="34" charset="-120"/>
              </a:rPr>
              <a:t>“What about GovCloud / our BAA?”</a:t>
            </a:r>
            <a:endParaRPr lang="en-US" sz="1200" dirty="0"/>
          </a:p>
        </p:txBody>
      </p:sp>
      <p:sp>
        <p:nvSpPr>
          <p:cNvPr id="18" name="Shape 16"/>
          <p:cNvSpPr/>
          <p:nvPr/>
        </p:nvSpPr>
        <p:spPr>
          <a:xfrm>
            <a:off x="3931920" y="5001768"/>
            <a:ext cx="7726680" cy="1005840"/>
          </a:xfrm>
          <a:prstGeom prst="roundRect">
            <a:avLst>
              <a:gd name="adj" fmla="val 4545"/>
            </a:avLst>
          </a:prstGeom>
          <a:solidFill>
            <a:srgbClr val="F2F3F3"/>
          </a:solidFill>
          <a:ln w="9525">
            <a:solidFill>
              <a:srgbClr val="D5DBDB"/>
            </a:solidFill>
            <a:prstDash val="solid"/>
          </a:ln>
        </p:spPr>
      </p:sp>
      <p:sp>
        <p:nvSpPr>
          <p:cNvPr id="19" name="Text 17"/>
          <p:cNvSpPr/>
          <p:nvPr/>
        </p:nvSpPr>
        <p:spPr>
          <a:xfrm>
            <a:off x="4096512" y="5056632"/>
            <a:ext cx="7406640" cy="914400"/>
          </a:xfrm>
          <a:prstGeom prst="rect">
            <a:avLst/>
          </a:prstGeom>
          <a:noFill/>
          <a:ln/>
        </p:spPr>
        <p:txBody>
          <a:bodyPr wrap="square" lIns="0" tIns="0" rIns="0" bIns="0" rtlCol="0" anchor="ctr"/>
          <a:lstStyle/>
          <a:p>
            <a:pPr indent="0" marL="0">
              <a:lnSpc>
                <a:spcPct val="105000"/>
              </a:lnSpc>
              <a:buNone/>
            </a:pPr>
            <a:r>
              <a:rPr lang="en-US" sz="1050" dirty="0">
                <a:solidFill>
                  <a:srgbClr val="545B64"/>
                </a:solidFill>
                <a:latin typeface="Calibri" pitchFamily="34" charset="0"/>
                <a:ea typeface="Calibri" pitchFamily="34" charset="-122"/>
                <a:cs typeface="Calibri" pitchFamily="34" charset="-120"/>
              </a:rPr>
              <a:t>GovCloud IaC variant included; the service stack is HIPAA-eligible where required. Confirm your agreement scope per service during the pilot's week one.</a:t>
            </a:r>
            <a:endParaRPr lang="en-US" sz="1050" dirty="0"/>
          </a:p>
        </p:txBody>
      </p:sp>
      <p:sp>
        <p:nvSpPr>
          <p:cNvPr id="20" name="Text 18"/>
          <p:cNvSpPr/>
          <p:nvPr/>
        </p:nvSpPr>
        <p:spPr>
          <a:xfrm>
            <a:off x="548640" y="6473952"/>
            <a:ext cx="8686800" cy="274320"/>
          </a:xfrm>
          <a:prstGeom prst="rect">
            <a:avLst/>
          </a:prstGeom>
          <a:noFill/>
          <a:ln/>
        </p:spPr>
        <p:txBody>
          <a:bodyPr wrap="square" lIns="0" tIns="0" rIns="0" bIns="0" rtlCol="0" anchor="ctr"/>
          <a:lstStyle/>
          <a:p>
            <a:pPr indent="0" marL="0">
              <a:buNone/>
            </a:pPr>
            <a:r>
              <a:rPr lang="en-US" sz="900" dirty="0">
                <a:solidFill>
                  <a:srgbClr val="879196"/>
                </a:solidFill>
                <a:latin typeface="Calibri" pitchFamily="34" charset="0"/>
                <a:ea typeface="Calibri" pitchFamily="34" charset="-122"/>
                <a:cs typeface="Calibri" pitchFamily="34" charset="-120"/>
              </a:rPr>
              <a:t>Aegis — Governed AI Agents · Built on AWS · Reference architecture (see NOT-CLAIMS)</a:t>
            </a:r>
            <a:endParaRPr lang="en-US" sz="900" dirty="0"/>
          </a:p>
        </p:txBody>
      </p:sp>
      <p:sp>
        <p:nvSpPr>
          <p:cNvPr id="21" name="Text 19"/>
          <p:cNvSpPr/>
          <p:nvPr/>
        </p:nvSpPr>
        <p:spPr>
          <a:xfrm>
            <a:off x="10908792" y="6473952"/>
            <a:ext cx="731520" cy="274320"/>
          </a:xfrm>
          <a:prstGeom prst="rect">
            <a:avLst/>
          </a:prstGeom>
          <a:noFill/>
          <a:ln/>
        </p:spPr>
        <p:txBody>
          <a:bodyPr wrap="square" lIns="0" tIns="0" rIns="0" bIns="0" rtlCol="0" anchor="ctr"/>
          <a:lstStyle/>
          <a:p>
            <a:pPr algn="r" indent="0" marL="0">
              <a:buNone/>
            </a:pPr>
            <a:r>
              <a:rPr lang="en-US" sz="900" dirty="0">
                <a:solidFill>
                  <a:srgbClr val="879196"/>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3A"/>
        </a:solidFill>
      </p:bgPr>
    </p:bg>
    <p:spTree>
      <p:nvGrpSpPr>
        <p:cNvPr id="1" name=""/>
        <p:cNvGrpSpPr/>
        <p:nvPr/>
      </p:nvGrpSpPr>
      <p:grpSpPr>
        <a:xfrm>
          <a:off x="0" y="0"/>
          <a:ext cx="0" cy="0"/>
          <a:chOff x="0" y="0"/>
          <a:chExt cx="0" cy="0"/>
        </a:xfrm>
      </p:grpSpPr>
      <p:sp>
        <p:nvSpPr>
          <p:cNvPr id="2" name="Text 0"/>
          <p:cNvSpPr/>
          <p:nvPr/>
        </p:nvSpPr>
        <p:spPr>
          <a:xfrm>
            <a:off x="822960" y="731520"/>
            <a:ext cx="1051560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The Ask: One Platform Pilot, One Real Agent</a:t>
            </a:r>
            <a:endParaRPr lang="en-US" sz="3200" dirty="0"/>
          </a:p>
        </p:txBody>
      </p:sp>
      <p:sp>
        <p:nvSpPr>
          <p:cNvPr id="3" name="Shape 1"/>
          <p:cNvSpPr/>
          <p:nvPr/>
        </p:nvSpPr>
        <p:spPr>
          <a:xfrm>
            <a:off x="822960" y="1746504"/>
            <a:ext cx="502920" cy="502920"/>
          </a:xfrm>
          <a:prstGeom prst="ellipse">
            <a:avLst/>
          </a:prstGeom>
          <a:solidFill>
            <a:srgbClr val="0B6E4F"/>
          </a:solidFill>
          <a:ln/>
        </p:spPr>
      </p:sp>
      <p:sp>
        <p:nvSpPr>
          <p:cNvPr id="4" name="Text 2"/>
          <p:cNvSpPr/>
          <p:nvPr/>
        </p:nvSpPr>
        <p:spPr>
          <a:xfrm>
            <a:off x="822960" y="174650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p:nvPr/>
        </p:nvSpPr>
        <p:spPr>
          <a:xfrm>
            <a:off x="1554480" y="1691640"/>
            <a:ext cx="9966960" cy="914400"/>
          </a:xfrm>
          <a:prstGeom prst="rect">
            <a:avLst/>
          </a:prstGeom>
          <a:noFill/>
          <a:ln/>
        </p:spPr>
        <p:txBody>
          <a:bodyPr wrap="square" lIns="0" tIns="0" rIns="0" bIns="0" rtlCol="0" anchor="t"/>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Pick the department  —  </a:t>
            </a:r>
            <a:pPr indent="0" marL="0">
              <a:lnSpc>
                <a:spcPct val="110000"/>
              </a:lnSpc>
              <a:buNone/>
            </a:pPr>
            <a:r>
              <a:rPr lang="en-US" sz="1350" dirty="0">
                <a:solidFill>
                  <a:srgbClr val="AAB7B8"/>
                </a:solidFill>
                <a:latin typeface="Calibri" pitchFamily="34" charset="0"/>
                <a:ea typeface="Calibri" pitchFamily="34" charset="-122"/>
                <a:cs typeface="Calibri" pitchFamily="34" charset="-120"/>
              </a:rPr>
              <a:t>One accountable owner, one reachable system of record, one workflow with a human sign-off that already exists on paper.</a:t>
            </a:r>
            <a:endParaRPr lang="en-US" sz="1350" dirty="0"/>
          </a:p>
        </p:txBody>
      </p:sp>
      <p:sp>
        <p:nvSpPr>
          <p:cNvPr id="6" name="Shape 4"/>
          <p:cNvSpPr/>
          <p:nvPr/>
        </p:nvSpPr>
        <p:spPr>
          <a:xfrm>
            <a:off x="822960" y="2770632"/>
            <a:ext cx="502920" cy="502920"/>
          </a:xfrm>
          <a:prstGeom prst="ellipse">
            <a:avLst/>
          </a:prstGeom>
          <a:solidFill>
            <a:srgbClr val="0B6E4F"/>
          </a:solidFill>
          <a:ln/>
        </p:spPr>
      </p:sp>
      <p:sp>
        <p:nvSpPr>
          <p:cNvPr id="7" name="Text 5"/>
          <p:cNvSpPr/>
          <p:nvPr/>
        </p:nvSpPr>
        <p:spPr>
          <a:xfrm>
            <a:off x="822960" y="27706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8" name="Text 6"/>
          <p:cNvSpPr/>
          <p:nvPr/>
        </p:nvSpPr>
        <p:spPr>
          <a:xfrm>
            <a:off x="1554480" y="2715768"/>
            <a:ext cx="9966960" cy="914400"/>
          </a:xfrm>
          <a:prstGeom prst="rect">
            <a:avLst/>
          </a:prstGeom>
          <a:noFill/>
          <a:ln/>
        </p:spPr>
        <p:txBody>
          <a:bodyPr wrap="square" lIns="0" tIns="0" rIns="0" bIns="0" rtlCol="0" anchor="t"/>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Deploy the control plane  —  </a:t>
            </a:r>
            <a:pPr indent="0" marL="0">
              <a:lnSpc>
                <a:spcPct val="110000"/>
              </a:lnSpc>
              <a:buNone/>
            </a:pPr>
            <a:r>
              <a:rPr lang="en-US" sz="1350" dirty="0">
                <a:solidFill>
                  <a:srgbClr val="AAB7B8"/>
                </a:solidFill>
                <a:latin typeface="Calibri" pitchFamily="34" charset="0"/>
                <a:ea typeface="Calibri" pitchFamily="34" charset="-122"/>
                <a:cs typeface="Calibri" pitchFamily="34" charset="-120"/>
              </a:rPr>
              <a:t>Into your AWS account, from IaC, in weeks — ending with your security team running the acceptance script and the Kill Switch drill.</a:t>
            </a:r>
            <a:endParaRPr lang="en-US" sz="1350" dirty="0"/>
          </a:p>
        </p:txBody>
      </p:sp>
      <p:sp>
        <p:nvSpPr>
          <p:cNvPr id="9" name="Shape 7"/>
          <p:cNvSpPr/>
          <p:nvPr/>
        </p:nvSpPr>
        <p:spPr>
          <a:xfrm>
            <a:off x="822960" y="3794760"/>
            <a:ext cx="502920" cy="502920"/>
          </a:xfrm>
          <a:prstGeom prst="ellipse">
            <a:avLst/>
          </a:prstGeom>
          <a:solidFill>
            <a:srgbClr val="0B6E4F"/>
          </a:solidFill>
          <a:ln/>
        </p:spPr>
      </p:sp>
      <p:sp>
        <p:nvSpPr>
          <p:cNvPr id="10" name="Text 8"/>
          <p:cNvSpPr/>
          <p:nvPr/>
        </p:nvSpPr>
        <p:spPr>
          <a:xfrm>
            <a:off x="822960" y="3794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1" name="Text 9"/>
          <p:cNvSpPr/>
          <p:nvPr/>
        </p:nvSpPr>
        <p:spPr>
          <a:xfrm>
            <a:off x="1554480" y="3739896"/>
            <a:ext cx="9966960" cy="914400"/>
          </a:xfrm>
          <a:prstGeom prst="rect">
            <a:avLst/>
          </a:prstGeom>
          <a:noFill/>
          <a:ln/>
        </p:spPr>
        <p:txBody>
          <a:bodyPr wrap="square" lIns="0" tIns="0" rIns="0" bIns="0" rtlCol="0" anchor="t"/>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Onboard the first agent  —  </a:t>
            </a:r>
            <a:pPr indent="0" marL="0">
              <a:lnSpc>
                <a:spcPct val="110000"/>
              </a:lnSpc>
              <a:buNone/>
            </a:pPr>
            <a:r>
              <a:rPr lang="en-US" sz="1350" dirty="0">
                <a:solidFill>
                  <a:srgbClr val="AAB7B8"/>
                </a:solidFill>
                <a:latin typeface="Calibri" pitchFamily="34" charset="0"/>
                <a:ea typeface="Calibri" pitchFamily="34" charset="-122"/>
                <a:cs typeface="Calibri" pitchFamily="34" charset="-120"/>
              </a:rPr>
              <a:t>Manifest + Cedar policies authored with the business owner; nine gates cleared; parallel-run; go live governed.</a:t>
            </a:r>
            <a:endParaRPr lang="en-US" sz="1350" dirty="0"/>
          </a:p>
        </p:txBody>
      </p:sp>
      <p:sp>
        <p:nvSpPr>
          <p:cNvPr id="12" name="Shape 10"/>
          <p:cNvSpPr/>
          <p:nvPr/>
        </p:nvSpPr>
        <p:spPr>
          <a:xfrm>
            <a:off x="822960" y="4818888"/>
            <a:ext cx="502920" cy="502920"/>
          </a:xfrm>
          <a:prstGeom prst="ellipse">
            <a:avLst/>
          </a:prstGeom>
          <a:solidFill>
            <a:srgbClr val="0B6E4F"/>
          </a:solidFill>
          <a:ln/>
        </p:spPr>
      </p:sp>
      <p:sp>
        <p:nvSpPr>
          <p:cNvPr id="13" name="Text 11"/>
          <p:cNvSpPr/>
          <p:nvPr/>
        </p:nvSpPr>
        <p:spPr>
          <a:xfrm>
            <a:off x="822960" y="48188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4" name="Text 12"/>
          <p:cNvSpPr/>
          <p:nvPr/>
        </p:nvSpPr>
        <p:spPr>
          <a:xfrm>
            <a:off x="1554480" y="4764024"/>
            <a:ext cx="9966960" cy="914400"/>
          </a:xfrm>
          <a:prstGeom prst="rect">
            <a:avLst/>
          </a:prstGeom>
          <a:noFill/>
          <a:ln/>
        </p:spPr>
        <p:txBody>
          <a:bodyPr wrap="square" lIns="0" tIns="0" rIns="0" bIns="0" rtlCol="0" anchor="t"/>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Set the standard  —  </a:t>
            </a:r>
            <a:pPr indent="0" marL="0">
              <a:lnSpc>
                <a:spcPct val="110000"/>
              </a:lnSpc>
              <a:buNone/>
            </a:pPr>
            <a:r>
              <a:rPr lang="en-US" sz="1350" dirty="0">
                <a:solidFill>
                  <a:srgbClr val="AAB7B8"/>
                </a:solidFill>
                <a:latin typeface="Calibri" pitchFamily="34" charset="0"/>
                <a:ea typeface="Calibri" pitchFamily="34" charset="-122"/>
                <a:cs typeface="Calibri" pitchFamily="34" charset="-120"/>
              </a:rPr>
              <a:t>Adopt the nine-gate bar as your agency's agent onboarding standard — for everything any department or vendor builds next.</a:t>
            </a:r>
            <a:endParaRPr lang="en-US" sz="1350" dirty="0"/>
          </a:p>
        </p:txBody>
      </p:sp>
      <p:sp>
        <p:nvSpPr>
          <p:cNvPr id="15" name="Text 13"/>
          <p:cNvSpPr/>
          <p:nvPr/>
        </p:nvSpPr>
        <p:spPr>
          <a:xfrm>
            <a:off x="822960" y="5806440"/>
            <a:ext cx="10058400" cy="457200"/>
          </a:xfrm>
          <a:prstGeom prst="rect">
            <a:avLst/>
          </a:prstGeom>
          <a:noFill/>
          <a:ln/>
        </p:spPr>
        <p:txBody>
          <a:bodyPr wrap="square" lIns="0" tIns="0" rIns="0" bIns="0" rtlCol="0" anchor="ctr"/>
          <a:lstStyle/>
          <a:p>
            <a:pPr indent="0" marL="0">
              <a:buNone/>
            </a:pPr>
            <a:r>
              <a:rPr lang="en-US" sz="1800" b="1" i="1" dirty="0">
                <a:solidFill>
                  <a:srgbClr val="F3B23E"/>
                </a:solidFill>
                <a:latin typeface="Calibri" pitchFamily="34" charset="0"/>
                <a:ea typeface="Calibri" pitchFamily="34" charset="-122"/>
                <a:cs typeface="Calibri" pitchFamily="34" charset="-120"/>
              </a:rPr>
              <a:t>Govern once. Then let every department build.</a:t>
            </a:r>
            <a:endParaRPr lang="en-US" sz="1800" dirty="0"/>
          </a:p>
        </p:txBody>
      </p:sp>
      <p:sp>
        <p:nvSpPr>
          <p:cNvPr id="16" name="Text 14"/>
          <p:cNvSpPr/>
          <p:nvPr/>
        </p:nvSpPr>
        <p:spPr>
          <a:xfrm>
            <a:off x="822960" y="6355080"/>
            <a:ext cx="8229600" cy="320040"/>
          </a:xfrm>
          <a:prstGeom prst="rect">
            <a:avLst/>
          </a:prstGeom>
          <a:noFill/>
          <a:ln/>
        </p:spPr>
        <p:txBody>
          <a:bodyPr wrap="square" lIns="0" tIns="0" rIns="0" bIns="0" rtlCol="0" anchor="ctr"/>
          <a:lstStyle/>
          <a:p>
            <a:pPr indent="0" marL="0">
              <a:buNone/>
            </a:pPr>
            <a:r>
              <a:rPr lang="en-US" sz="1050" dirty="0">
                <a:solidFill>
                  <a:srgbClr val="7B8A8B"/>
                </a:solidFill>
                <a:latin typeface="Calibri" pitchFamily="34" charset="0"/>
                <a:ea typeface="Calibri" pitchFamily="34" charset="-122"/>
                <a:cs typeface="Calibri" pitchFamily="34" charset="-120"/>
              </a:rPr>
              <a:t>Aegis reference architecture · Built on AWS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2026-08-21T01:18:12Z</dcterms:created>
  <dcterms:modified xsi:type="dcterms:W3CDTF">2026-08-21T01:18:12Z</dcterms:modified>
</cp:coreProperties>
</file>