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1" r:id="rId22"/>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scope line, not the 17/17. The number is only credible because the qualification arrives in the same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only remember one line from the deck, it is the last 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 2 is the one worth defending in detail — it is what makes reverting RT-4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Answering it with a reopened finding rather than a fix is the credibility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the 17/17.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777240" y="1508760"/>
            <a:ext cx="7315200" cy="1234440"/>
          </a:xfrm>
          <a:prstGeom prst="rect">
            <a:avLst/>
          </a:prstGeom>
          <a:noFill/>
          <a:ln/>
        </p:spPr>
        <p:txBody>
          <a:bodyPr wrap="square" lIns="0" tIns="0" rIns="0" bIns="0" rtlCol="0" anchor="ctr"/>
          <a:lstStyle/>
          <a:p>
            <a:pPr indent="0" marL="0">
              <a:buNone/>
            </a:pPr>
            <a:r>
              <a:rPr lang="en-US" sz="6800" b="1" spc="300" kern="0" dirty="0">
                <a:solidFill>
                  <a:srgbClr val="FFFFFF"/>
                </a:solidFill>
                <a:latin typeface="Cambria" pitchFamily="34" charset="0"/>
                <a:ea typeface="Cambria" pitchFamily="34" charset="-122"/>
                <a:cs typeface="Cambria" pitchFamily="34" charset="-120"/>
              </a:rPr>
              <a:t>AEGIS</a:t>
            </a:r>
            <a:endParaRPr lang="en-US" sz="6800" dirty="0"/>
          </a:p>
        </p:txBody>
      </p:sp>
      <p:sp>
        <p:nvSpPr>
          <p:cNvPr id="3" name="Text 1"/>
          <p:cNvSpPr txBox="1"/>
          <p:nvPr/>
        </p:nvSpPr>
        <p:spPr>
          <a:xfrm>
            <a:off x="822960" y="2743200"/>
            <a:ext cx="7863840" cy="822960"/>
          </a:xfrm>
          <a:prstGeom prst="rect">
            <a:avLst/>
          </a:prstGeom>
          <a:noFill/>
          <a:ln/>
        </p:spPr>
        <p:txBody>
          <a:bodyPr wrap="square" lIns="0" tIns="0" rIns="0" bIns="0" rtlCol="0" anchor="ctr"/>
          <a:lstStyle/>
          <a:p>
            <a:pPr indent="0" marL="0">
              <a:lnSpc>
                <a:spcPct val="115000"/>
              </a:lnSpc>
              <a:buNone/>
            </a:pPr>
            <a:r>
              <a:rPr lang="en-US" sz="2000" dirty="0">
                <a:solidFill>
                  <a:srgbClr val="BFD3E6"/>
                </a:solidFill>
                <a:latin typeface="Calibri" pitchFamily="34" charset="0"/>
                <a:ea typeface="Calibri" pitchFamily="34" charset="-122"/>
                <a:cs typeface="Calibri" pitchFamily="34" charset="-120"/>
              </a:rPr>
              <a:t>A deny-by-default governance control plane for LLM agents on AWS</a:t>
            </a:r>
            <a:endParaRPr lang="en-US" sz="2000" dirty="0"/>
          </a:p>
        </p:txBody>
      </p:sp>
      <p:sp>
        <p:nvSpPr>
          <p:cNvPr id="4" name="Text 2"/>
          <p:cNvSpPr txBox="1"/>
          <p:nvPr/>
        </p:nvSpPr>
        <p:spPr>
          <a:xfrm>
            <a:off x="822960" y="3675888"/>
            <a:ext cx="7315200" cy="329184"/>
          </a:xfrm>
          <a:prstGeom prst="rect">
            <a:avLst/>
          </a:prstGeom>
          <a:noFill/>
          <a:ln/>
        </p:spPr>
        <p:txBody>
          <a:bodyPr wrap="square" lIns="0" tIns="0" rIns="0" bIns="0" rtlCol="0" anchor="ctr"/>
          <a:lstStyle/>
          <a:p>
            <a:pPr indent="0" marL="0">
              <a:buNone/>
            </a:pPr>
            <a:r>
              <a:rPr lang="en-US" sz="1300" dirty="0">
                <a:solidFill>
                  <a:srgbClr val="5F7080"/>
                </a:solidFill>
                <a:latin typeface="Calibri" pitchFamily="34" charset="0"/>
                <a:ea typeface="Calibri" pitchFamily="34" charset="-122"/>
                <a:cs typeface="Calibri" pitchFamily="34" charset="-120"/>
              </a:rPr>
              <a:t>Partner brief  ·  10 September 2026</a:t>
            </a:r>
            <a:endParaRPr lang="en-US" sz="1300" dirty="0"/>
          </a:p>
        </p:txBody>
      </p:sp>
      <p:sp>
        <p:nvSpPr>
          <p:cNvPr id="5" name="Shape 3"/>
          <p:cNvSpPr/>
          <p:nvPr/>
        </p:nvSpPr>
        <p:spPr>
          <a:xfrm>
            <a:off x="8732520" y="1508760"/>
            <a:ext cx="2834640" cy="3246120"/>
          </a:xfrm>
          <a:prstGeom prst="roundRect">
            <a:avLst>
              <a:gd name="adj" fmla="val 2903"/>
            </a:avLst>
          </a:prstGeom>
          <a:solidFill>
            <a:srgbClr val="2C3A4E"/>
          </a:solidFill>
          <a:ln w="12700">
            <a:solidFill>
              <a:srgbClr val="3B4C63"/>
            </a:solidFill>
            <a:prstDash val="solid"/>
          </a:ln>
        </p:spPr>
        <p:txBody>
          <a:bodyPr/>
          <a:p/>
        </p:txBody>
      </p:sp>
      <p:sp>
        <p:nvSpPr>
          <p:cNvPr id="6" name="Text 4"/>
          <p:cNvSpPr txBox="1"/>
          <p:nvPr/>
        </p:nvSpPr>
        <p:spPr>
          <a:xfrm>
            <a:off x="9006840" y="1783080"/>
            <a:ext cx="2331720" cy="237744"/>
          </a:xfrm>
          <a:prstGeom prst="rect">
            <a:avLst/>
          </a:prstGeom>
          <a:noFill/>
          <a:ln/>
        </p:spPr>
        <p:txBody>
          <a:bodyPr wrap="square" lIns="0" tIns="0" rIns="0" bIns="0" rtlCol="0" anchor="ctr"/>
          <a:lstStyle/>
          <a:p>
            <a:pPr indent="0" marL="0">
              <a:buNone/>
            </a:pPr>
            <a:r>
              <a:rPr lang="en-US" sz="950" b="1" spc="150" kern="0" dirty="0">
                <a:solidFill>
                  <a:srgbClr val="5F7080"/>
                </a:solidFill>
                <a:latin typeface="Calibri" pitchFamily="34" charset="0"/>
                <a:ea typeface="Calibri" pitchFamily="34" charset="-122"/>
                <a:cs typeface="Calibri" pitchFamily="34" charset="-120"/>
              </a:rPr>
              <a:t>VERIFIED AGAINST</a:t>
            </a:r>
            <a:endParaRPr lang="en-US" sz="950" dirty="0"/>
          </a:p>
        </p:txBody>
      </p:sp>
      <p:sp>
        <p:nvSpPr>
          <p:cNvPr id="7" name="Text 5"/>
          <p:cNvSpPr txBox="1"/>
          <p:nvPr/>
        </p:nvSpPr>
        <p:spPr>
          <a:xfrm>
            <a:off x="9006840" y="2029968"/>
            <a:ext cx="2331720" cy="310896"/>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v0.7.0-pilot-rc1</a:t>
            </a:r>
            <a:endParaRPr lang="en-US" sz="1500" dirty="0"/>
          </a:p>
        </p:txBody>
      </p:sp>
      <p:sp>
        <p:nvSpPr>
          <p:cNvPr id="8" name="Text 6"/>
          <p:cNvSpPr txBox="1"/>
          <p:nvPr/>
        </p:nvSpPr>
        <p:spPr>
          <a:xfrm>
            <a:off x="9006840" y="2487168"/>
            <a:ext cx="2331720" cy="713232"/>
          </a:xfrm>
          <a:prstGeom prst="rect">
            <a:avLst/>
          </a:prstGeom>
          <a:noFill/>
          <a:ln/>
        </p:spPr>
        <p:txBody>
          <a:bodyPr wrap="square" lIns="0" tIns="0" rIns="0" bIns="0" rtlCol="0" anchor="ctr"/>
          <a:lstStyle/>
          <a:p>
            <a:pPr indent="0" marL="0">
              <a:buNone/>
            </a:pPr>
            <a:r>
              <a:rPr lang="en-US" sz="4400" b="1" dirty="0">
                <a:solidFill>
                  <a:srgbClr val="6BCB8F"/>
                </a:solidFill>
                <a:latin typeface="Cambria" pitchFamily="34" charset="0"/>
                <a:ea typeface="Cambria" pitchFamily="34" charset="-122"/>
                <a:cs typeface="Cambria" pitchFamily="34" charset="-120"/>
              </a:rPr>
              <a:t>21 / 21</a:t>
            </a:r>
            <a:endParaRPr lang="en-US" sz="4400" dirty="0"/>
          </a:p>
        </p:txBody>
      </p:sp>
      <p:sp>
        <p:nvSpPr>
          <p:cNvPr id="9" name="Text 7"/>
          <p:cNvSpPr txBox="1"/>
          <p:nvPr/>
        </p:nvSpPr>
        <p:spPr>
          <a:xfrm>
            <a:off x="9006840" y="3200400"/>
            <a:ext cx="2331720" cy="658368"/>
          </a:xfrm>
          <a:prstGeom prst="rect">
            <a:avLst/>
          </a:prstGeom>
          <a:noFill/>
          <a:ln/>
        </p:spPr>
        <p:txBody>
          <a:bodyPr wrap="square" lIns="0" tIns="0" rIns="0" bIns="0" rtlCol="0" anchor="ctr"/>
          <a:lstStyle/>
          <a:p>
            <a:pPr indent="0" marL="0">
              <a:lnSpc>
                <a:spcPct val="110000"/>
              </a:lnSpc>
              <a:buNone/>
            </a:pPr>
            <a:r>
              <a:rPr lang="en-US" sz="1100" dirty="0">
                <a:solidFill>
                  <a:srgbClr val="BFD3E6"/>
                </a:solidFill>
                <a:latin typeface="Calibri" pitchFamily="34" charset="0"/>
                <a:ea typeface="Calibri" pitchFamily="34" charset="-122"/>
                <a:cs typeface="Calibri" pitchFamily="34" charset="-120"/>
              </a:rPr>
              <a:t>full-portfolio gate, from zero, torn down to zero residue</a:t>
            </a:r>
            <a:endParaRPr lang="en-US" sz="1100" dirty="0"/>
          </a:p>
        </p:txBody>
      </p:sp>
      <p:sp>
        <p:nvSpPr>
          <p:cNvPr id="10" name="Text 8"/>
          <p:cNvSpPr txBox="1"/>
          <p:nvPr/>
        </p:nvSpPr>
        <p:spPr>
          <a:xfrm>
            <a:off x="9006840" y="3968496"/>
            <a:ext cx="2331720" cy="566928"/>
          </a:xfrm>
          <a:prstGeom prst="rect">
            <a:avLst/>
          </a:prstGeom>
          <a:noFill/>
          <a:ln/>
        </p:spPr>
        <p:txBody>
          <a:bodyPr wrap="square" lIns="0" tIns="0" rIns="0" bIns="0" rtlCol="0" anchor="ctr"/>
          <a:lstStyle/>
          <a:p>
            <a:pPr indent="0" marL="0">
              <a:lnSpc>
                <a:spcPct val="110000"/>
              </a:lnSpc>
              <a:buNone/>
            </a:pPr>
            <a:r>
              <a:rPr lang="en-US" sz="1000" i="1" dirty="0">
                <a:solidFill>
                  <a:srgbClr val="E0B872"/>
                </a:solidFill>
                <a:latin typeface="Calibri" pitchFamily="34" charset="0"/>
                <a:ea typeface="Calibri" pitchFamily="34" charset="-122"/>
                <a:cs typeface="Calibri" pitchFamily="34" charset="-120"/>
              </a:rPr>
              <a:t>One pack · one account · one region · synthetic data</a:t>
            </a:r>
            <a:endParaRPr lang="en-US" sz="1000" dirty="0"/>
          </a:p>
        </p:txBody>
      </p:sp>
      <p:sp>
        <p:nvSpPr>
          <p:cNvPr id="11" name="Text 9"/>
          <p:cNvSpPr txBox="1"/>
          <p:nvPr/>
        </p:nvSpPr>
        <p:spPr>
          <a:xfrm>
            <a:off x="822960" y="5074920"/>
            <a:ext cx="10607040" cy="640080"/>
          </a:xfrm>
          <a:prstGeom prst="rect">
            <a:avLst/>
          </a:prstGeom>
          <a:noFill/>
          <a:ln/>
        </p:spPr>
        <p:txBody>
          <a:bodyPr wrap="square" lIns="0" tIns="0" rIns="0" bIns="0" rtlCol="0" anchor="ctr"/>
          <a:lstStyle/>
          <a:p>
            <a:pPr indent="0" marL="0">
              <a:lnSpc>
                <a:spcPct val="115000"/>
              </a:lnSpc>
              <a:buNone/>
            </a:pPr>
            <a:r>
              <a:rPr lang="en-US" sz="1300" i="1" dirty="0">
                <a:solidFill>
                  <a:srgbClr val="9FB3C8"/>
                </a:solidFill>
                <a:latin typeface="Calibri" pitchFamily="34" charset="0"/>
                <a:ea typeface="Calibri" pitchFamily="34" charset="-122"/>
                <a:cs typeface="Calibri" pitchFamily="34" charset="-120"/>
              </a:rPr>
              <a:t>A reference architecture, not a product. No SLA, no support contract, no certification. Every piece of evidence in it was produced by its author.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Most “AI governance” is a prompt and a logging wrapper</a:t>
            </a:r>
            <a:endParaRPr lang="en-US" sz="3400" dirty="0"/>
          </a:p>
        </p:txBody>
      </p:sp>
      <p:sp>
        <p:nvSpPr>
          <p:cNvPr id="4" name="Text 2"/>
          <p:cNvSpPr txBox="1"/>
          <p:nvPr/>
        </p:nvSpPr>
        <p:spPr>
          <a:xfrm>
            <a:off x="566928" y="1280160"/>
            <a:ext cx="10881360" cy="658368"/>
          </a:xfrm>
          <a:prstGeom prst="rect">
            <a:avLst/>
          </a:prstGeom>
          <a:noFill/>
          <a:ln/>
        </p:spPr>
        <p:txBody>
          <a:bodyPr wrap="square" lIns="0" tIns="0" rIns="0" bIns="0" rtlCol="0" anchor="t"/>
          <a:lstStyle/>
          <a:p>
            <a:pPr indent="0" marL="0">
              <a:lnSpc>
                <a:spcPct val="115000"/>
              </a:lnSpc>
              <a:buNone/>
            </a:pPr>
            <a:r>
              <a:rPr lang="en-US" sz="1500" dirty="0">
                <a:solidFill>
                  <a:srgbClr val="2C3A4E"/>
                </a:solidFill>
                <a:latin typeface="Calibri" pitchFamily="34" charset="0"/>
                <a:ea typeface="Calibri" pitchFamily="34" charset="-122"/>
                <a:cs typeface="Calibri" pitchFamily="34" charset="-120"/>
              </a:rPr>
              <a:t>Both of those live inside the thing being governed. An agent that can reason about its instructions can reason around them, and a log written after the fact records what happened rather than preventing it.</a:t>
            </a:r>
            <a:endParaRPr lang="en-US" sz="1500" dirty="0"/>
          </a:p>
        </p:txBody>
      </p:sp>
      <p:sp>
        <p:nvSpPr>
          <p:cNvPr id="5" name="Shape 3"/>
          <p:cNvSpPr/>
          <p:nvPr/>
        </p:nvSpPr>
        <p:spPr>
          <a:xfrm>
            <a:off x="566928" y="2212848"/>
            <a:ext cx="3401568" cy="2487168"/>
          </a:xfrm>
          <a:prstGeom prst="roundRect">
            <a:avLst>
              <a:gd name="adj" fmla="val 3309"/>
            </a:avLst>
          </a:prstGeom>
          <a:solidFill>
            <a:srgbClr val="FBE9E7"/>
          </a:solidFill>
          <a:ln w="12700">
            <a:solidFill>
              <a:srgbClr val="FBE9E7"/>
            </a:solidFill>
            <a:prstDash val="solid"/>
          </a:ln>
        </p:spPr>
        <p:txBody>
          <a:bodyPr/>
          <a:p/>
        </p:txBody>
      </p:sp>
      <p:sp>
        <p:nvSpPr>
          <p:cNvPr id="6" name="Shape 4"/>
          <p:cNvSpPr/>
          <p:nvPr/>
        </p:nvSpPr>
        <p:spPr>
          <a:xfrm>
            <a:off x="822960" y="2450592"/>
            <a:ext cx="475488" cy="475488"/>
          </a:xfrm>
          <a:prstGeom prst="ellipse">
            <a:avLst/>
          </a:prstGeom>
          <a:solidFill>
            <a:srgbClr val="B3261E"/>
          </a:solidFill>
          <a:ln w="12700">
            <a:solidFill>
              <a:srgbClr val="B3261E"/>
            </a:solidFill>
            <a:prstDash val="solid"/>
          </a:ln>
        </p:spPr>
        <p:txBody>
          <a:bodyPr/>
          <a:p/>
        </p:txBody>
      </p:sp>
      <p:sp>
        <p:nvSpPr>
          <p:cNvPr id="7" name="Text 5"/>
          <p:cNvSpPr txBox="1"/>
          <p:nvPr/>
        </p:nvSpPr>
        <p:spPr>
          <a:xfrm>
            <a:off x="822960" y="24505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822960" y="3035808"/>
            <a:ext cx="2889504" cy="512064"/>
          </a:xfrm>
          <a:prstGeom prst="rect">
            <a:avLst/>
          </a:prstGeom>
          <a:noFill/>
          <a:ln/>
        </p:spPr>
        <p:txBody>
          <a:bodyPr wrap="square" lIns="0" tIns="0" rIns="0" bIns="0" rtlCol="0" anchor="ctr"/>
          <a:lstStyle/>
          <a:p>
            <a:pPr indent="0" marL="0">
              <a:lnSpc>
                <a:spcPct val="105000"/>
              </a:lnSpc>
              <a:buNone/>
            </a:pPr>
            <a:r>
              <a:rPr lang="en-US" sz="1500" b="1" dirty="0">
                <a:solidFill>
                  <a:srgbClr val="1A2433"/>
                </a:solidFill>
                <a:latin typeface="Cambria" pitchFamily="34" charset="0"/>
                <a:ea typeface="Cambria" pitchFamily="34" charset="-122"/>
                <a:cs typeface="Cambria" pitchFamily="34" charset="-120"/>
              </a:rPr>
              <a:t>Governance in the prompt</a:t>
            </a:r>
            <a:endParaRPr lang="en-US" sz="1500" dirty="0"/>
          </a:p>
        </p:txBody>
      </p:sp>
      <p:sp>
        <p:nvSpPr>
          <p:cNvPr id="9" name="Text 7"/>
          <p:cNvSpPr txBox="1"/>
          <p:nvPr/>
        </p:nvSpPr>
        <p:spPr>
          <a:xfrm>
            <a:off x="822960" y="3602736"/>
            <a:ext cx="2889504" cy="969264"/>
          </a:xfrm>
          <a:prstGeom prst="rect">
            <a:avLst/>
          </a:prstGeom>
          <a:noFill/>
          <a:ln/>
        </p:spPr>
        <p:txBody>
          <a:bodyPr wrap="square" lIns="0" tIns="0" rIns="0" bIns="0" rtlCol="0" anchor="t"/>
          <a:lstStyle/>
          <a:p>
            <a:pPr indent="0" marL="0">
              <a:lnSpc>
                <a:spcPct val="115000"/>
              </a:lnSpc>
              <a:buNone/>
            </a:pPr>
            <a:r>
              <a:rPr lang="en-US" sz="1200" dirty="0">
                <a:solidFill>
                  <a:srgbClr val="2C3A4E"/>
                </a:solidFill>
                <a:latin typeface="Calibri" pitchFamily="34" charset="0"/>
                <a:ea typeface="Calibri" pitchFamily="34" charset="-122"/>
                <a:cs typeface="Calibri" pitchFamily="34" charset="-120"/>
              </a:rPr>
              <a:t>The model is asked to comply. Compliance is a behaviour, not a control, and it degrades under adversarial input.</a:t>
            </a:r>
            <a:endParaRPr lang="en-US" sz="1200" dirty="0"/>
          </a:p>
        </p:txBody>
      </p:sp>
      <p:sp>
        <p:nvSpPr>
          <p:cNvPr id="10" name="Shape 8"/>
          <p:cNvSpPr/>
          <p:nvPr/>
        </p:nvSpPr>
        <p:spPr>
          <a:xfrm>
            <a:off x="4242816" y="2212848"/>
            <a:ext cx="3401568" cy="2487168"/>
          </a:xfrm>
          <a:prstGeom prst="roundRect">
            <a:avLst>
              <a:gd name="adj" fmla="val 3309"/>
            </a:avLst>
          </a:prstGeom>
          <a:solidFill>
            <a:srgbClr val="FBE9E7"/>
          </a:solidFill>
          <a:ln w="12700">
            <a:solidFill>
              <a:srgbClr val="FBE9E7"/>
            </a:solidFill>
            <a:prstDash val="solid"/>
          </a:ln>
        </p:spPr>
        <p:txBody>
          <a:bodyPr/>
          <a:p/>
        </p:txBody>
      </p:sp>
      <p:sp>
        <p:nvSpPr>
          <p:cNvPr id="11" name="Shape 9"/>
          <p:cNvSpPr/>
          <p:nvPr/>
        </p:nvSpPr>
        <p:spPr>
          <a:xfrm>
            <a:off x="4498848" y="2450592"/>
            <a:ext cx="475488" cy="475488"/>
          </a:xfrm>
          <a:prstGeom prst="ellipse">
            <a:avLst/>
          </a:prstGeom>
          <a:solidFill>
            <a:srgbClr val="B3261E"/>
          </a:solidFill>
          <a:ln w="12700">
            <a:solidFill>
              <a:srgbClr val="B3261E"/>
            </a:solidFill>
            <a:prstDash val="solid"/>
          </a:ln>
        </p:spPr>
        <p:txBody>
          <a:bodyPr/>
          <a:p/>
        </p:txBody>
      </p:sp>
      <p:sp>
        <p:nvSpPr>
          <p:cNvPr id="12" name="Text 10"/>
          <p:cNvSpPr txBox="1"/>
          <p:nvPr/>
        </p:nvSpPr>
        <p:spPr>
          <a:xfrm>
            <a:off x="4498848" y="24505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4498848" y="3035808"/>
            <a:ext cx="2889504" cy="512064"/>
          </a:xfrm>
          <a:prstGeom prst="rect">
            <a:avLst/>
          </a:prstGeom>
          <a:noFill/>
          <a:ln/>
        </p:spPr>
        <p:txBody>
          <a:bodyPr wrap="square" lIns="0" tIns="0" rIns="0" bIns="0" rtlCol="0" anchor="ctr"/>
          <a:lstStyle/>
          <a:p>
            <a:pPr indent="0" marL="0">
              <a:lnSpc>
                <a:spcPct val="105000"/>
              </a:lnSpc>
              <a:buNone/>
            </a:pPr>
            <a:r>
              <a:rPr lang="en-US" sz="1500" b="1" dirty="0">
                <a:solidFill>
                  <a:srgbClr val="1A2433"/>
                </a:solidFill>
                <a:latin typeface="Cambria" pitchFamily="34" charset="0"/>
                <a:ea typeface="Cambria" pitchFamily="34" charset="-122"/>
                <a:cs typeface="Cambria" pitchFamily="34" charset="-120"/>
              </a:rPr>
              <a:t>Governance in application code</a:t>
            </a:r>
            <a:endParaRPr lang="en-US" sz="1500" dirty="0"/>
          </a:p>
        </p:txBody>
      </p:sp>
      <p:sp>
        <p:nvSpPr>
          <p:cNvPr id="14" name="Text 12"/>
          <p:cNvSpPr txBox="1"/>
          <p:nvPr/>
        </p:nvSpPr>
        <p:spPr>
          <a:xfrm>
            <a:off x="4498848" y="3602736"/>
            <a:ext cx="2889504" cy="969264"/>
          </a:xfrm>
          <a:prstGeom prst="rect">
            <a:avLst/>
          </a:prstGeom>
          <a:noFill/>
          <a:ln/>
        </p:spPr>
        <p:txBody>
          <a:bodyPr wrap="square" lIns="0" tIns="0" rIns="0" bIns="0" rtlCol="0" anchor="t"/>
          <a:lstStyle/>
          <a:p>
            <a:pPr indent="0" marL="0">
              <a:lnSpc>
                <a:spcPct val="115000"/>
              </a:lnSpc>
              <a:buNone/>
            </a:pPr>
            <a:r>
              <a:rPr lang="en-US" sz="1200" dirty="0">
                <a:solidFill>
                  <a:srgbClr val="2C3A4E"/>
                </a:solidFill>
                <a:latin typeface="Calibri" pitchFamily="34" charset="0"/>
                <a:ea typeface="Calibri" pitchFamily="34" charset="-122"/>
                <a:cs typeface="Calibri" pitchFamily="34" charset="-120"/>
              </a:rPr>
              <a:t>Better — but the agent chooses which code path to call. The control is downstream of the decision it is meant to constrain.</a:t>
            </a:r>
            <a:endParaRPr lang="en-US" sz="1200" dirty="0"/>
          </a:p>
        </p:txBody>
      </p:sp>
      <p:sp>
        <p:nvSpPr>
          <p:cNvPr id="15" name="Shape 13"/>
          <p:cNvSpPr/>
          <p:nvPr/>
        </p:nvSpPr>
        <p:spPr>
          <a:xfrm>
            <a:off x="7918704" y="2212848"/>
            <a:ext cx="3401568" cy="2487168"/>
          </a:xfrm>
          <a:prstGeom prst="roundRect">
            <a:avLst>
              <a:gd name="adj" fmla="val 3309"/>
            </a:avLst>
          </a:prstGeom>
          <a:solidFill>
            <a:srgbClr val="E4F2EA"/>
          </a:solidFill>
          <a:ln w="12700">
            <a:solidFill>
              <a:srgbClr val="E4F2EA"/>
            </a:solidFill>
            <a:prstDash val="solid"/>
          </a:ln>
        </p:spPr>
        <p:txBody>
          <a:bodyPr/>
          <a:p/>
        </p:txBody>
      </p:sp>
      <p:sp>
        <p:nvSpPr>
          <p:cNvPr id="16" name="Shape 14"/>
          <p:cNvSpPr/>
          <p:nvPr/>
        </p:nvSpPr>
        <p:spPr>
          <a:xfrm>
            <a:off x="8174736" y="2450592"/>
            <a:ext cx="475488" cy="475488"/>
          </a:xfrm>
          <a:prstGeom prst="ellipse">
            <a:avLst/>
          </a:prstGeom>
          <a:solidFill>
            <a:srgbClr val="1D6F42"/>
          </a:solidFill>
          <a:ln w="12700">
            <a:solidFill>
              <a:srgbClr val="1D6F42"/>
            </a:solidFill>
            <a:prstDash val="solid"/>
          </a:ln>
        </p:spPr>
        <p:txBody>
          <a:bodyPr/>
          <a:p/>
        </p:txBody>
      </p:sp>
      <p:sp>
        <p:nvSpPr>
          <p:cNvPr id="17" name="Text 15"/>
          <p:cNvSpPr txBox="1"/>
          <p:nvPr/>
        </p:nvSpPr>
        <p:spPr>
          <a:xfrm>
            <a:off x="8174736" y="24505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8174736" y="3035808"/>
            <a:ext cx="2889504" cy="512064"/>
          </a:xfrm>
          <a:prstGeom prst="rect">
            <a:avLst/>
          </a:prstGeom>
          <a:noFill/>
          <a:ln/>
        </p:spPr>
        <p:txBody>
          <a:bodyPr wrap="square" lIns="0" tIns="0" rIns="0" bIns="0" rtlCol="0" anchor="ctr"/>
          <a:lstStyle/>
          <a:p>
            <a:pPr indent="0" marL="0">
              <a:lnSpc>
                <a:spcPct val="105000"/>
              </a:lnSpc>
              <a:buNone/>
            </a:pPr>
            <a:r>
              <a:rPr lang="en-US" sz="1500" b="1" dirty="0">
                <a:solidFill>
                  <a:srgbClr val="1A2433"/>
                </a:solidFill>
                <a:latin typeface="Cambria" pitchFamily="34" charset="0"/>
                <a:ea typeface="Cambria" pitchFamily="34" charset="-122"/>
                <a:cs typeface="Cambria" pitchFamily="34" charset="-120"/>
              </a:rPr>
              <a:t>Governance in front of the model</a:t>
            </a:r>
            <a:endParaRPr lang="en-US" sz="1500" dirty="0"/>
          </a:p>
        </p:txBody>
      </p:sp>
      <p:sp>
        <p:nvSpPr>
          <p:cNvPr id="19" name="Text 17"/>
          <p:cNvSpPr txBox="1"/>
          <p:nvPr/>
        </p:nvSpPr>
        <p:spPr>
          <a:xfrm>
            <a:off x="8174736" y="3602736"/>
            <a:ext cx="2889504" cy="969264"/>
          </a:xfrm>
          <a:prstGeom prst="rect">
            <a:avLst/>
          </a:prstGeom>
          <a:noFill/>
          <a:ln/>
        </p:spPr>
        <p:txBody>
          <a:bodyPr wrap="square" lIns="0" tIns="0" rIns="0" bIns="0" rtlCol="0" anchor="t"/>
          <a:lstStyle/>
          <a:p>
            <a:pPr indent="0" marL="0">
              <a:lnSpc>
                <a:spcPct val="115000"/>
              </a:lnSpc>
              <a:buNone/>
            </a:pPr>
            <a:r>
              <a:rPr lang="en-US" sz="1200" dirty="0">
                <a:solidFill>
                  <a:srgbClr val="2C3A4E"/>
                </a:solidFill>
                <a:latin typeface="Calibri" pitchFamily="34" charset="0"/>
                <a:ea typeface="Calibri" pitchFamily="34" charset="-122"/>
                <a:cs typeface="Calibri" pitchFamily="34" charset="-120"/>
              </a:rPr>
              <a:t>Authorization is evaluated by AWS before the tool runs. The agent cannot reach the decision point, so it cannot argue with it.</a:t>
            </a:r>
            <a:endParaRPr lang="en-US" sz="1200" dirty="0"/>
          </a:p>
        </p:txBody>
      </p:sp>
      <p:sp>
        <p:nvSpPr>
          <p:cNvPr id="20" name="Text 18"/>
          <p:cNvSpPr txBox="1"/>
          <p:nvPr/>
        </p:nvSpPr>
        <p:spPr>
          <a:xfrm>
            <a:off x="566928" y="4956048"/>
            <a:ext cx="10881360" cy="822960"/>
          </a:xfrm>
          <a:prstGeom prst="rect">
            <a:avLst/>
          </a:prstGeom>
          <a:noFill/>
          <a:ln/>
        </p:spPr>
        <p:txBody>
          <a:bodyPr wrap="square" lIns="0" tIns="0" rIns="0" bIns="0" rtlCol="0" anchor="t"/>
          <a:lstStyle/>
          <a:p>
            <a:pPr indent="0" marL="0">
              <a:lnSpc>
                <a:spcPct val="115000"/>
              </a:lnSpc>
              <a:buNone/>
            </a:pPr>
            <a:r>
              <a:rPr lang="en-US" sz="1450" b="1" dirty="0">
                <a:solidFill>
                  <a:srgbClr val="2C3A4E"/>
                </a:solidFill>
                <a:latin typeface="Calibri" pitchFamily="34" charset="0"/>
                <a:ea typeface="Calibri" pitchFamily="34" charset="-122"/>
                <a:cs typeface="Calibri" pitchFamily="34" charset="-120"/>
              </a:rPr>
              <a:t>Aegis takes the third position. </a:t>
            </a:r>
            <a:pPr indent="0" marL="0">
              <a:lnSpc>
                <a:spcPct val="115000"/>
              </a:lnSpc>
              <a:buNone/>
            </a:pPr>
            <a:r>
              <a:rPr lang="en-US" sz="1450" dirty="0">
                <a:solidFill>
                  <a:srgbClr val="2C3A4E"/>
                </a:solidFill>
                <a:latin typeface="Calibri" pitchFamily="34" charset="0"/>
                <a:ea typeface="Calibri" pitchFamily="34" charset="-122"/>
                <a:cs typeface="Calibri" pitchFamily="34" charset="-120"/>
              </a:rPr>
              <a:t>Cedar authorization, masking proven by signature, per-tenant spend ceilings, a kill switch and a WORM audit ledger sit in front of the model — so the governance cannot be talked out of by the agent it governs.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WHAT IT IS</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A configurable control plane, proven end to end on one pack</a:t>
            </a:r>
            <a:endParaRPr lang="en-US" sz="3400" dirty="0"/>
          </a:p>
        </p:txBody>
      </p:sp>
      <p:sp>
        <p:nvSpPr>
          <p:cNvPr id="4" name="Text 2"/>
          <p:cNvSpPr txBox="1"/>
          <p:nvPr/>
        </p:nvSpPr>
        <p:spPr>
          <a:xfrm>
            <a:off x="566928" y="1609344"/>
            <a:ext cx="2194560" cy="749808"/>
          </a:xfrm>
          <a:prstGeom prst="rect">
            <a:avLst/>
          </a:prstGeom>
          <a:noFill/>
          <a:ln/>
        </p:spPr>
        <p:txBody>
          <a:bodyPr wrap="square" lIns="0" tIns="0" rIns="0" bIns="0" rtlCol="0" anchor="ctr"/>
          <a:lstStyle/>
          <a:p>
            <a:pPr indent="0" marL="0">
              <a:buNone/>
            </a:pPr>
            <a:r>
              <a:rPr lang="en-US" sz="4600" b="1" dirty="0">
                <a:solidFill>
                  <a:srgbClr val="1D6F42"/>
                </a:solidFill>
                <a:latin typeface="Cambria" pitchFamily="34" charset="0"/>
                <a:ea typeface="Cambria" pitchFamily="34" charset="-122"/>
                <a:cs typeface="Cambria" pitchFamily="34" charset="-120"/>
              </a:rPr>
              <a:t>13</a:t>
            </a:r>
            <a:endParaRPr lang="en-US" sz="4600" dirty="0"/>
          </a:p>
        </p:txBody>
      </p:sp>
      <p:sp>
        <p:nvSpPr>
          <p:cNvPr id="5" name="Text 3"/>
          <p:cNvSpPr txBox="1"/>
          <p:nvPr/>
        </p:nvSpPr>
        <p:spPr>
          <a:xfrm>
            <a:off x="566928" y="2340864"/>
            <a:ext cx="21945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Cedar policies at the gateway</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12 forbid · 1 permit</a:t>
            </a:r>
            <a:endParaRPr lang="en-US" sz="1150" dirty="0"/>
          </a:p>
        </p:txBody>
      </p:sp>
      <p:sp>
        <p:nvSpPr>
          <p:cNvPr id="6" name="Text 4"/>
          <p:cNvSpPr txBox="1"/>
          <p:nvPr/>
        </p:nvSpPr>
        <p:spPr>
          <a:xfrm>
            <a:off x="3063240" y="1609344"/>
            <a:ext cx="2194560" cy="749808"/>
          </a:xfrm>
          <a:prstGeom prst="rect">
            <a:avLst/>
          </a:prstGeom>
          <a:noFill/>
          <a:ln/>
        </p:spPr>
        <p:txBody>
          <a:bodyPr wrap="square" lIns="0" tIns="0" rIns="0" bIns="0" rtlCol="0" anchor="ctr"/>
          <a:lstStyle/>
          <a:p>
            <a:pPr indent="0" marL="0">
              <a:buNone/>
            </a:pPr>
            <a:r>
              <a:rPr lang="en-US" sz="4600" b="1" dirty="0">
                <a:solidFill>
                  <a:srgbClr val="1D6F42"/>
                </a:solidFill>
                <a:latin typeface="Cambria" pitchFamily="34" charset="0"/>
                <a:ea typeface="Cambria" pitchFamily="34" charset="-122"/>
                <a:cs typeface="Cambria" pitchFamily="34" charset="-120"/>
              </a:rPr>
              <a:t>9</a:t>
            </a:r>
            <a:endParaRPr lang="en-US" sz="4600" dirty="0"/>
          </a:p>
        </p:txBody>
      </p:sp>
      <p:sp>
        <p:nvSpPr>
          <p:cNvPr id="7" name="Text 5"/>
          <p:cNvSpPr txBox="1"/>
          <p:nvPr/>
        </p:nvSpPr>
        <p:spPr>
          <a:xfrm>
            <a:off x="3063240" y="2340864"/>
            <a:ext cx="21945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CloudFormation stacks</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deployed from zero</a:t>
            </a:r>
            <a:endParaRPr lang="en-US" sz="1150" dirty="0"/>
          </a:p>
        </p:txBody>
      </p:sp>
      <p:sp>
        <p:nvSpPr>
          <p:cNvPr id="8" name="Text 6"/>
          <p:cNvSpPr txBox="1"/>
          <p:nvPr/>
        </p:nvSpPr>
        <p:spPr>
          <a:xfrm>
            <a:off x="5559552" y="1609344"/>
            <a:ext cx="2651760" cy="749808"/>
          </a:xfrm>
          <a:prstGeom prst="rect">
            <a:avLst/>
          </a:prstGeom>
          <a:noFill/>
          <a:ln/>
        </p:spPr>
        <p:txBody>
          <a:bodyPr wrap="square" lIns="0" tIns="0" rIns="0" bIns="0" rtlCol="0" anchor="ctr"/>
          <a:lstStyle/>
          <a:p>
            <a:pPr indent="0" marL="0">
              <a:buNone/>
            </a:pPr>
            <a:r>
              <a:rPr lang="en-US" sz="4600" b="1" dirty="0">
                <a:solidFill>
                  <a:srgbClr val="1D6F42"/>
                </a:solidFill>
                <a:latin typeface="Cambria" pitchFamily="34" charset="0"/>
                <a:ea typeface="Cambria" pitchFamily="34" charset="-122"/>
                <a:cs typeface="Cambria" pitchFamily="34" charset="-120"/>
              </a:rPr>
              <a:t>27</a:t>
            </a:r>
            <a:endParaRPr lang="en-US" sz="4600" dirty="0"/>
          </a:p>
        </p:txBody>
      </p:sp>
      <p:sp>
        <p:nvSpPr>
          <p:cNvPr id="9" name="Text 7"/>
          <p:cNvSpPr txBox="1"/>
          <p:nvPr/>
        </p:nvSpPr>
        <p:spPr>
          <a:xfrm>
            <a:off x="5559552" y="2340864"/>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CDK configuration switches</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network · KMS · tenancy · retention</a:t>
            </a:r>
            <a:endParaRPr lang="en-US" sz="1150" dirty="0"/>
          </a:p>
        </p:txBody>
      </p:sp>
      <p:sp>
        <p:nvSpPr>
          <p:cNvPr id="10" name="Text 8"/>
          <p:cNvSpPr txBox="1"/>
          <p:nvPr/>
        </p:nvSpPr>
        <p:spPr>
          <a:xfrm>
            <a:off x="8513064" y="1609344"/>
            <a:ext cx="2194560" cy="749808"/>
          </a:xfrm>
          <a:prstGeom prst="rect">
            <a:avLst/>
          </a:prstGeom>
          <a:noFill/>
          <a:ln/>
        </p:spPr>
        <p:txBody>
          <a:bodyPr wrap="square" lIns="0" tIns="0" rIns="0" bIns="0" rtlCol="0" anchor="ctr"/>
          <a:lstStyle/>
          <a:p>
            <a:pPr indent="0" marL="0">
              <a:buNone/>
            </a:pPr>
            <a:r>
              <a:rPr lang="en-US" sz="4600" b="1" dirty="0">
                <a:solidFill>
                  <a:srgbClr val="9A6700"/>
                </a:solidFill>
                <a:latin typeface="Cambria" pitchFamily="34" charset="0"/>
                <a:ea typeface="Cambria" pitchFamily="34" charset="-122"/>
                <a:cs typeface="Cambria" pitchFamily="34" charset="-120"/>
              </a:rPr>
              <a:t>4</a:t>
            </a:r>
            <a:endParaRPr lang="en-US" sz="4600" dirty="0"/>
          </a:p>
        </p:txBody>
      </p:sp>
      <p:sp>
        <p:nvSpPr>
          <p:cNvPr id="11" name="Text 9"/>
          <p:cNvSpPr txBox="1"/>
          <p:nvPr/>
        </p:nvSpPr>
        <p:spPr>
          <a:xfrm>
            <a:off x="8513064" y="2340864"/>
            <a:ext cx="21945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vertical packs on one</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hash-locked core</a:t>
            </a:r>
            <a:endParaRPr lang="en-US" sz="1150" dirty="0"/>
          </a:p>
        </p:txBody>
      </p:sp>
      <p:sp>
        <p:nvSpPr>
          <p:cNvPr id="12" name="Shape 10"/>
          <p:cNvSpPr/>
          <p:nvPr/>
        </p:nvSpPr>
        <p:spPr>
          <a:xfrm>
            <a:off x="566928" y="3493008"/>
            <a:ext cx="5349240" cy="2487168"/>
          </a:xfrm>
          <a:prstGeom prst="roundRect">
            <a:avLst>
              <a:gd name="adj" fmla="val 3309"/>
            </a:avLst>
          </a:prstGeom>
          <a:solidFill>
            <a:srgbClr val="F1F4F7"/>
          </a:solidFill>
          <a:ln w="12700">
            <a:solidFill>
              <a:srgbClr val="D8E0E7"/>
            </a:solidFill>
            <a:prstDash val="solid"/>
          </a:ln>
        </p:spPr>
        <p:txBody>
          <a:bodyPr/>
          <a:p/>
        </p:txBody>
      </p:sp>
      <p:sp>
        <p:nvSpPr>
          <p:cNvPr id="13" name="Text 11"/>
          <p:cNvSpPr txBox="1"/>
          <p:nvPr/>
        </p:nvSpPr>
        <p:spPr>
          <a:xfrm>
            <a:off x="841248" y="3675888"/>
            <a:ext cx="4800600" cy="329184"/>
          </a:xfrm>
          <a:prstGeom prst="rect">
            <a:avLst/>
          </a:prstGeom>
          <a:noFill/>
          <a:ln/>
        </p:spPr>
        <p:txBody>
          <a:bodyPr wrap="square" lIns="0" tIns="0" rIns="0" bIns="0" rtlCol="0" anchor="ctr"/>
          <a:lstStyle/>
          <a:p>
            <a:pPr indent="0" marL="0">
              <a:buNone/>
            </a:pPr>
            <a:r>
              <a:rPr lang="en-US" sz="1600" b="1" dirty="0">
                <a:solidFill>
                  <a:srgbClr val="1A2433"/>
                </a:solidFill>
                <a:latin typeface="Cambria" pitchFamily="34" charset="0"/>
                <a:ea typeface="Cambria" pitchFamily="34" charset="-122"/>
                <a:cs typeface="Cambria" pitchFamily="34" charset="-120"/>
              </a:rPr>
              <a:t>What it governs</a:t>
            </a:r>
            <a:endParaRPr lang="en-US" sz="1600" dirty="0"/>
          </a:p>
        </p:txBody>
      </p:sp>
      <p:sp>
        <p:nvSpPr>
          <p:cNvPr id="14" name="Text 12"/>
          <p:cNvSpPr txBox="1"/>
          <p:nvPr/>
        </p:nvSpPr>
        <p:spPr>
          <a:xfrm>
            <a:off x="841248" y="4114800"/>
            <a:ext cx="4800600" cy="1700784"/>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Who may call which tool, from a verified token — never the request body</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Whether the payload is provably de-identified before any consequential action</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Whether the spend ceiling still allows the call, checked before the spend</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That the record is written before the side effect, and cannot be altered after</a:t>
            </a:r>
            <a:endParaRPr lang="en-US" sz="1150" dirty="0"/>
          </a:p>
        </p:txBody>
      </p:sp>
      <p:sp>
        <p:nvSpPr>
          <p:cNvPr id="15" name="Shape 13"/>
          <p:cNvSpPr/>
          <p:nvPr/>
        </p:nvSpPr>
        <p:spPr>
          <a:xfrm>
            <a:off x="6236208" y="3493008"/>
            <a:ext cx="5349240" cy="2487168"/>
          </a:xfrm>
          <a:prstGeom prst="roundRect">
            <a:avLst>
              <a:gd name="adj" fmla="val 3309"/>
            </a:avLst>
          </a:prstGeom>
          <a:solidFill>
            <a:srgbClr val="F1F4F7"/>
          </a:solidFill>
          <a:ln w="12700">
            <a:solidFill>
              <a:srgbClr val="D8E0E7"/>
            </a:solidFill>
            <a:prstDash val="solid"/>
          </a:ln>
        </p:spPr>
        <p:txBody>
          <a:bodyPr/>
          <a:p/>
        </p:txBody>
      </p:sp>
      <p:sp>
        <p:nvSpPr>
          <p:cNvPr id="16" name="Text 14"/>
          <p:cNvSpPr txBox="1"/>
          <p:nvPr/>
        </p:nvSpPr>
        <p:spPr>
          <a:xfrm>
            <a:off x="6510528" y="3675888"/>
            <a:ext cx="4800600" cy="329184"/>
          </a:xfrm>
          <a:prstGeom prst="rect">
            <a:avLst/>
          </a:prstGeom>
          <a:noFill/>
          <a:ln/>
        </p:spPr>
        <p:txBody>
          <a:bodyPr wrap="square" lIns="0" tIns="0" rIns="0" bIns="0" rtlCol="0" anchor="ctr"/>
          <a:lstStyle/>
          <a:p>
            <a:pPr indent="0" marL="0">
              <a:buNone/>
            </a:pPr>
            <a:r>
              <a:rPr lang="en-US" sz="1600" b="1" dirty="0">
                <a:solidFill>
                  <a:srgbClr val="1A2433"/>
                </a:solidFill>
                <a:latin typeface="Cambria" pitchFamily="34" charset="0"/>
                <a:ea typeface="Cambria" pitchFamily="34" charset="-122"/>
                <a:cs typeface="Cambria" pitchFamily="34" charset="-120"/>
              </a:rPr>
              <a:t>How it is configured</a:t>
            </a:r>
            <a:endParaRPr lang="en-US" sz="1600" dirty="0"/>
          </a:p>
        </p:txBody>
      </p:sp>
      <p:sp>
        <p:nvSpPr>
          <p:cNvPr id="17" name="Text 15"/>
          <p:cNvSpPr txBox="1"/>
          <p:nvPr/>
        </p:nvSpPr>
        <p:spPr>
          <a:xfrm>
            <a:off x="6510528" y="4114800"/>
            <a:ext cx="4800600" cy="1700784"/>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An agent manifest declares the tool targets and the guardrail</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render.py emits gateway targets, Cedar statements and guardrail config</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CDK context switches set network mode, KMS, tenancy, retention, perimeter</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A customer authors their own policies against their own manifest</a:t>
            </a:r>
            <a:endParaRPr lang="en-US" sz="1150" dirty="0"/>
          </a:p>
        </p:txBody>
      </p:sp>
      <p:sp>
        <p:nvSpPr>
          <p:cNvPr id="18" name="Text 16"/>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5F7080"/>
                </a:solidFill>
                <a:latin typeface="Calibri" pitchFamily="34" charset="0"/>
                <a:ea typeface="Calibri" pitchFamily="34" charset="-122"/>
                <a:cs typeface="Calibri" pitchFamily="34" charset="-120"/>
              </a:rPr>
              <a:t>The four packs share one governed-core artifact pinned by sha256. That is evidence the core ports — not evidence the other three work. Only one has ever been deployed.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MY THINKING</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One design bet, and everything else follows from it</a:t>
            </a:r>
            <a:endParaRPr lang="en-US" sz="3400" dirty="0"/>
          </a:p>
        </p:txBody>
      </p:sp>
      <p:sp>
        <p:nvSpPr>
          <p:cNvPr id="4" name="Shape 2"/>
          <p:cNvSpPr/>
          <p:nvPr/>
        </p:nvSpPr>
        <p:spPr>
          <a:xfrm>
            <a:off x="566928" y="1298448"/>
            <a:ext cx="11018520" cy="1078992"/>
          </a:xfrm>
          <a:prstGeom prst="roundRect">
            <a:avLst>
              <a:gd name="adj" fmla="val 7627"/>
            </a:avLst>
          </a:prstGeom>
          <a:solidFill>
            <a:srgbClr val="E4F2EA"/>
          </a:solidFill>
          <a:ln w="12700">
            <a:solidFill>
              <a:srgbClr val="BFE0CE"/>
            </a:solidFill>
            <a:prstDash val="solid"/>
          </a:ln>
        </p:spPr>
        <p:txBody>
          <a:bodyPr/>
          <a:p/>
        </p:txBody>
      </p:sp>
      <p:sp>
        <p:nvSpPr>
          <p:cNvPr id="5" name="Text 3"/>
          <p:cNvSpPr txBox="1"/>
          <p:nvPr/>
        </p:nvSpPr>
        <p:spPr>
          <a:xfrm>
            <a:off x="914400" y="1481328"/>
            <a:ext cx="10332720" cy="731520"/>
          </a:xfrm>
          <a:prstGeom prst="rect">
            <a:avLst/>
          </a:prstGeom>
          <a:noFill/>
          <a:ln/>
        </p:spPr>
        <p:txBody>
          <a:bodyPr wrap="square" lIns="0" tIns="0" rIns="0" bIns="0" rtlCol="0" anchor="ctr"/>
          <a:lstStyle/>
          <a:p>
            <a:pPr indent="0" marL="0">
              <a:lnSpc>
                <a:spcPct val="110000"/>
              </a:lnSpc>
              <a:buNone/>
            </a:pPr>
            <a:r>
              <a:rPr lang="en-US" sz="1800" b="1" dirty="0">
                <a:solidFill>
                  <a:srgbClr val="1D6F42"/>
                </a:solidFill>
                <a:latin typeface="Cambria" pitchFamily="34" charset="0"/>
                <a:ea typeface="Cambria" pitchFamily="34" charset="-122"/>
                <a:cs typeface="Cambria" pitchFamily="34" charset="-120"/>
              </a:rPr>
              <a:t>Put the authorization decision somewhere the agent cannot reach, and make every downstream control depend on a proof rather than a claim.</a:t>
            </a:r>
            <a:endParaRPr lang="en-US" sz="1800" dirty="0"/>
          </a:p>
        </p:txBody>
      </p:sp>
      <p:sp>
        <p:nvSpPr>
          <p:cNvPr id="6" name="Shape 4"/>
          <p:cNvSpPr/>
          <p:nvPr/>
        </p:nvSpPr>
        <p:spPr>
          <a:xfrm>
            <a:off x="566928" y="2670048"/>
            <a:ext cx="402336" cy="402336"/>
          </a:xfrm>
          <a:prstGeom prst="ellipse">
            <a:avLst/>
          </a:prstGeom>
          <a:solidFill>
            <a:srgbClr val="1A2433"/>
          </a:solidFill>
          <a:ln w="12700">
            <a:solidFill>
              <a:srgbClr val="1A2433"/>
            </a:solidFill>
            <a:prstDash val="solid"/>
          </a:ln>
        </p:spPr>
        <p:txBody>
          <a:bodyPr/>
          <a:p/>
        </p:txBody>
      </p:sp>
      <p:sp>
        <p:nvSpPr>
          <p:cNvPr id="7" name="Text 5"/>
          <p:cNvSpPr txBox="1"/>
          <p:nvPr/>
        </p:nvSpPr>
        <p:spPr>
          <a:xfrm>
            <a:off x="566928" y="26700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152144" y="2642616"/>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Deny-by-default, forbid-wins</a:t>
            </a:r>
            <a:endParaRPr lang="en-US" sz="1450" dirty="0"/>
          </a:p>
        </p:txBody>
      </p:sp>
      <p:sp>
        <p:nvSpPr>
          <p:cNvPr id="9" name="Text 7"/>
          <p:cNvSpPr txBox="1"/>
          <p:nvPr/>
        </p:nvSpPr>
        <p:spPr>
          <a:xfrm>
            <a:off x="4480560" y="2651760"/>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Twelve forbid policies and one permit. Any forbid that matches kills the request. A caller with a missing or malformed claim gets zero tools, not all of them — the failure mode most agent stacks get backwards.</a:t>
            </a:r>
            <a:endParaRPr lang="en-US" sz="1250" dirty="0"/>
          </a:p>
        </p:txBody>
      </p:sp>
      <p:sp>
        <p:nvSpPr>
          <p:cNvPr id="10" name="Shape 8"/>
          <p:cNvSpPr/>
          <p:nvPr/>
        </p:nvSpPr>
        <p:spPr>
          <a:xfrm>
            <a:off x="566928" y="3602736"/>
            <a:ext cx="402336" cy="402336"/>
          </a:xfrm>
          <a:prstGeom prst="ellipse">
            <a:avLst/>
          </a:prstGeom>
          <a:solidFill>
            <a:srgbClr val="1A2433"/>
          </a:solidFill>
          <a:ln w="12700">
            <a:solidFill>
              <a:srgbClr val="1A2433"/>
            </a:solidFill>
            <a:prstDash val="solid"/>
          </a:ln>
        </p:spPr>
        <p:txBody>
          <a:bodyPr/>
          <a:p/>
        </p:txBody>
      </p:sp>
      <p:sp>
        <p:nvSpPr>
          <p:cNvPr id="11" name="Text 9"/>
          <p:cNvSpPr txBox="1"/>
          <p:nvPr/>
        </p:nvSpPr>
        <p:spPr>
          <a:xfrm>
            <a:off x="566928" y="3602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52144" y="3575304"/>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Proofs, not booleans</a:t>
            </a:r>
            <a:endParaRPr lang="en-US" sz="1450" dirty="0"/>
          </a:p>
        </p:txBody>
      </p:sp>
      <p:sp>
        <p:nvSpPr>
          <p:cNvPr id="13" name="Text 11"/>
          <p:cNvSpPr txBox="1"/>
          <p:nvPr/>
        </p:nvSpPr>
        <p:spPr>
          <a:xfrm>
            <a:off x="4480560" y="3584448"/>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deidentified: true from a caller is never accepted. The proof is a signed sanitized_ref, and a forged reference is refused. Raw case text and the drafted notice never cross workflow state at all.</a:t>
            </a:r>
            <a:endParaRPr lang="en-US" sz="1250" dirty="0"/>
          </a:p>
        </p:txBody>
      </p:sp>
      <p:sp>
        <p:nvSpPr>
          <p:cNvPr id="14" name="Shape 12"/>
          <p:cNvSpPr/>
          <p:nvPr/>
        </p:nvSpPr>
        <p:spPr>
          <a:xfrm>
            <a:off x="566928" y="4535424"/>
            <a:ext cx="402336" cy="402336"/>
          </a:xfrm>
          <a:prstGeom prst="ellipse">
            <a:avLst/>
          </a:prstGeom>
          <a:solidFill>
            <a:srgbClr val="1A2433"/>
          </a:solidFill>
          <a:ln w="12700">
            <a:solidFill>
              <a:srgbClr val="1A2433"/>
            </a:solidFill>
            <a:prstDash val="solid"/>
          </a:ln>
        </p:spPr>
        <p:txBody>
          <a:bodyPr/>
          <a:p/>
        </p:txBody>
      </p:sp>
      <p:sp>
        <p:nvSpPr>
          <p:cNvPr id="15" name="Text 13"/>
          <p:cNvSpPr txBox="1"/>
          <p:nvPr/>
        </p:nvSpPr>
        <p:spPr>
          <a:xfrm>
            <a:off x="566928" y="45354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52144" y="4507992"/>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A controller the model does not drive</a:t>
            </a:r>
            <a:endParaRPr lang="en-US" sz="1450" dirty="0"/>
          </a:p>
        </p:txBody>
      </p:sp>
      <p:sp>
        <p:nvSpPr>
          <p:cNvPr id="17" name="Text 15"/>
          <p:cNvSpPr txBox="1"/>
          <p:nvPr/>
        </p:nvSpPr>
        <p:spPr>
          <a:xfrm>
            <a:off x="4480560" y="4517136"/>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A deterministic Step Functions machine runs a guard after every substantive step and cannot advance on unverified state. The model is a participant, never the controller.</a:t>
            </a:r>
            <a:endParaRPr lang="en-US" sz="1250" dirty="0"/>
          </a:p>
        </p:txBody>
      </p:sp>
      <p:sp>
        <p:nvSpPr>
          <p:cNvPr id="18" name="Shape 16"/>
          <p:cNvSpPr/>
          <p:nvPr/>
        </p:nvSpPr>
        <p:spPr>
          <a:xfrm>
            <a:off x="566928" y="5468112"/>
            <a:ext cx="402336" cy="402336"/>
          </a:xfrm>
          <a:prstGeom prst="ellipse">
            <a:avLst/>
          </a:prstGeom>
          <a:solidFill>
            <a:srgbClr val="1A2433"/>
          </a:solidFill>
          <a:ln w="12700">
            <a:solidFill>
              <a:srgbClr val="1A2433"/>
            </a:solidFill>
            <a:prstDash val="solid"/>
          </a:ln>
        </p:spPr>
        <p:txBody>
          <a:bodyPr/>
          <a:p/>
        </p:txBody>
      </p:sp>
      <p:sp>
        <p:nvSpPr>
          <p:cNvPr id="19" name="Text 17"/>
          <p:cNvSpPr txBox="1"/>
          <p:nvPr/>
        </p:nvSpPr>
        <p:spPr>
          <a:xfrm>
            <a:off x="566928" y="5468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txBox="1"/>
          <p:nvPr/>
        </p:nvSpPr>
        <p:spPr>
          <a:xfrm>
            <a:off x="1152144" y="5440680"/>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The record is a control, not a log</a:t>
            </a:r>
            <a:endParaRPr lang="en-US" sz="1450" dirty="0"/>
          </a:p>
        </p:txBody>
      </p:sp>
      <p:sp>
        <p:nvSpPr>
          <p:cNvPr id="21" name="Text 19"/>
          <p:cNvSpPr txBox="1"/>
          <p:nvPr/>
        </p:nvSpPr>
        <p:spPr>
          <a:xfrm>
            <a:off x="4480560" y="5449824"/>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The audit row is written before the side effect, hash-chained, append-only, with IAM Deny on update and delete — and it carries the policy version that decided the case.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COMPONENTS</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Eight layers, and what each one contributes</a:t>
            </a:r>
            <a:endParaRPr lang="en-US" sz="3400" dirty="0"/>
          </a:p>
        </p:txBody>
      </p:sp>
      <p:sp>
        <p:nvSpPr>
          <p:cNvPr id="4" name="Shape 2"/>
          <p:cNvSpPr/>
          <p:nvPr/>
        </p:nvSpPr>
        <p:spPr>
          <a:xfrm>
            <a:off x="566928" y="1444752"/>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5" name="Text 3"/>
          <p:cNvSpPr txBox="1"/>
          <p:nvPr/>
        </p:nvSpPr>
        <p:spPr>
          <a:xfrm>
            <a:off x="713232" y="1517904"/>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33856" y="1545336"/>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Identity &amp; admission</a:t>
            </a:r>
            <a:endParaRPr lang="en-US" sz="1300" dirty="0"/>
          </a:p>
        </p:txBody>
      </p:sp>
      <p:sp>
        <p:nvSpPr>
          <p:cNvPr id="7" name="Text 5"/>
          <p:cNvSpPr txBox="1"/>
          <p:nvPr/>
        </p:nvSpPr>
        <p:spPr>
          <a:xfrm>
            <a:off x="3840480" y="1554480"/>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Cognito issues the token carrying groups, tenant and tool entitlement. Tenancy comes from the token, never the request.</a:t>
            </a:r>
            <a:endParaRPr lang="en-US" sz="1150" dirty="0"/>
          </a:p>
        </p:txBody>
      </p:sp>
      <p:sp>
        <p:nvSpPr>
          <p:cNvPr id="8" name="Shape 6"/>
          <p:cNvSpPr/>
          <p:nvPr/>
        </p:nvSpPr>
        <p:spPr>
          <a:xfrm>
            <a:off x="566928" y="2020824"/>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9" name="Text 7"/>
          <p:cNvSpPr txBox="1"/>
          <p:nvPr/>
        </p:nvSpPr>
        <p:spPr>
          <a:xfrm>
            <a:off x="713232" y="2093976"/>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133856" y="2121408"/>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Authorization</a:t>
            </a:r>
            <a:endParaRPr lang="en-US" sz="1300" dirty="0"/>
          </a:p>
        </p:txBody>
      </p:sp>
      <p:sp>
        <p:nvSpPr>
          <p:cNvPr id="11" name="Text 9"/>
          <p:cNvSpPr txBox="1"/>
          <p:nvPr/>
        </p:nvSpPr>
        <p:spPr>
          <a:xfrm>
            <a:off x="3840480" y="2130552"/>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AgentCore Gateway (MCP, CUSTOM_JWT) + the GA Cedar engine in ENFORCE + the interceptor that sets authoritative context.</a:t>
            </a:r>
            <a:endParaRPr lang="en-US" sz="1150" dirty="0"/>
          </a:p>
        </p:txBody>
      </p:sp>
      <p:sp>
        <p:nvSpPr>
          <p:cNvPr id="12" name="Shape 10"/>
          <p:cNvSpPr/>
          <p:nvPr/>
        </p:nvSpPr>
        <p:spPr>
          <a:xfrm>
            <a:off x="566928" y="2596896"/>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13" name="Text 11"/>
          <p:cNvSpPr txBox="1"/>
          <p:nvPr/>
        </p:nvSpPr>
        <p:spPr>
          <a:xfrm>
            <a:off x="713232" y="2670048"/>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33856" y="2697480"/>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Agent runtime &amp; model</a:t>
            </a:r>
            <a:endParaRPr lang="en-US" sz="1300" dirty="0"/>
          </a:p>
        </p:txBody>
      </p:sp>
      <p:sp>
        <p:nvSpPr>
          <p:cNvPr id="15" name="Text 13"/>
          <p:cNvSpPr txBox="1"/>
          <p:nvPr/>
        </p:nvSpPr>
        <p:spPr>
          <a:xfrm>
            <a:off x="3840480" y="2706624"/>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Runtime on the CDK-declared role, MMDSv2 required. Bedrock over PrivateLink. Guardrail ARN pinned by an IAM condition.</a:t>
            </a:r>
            <a:endParaRPr lang="en-US" sz="1150" dirty="0"/>
          </a:p>
        </p:txBody>
      </p:sp>
      <p:sp>
        <p:nvSpPr>
          <p:cNvPr id="16" name="Shape 14"/>
          <p:cNvSpPr/>
          <p:nvPr/>
        </p:nvSpPr>
        <p:spPr>
          <a:xfrm>
            <a:off x="566928" y="3172968"/>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17" name="Text 15"/>
          <p:cNvSpPr txBox="1"/>
          <p:nvPr/>
        </p:nvSpPr>
        <p:spPr>
          <a:xfrm>
            <a:off x="713232" y="3246120"/>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133856" y="3273552"/>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Deterministic orchestration</a:t>
            </a:r>
            <a:endParaRPr lang="en-US" sz="1300" dirty="0"/>
          </a:p>
        </p:txBody>
      </p:sp>
      <p:sp>
        <p:nvSpPr>
          <p:cNvPr id="19" name="Text 17"/>
          <p:cNvSpPr txBox="1"/>
          <p:nvPr/>
        </p:nvSpPr>
        <p:spPr>
          <a:xfrm>
            <a:off x="3840480" y="3282696"/>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Step Functions, ten states, a guard after every substantive step. Human sign-off with the approver re-verified.</a:t>
            </a:r>
            <a:endParaRPr lang="en-US" sz="1150" dirty="0"/>
          </a:p>
        </p:txBody>
      </p:sp>
      <p:sp>
        <p:nvSpPr>
          <p:cNvPr id="20" name="Shape 18"/>
          <p:cNvSpPr/>
          <p:nvPr/>
        </p:nvSpPr>
        <p:spPr>
          <a:xfrm>
            <a:off x="566928" y="3749040"/>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21" name="Text 19"/>
          <p:cNvSpPr txBox="1"/>
          <p:nvPr/>
        </p:nvSpPr>
        <p:spPr>
          <a:xfrm>
            <a:off x="713232" y="3822192"/>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133856" y="3849624"/>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Governed tools</a:t>
            </a:r>
            <a:endParaRPr lang="en-US" sz="1300" dirty="0"/>
          </a:p>
        </p:txBody>
      </p:sp>
      <p:sp>
        <p:nvSpPr>
          <p:cNvPr id="23" name="Text 21"/>
          <p:cNvSpPr txBox="1"/>
          <p:nvPr/>
        </p:nvSpPr>
        <p:spPr>
          <a:xfrm>
            <a:off x="3840480" y="3858768"/>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One Lambda per manifest target, exact-ARN least privilege, private subnets — measured 0 NAT, 0 IGW.</a:t>
            </a:r>
            <a:endParaRPr lang="en-US" sz="1150" dirty="0"/>
          </a:p>
        </p:txBody>
      </p:sp>
      <p:sp>
        <p:nvSpPr>
          <p:cNvPr id="24" name="Shape 22"/>
          <p:cNvSpPr/>
          <p:nvPr/>
        </p:nvSpPr>
        <p:spPr>
          <a:xfrm>
            <a:off x="566928" y="4325112"/>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25" name="Text 23"/>
          <p:cNvSpPr txBox="1"/>
          <p:nvPr/>
        </p:nvSpPr>
        <p:spPr>
          <a:xfrm>
            <a:off x="713232" y="4398264"/>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133856" y="4425696"/>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Evidence &amp; regulated data</a:t>
            </a:r>
            <a:endParaRPr lang="en-US" sz="1300" dirty="0"/>
          </a:p>
        </p:txBody>
      </p:sp>
      <p:sp>
        <p:nvSpPr>
          <p:cNvPr id="27" name="Text 25"/>
          <p:cNvSpPr txBox="1"/>
          <p:nvPr/>
        </p:nvSpPr>
        <p:spPr>
          <a:xfrm>
            <a:off x="3840480" y="4434840"/>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Per-tenant physical isolation. Hash-chained ledger. WORM vault. Customer-managed KMS throughout.</a:t>
            </a:r>
            <a:endParaRPr lang="en-US" sz="1150" dirty="0"/>
          </a:p>
        </p:txBody>
      </p:sp>
      <p:sp>
        <p:nvSpPr>
          <p:cNvPr id="28" name="Shape 26"/>
          <p:cNvSpPr/>
          <p:nvPr/>
        </p:nvSpPr>
        <p:spPr>
          <a:xfrm>
            <a:off x="566928" y="4901184"/>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29" name="Text 27"/>
          <p:cNvSpPr txBox="1"/>
          <p:nvPr/>
        </p:nvSpPr>
        <p:spPr>
          <a:xfrm>
            <a:off x="713232" y="4974336"/>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7</a:t>
            </a:r>
            <a:endParaRPr lang="en-US" sz="1500" dirty="0"/>
          </a:p>
        </p:txBody>
      </p:sp>
      <p:sp>
        <p:nvSpPr>
          <p:cNvPr id="30" name="Text 28"/>
          <p:cNvSpPr txBox="1"/>
          <p:nvPr/>
        </p:nvSpPr>
        <p:spPr>
          <a:xfrm>
            <a:off x="1133856" y="5001768"/>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Capture &amp; lineage</a:t>
            </a:r>
            <a:endParaRPr lang="en-US" sz="1300" dirty="0"/>
          </a:p>
        </p:txBody>
      </p:sp>
      <p:sp>
        <p:nvSpPr>
          <p:cNvPr id="31" name="Text 29"/>
          <p:cNvSpPr txBox="1"/>
          <p:nvPr/>
        </p:nvSpPr>
        <p:spPr>
          <a:xfrm>
            <a:off x="3840480" y="5010912"/>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One account trail, log-file validation on, reconciled against audit rows in both directions.</a:t>
            </a:r>
            <a:endParaRPr lang="en-US" sz="1150" dirty="0"/>
          </a:p>
        </p:txBody>
      </p:sp>
      <p:sp>
        <p:nvSpPr>
          <p:cNvPr id="32" name="Shape 30"/>
          <p:cNvSpPr/>
          <p:nvPr/>
        </p:nvSpPr>
        <p:spPr>
          <a:xfrm>
            <a:off x="566928" y="5477256"/>
            <a:ext cx="11018520" cy="502920"/>
          </a:xfrm>
          <a:prstGeom prst="roundRect">
            <a:avLst>
              <a:gd name="adj" fmla="val 16364"/>
            </a:avLst>
          </a:prstGeom>
          <a:solidFill>
            <a:srgbClr val="F1F4F7"/>
          </a:solidFill>
          <a:ln w="12700">
            <a:solidFill>
              <a:srgbClr val="E2E8ED"/>
            </a:solidFill>
            <a:prstDash val="solid"/>
          </a:ln>
        </p:spPr>
        <p:txBody>
          <a:bodyPr/>
          <a:p/>
        </p:txBody>
      </p:sp>
      <p:sp>
        <p:nvSpPr>
          <p:cNvPr id="33" name="Text 31"/>
          <p:cNvSpPr txBox="1"/>
          <p:nvPr/>
        </p:nvSpPr>
        <p:spPr>
          <a:xfrm>
            <a:off x="713232" y="5550408"/>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8</a:t>
            </a:r>
            <a:endParaRPr lang="en-US" sz="1500" dirty="0"/>
          </a:p>
        </p:txBody>
      </p:sp>
      <p:sp>
        <p:nvSpPr>
          <p:cNvPr id="34" name="Text 32"/>
          <p:cNvSpPr txBox="1"/>
          <p:nvPr/>
        </p:nvSpPr>
        <p:spPr>
          <a:xfrm>
            <a:off x="1133856" y="5577840"/>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Operations &amp; containment</a:t>
            </a:r>
            <a:endParaRPr lang="en-US" sz="1300" dirty="0"/>
          </a:p>
        </p:txBody>
      </p:sp>
      <p:sp>
        <p:nvSpPr>
          <p:cNvPr id="35" name="Text 33"/>
          <p:cNvSpPr txBox="1"/>
          <p:nvPr/>
        </p:nvSpPr>
        <p:spPr>
          <a:xfrm>
            <a:off x="3840480" y="5586984"/>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Kill switch, per-tenant budget, Budgets ceiling. 26 named alarms in 3 severity tiers, each with a runbook entry enforced by CI.</a:t>
            </a:r>
            <a:endParaRPr lang="en-US" sz="1150" dirty="0"/>
          </a:p>
        </p:txBody>
      </p:sp>
      <p:sp>
        <p:nvSpPr>
          <p:cNvPr id="36" name="Text 34"/>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5F7080"/>
                </a:solidFill>
                <a:latin typeface="Calibri" pitchFamily="34" charset="0"/>
                <a:ea typeface="Calibri" pitchFamily="34" charset="-122"/>
                <a:cs typeface="Calibri" pitchFamily="34" charset="-120"/>
              </a:rPr>
              <a:t>Full detail — every component, its purpose, what it stops, and whether it is live-verified or IaC-asserted — is in the attached AEGIS-ARCHITECTURE-VERIFIED-2026-09-10.drawio.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THE ENFORCEMENT POINT</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Twelve forbid. One permit. That asymmetry is the architecture.</a:t>
            </a:r>
            <a:endParaRPr lang="en-US" sz="3400" dirty="0"/>
          </a:p>
        </p:txBody>
      </p:sp>
      <p:sp>
        <p:nvSpPr>
          <p:cNvPr id="4" name="Shape 2"/>
          <p:cNvSpPr/>
          <p:nvPr/>
        </p:nvSpPr>
        <p:spPr>
          <a:xfrm>
            <a:off x="566928" y="1609344"/>
            <a:ext cx="5212080" cy="1874520"/>
          </a:xfrm>
          <a:prstGeom prst="roundRect">
            <a:avLst>
              <a:gd name="adj" fmla="val 4390"/>
            </a:avLst>
          </a:prstGeom>
          <a:solidFill>
            <a:srgbClr val="1A2433"/>
          </a:solidFill>
          <a:ln w="12700">
            <a:solidFill>
              <a:srgbClr val="1A2433"/>
            </a:solidFill>
            <a:prstDash val="solid"/>
          </a:ln>
        </p:spPr>
        <p:txBody>
          <a:bodyPr/>
          <a:p/>
        </p:txBody>
      </p:sp>
      <p:sp>
        <p:nvSpPr>
          <p:cNvPr id="5" name="Text 3"/>
          <p:cNvSpPr txBox="1"/>
          <p:nvPr/>
        </p:nvSpPr>
        <p:spPr>
          <a:xfrm>
            <a:off x="868680" y="1810512"/>
            <a:ext cx="1371600" cy="914400"/>
          </a:xfrm>
          <a:prstGeom prst="rect">
            <a:avLst/>
          </a:prstGeom>
          <a:noFill/>
          <a:ln/>
        </p:spPr>
        <p:txBody>
          <a:bodyPr wrap="square" lIns="0" tIns="0" rIns="0" bIns="0" rtlCol="0" anchor="ctr"/>
          <a:lstStyle/>
          <a:p>
            <a:pPr indent="0" marL="0">
              <a:buNone/>
            </a:pPr>
            <a:r>
              <a:rPr lang="en-US" sz="5400" b="1" dirty="0">
                <a:solidFill>
                  <a:srgbClr val="FF8A80"/>
                </a:solidFill>
                <a:latin typeface="Cambria" pitchFamily="34" charset="0"/>
                <a:ea typeface="Cambria" pitchFamily="34" charset="-122"/>
                <a:cs typeface="Cambria" pitchFamily="34" charset="-120"/>
              </a:rPr>
              <a:t>12</a:t>
            </a:r>
            <a:endParaRPr lang="en-US" sz="5400" dirty="0"/>
          </a:p>
        </p:txBody>
      </p:sp>
      <p:sp>
        <p:nvSpPr>
          <p:cNvPr id="6" name="Text 4"/>
          <p:cNvSpPr txBox="1"/>
          <p:nvPr/>
        </p:nvSpPr>
        <p:spPr>
          <a:xfrm>
            <a:off x="2240280" y="1975104"/>
            <a:ext cx="32004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forbid</a:t>
            </a:r>
            <a:endParaRPr lang="en-US" sz="2200" dirty="0"/>
          </a:p>
        </p:txBody>
      </p:sp>
      <p:sp>
        <p:nvSpPr>
          <p:cNvPr id="7" name="Text 5"/>
          <p:cNvSpPr txBox="1"/>
          <p:nvPr/>
        </p:nvSpPr>
        <p:spPr>
          <a:xfrm>
            <a:off x="2240280" y="2450592"/>
            <a:ext cx="3291840" cy="822960"/>
          </a:xfrm>
          <a:prstGeom prst="rect">
            <a:avLst/>
          </a:prstGeom>
          <a:noFill/>
          <a:ln/>
        </p:spPr>
        <p:txBody>
          <a:bodyPr wrap="square" lIns="0" tIns="0" rIns="0" bIns="0" rtlCol="0" anchor="ctr"/>
          <a:lstStyle/>
          <a:p>
            <a:pPr indent="0" marL="0">
              <a:lnSpc>
                <a:spcPct val="110000"/>
              </a:lnSpc>
              <a:buNone/>
            </a:pPr>
            <a:r>
              <a:rPr lang="en-US" sz="1200" dirty="0">
                <a:solidFill>
                  <a:srgbClr val="BFD3E6"/>
                </a:solidFill>
                <a:latin typeface="Calibri" pitchFamily="34" charset="0"/>
                <a:ea typeface="Calibri" pitchFamily="34" charset="-122"/>
                <a:cs typeface="Calibri" pitchFamily="34" charset="-120"/>
              </a:rPr>
              <a:t>The product. Cedar is forbid-wins: any single match kills the request, no matter how many permits fire.</a:t>
            </a:r>
            <a:endParaRPr lang="en-US" sz="1200" dirty="0"/>
          </a:p>
        </p:txBody>
      </p:sp>
      <p:sp>
        <p:nvSpPr>
          <p:cNvPr id="8" name="Shape 6"/>
          <p:cNvSpPr/>
          <p:nvPr/>
        </p:nvSpPr>
        <p:spPr>
          <a:xfrm>
            <a:off x="6373368" y="1609344"/>
            <a:ext cx="5212080" cy="1874520"/>
          </a:xfrm>
          <a:prstGeom prst="roundRect">
            <a:avLst>
              <a:gd name="adj" fmla="val 4390"/>
            </a:avLst>
          </a:prstGeom>
          <a:solidFill>
            <a:srgbClr val="F1F4F7"/>
          </a:solidFill>
          <a:ln w="12700">
            <a:solidFill>
              <a:srgbClr val="D8E0E7"/>
            </a:solidFill>
            <a:prstDash val="solid"/>
          </a:ln>
        </p:spPr>
        <p:txBody>
          <a:bodyPr/>
          <a:p/>
        </p:txBody>
      </p:sp>
      <p:sp>
        <p:nvSpPr>
          <p:cNvPr id="9" name="Text 7"/>
          <p:cNvSpPr txBox="1"/>
          <p:nvPr/>
        </p:nvSpPr>
        <p:spPr>
          <a:xfrm>
            <a:off x="6675120" y="1810512"/>
            <a:ext cx="1371600" cy="914400"/>
          </a:xfrm>
          <a:prstGeom prst="rect">
            <a:avLst/>
          </a:prstGeom>
          <a:noFill/>
          <a:ln/>
        </p:spPr>
        <p:txBody>
          <a:bodyPr wrap="square" lIns="0" tIns="0" rIns="0" bIns="0" rtlCol="0" anchor="ctr"/>
          <a:lstStyle/>
          <a:p>
            <a:pPr indent="0" marL="0">
              <a:buNone/>
            </a:pPr>
            <a:r>
              <a:rPr lang="en-US" sz="5400" b="1" dirty="0">
                <a:solidFill>
                  <a:srgbClr val="1D6F42"/>
                </a:solidFill>
                <a:latin typeface="Cambria" pitchFamily="34" charset="0"/>
                <a:ea typeface="Cambria" pitchFamily="34" charset="-122"/>
                <a:cs typeface="Cambria" pitchFamily="34" charset="-120"/>
              </a:rPr>
              <a:t>1</a:t>
            </a:r>
            <a:endParaRPr lang="en-US" sz="5400" dirty="0"/>
          </a:p>
        </p:txBody>
      </p:sp>
      <p:sp>
        <p:nvSpPr>
          <p:cNvPr id="10" name="Text 8"/>
          <p:cNvSpPr txBox="1"/>
          <p:nvPr/>
        </p:nvSpPr>
        <p:spPr>
          <a:xfrm>
            <a:off x="7772400" y="1975104"/>
            <a:ext cx="3200400" cy="457200"/>
          </a:xfrm>
          <a:prstGeom prst="rect">
            <a:avLst/>
          </a:prstGeom>
          <a:noFill/>
          <a:ln/>
        </p:spPr>
        <p:txBody>
          <a:bodyPr wrap="square" lIns="0" tIns="0" rIns="0" bIns="0" rtlCol="0" anchor="ctr"/>
          <a:lstStyle/>
          <a:p>
            <a:pPr indent="0" marL="0">
              <a:buNone/>
            </a:pPr>
            <a:r>
              <a:rPr lang="en-US" sz="2200" b="1" dirty="0">
                <a:solidFill>
                  <a:srgbClr val="1A2433"/>
                </a:solidFill>
                <a:latin typeface="Cambria" pitchFamily="34" charset="0"/>
                <a:ea typeface="Cambria" pitchFamily="34" charset="-122"/>
                <a:cs typeface="Cambria" pitchFamily="34" charset="-120"/>
              </a:rPr>
              <a:t>permit</a:t>
            </a:r>
            <a:endParaRPr lang="en-US" sz="2200" dirty="0"/>
          </a:p>
        </p:txBody>
      </p:sp>
      <p:sp>
        <p:nvSpPr>
          <p:cNvPr id="11" name="Text 9"/>
          <p:cNvSpPr txBox="1"/>
          <p:nvPr/>
        </p:nvSpPr>
        <p:spPr>
          <a:xfrm>
            <a:off x="7772400" y="2450592"/>
            <a:ext cx="3474720" cy="822960"/>
          </a:xfrm>
          <a:prstGeom prst="rect">
            <a:avLst/>
          </a:prstGeom>
          <a:noFill/>
          <a:ln/>
        </p:spPr>
        <p:txBody>
          <a:bodyPr wrap="square" lIns="0" tIns="0" rIns="0" bIns="0" rtlCol="0" anchor="ctr"/>
          <a:lstStyle/>
          <a:p>
            <a:pPr indent="0" marL="0">
              <a:lnSpc>
                <a:spcPct val="110000"/>
              </a:lnSpc>
              <a:buNone/>
            </a:pPr>
            <a:r>
              <a:rPr lang="en-US" sz="1200" dirty="0">
                <a:solidFill>
                  <a:srgbClr val="2C3A4E"/>
                </a:solidFill>
                <a:latin typeface="Calibri" pitchFamily="34" charset="0"/>
                <a:ea typeface="Calibri" pitchFamily="34" charset="-122"/>
                <a:cs typeface="Calibri" pitchFamily="34" charset="-120"/>
              </a:rPr>
              <a:t>Only the door being unlocked. Grants nothing on its own — every forbid above still wins over it.</a:t>
            </a:r>
            <a:endParaRPr lang="en-US" sz="1200" dirty="0"/>
          </a:p>
        </p:txBody>
      </p:sp>
      <p:sp>
        <p:nvSpPr>
          <p:cNvPr id="12" name="Text 10"/>
          <p:cNvSpPr txBox="1"/>
          <p:nvPr/>
        </p:nvSpPr>
        <p:spPr>
          <a:xfrm>
            <a:off x="566928" y="3712464"/>
            <a:ext cx="11018520" cy="868680"/>
          </a:xfrm>
          <a:prstGeom prst="rect">
            <a:avLst/>
          </a:prstGeom>
          <a:noFill/>
          <a:ln/>
        </p:spPr>
        <p:txBody>
          <a:bodyPr wrap="square" lIns="0" tIns="0" rIns="0" bIns="0" rtlCol="0" anchor="t"/>
          <a:lstStyle/>
          <a:p>
            <a:pPr indent="0" marL="0">
              <a:lnSpc>
                <a:spcPct val="115000"/>
              </a:lnSpc>
              <a:buNone/>
            </a:pPr>
            <a:r>
              <a:rPr lang="en-US" sz="1400" b="1" dirty="0">
                <a:solidFill>
                  <a:srgbClr val="2C3A4E"/>
                </a:solidFill>
                <a:latin typeface="Calibri" pitchFamily="34" charset="0"/>
                <a:ea typeface="Calibri" pitchFamily="34" charset="-122"/>
                <a:cs typeface="Calibri" pitchFamily="34" charset="-120"/>
              </a:rPr>
              <a:t>What this buys: </a:t>
            </a:r>
            <a:pPr indent="0" marL="0">
              <a:lnSpc>
                <a:spcPct val="115000"/>
              </a:lnSpc>
              <a:buNone/>
            </a:pPr>
            <a:r>
              <a:rPr lang="en-US" sz="1400" dirty="0">
                <a:solidFill>
                  <a:srgbClr val="2C3A4E"/>
                </a:solidFill>
                <a:latin typeface="Calibri" pitchFamily="34" charset="0"/>
                <a:ea typeface="Calibri" pitchFamily="34" charset="-122"/>
                <a:cs typeface="Calibri" pitchFamily="34" charset="-120"/>
              </a:rPr>
              <a:t>a caller whose token is missing a claim is granted </a:t>
            </a:r>
            <a:pPr indent="0" marL="0">
              <a:lnSpc>
                <a:spcPct val="115000"/>
              </a:lnSpc>
              <a:buNone/>
            </a:pPr>
            <a:r>
              <a:rPr lang="en-US" sz="1400" b="1" i="1" dirty="0">
                <a:solidFill>
                  <a:srgbClr val="2C3A4E"/>
                </a:solidFill>
                <a:latin typeface="Calibri" pitchFamily="34" charset="0"/>
                <a:ea typeface="Calibri" pitchFamily="34" charset="-122"/>
                <a:cs typeface="Calibri" pitchFamily="34" charset="-120"/>
              </a:rPr>
              <a:t>zero</a:t>
            </a:r>
            <a:pPr indent="0" marL="0">
              <a:lnSpc>
                <a:spcPct val="115000"/>
              </a:lnSpc>
              <a:buNone/>
            </a:pPr>
            <a:r>
              <a:rPr lang="en-US" sz="1400" dirty="0">
                <a:solidFill>
                  <a:srgbClr val="2C3A4E"/>
                </a:solidFill>
                <a:latin typeface="Calibri" pitchFamily="34" charset="0"/>
                <a:ea typeface="Calibri" pitchFamily="34" charset="-122"/>
                <a:cs typeface="Calibri" pitchFamily="34" charset="-120"/>
              </a:rPr>
              <a:t> tools, not all of them. Optional context fields are presence-guarded, so an absent value fails closed — the forbid fires. The GA engine rejects an unguarded optional access outright, which is why every policy reads “context.input has X &amp;&amp; …”.</a:t>
            </a:r>
            <a:endParaRPr lang="en-US" sz="1400" dirty="0"/>
          </a:p>
        </p:txBody>
      </p:sp>
      <p:sp>
        <p:nvSpPr>
          <p:cNvPr id="13" name="Shape 11"/>
          <p:cNvSpPr/>
          <p:nvPr/>
        </p:nvSpPr>
        <p:spPr>
          <a:xfrm>
            <a:off x="566928" y="4681728"/>
            <a:ext cx="11018520" cy="1371600"/>
          </a:xfrm>
          <a:prstGeom prst="roundRect">
            <a:avLst>
              <a:gd name="adj" fmla="val 6000"/>
            </a:avLst>
          </a:prstGeom>
          <a:solidFill>
            <a:srgbClr val="E4F2EA"/>
          </a:solidFill>
          <a:ln w="12700">
            <a:solidFill>
              <a:srgbClr val="BFE0CE"/>
            </a:solidFill>
            <a:prstDash val="solid"/>
          </a:ln>
        </p:spPr>
        <p:txBody>
          <a:bodyPr/>
          <a:p/>
        </p:txBody>
      </p:sp>
      <p:sp>
        <p:nvSpPr>
          <p:cNvPr id="14" name="Text 12"/>
          <p:cNvSpPr txBox="1"/>
          <p:nvPr/>
        </p:nvSpPr>
        <p:spPr>
          <a:xfrm>
            <a:off x="868680" y="4846320"/>
            <a:ext cx="2743200" cy="310896"/>
          </a:xfrm>
          <a:prstGeom prst="rect">
            <a:avLst/>
          </a:prstGeom>
          <a:noFill/>
          <a:ln/>
        </p:spPr>
        <p:txBody>
          <a:bodyPr wrap="square" lIns="0" tIns="0" rIns="0" bIns="0" rtlCol="0" anchor="ctr"/>
          <a:lstStyle/>
          <a:p>
            <a:pPr indent="0" marL="0">
              <a:buNone/>
            </a:pPr>
            <a:r>
              <a:rPr lang="en-US" sz="1400" b="1" dirty="0">
                <a:solidFill>
                  <a:srgbClr val="1D6F42"/>
                </a:solidFill>
                <a:latin typeface="Cambria" pitchFamily="34" charset="0"/>
                <a:ea typeface="Cambria" pitchFamily="34" charset="-122"/>
                <a:cs typeface="Cambria" pitchFamily="34" charset="-120"/>
              </a:rPr>
              <a:t>Proven live</a:t>
            </a:r>
            <a:endParaRPr lang="en-US" sz="1400" dirty="0"/>
          </a:p>
        </p:txBody>
      </p:sp>
      <p:sp>
        <p:nvSpPr>
          <p:cNvPr id="15" name="Text 13"/>
          <p:cNvSpPr txBox="1"/>
          <p:nvPr/>
        </p:nvSpPr>
        <p:spPr>
          <a:xfrm>
            <a:off x="868680" y="5193792"/>
            <a:ext cx="10424160" cy="786384"/>
          </a:xfrm>
          <a:prstGeom prst="rect">
            <a:avLst/>
          </a:prstGeom>
          <a:noFill/>
          <a:ln/>
        </p:spPr>
        <p:txBody>
          <a:bodyPr wrap="square" lIns="0" tIns="0" rIns="0" bIns="0" rtlCol="0" anchor="ctr"/>
          <a:lstStyle/>
          <a:p>
            <a:pPr indent="0" marL="0">
              <a:lnSpc>
                <a:spcPct val="115000"/>
              </a:lnSpc>
              <a:buNone/>
            </a:pPr>
            <a:r>
              <a:rPr lang="en-US" sz="1300" dirty="0">
                <a:solidFill>
                  <a:srgbClr val="2C3A4E"/>
                </a:solidFill>
                <a:latin typeface="Calibri" pitchFamily="34" charset="0"/>
                <a:ea typeface="Calibri" pitchFamily="34" charset="-122"/>
                <a:cs typeface="Calibri" pitchFamily="34" charset="-120"/>
              </a:rPr>
              <a:t>13 policies reached ACTIVE, twice, in the 2026-09-10 gate — and in that gate deny-by-default reached a newly added tool with no new policy written. The decision is made by AWS, before the tool Lambda is invoked — and it is written to the hash-chained ledger with the policy version that made it (policy_version = cedar-534be1c676bb).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THE POLICY SET</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The thirteen policies, grouped by what they defend</a:t>
            </a:r>
            <a:endParaRPr lang="en-US" sz="3400" dirty="0"/>
          </a:p>
        </p:txBody>
      </p:sp>
      <p:sp>
        <p:nvSpPr>
          <p:cNvPr id="4" name="Shape 2"/>
          <p:cNvSpPr/>
          <p:nvPr/>
        </p:nvSpPr>
        <p:spPr>
          <a:xfrm>
            <a:off x="566928" y="1463040"/>
            <a:ext cx="5349240" cy="2194560"/>
          </a:xfrm>
          <a:prstGeom prst="roundRect">
            <a:avLst>
              <a:gd name="adj" fmla="val 3750"/>
            </a:avLst>
          </a:prstGeom>
          <a:solidFill>
            <a:srgbClr val="F1F4F7"/>
          </a:solidFill>
          <a:ln w="12700">
            <a:solidFill>
              <a:srgbClr val="D8E0E7"/>
            </a:solidFill>
            <a:prstDash val="solid"/>
          </a:ln>
        </p:spPr>
        <p:txBody>
          <a:bodyPr/>
          <a:p/>
        </p:txBody>
      </p:sp>
      <p:sp>
        <p:nvSpPr>
          <p:cNvPr id="5" name="Shape 3"/>
          <p:cNvSpPr/>
          <p:nvPr/>
        </p:nvSpPr>
        <p:spPr>
          <a:xfrm>
            <a:off x="822960" y="1682496"/>
            <a:ext cx="402336" cy="402336"/>
          </a:xfrm>
          <a:prstGeom prst="ellipse">
            <a:avLst/>
          </a:prstGeom>
          <a:solidFill>
            <a:srgbClr val="1A2433"/>
          </a:solidFill>
          <a:ln w="12700">
            <a:solidFill>
              <a:srgbClr val="1A2433"/>
            </a:solidFill>
            <a:prstDash val="solid"/>
          </a:ln>
        </p:spPr>
        <p:txBody>
          <a:bodyPr/>
          <a:p/>
        </p:txBody>
      </p:sp>
      <p:sp>
        <p:nvSpPr>
          <p:cNvPr id="6" name="Text 4"/>
          <p:cNvSpPr txBox="1"/>
          <p:nvPr/>
        </p:nvSpPr>
        <p:spPr>
          <a:xfrm>
            <a:off x="822960" y="16824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353312" y="1664208"/>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Admission</a:t>
            </a:r>
            <a:endParaRPr lang="en-US" sz="1500" dirty="0"/>
          </a:p>
        </p:txBody>
      </p:sp>
      <p:sp>
        <p:nvSpPr>
          <p:cNvPr id="8" name="Text 6"/>
          <p:cNvSpPr txBox="1"/>
          <p:nvPr/>
        </p:nvSpPr>
        <p:spPr>
          <a:xfrm>
            <a:off x="1353312" y="1965960"/>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Is this caller allowed to do anything at all?</a:t>
            </a:r>
            <a:endParaRPr lang="en-US" sz="1050" dirty="0"/>
          </a:p>
        </p:txBody>
      </p:sp>
      <p:sp>
        <p:nvSpPr>
          <p:cNvPr id="9" name="Text 7"/>
          <p:cNvSpPr txBox="1"/>
          <p:nvPr/>
        </p:nvSpPr>
        <p:spPr>
          <a:xfrm>
            <a:off x="822960" y="2304288"/>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require_tenant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require_entitlement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require_service_window</a:t>
            </a:r>
            <a:endParaRPr lang="en-US" sz="950" dirty="0"/>
          </a:p>
        </p:txBody>
      </p:sp>
      <p:sp>
        <p:nvSpPr>
          <p:cNvPr id="10" name="Text 8"/>
          <p:cNvSpPr txBox="1"/>
          <p:nvPr/>
        </p:nvSpPr>
        <p:spPr>
          <a:xfrm>
            <a:off x="822960" y="2926080"/>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No tenant, no entitlement, or outside the service window → zero tools. Tenancy is derived from the caller's own validated token, so cross-tenant access is impossible by construction.</a:t>
            </a:r>
            <a:endParaRPr lang="en-US" sz="1100" dirty="0"/>
          </a:p>
        </p:txBody>
      </p:sp>
      <p:sp>
        <p:nvSpPr>
          <p:cNvPr id="11" name="Shape 9"/>
          <p:cNvSpPr/>
          <p:nvPr/>
        </p:nvSpPr>
        <p:spPr>
          <a:xfrm>
            <a:off x="6190488" y="1463040"/>
            <a:ext cx="5349240" cy="2194560"/>
          </a:xfrm>
          <a:prstGeom prst="roundRect">
            <a:avLst>
              <a:gd name="adj" fmla="val 3750"/>
            </a:avLst>
          </a:prstGeom>
          <a:solidFill>
            <a:srgbClr val="F1F4F7"/>
          </a:solidFill>
          <a:ln w="12700">
            <a:solidFill>
              <a:srgbClr val="D8E0E7"/>
            </a:solidFill>
            <a:prstDash val="solid"/>
          </a:ln>
        </p:spPr>
        <p:txBody>
          <a:bodyPr/>
          <a:p/>
        </p:txBody>
      </p:sp>
      <p:sp>
        <p:nvSpPr>
          <p:cNvPr id="12" name="Shape 10"/>
          <p:cNvSpPr/>
          <p:nvPr/>
        </p:nvSpPr>
        <p:spPr>
          <a:xfrm>
            <a:off x="6446520" y="1682496"/>
            <a:ext cx="402336" cy="402336"/>
          </a:xfrm>
          <a:prstGeom prst="ellipse">
            <a:avLst/>
          </a:prstGeom>
          <a:solidFill>
            <a:srgbClr val="1A2433"/>
          </a:solidFill>
          <a:ln w="12700">
            <a:solidFill>
              <a:srgbClr val="1A2433"/>
            </a:solidFill>
            <a:prstDash val="solid"/>
          </a:ln>
        </p:spPr>
        <p:txBody>
          <a:bodyPr/>
          <a:p/>
        </p:txBody>
      </p:sp>
      <p:sp>
        <p:nvSpPr>
          <p:cNvPr id="13" name="Text 11"/>
          <p:cNvSpPr txBox="1"/>
          <p:nvPr/>
        </p:nvSpPr>
        <p:spPr>
          <a:xfrm>
            <a:off x="6446520" y="16824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4" name="Text 12"/>
          <p:cNvSpPr txBox="1"/>
          <p:nvPr/>
        </p:nvSpPr>
        <p:spPr>
          <a:xfrm>
            <a:off x="6976872" y="1664208"/>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De-identification</a:t>
            </a:r>
            <a:endParaRPr lang="en-US" sz="1500" dirty="0"/>
          </a:p>
        </p:txBody>
      </p:sp>
      <p:sp>
        <p:nvSpPr>
          <p:cNvPr id="15" name="Text 13"/>
          <p:cNvSpPr txBox="1"/>
          <p:nvPr/>
        </p:nvSpPr>
        <p:spPr>
          <a:xfrm>
            <a:off x="6976872" y="1965960"/>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Nothing consequential touches un-masked data</a:t>
            </a:r>
            <a:endParaRPr lang="en-US" sz="1050" dirty="0"/>
          </a:p>
        </p:txBody>
      </p:sp>
      <p:sp>
        <p:nvSpPr>
          <p:cNvPr id="16" name="Text 14"/>
          <p:cNvSpPr txBox="1"/>
          <p:nvPr/>
        </p:nvSpPr>
        <p:spPr>
          <a:xfrm>
            <a:off x="6446520" y="2304288"/>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mask_before_assess</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mask_before_draft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mask_before_redetermine</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mask_before_overpayment</a:t>
            </a:r>
            <a:endParaRPr lang="en-US" sz="950" dirty="0"/>
          </a:p>
        </p:txBody>
      </p:sp>
      <p:sp>
        <p:nvSpPr>
          <p:cNvPr id="17" name="Text 15"/>
          <p:cNvSpPr txBox="1"/>
          <p:nvPr/>
        </p:nvSpPr>
        <p:spPr>
          <a:xfrm>
            <a:off x="6446520" y="2926080"/>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The four consequential actions are forbidden unless the payload is provably de-identified — and the proof is a signature, not a boolean.</a:t>
            </a:r>
            <a:endParaRPr lang="en-US" sz="1100" dirty="0"/>
          </a:p>
        </p:txBody>
      </p:sp>
      <p:sp>
        <p:nvSpPr>
          <p:cNvPr id="18" name="Shape 16"/>
          <p:cNvSpPr/>
          <p:nvPr/>
        </p:nvSpPr>
        <p:spPr>
          <a:xfrm>
            <a:off x="566928" y="3767328"/>
            <a:ext cx="5349240" cy="2194560"/>
          </a:xfrm>
          <a:prstGeom prst="roundRect">
            <a:avLst>
              <a:gd name="adj" fmla="val 3750"/>
            </a:avLst>
          </a:prstGeom>
          <a:solidFill>
            <a:srgbClr val="F1F4F7"/>
          </a:solidFill>
          <a:ln w="12700">
            <a:solidFill>
              <a:srgbClr val="D8E0E7"/>
            </a:solidFill>
            <a:prstDash val="solid"/>
          </a:ln>
        </p:spPr>
        <p:txBody>
          <a:bodyPr/>
          <a:p/>
        </p:txBody>
      </p:sp>
      <p:sp>
        <p:nvSpPr>
          <p:cNvPr id="19" name="Shape 17"/>
          <p:cNvSpPr/>
          <p:nvPr/>
        </p:nvSpPr>
        <p:spPr>
          <a:xfrm>
            <a:off x="822960" y="3986784"/>
            <a:ext cx="402336" cy="402336"/>
          </a:xfrm>
          <a:prstGeom prst="ellipse">
            <a:avLst/>
          </a:prstGeom>
          <a:solidFill>
            <a:srgbClr val="1A2433"/>
          </a:solidFill>
          <a:ln w="12700">
            <a:solidFill>
              <a:srgbClr val="1A2433"/>
            </a:solidFill>
            <a:prstDash val="solid"/>
          </a:ln>
        </p:spPr>
        <p:txBody>
          <a:bodyPr/>
          <a:p/>
        </p:txBody>
      </p:sp>
      <p:sp>
        <p:nvSpPr>
          <p:cNvPr id="20" name="Text 18"/>
          <p:cNvSpPr txBox="1"/>
          <p:nvPr/>
        </p:nvSpPr>
        <p:spPr>
          <a:xfrm>
            <a:off x="822960" y="39867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1" name="Text 19"/>
          <p:cNvSpPr txBox="1"/>
          <p:nvPr/>
        </p:nvSpPr>
        <p:spPr>
          <a:xfrm>
            <a:off x="1353312" y="3968496"/>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Separation of duties</a:t>
            </a:r>
            <a:endParaRPr lang="en-US" sz="1500" dirty="0"/>
          </a:p>
        </p:txBody>
      </p:sp>
      <p:sp>
        <p:nvSpPr>
          <p:cNvPr id="22" name="Text 20"/>
          <p:cNvSpPr txBox="1"/>
          <p:nvPr/>
        </p:nvSpPr>
        <p:spPr>
          <a:xfrm>
            <a:off x="1353312" y="4270248"/>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What the agent may never do</a:t>
            </a:r>
            <a:endParaRPr lang="en-US" sz="1050" dirty="0"/>
          </a:p>
        </p:txBody>
      </p:sp>
      <p:sp>
        <p:nvSpPr>
          <p:cNvPr id="23" name="Text 21"/>
          <p:cNvSpPr txBox="1"/>
          <p:nvPr/>
        </p:nvSpPr>
        <p:spPr>
          <a:xfrm>
            <a:off x="822960" y="4608576"/>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no_self_commit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no_self_fraud_referral</a:t>
            </a:r>
            <a:endParaRPr lang="en-US" sz="950" dirty="0"/>
          </a:p>
        </p:txBody>
      </p:sp>
      <p:sp>
        <p:nvSpPr>
          <p:cNvPr id="24" name="Text 22"/>
          <p:cNvSpPr txBox="1"/>
          <p:nvPr/>
        </p:nvSpPr>
        <p:spPr>
          <a:xfrm>
            <a:off x="822960" y="5230368"/>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Forbidden outright and hidden from the advertised tool list. The only path to a commit is the human sign-off gate.</a:t>
            </a:r>
            <a:endParaRPr lang="en-US" sz="1100" dirty="0"/>
          </a:p>
        </p:txBody>
      </p:sp>
      <p:sp>
        <p:nvSpPr>
          <p:cNvPr id="25" name="Shape 23"/>
          <p:cNvSpPr/>
          <p:nvPr/>
        </p:nvSpPr>
        <p:spPr>
          <a:xfrm>
            <a:off x="6190488" y="3767328"/>
            <a:ext cx="5349240" cy="2194560"/>
          </a:xfrm>
          <a:prstGeom prst="roundRect">
            <a:avLst>
              <a:gd name="adj" fmla="val 3750"/>
            </a:avLst>
          </a:prstGeom>
          <a:solidFill>
            <a:srgbClr val="F1F4F7"/>
          </a:solidFill>
          <a:ln w="12700">
            <a:solidFill>
              <a:srgbClr val="D8E0E7"/>
            </a:solidFill>
            <a:prstDash val="solid"/>
          </a:ln>
        </p:spPr>
        <p:txBody>
          <a:bodyPr/>
          <a:p/>
        </p:txBody>
      </p:sp>
      <p:sp>
        <p:nvSpPr>
          <p:cNvPr id="26" name="Shape 24"/>
          <p:cNvSpPr/>
          <p:nvPr/>
        </p:nvSpPr>
        <p:spPr>
          <a:xfrm>
            <a:off x="6446520" y="3986784"/>
            <a:ext cx="402336" cy="402336"/>
          </a:xfrm>
          <a:prstGeom prst="ellipse">
            <a:avLst/>
          </a:prstGeom>
          <a:solidFill>
            <a:srgbClr val="1A2433"/>
          </a:solidFill>
          <a:ln w="12700">
            <a:solidFill>
              <a:srgbClr val="1A2433"/>
            </a:solidFill>
            <a:prstDash val="solid"/>
          </a:ln>
        </p:spPr>
        <p:txBody>
          <a:bodyPr/>
          <a:p/>
        </p:txBody>
      </p:sp>
      <p:sp>
        <p:nvSpPr>
          <p:cNvPr id="27" name="Text 25"/>
          <p:cNvSpPr txBox="1"/>
          <p:nvPr/>
        </p:nvSpPr>
        <p:spPr>
          <a:xfrm>
            <a:off x="6446520" y="39867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8" name="Text 26"/>
          <p:cNvSpPr txBox="1"/>
          <p:nvPr/>
        </p:nvSpPr>
        <p:spPr>
          <a:xfrm>
            <a:off x="6976872" y="3968496"/>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Purpose, spend, limits</a:t>
            </a:r>
            <a:endParaRPr lang="en-US" sz="1500" dirty="0"/>
          </a:p>
        </p:txBody>
      </p:sp>
      <p:sp>
        <p:nvSpPr>
          <p:cNvPr id="29" name="Text 27"/>
          <p:cNvSpPr txBox="1"/>
          <p:nvPr/>
        </p:nvSpPr>
        <p:spPr>
          <a:xfrm>
            <a:off x="6976872" y="4270248"/>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Why, how much, how large</a:t>
            </a:r>
            <a:endParaRPr lang="en-US" sz="1050" dirty="0"/>
          </a:p>
        </p:txBody>
      </p:sp>
      <p:sp>
        <p:nvSpPr>
          <p:cNvPr id="30" name="Text 28"/>
          <p:cNvSpPr txBox="1"/>
          <p:nvPr/>
        </p:nvSpPr>
        <p:spPr>
          <a:xfrm>
            <a:off x="6446520" y="4608576"/>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consent_purpose_before_assess</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budget_before_draft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amount_cap_overpayment</a:t>
            </a:r>
            <a:endParaRPr lang="en-US" sz="950" dirty="0"/>
          </a:p>
        </p:txBody>
      </p:sp>
      <p:sp>
        <p:nvSpPr>
          <p:cNvPr id="31" name="Text 29"/>
          <p:cNvSpPr txBox="1"/>
          <p:nvPr/>
        </p:nvSpPr>
        <p:spPr>
          <a:xfrm>
            <a:off x="6446520" y="5230368"/>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Purpose limitation; a spend gate set from the live per-tenant meter, refusing before the spend; and a dollar cap above which a case needs elevated authorization.</a:t>
            </a:r>
            <a:endParaRPr lang="en-US" sz="1100" dirty="0"/>
          </a:p>
        </p:txBody>
      </p:sp>
      <p:sp>
        <p:nvSpPr>
          <p:cNvPr id="32" name="Text 30"/>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9A6700"/>
                </a:solidFill>
                <a:latin typeface="Calibri" pitchFamily="34" charset="0"/>
                <a:ea typeface="Calibri" pitchFamily="34" charset="-122"/>
                <a:cs typeface="Calibri" pitchFamily="34" charset="-120"/>
              </a:rPr>
              <a:t>Honest limit: these thirteen are a worked example, not a reusable library — they name benefits-specific tool actions. A customer authors their own against their own manifest, which is the real platform capability.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BFD3E6"/>
                </a:solidFill>
                <a:latin typeface="Calibri" pitchFamily="34" charset="0"/>
                <a:ea typeface="Calibri" pitchFamily="34" charset="-122"/>
                <a:cs typeface="Calibri" pitchFamily="34" charset="-120"/>
              </a:rPr>
              <a:t>THE STRONGEST CONTROL IN THE SYSTEM</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Masking is proven, not asserted</a:t>
            </a:r>
            <a:endParaRPr lang="en-US" sz="3400" dirty="0"/>
          </a:p>
        </p:txBody>
      </p:sp>
      <p:sp>
        <p:nvSpPr>
          <p:cNvPr id="4" name="Shape 2"/>
          <p:cNvSpPr/>
          <p:nvPr/>
        </p:nvSpPr>
        <p:spPr>
          <a:xfrm>
            <a:off x="566928" y="1481328"/>
            <a:ext cx="5349240" cy="1481328"/>
          </a:xfrm>
          <a:prstGeom prst="roundRect">
            <a:avLst>
              <a:gd name="adj" fmla="val 5556"/>
            </a:avLst>
          </a:prstGeom>
          <a:solidFill>
            <a:srgbClr val="3A2020"/>
          </a:solidFill>
          <a:ln w="12700">
            <a:solidFill>
              <a:srgbClr val="6B3030"/>
            </a:solidFill>
            <a:prstDash val="solid"/>
          </a:ln>
        </p:spPr>
        <p:txBody>
          <a:bodyPr/>
          <a:p/>
        </p:txBody>
      </p:sp>
      <p:sp>
        <p:nvSpPr>
          <p:cNvPr id="5" name="Text 3"/>
          <p:cNvSpPr txBox="1"/>
          <p:nvPr/>
        </p:nvSpPr>
        <p:spPr>
          <a:xfrm>
            <a:off x="868680" y="1664208"/>
            <a:ext cx="4754880" cy="292608"/>
          </a:xfrm>
          <a:prstGeom prst="rect">
            <a:avLst/>
          </a:prstGeom>
          <a:noFill/>
          <a:ln/>
        </p:spPr>
        <p:txBody>
          <a:bodyPr wrap="square" lIns="0" tIns="0" rIns="0" bIns="0" rtlCol="0" anchor="ctr"/>
          <a:lstStyle/>
          <a:p>
            <a:pPr indent="0" marL="0">
              <a:buNone/>
            </a:pPr>
            <a:r>
              <a:rPr lang="en-US" sz="1300" b="1" dirty="0">
                <a:solidFill>
                  <a:srgbClr val="FF8A80"/>
                </a:solidFill>
                <a:latin typeface="Cambria" pitchFamily="34" charset="0"/>
                <a:ea typeface="Cambria" pitchFamily="34" charset="-122"/>
                <a:cs typeface="Cambria" pitchFamily="34" charset="-120"/>
              </a:rPr>
              <a:t>What most systems do</a:t>
            </a:r>
            <a:endParaRPr lang="en-US" sz="1300" dirty="0"/>
          </a:p>
        </p:txBody>
      </p:sp>
      <p:sp>
        <p:nvSpPr>
          <p:cNvPr id="6" name="Text 4"/>
          <p:cNvSpPr txBox="1"/>
          <p:nvPr/>
        </p:nvSpPr>
        <p:spPr>
          <a:xfrm>
            <a:off x="868680" y="2011680"/>
            <a:ext cx="4754880" cy="822960"/>
          </a:xfrm>
          <a:prstGeom prst="rect">
            <a:avLst/>
          </a:prstGeom>
          <a:noFill/>
          <a:ln/>
        </p:spPr>
        <p:txBody>
          <a:bodyPr wrap="square" lIns="0" tIns="0" rIns="0" bIns="0" rtlCol="0" anchor="ctr"/>
          <a:lstStyle/>
          <a:p>
            <a:pPr indent="0" marL="0">
              <a:lnSpc>
                <a:spcPct val="115000"/>
              </a:lnSpc>
              <a:buNone/>
            </a:pPr>
            <a:r>
              <a:rPr lang="en-US" sz="1300" dirty="0">
                <a:solidFill>
                  <a:srgbClr val="BFD3E6"/>
                </a:solidFill>
                <a:latin typeface="Calibri" pitchFamily="34" charset="0"/>
                <a:ea typeface="Calibri" pitchFamily="34" charset="-122"/>
                <a:cs typeface="Calibri" pitchFamily="34" charset="-120"/>
              </a:rPr>
              <a:t>The caller passes deidentified: true and the platform believes it. The control is a self-report by the party it constrains.</a:t>
            </a:r>
            <a:endParaRPr lang="en-US" sz="1300" dirty="0"/>
          </a:p>
        </p:txBody>
      </p:sp>
      <p:sp>
        <p:nvSpPr>
          <p:cNvPr id="7" name="Shape 5"/>
          <p:cNvSpPr/>
          <p:nvPr/>
        </p:nvSpPr>
        <p:spPr>
          <a:xfrm>
            <a:off x="6236208" y="1481328"/>
            <a:ext cx="5349240" cy="1481328"/>
          </a:xfrm>
          <a:prstGeom prst="roundRect">
            <a:avLst>
              <a:gd name="adj" fmla="val 5556"/>
            </a:avLst>
          </a:prstGeom>
          <a:solidFill>
            <a:srgbClr val="17352A"/>
          </a:solidFill>
          <a:ln w="12700">
            <a:solidFill>
              <a:srgbClr val="2E6B4A"/>
            </a:solidFill>
            <a:prstDash val="solid"/>
          </a:ln>
        </p:spPr>
        <p:txBody>
          <a:bodyPr/>
          <a:p/>
        </p:txBody>
      </p:sp>
      <p:sp>
        <p:nvSpPr>
          <p:cNvPr id="8" name="Text 6"/>
          <p:cNvSpPr txBox="1"/>
          <p:nvPr/>
        </p:nvSpPr>
        <p:spPr>
          <a:xfrm>
            <a:off x="6537960" y="1664208"/>
            <a:ext cx="4754880" cy="292608"/>
          </a:xfrm>
          <a:prstGeom prst="rect">
            <a:avLst/>
          </a:prstGeom>
          <a:noFill/>
          <a:ln/>
        </p:spPr>
        <p:txBody>
          <a:bodyPr wrap="square" lIns="0" tIns="0" rIns="0" bIns="0" rtlCol="0" anchor="ctr"/>
          <a:lstStyle/>
          <a:p>
            <a:pPr indent="0" marL="0">
              <a:buNone/>
            </a:pPr>
            <a:r>
              <a:rPr lang="en-US" sz="1300" b="1" dirty="0">
                <a:solidFill>
                  <a:srgbClr val="6BCB8F"/>
                </a:solidFill>
                <a:latin typeface="Cambria" pitchFamily="34" charset="0"/>
                <a:ea typeface="Cambria" pitchFamily="34" charset="-122"/>
                <a:cs typeface="Cambria" pitchFamily="34" charset="-120"/>
              </a:rPr>
              <a:t>What Aegis does</a:t>
            </a:r>
            <a:endParaRPr lang="en-US" sz="1300" dirty="0"/>
          </a:p>
        </p:txBody>
      </p:sp>
      <p:sp>
        <p:nvSpPr>
          <p:cNvPr id="9" name="Text 7"/>
          <p:cNvSpPr txBox="1"/>
          <p:nvPr/>
        </p:nvSpPr>
        <p:spPr>
          <a:xfrm>
            <a:off x="6537960" y="2011680"/>
            <a:ext cx="4754880" cy="822960"/>
          </a:xfrm>
          <a:prstGeom prst="rect">
            <a:avLst/>
          </a:prstGeom>
          <a:noFill/>
          <a:ln/>
        </p:spPr>
        <p:txBody>
          <a:bodyPr wrap="square" lIns="0" tIns="0" rIns="0" bIns="0" rtlCol="0" anchor="ctr"/>
          <a:lstStyle/>
          <a:p>
            <a:pPr indent="0" marL="0">
              <a:lnSpc>
                <a:spcPct val="115000"/>
              </a:lnSpc>
              <a:buNone/>
            </a:pPr>
            <a:r>
              <a:rPr lang="en-US" sz="1300" dirty="0">
                <a:solidFill>
                  <a:srgbClr val="BFD3E6"/>
                </a:solidFill>
                <a:latin typeface="Calibri" pitchFamily="34" charset="0"/>
                <a:ea typeface="Calibri" pitchFamily="34" charset="-122"/>
                <a:cs typeface="Calibri" pitchFamily="34" charset="-120"/>
              </a:rPr>
              <a:t>A cryptographically signed sanitized_ref, issued only by mask_pii. A forged or tampered reference is refused by the guard.</a:t>
            </a:r>
            <a:endParaRPr lang="en-US" sz="1300" dirty="0"/>
          </a:p>
        </p:txBody>
      </p:sp>
      <p:sp>
        <p:nvSpPr>
          <p:cNvPr id="10" name="Text 8"/>
          <p:cNvSpPr txBox="1"/>
          <p:nvPr/>
        </p:nvSpPr>
        <p:spPr>
          <a:xfrm>
            <a:off x="566928" y="3255264"/>
            <a:ext cx="11018520" cy="658368"/>
          </a:xfrm>
          <a:prstGeom prst="rect">
            <a:avLst/>
          </a:prstGeom>
          <a:noFill/>
          <a:ln/>
        </p:spPr>
        <p:txBody>
          <a:bodyPr wrap="square" lIns="0" tIns="0" rIns="0" bIns="0" rtlCol="0" anchor="t"/>
          <a:lstStyle/>
          <a:p>
            <a:pPr indent="0" marL="0">
              <a:lnSpc>
                <a:spcPct val="115000"/>
              </a:lnSpc>
              <a:buNone/>
            </a:pPr>
            <a:r>
              <a:rPr lang="en-US" sz="1450" dirty="0">
                <a:solidFill>
                  <a:srgbClr val="FFFFFF"/>
                </a:solidFill>
                <a:latin typeface="Calibri" pitchFamily="34" charset="0"/>
                <a:ea typeface="Calibri" pitchFamily="34" charset="-122"/>
                <a:cs typeface="Calibri" pitchFamily="34" charset="-120"/>
              </a:rPr>
              <a:t>And the raw application text — and the drafted notice — never cross workflow state at all. Only opaque references do. The strict PII canary found zero leaks across Logs, X-Ray, DLQ and Step Functions history.</a:t>
            </a:r>
            <a:endParaRPr lang="en-US" sz="1450" dirty="0"/>
          </a:p>
        </p:txBody>
      </p:sp>
      <p:sp>
        <p:nvSpPr>
          <p:cNvPr id="11" name="Shape 9"/>
          <p:cNvSpPr/>
          <p:nvPr/>
        </p:nvSpPr>
        <p:spPr>
          <a:xfrm>
            <a:off x="566928" y="4078224"/>
            <a:ext cx="11018520" cy="1810512"/>
          </a:xfrm>
          <a:prstGeom prst="roundRect">
            <a:avLst>
              <a:gd name="adj" fmla="val 4545"/>
            </a:avLst>
          </a:prstGeom>
          <a:solidFill>
            <a:srgbClr val="2C3A4E"/>
          </a:solidFill>
          <a:ln w="12700">
            <a:solidFill>
              <a:srgbClr val="3B4C63"/>
            </a:solidFill>
            <a:prstDash val="solid"/>
          </a:ln>
        </p:spPr>
        <p:txBody>
          <a:bodyPr/>
          <a:p/>
        </p:txBody>
      </p:sp>
      <p:sp>
        <p:nvSpPr>
          <p:cNvPr id="12" name="Text 10"/>
          <p:cNvSpPr txBox="1"/>
          <p:nvPr/>
        </p:nvSpPr>
        <p:spPr>
          <a:xfrm>
            <a:off x="868680" y="4279392"/>
            <a:ext cx="10424160" cy="329184"/>
          </a:xfrm>
          <a:prstGeom prst="rect">
            <a:avLst/>
          </a:prstGeom>
          <a:noFill/>
          <a:ln/>
        </p:spPr>
        <p:txBody>
          <a:bodyPr wrap="square" lIns="0" tIns="0" rIns="0" bIns="0" rtlCol="0" anchor="ctr"/>
          <a:lstStyle/>
          <a:p>
            <a:pPr indent="0" marL="0">
              <a:buNone/>
            </a:pPr>
            <a:r>
              <a:rPr lang="en-US" sz="1500" b="1" dirty="0">
                <a:solidFill>
                  <a:srgbClr val="6BCB8F"/>
                </a:solidFill>
                <a:latin typeface="Cambria" pitchFamily="34" charset="0"/>
                <a:ea typeface="Cambria" pitchFamily="34" charset="-122"/>
                <a:cs typeface="Cambria" pitchFamily="34" charset="-120"/>
              </a:rPr>
              <a:t>Why this is also the answer to “what if someone bypasses the gateway?”</a:t>
            </a:r>
            <a:endParaRPr lang="en-US" sz="1500" dirty="0"/>
          </a:p>
        </p:txBody>
      </p:sp>
      <p:sp>
        <p:nvSpPr>
          <p:cNvPr id="13" name="Text 11"/>
          <p:cNvSpPr txBox="1"/>
          <p:nvPr/>
        </p:nvSpPr>
        <p:spPr>
          <a:xfrm>
            <a:off x="868680" y="4626864"/>
            <a:ext cx="10424160" cy="1170432"/>
          </a:xfrm>
          <a:prstGeom prst="rect">
            <a:avLst/>
          </a:prstGeom>
          <a:noFill/>
          <a:ln/>
        </p:spPr>
        <p:txBody>
          <a:bodyPr wrap="square" lIns="0" tIns="0" rIns="0" bIns="0" rtlCol="0" anchor="ctr"/>
          <a:lstStyle/>
          <a:p>
            <a:pPr indent="0" marL="0">
              <a:lnSpc>
                <a:spcPct val="115000"/>
              </a:lnSpc>
              <a:buNone/>
            </a:pPr>
            <a:r>
              <a:rPr lang="en-US" sz="1250" dirty="0">
                <a:solidFill>
                  <a:srgbClr val="BFD3E6"/>
                </a:solidFill>
                <a:latin typeface="Calibri" pitchFamily="34" charset="0"/>
                <a:ea typeface="Calibri" pitchFamily="34" charset="-122"/>
                <a:cs typeface="Calibri" pitchFamily="34" charset="-120"/>
              </a:rPr>
              <a:t>We tested a control (RT-4) that restricted the runtime to gateway-only invocation. It worked — and because the gateway sits downstream of the runtime in this topology, it left the agent with no permitted invoker and failed four gate checks. It is now opt-in and off by default, so R4-2 is OPEN and we say so. The bypass is mitigated where it actually bites: the four mask_before_* forbids refuse the consequential actions without the signature, whoever calls. RT-4 would have closed a path; these close the action.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1D6F42"/>
                </a:solidFill>
                <a:latin typeface="Calibri" pitchFamily="34" charset="0"/>
                <a:ea typeface="Calibri" pitchFamily="34" charset="-122"/>
                <a:cs typeface="Calibri" pitchFamily="34" charset="-120"/>
              </a:rPr>
              <a:t>WHAT IS PROVEN</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21 of 21, from zero, then torn down to nothing</a:t>
            </a:r>
            <a:endParaRPr lang="en-US" sz="3400" dirty="0"/>
          </a:p>
        </p:txBody>
      </p:sp>
      <p:sp>
        <p:nvSpPr>
          <p:cNvPr id="4" name="Shape 2"/>
          <p:cNvSpPr/>
          <p:nvPr/>
        </p:nvSpPr>
        <p:spPr>
          <a:xfrm>
            <a:off x="9893808" y="420624"/>
            <a:ext cx="1691640" cy="274320"/>
          </a:xfrm>
          <a:prstGeom prst="roundRect">
            <a:avLst>
              <a:gd name="adj" fmla="val 50000"/>
            </a:avLst>
          </a:prstGeom>
          <a:solidFill>
            <a:srgbClr val="1D6F42"/>
          </a:solidFill>
          <a:ln w="12700">
            <a:solidFill>
              <a:srgbClr val="1D6F42"/>
            </a:solidFill>
            <a:prstDash val="solid"/>
          </a:ln>
        </p:spPr>
        <p:txBody>
          <a:bodyPr/>
          <a:p/>
        </p:txBody>
      </p:sp>
      <p:sp>
        <p:nvSpPr>
          <p:cNvPr id="5" name="Text 3"/>
          <p:cNvSpPr txBox="1"/>
          <p:nvPr/>
        </p:nvSpPr>
        <p:spPr>
          <a:xfrm>
            <a:off x="9893808" y="420624"/>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PROVEN LIVE</a:t>
            </a:r>
            <a:endParaRPr lang="en-US" sz="1050" dirty="0"/>
          </a:p>
        </p:txBody>
      </p:sp>
      <p:sp>
        <p:nvSpPr>
          <p:cNvPr id="6" name="Shape 4"/>
          <p:cNvSpPr/>
          <p:nvPr/>
        </p:nvSpPr>
        <p:spPr>
          <a:xfrm>
            <a:off x="566928" y="1517904"/>
            <a:ext cx="5349240" cy="731520"/>
          </a:xfrm>
          <a:prstGeom prst="roundRect">
            <a:avLst>
              <a:gd name="adj" fmla="val 11250"/>
            </a:avLst>
          </a:prstGeom>
          <a:solidFill>
            <a:srgbClr val="E4F2EA"/>
          </a:solidFill>
          <a:ln w="12700">
            <a:solidFill>
              <a:srgbClr val="CBE5D6"/>
            </a:solidFill>
            <a:prstDash val="solid"/>
          </a:ln>
        </p:spPr>
        <p:txBody>
          <a:bodyPr/>
          <a:p/>
        </p:txBody>
      </p:sp>
      <p:sp>
        <p:nvSpPr>
          <p:cNvPr id="7" name="Shape 5"/>
          <p:cNvSpPr/>
          <p:nvPr/>
        </p:nvSpPr>
        <p:spPr>
          <a:xfrm>
            <a:off x="731520" y="1719072"/>
            <a:ext cx="329184" cy="329184"/>
          </a:xfrm>
          <a:prstGeom prst="ellipse">
            <a:avLst/>
          </a:prstGeom>
          <a:solidFill>
            <a:srgbClr val="1D6F42"/>
          </a:solidFill>
          <a:ln w="12700">
            <a:solidFill>
              <a:srgbClr val="1D6F42"/>
            </a:solidFill>
            <a:prstDash val="solid"/>
          </a:ln>
        </p:spPr>
        <p:txBody>
          <a:bodyPr/>
          <a:p/>
        </p:txBody>
      </p:sp>
      <p:sp>
        <p:nvSpPr>
          <p:cNvPr id="8" name="Text 6"/>
          <p:cNvSpPr txBox="1"/>
          <p:nvPr/>
        </p:nvSpPr>
        <p:spPr>
          <a:xfrm>
            <a:off x="731520" y="17190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170432" y="1572768"/>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Deploy from zero</a:t>
            </a:r>
            <a:endParaRPr lang="en-US" sz="1250" dirty="0"/>
          </a:p>
        </p:txBody>
      </p:sp>
      <p:sp>
        <p:nvSpPr>
          <p:cNvPr id="10" name="Text 8"/>
          <p:cNvSpPr txBox="1"/>
          <p:nvPr/>
        </p:nvSpPr>
        <p:spPr>
          <a:xfrm>
            <a:off x="3438144" y="1572768"/>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rc=0 in 722s · nine stacks</a:t>
            </a:r>
            <a:endParaRPr lang="en-US" sz="1100" dirty="0"/>
          </a:p>
        </p:txBody>
      </p:sp>
      <p:sp>
        <p:nvSpPr>
          <p:cNvPr id="11" name="Shape 9"/>
          <p:cNvSpPr/>
          <p:nvPr/>
        </p:nvSpPr>
        <p:spPr>
          <a:xfrm>
            <a:off x="6190488" y="1517904"/>
            <a:ext cx="5349240" cy="731520"/>
          </a:xfrm>
          <a:prstGeom prst="roundRect">
            <a:avLst>
              <a:gd name="adj" fmla="val 11250"/>
            </a:avLst>
          </a:prstGeom>
          <a:solidFill>
            <a:srgbClr val="E4F2EA"/>
          </a:solidFill>
          <a:ln w="12700">
            <a:solidFill>
              <a:srgbClr val="CBE5D6"/>
            </a:solidFill>
            <a:prstDash val="solid"/>
          </a:ln>
        </p:spPr>
        <p:txBody>
          <a:bodyPr/>
          <a:p/>
        </p:txBody>
      </p:sp>
      <p:sp>
        <p:nvSpPr>
          <p:cNvPr id="12" name="Shape 10"/>
          <p:cNvSpPr/>
          <p:nvPr/>
        </p:nvSpPr>
        <p:spPr>
          <a:xfrm>
            <a:off x="6355080" y="1719072"/>
            <a:ext cx="329184" cy="329184"/>
          </a:xfrm>
          <a:prstGeom prst="ellipse">
            <a:avLst/>
          </a:prstGeom>
          <a:solidFill>
            <a:srgbClr val="1D6F42"/>
          </a:solidFill>
          <a:ln w="12700">
            <a:solidFill>
              <a:srgbClr val="1D6F42"/>
            </a:solidFill>
            <a:prstDash val="solid"/>
          </a:ln>
        </p:spPr>
        <p:txBody>
          <a:bodyPr/>
          <a:p/>
        </p:txBody>
      </p:sp>
      <p:sp>
        <p:nvSpPr>
          <p:cNvPr id="13" name="Text 11"/>
          <p:cNvSpPr txBox="1"/>
          <p:nvPr/>
        </p:nvSpPr>
        <p:spPr>
          <a:xfrm>
            <a:off x="6355080" y="17190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6793992" y="1572768"/>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Cedar ENFORCE</a:t>
            </a:r>
            <a:endParaRPr lang="en-US" sz="1250" dirty="0"/>
          </a:p>
        </p:txBody>
      </p:sp>
      <p:sp>
        <p:nvSpPr>
          <p:cNvPr id="15" name="Text 13"/>
          <p:cNvSpPr txBox="1"/>
          <p:nvPr/>
        </p:nvSpPr>
        <p:spPr>
          <a:xfrm>
            <a:off x="9061704" y="1572768"/>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13 policies ACTIVE, twice</a:t>
            </a:r>
            <a:endParaRPr lang="en-US" sz="1100" dirty="0"/>
          </a:p>
        </p:txBody>
      </p:sp>
      <p:sp>
        <p:nvSpPr>
          <p:cNvPr id="16" name="Shape 14"/>
          <p:cNvSpPr/>
          <p:nvPr/>
        </p:nvSpPr>
        <p:spPr>
          <a:xfrm>
            <a:off x="566928" y="2377440"/>
            <a:ext cx="5349240" cy="731520"/>
          </a:xfrm>
          <a:prstGeom prst="roundRect">
            <a:avLst>
              <a:gd name="adj" fmla="val 11250"/>
            </a:avLst>
          </a:prstGeom>
          <a:solidFill>
            <a:srgbClr val="E4F2EA"/>
          </a:solidFill>
          <a:ln w="12700">
            <a:solidFill>
              <a:srgbClr val="CBE5D6"/>
            </a:solidFill>
            <a:prstDash val="solid"/>
          </a:ln>
        </p:spPr>
        <p:txBody>
          <a:bodyPr/>
          <a:p/>
        </p:txBody>
      </p:sp>
      <p:sp>
        <p:nvSpPr>
          <p:cNvPr id="17" name="Shape 15"/>
          <p:cNvSpPr/>
          <p:nvPr/>
        </p:nvSpPr>
        <p:spPr>
          <a:xfrm>
            <a:off x="731520" y="2578608"/>
            <a:ext cx="329184" cy="329184"/>
          </a:xfrm>
          <a:prstGeom prst="ellipse">
            <a:avLst/>
          </a:prstGeom>
          <a:solidFill>
            <a:srgbClr val="1D6F42"/>
          </a:solidFill>
          <a:ln w="12700">
            <a:solidFill>
              <a:srgbClr val="1D6F42"/>
            </a:solidFill>
            <a:prstDash val="solid"/>
          </a:ln>
        </p:spPr>
        <p:txBody>
          <a:bodyPr/>
          <a:p/>
        </p:txBody>
      </p:sp>
      <p:sp>
        <p:nvSpPr>
          <p:cNvPr id="18" name="Text 16"/>
          <p:cNvSpPr txBox="1"/>
          <p:nvPr/>
        </p:nvSpPr>
        <p:spPr>
          <a:xfrm>
            <a:off x="731520" y="2578608"/>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Text 17"/>
          <p:cNvSpPr txBox="1"/>
          <p:nvPr/>
        </p:nvSpPr>
        <p:spPr>
          <a:xfrm>
            <a:off x="1170432" y="2432304"/>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Guardrail on every call</a:t>
            </a:r>
            <a:endParaRPr lang="en-US" sz="1250" dirty="0"/>
          </a:p>
        </p:txBody>
      </p:sp>
      <p:sp>
        <p:nvSpPr>
          <p:cNvPr id="20" name="Text 18"/>
          <p:cNvSpPr txBox="1"/>
          <p:nvPr/>
        </p:nvSpPr>
        <p:spPr>
          <a:xfrm>
            <a:off x="3438144" y="2432304"/>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runtime_rows=20 · assessed=20</a:t>
            </a:r>
            <a:endParaRPr lang="en-US" sz="1100" dirty="0"/>
          </a:p>
        </p:txBody>
      </p:sp>
      <p:sp>
        <p:nvSpPr>
          <p:cNvPr id="21" name="Shape 19"/>
          <p:cNvSpPr/>
          <p:nvPr/>
        </p:nvSpPr>
        <p:spPr>
          <a:xfrm>
            <a:off x="6190488" y="2377440"/>
            <a:ext cx="5349240" cy="731520"/>
          </a:xfrm>
          <a:prstGeom prst="roundRect">
            <a:avLst>
              <a:gd name="adj" fmla="val 11250"/>
            </a:avLst>
          </a:prstGeom>
          <a:solidFill>
            <a:srgbClr val="E4F2EA"/>
          </a:solidFill>
          <a:ln w="12700">
            <a:solidFill>
              <a:srgbClr val="CBE5D6"/>
            </a:solidFill>
            <a:prstDash val="solid"/>
          </a:ln>
        </p:spPr>
        <p:txBody>
          <a:bodyPr/>
          <a:p/>
        </p:txBody>
      </p:sp>
      <p:sp>
        <p:nvSpPr>
          <p:cNvPr id="22" name="Shape 20"/>
          <p:cNvSpPr/>
          <p:nvPr/>
        </p:nvSpPr>
        <p:spPr>
          <a:xfrm>
            <a:off x="6355080" y="2578608"/>
            <a:ext cx="329184" cy="329184"/>
          </a:xfrm>
          <a:prstGeom prst="ellipse">
            <a:avLst/>
          </a:prstGeom>
          <a:solidFill>
            <a:srgbClr val="1D6F42"/>
          </a:solidFill>
          <a:ln w="12700">
            <a:solidFill>
              <a:srgbClr val="1D6F42"/>
            </a:solidFill>
            <a:prstDash val="solid"/>
          </a:ln>
        </p:spPr>
        <p:txBody>
          <a:bodyPr/>
          <a:p/>
        </p:txBody>
      </p:sp>
      <p:sp>
        <p:nvSpPr>
          <p:cNvPr id="23" name="Text 21"/>
          <p:cNvSpPr txBox="1"/>
          <p:nvPr/>
        </p:nvSpPr>
        <p:spPr>
          <a:xfrm>
            <a:off x="6355080" y="2578608"/>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Text 22"/>
          <p:cNvSpPr txBox="1"/>
          <p:nvPr/>
        </p:nvSpPr>
        <p:spPr>
          <a:xfrm>
            <a:off x="6793992" y="2432304"/>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Multi-tenant isolation</a:t>
            </a:r>
            <a:endParaRPr lang="en-US" sz="1250" dirty="0"/>
          </a:p>
        </p:txBody>
      </p:sp>
      <p:sp>
        <p:nvSpPr>
          <p:cNvPr id="25" name="Text 23"/>
          <p:cNvSpPr txBox="1"/>
          <p:nvPr/>
        </p:nvSpPr>
        <p:spPr>
          <a:xfrm>
            <a:off x="9061704" y="2432304"/>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audit routing 12/12 · transparency 13/13 per tenant</a:t>
            </a:r>
            <a:endParaRPr lang="en-US" sz="1100" dirty="0"/>
          </a:p>
        </p:txBody>
      </p:sp>
      <p:sp>
        <p:nvSpPr>
          <p:cNvPr id="26" name="Shape 24"/>
          <p:cNvSpPr/>
          <p:nvPr/>
        </p:nvSpPr>
        <p:spPr>
          <a:xfrm>
            <a:off x="566928" y="3236976"/>
            <a:ext cx="5349240" cy="731520"/>
          </a:xfrm>
          <a:prstGeom prst="roundRect">
            <a:avLst>
              <a:gd name="adj" fmla="val 11250"/>
            </a:avLst>
          </a:prstGeom>
          <a:solidFill>
            <a:srgbClr val="E4F2EA"/>
          </a:solidFill>
          <a:ln w="12700">
            <a:solidFill>
              <a:srgbClr val="CBE5D6"/>
            </a:solidFill>
            <a:prstDash val="solid"/>
          </a:ln>
        </p:spPr>
        <p:txBody>
          <a:bodyPr/>
          <a:p/>
        </p:txBody>
      </p:sp>
      <p:sp>
        <p:nvSpPr>
          <p:cNvPr id="27" name="Shape 25"/>
          <p:cNvSpPr/>
          <p:nvPr/>
        </p:nvSpPr>
        <p:spPr>
          <a:xfrm>
            <a:off x="731520" y="3438144"/>
            <a:ext cx="329184" cy="329184"/>
          </a:xfrm>
          <a:prstGeom prst="ellipse">
            <a:avLst/>
          </a:prstGeom>
          <a:solidFill>
            <a:srgbClr val="1D6F42"/>
          </a:solidFill>
          <a:ln w="12700">
            <a:solidFill>
              <a:srgbClr val="1D6F42"/>
            </a:solidFill>
            <a:prstDash val="solid"/>
          </a:ln>
        </p:spPr>
        <p:txBody>
          <a:bodyPr/>
          <a:p/>
        </p:txBody>
      </p:sp>
      <p:sp>
        <p:nvSpPr>
          <p:cNvPr id="28" name="Text 26"/>
          <p:cNvSpPr txBox="1"/>
          <p:nvPr/>
        </p:nvSpPr>
        <p:spPr>
          <a:xfrm>
            <a:off x="731520" y="343814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txBox="1"/>
          <p:nvPr/>
        </p:nvSpPr>
        <p:spPr>
          <a:xfrm>
            <a:off x="1170432" y="3291840"/>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Kill switch</a:t>
            </a:r>
            <a:endParaRPr lang="en-US" sz="1250" dirty="0"/>
          </a:p>
        </p:txBody>
      </p:sp>
      <p:sp>
        <p:nvSpPr>
          <p:cNvPr id="30" name="Text 28"/>
          <p:cNvSpPr txBox="1"/>
          <p:nvPr/>
        </p:nvSpPr>
        <p:spPr>
          <a:xfrm>
            <a:off x="3438144" y="3291840"/>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engaged, blocked, disengaged · 105s</a:t>
            </a:r>
            <a:endParaRPr lang="en-US" sz="1100" dirty="0"/>
          </a:p>
        </p:txBody>
      </p:sp>
      <p:sp>
        <p:nvSpPr>
          <p:cNvPr id="31" name="Shape 29"/>
          <p:cNvSpPr/>
          <p:nvPr/>
        </p:nvSpPr>
        <p:spPr>
          <a:xfrm>
            <a:off x="6190488" y="3236976"/>
            <a:ext cx="5349240" cy="731520"/>
          </a:xfrm>
          <a:prstGeom prst="roundRect">
            <a:avLst>
              <a:gd name="adj" fmla="val 11250"/>
            </a:avLst>
          </a:prstGeom>
          <a:solidFill>
            <a:srgbClr val="E4F2EA"/>
          </a:solidFill>
          <a:ln w="12700">
            <a:solidFill>
              <a:srgbClr val="CBE5D6"/>
            </a:solidFill>
            <a:prstDash val="solid"/>
          </a:ln>
        </p:spPr>
        <p:txBody>
          <a:bodyPr/>
          <a:p/>
        </p:txBody>
      </p:sp>
      <p:sp>
        <p:nvSpPr>
          <p:cNvPr id="32" name="Shape 30"/>
          <p:cNvSpPr/>
          <p:nvPr/>
        </p:nvSpPr>
        <p:spPr>
          <a:xfrm>
            <a:off x="6355080" y="3438144"/>
            <a:ext cx="329184" cy="329184"/>
          </a:xfrm>
          <a:prstGeom prst="ellipse">
            <a:avLst/>
          </a:prstGeom>
          <a:solidFill>
            <a:srgbClr val="1D6F42"/>
          </a:solidFill>
          <a:ln w="12700">
            <a:solidFill>
              <a:srgbClr val="1D6F42"/>
            </a:solidFill>
            <a:prstDash val="solid"/>
          </a:ln>
        </p:spPr>
        <p:txBody>
          <a:bodyPr/>
          <a:p/>
        </p:txBody>
      </p:sp>
      <p:sp>
        <p:nvSpPr>
          <p:cNvPr id="33" name="Text 31"/>
          <p:cNvSpPr txBox="1"/>
          <p:nvPr/>
        </p:nvSpPr>
        <p:spPr>
          <a:xfrm>
            <a:off x="6355080" y="343814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4" name="Text 32"/>
          <p:cNvSpPr txBox="1"/>
          <p:nvPr/>
        </p:nvSpPr>
        <p:spPr>
          <a:xfrm>
            <a:off x="6793992" y="3291840"/>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Per-tenant budget</a:t>
            </a:r>
            <a:endParaRPr lang="en-US" sz="1250" dirty="0"/>
          </a:p>
        </p:txBody>
      </p:sp>
      <p:sp>
        <p:nvSpPr>
          <p:cNvPr id="35" name="Text 33"/>
          <p:cNvSpPr txBox="1"/>
          <p:nvPr/>
        </p:nvSpPr>
        <p:spPr>
          <a:xfrm>
            <a:off x="9061704" y="3291840"/>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refused before the spend · 373s</a:t>
            </a:r>
            <a:endParaRPr lang="en-US" sz="1100" dirty="0"/>
          </a:p>
        </p:txBody>
      </p:sp>
      <p:sp>
        <p:nvSpPr>
          <p:cNvPr id="36" name="Shape 34"/>
          <p:cNvSpPr/>
          <p:nvPr/>
        </p:nvSpPr>
        <p:spPr>
          <a:xfrm>
            <a:off x="566928" y="4096512"/>
            <a:ext cx="5349240" cy="731520"/>
          </a:xfrm>
          <a:prstGeom prst="roundRect">
            <a:avLst>
              <a:gd name="adj" fmla="val 11250"/>
            </a:avLst>
          </a:prstGeom>
          <a:solidFill>
            <a:srgbClr val="E4F2EA"/>
          </a:solidFill>
          <a:ln w="12700">
            <a:solidFill>
              <a:srgbClr val="CBE5D6"/>
            </a:solidFill>
            <a:prstDash val="solid"/>
          </a:ln>
        </p:spPr>
        <p:txBody>
          <a:bodyPr/>
          <a:p/>
        </p:txBody>
      </p:sp>
      <p:sp>
        <p:nvSpPr>
          <p:cNvPr id="37" name="Shape 35"/>
          <p:cNvSpPr/>
          <p:nvPr/>
        </p:nvSpPr>
        <p:spPr>
          <a:xfrm>
            <a:off x="731520" y="4297680"/>
            <a:ext cx="329184" cy="329184"/>
          </a:xfrm>
          <a:prstGeom prst="ellipse">
            <a:avLst/>
          </a:prstGeom>
          <a:solidFill>
            <a:srgbClr val="1D6F42"/>
          </a:solidFill>
          <a:ln w="12700">
            <a:solidFill>
              <a:srgbClr val="1D6F42"/>
            </a:solidFill>
            <a:prstDash val="solid"/>
          </a:ln>
        </p:spPr>
        <p:txBody>
          <a:bodyPr/>
          <a:p/>
        </p:txBody>
      </p:sp>
      <p:sp>
        <p:nvSpPr>
          <p:cNvPr id="38" name="Text 36"/>
          <p:cNvSpPr txBox="1"/>
          <p:nvPr/>
        </p:nvSpPr>
        <p:spPr>
          <a:xfrm>
            <a:off x="731520" y="42976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9" name="Text 37"/>
          <p:cNvSpPr txBox="1"/>
          <p:nvPr/>
        </p:nvSpPr>
        <p:spPr>
          <a:xfrm>
            <a:off x="1170432" y="4151376"/>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Unified lineage</a:t>
            </a:r>
            <a:endParaRPr lang="en-US" sz="1250" dirty="0"/>
          </a:p>
        </p:txBody>
      </p:sp>
      <p:sp>
        <p:nvSpPr>
          <p:cNvPr id="40" name="Text 38"/>
          <p:cNvSpPr txBox="1"/>
          <p:nvPr/>
        </p:nvSpPr>
        <p:spPr>
          <a:xfrm>
            <a:off x="3438144" y="4151376"/>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orphans=0 · 11 invokes / 11 rows</a:t>
            </a:r>
            <a:endParaRPr lang="en-US" sz="1100" dirty="0"/>
          </a:p>
        </p:txBody>
      </p:sp>
      <p:sp>
        <p:nvSpPr>
          <p:cNvPr id="41" name="Shape 39"/>
          <p:cNvSpPr/>
          <p:nvPr/>
        </p:nvSpPr>
        <p:spPr>
          <a:xfrm>
            <a:off x="6190488" y="4096512"/>
            <a:ext cx="5349240" cy="731520"/>
          </a:xfrm>
          <a:prstGeom prst="roundRect">
            <a:avLst>
              <a:gd name="adj" fmla="val 11250"/>
            </a:avLst>
          </a:prstGeom>
          <a:solidFill>
            <a:srgbClr val="E4F2EA"/>
          </a:solidFill>
          <a:ln w="12700">
            <a:solidFill>
              <a:srgbClr val="CBE5D6"/>
            </a:solidFill>
            <a:prstDash val="solid"/>
          </a:ln>
        </p:spPr>
        <p:txBody>
          <a:bodyPr/>
          <a:p/>
        </p:txBody>
      </p:sp>
      <p:sp>
        <p:nvSpPr>
          <p:cNvPr id="42" name="Shape 40"/>
          <p:cNvSpPr/>
          <p:nvPr/>
        </p:nvSpPr>
        <p:spPr>
          <a:xfrm>
            <a:off x="6355080" y="4297680"/>
            <a:ext cx="329184" cy="329184"/>
          </a:xfrm>
          <a:prstGeom prst="ellipse">
            <a:avLst/>
          </a:prstGeom>
          <a:solidFill>
            <a:srgbClr val="1D6F42"/>
          </a:solidFill>
          <a:ln w="12700">
            <a:solidFill>
              <a:srgbClr val="1D6F42"/>
            </a:solidFill>
            <a:prstDash val="solid"/>
          </a:ln>
        </p:spPr>
        <p:txBody>
          <a:bodyPr/>
          <a:p/>
        </p:txBody>
      </p:sp>
      <p:sp>
        <p:nvSpPr>
          <p:cNvPr id="43" name="Text 41"/>
          <p:cNvSpPr txBox="1"/>
          <p:nvPr/>
        </p:nvSpPr>
        <p:spPr>
          <a:xfrm>
            <a:off x="6355080" y="42976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4" name="Text 42"/>
          <p:cNvSpPr txBox="1"/>
          <p:nvPr/>
        </p:nvSpPr>
        <p:spPr>
          <a:xfrm>
            <a:off x="6793992" y="4151376"/>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Full case driven</a:t>
            </a:r>
            <a:endParaRPr lang="en-US" sz="1250" dirty="0"/>
          </a:p>
        </p:txBody>
      </p:sp>
      <p:sp>
        <p:nvSpPr>
          <p:cNvPr id="45" name="Text 43"/>
          <p:cNvSpPr txBox="1"/>
          <p:nvPr/>
        </p:nvSpPr>
        <p:spPr>
          <a:xfrm>
            <a:off x="9061704" y="4151376"/>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LIN-0E6D3D through all ten states</a:t>
            </a:r>
            <a:endParaRPr lang="en-US" sz="1100" dirty="0"/>
          </a:p>
        </p:txBody>
      </p:sp>
      <p:sp>
        <p:nvSpPr>
          <p:cNvPr id="46" name="Shape 44"/>
          <p:cNvSpPr/>
          <p:nvPr/>
        </p:nvSpPr>
        <p:spPr>
          <a:xfrm>
            <a:off x="566928" y="4956048"/>
            <a:ext cx="5349240" cy="731520"/>
          </a:xfrm>
          <a:prstGeom prst="roundRect">
            <a:avLst>
              <a:gd name="adj" fmla="val 11250"/>
            </a:avLst>
          </a:prstGeom>
          <a:solidFill>
            <a:srgbClr val="E4F2EA"/>
          </a:solidFill>
          <a:ln w="12700">
            <a:solidFill>
              <a:srgbClr val="CBE5D6"/>
            </a:solidFill>
            <a:prstDash val="solid"/>
          </a:ln>
        </p:spPr>
        <p:txBody>
          <a:bodyPr/>
          <a:p/>
        </p:txBody>
      </p:sp>
      <p:sp>
        <p:nvSpPr>
          <p:cNvPr id="47" name="Shape 45"/>
          <p:cNvSpPr/>
          <p:nvPr/>
        </p:nvSpPr>
        <p:spPr>
          <a:xfrm>
            <a:off x="731520" y="5157216"/>
            <a:ext cx="329184" cy="329184"/>
          </a:xfrm>
          <a:prstGeom prst="ellipse">
            <a:avLst/>
          </a:prstGeom>
          <a:solidFill>
            <a:srgbClr val="1D6F42"/>
          </a:solidFill>
          <a:ln w="12700">
            <a:solidFill>
              <a:srgbClr val="1D6F42"/>
            </a:solidFill>
            <a:prstDash val="solid"/>
          </a:ln>
        </p:spPr>
        <p:txBody>
          <a:bodyPr/>
          <a:p/>
        </p:txBody>
      </p:sp>
      <p:sp>
        <p:nvSpPr>
          <p:cNvPr id="48" name="Text 46"/>
          <p:cNvSpPr txBox="1"/>
          <p:nvPr/>
        </p:nvSpPr>
        <p:spPr>
          <a:xfrm>
            <a:off x="731520" y="515721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9" name="Text 47"/>
          <p:cNvSpPr txBox="1"/>
          <p:nvPr/>
        </p:nvSpPr>
        <p:spPr>
          <a:xfrm>
            <a:off x="1170432" y="5010912"/>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Policy provenance</a:t>
            </a:r>
            <a:endParaRPr lang="en-US" sz="1250" dirty="0"/>
          </a:p>
        </p:txBody>
      </p:sp>
      <p:sp>
        <p:nvSpPr>
          <p:cNvPr id="50" name="Text 48"/>
          <p:cNvSpPr txBox="1"/>
          <p:nvPr/>
        </p:nvSpPr>
        <p:spPr>
          <a:xfrm>
            <a:off x="3438144" y="5010912"/>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policy_version in a live ledger row</a:t>
            </a:r>
            <a:endParaRPr lang="en-US" sz="1100" dirty="0"/>
          </a:p>
        </p:txBody>
      </p:sp>
      <p:sp>
        <p:nvSpPr>
          <p:cNvPr id="51" name="Shape 49"/>
          <p:cNvSpPr/>
          <p:nvPr/>
        </p:nvSpPr>
        <p:spPr>
          <a:xfrm>
            <a:off x="6190488" y="4956048"/>
            <a:ext cx="5349240" cy="731520"/>
          </a:xfrm>
          <a:prstGeom prst="roundRect">
            <a:avLst>
              <a:gd name="adj" fmla="val 11250"/>
            </a:avLst>
          </a:prstGeom>
          <a:solidFill>
            <a:srgbClr val="E4F2EA"/>
          </a:solidFill>
          <a:ln w="12700">
            <a:solidFill>
              <a:srgbClr val="CBE5D6"/>
            </a:solidFill>
            <a:prstDash val="solid"/>
          </a:ln>
        </p:spPr>
        <p:txBody>
          <a:bodyPr/>
          <a:p/>
        </p:txBody>
      </p:sp>
      <p:sp>
        <p:nvSpPr>
          <p:cNvPr id="52" name="Shape 50"/>
          <p:cNvSpPr/>
          <p:nvPr/>
        </p:nvSpPr>
        <p:spPr>
          <a:xfrm>
            <a:off x="6355080" y="5157216"/>
            <a:ext cx="329184" cy="329184"/>
          </a:xfrm>
          <a:prstGeom prst="ellipse">
            <a:avLst/>
          </a:prstGeom>
          <a:solidFill>
            <a:srgbClr val="1D6F42"/>
          </a:solidFill>
          <a:ln w="12700">
            <a:solidFill>
              <a:srgbClr val="1D6F42"/>
            </a:solidFill>
            <a:prstDash val="solid"/>
          </a:ln>
        </p:spPr>
        <p:txBody>
          <a:bodyPr/>
          <a:p/>
        </p:txBody>
      </p:sp>
      <p:sp>
        <p:nvSpPr>
          <p:cNvPr id="53" name="Text 51"/>
          <p:cNvSpPr txBox="1"/>
          <p:nvPr/>
        </p:nvSpPr>
        <p:spPr>
          <a:xfrm>
            <a:off x="6355080" y="515721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4" name="Text 52"/>
          <p:cNvSpPr txBox="1"/>
          <p:nvPr/>
        </p:nvSpPr>
        <p:spPr>
          <a:xfrm>
            <a:off x="6793992" y="5010912"/>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Teardown</a:t>
            </a:r>
            <a:endParaRPr lang="en-US" sz="1250" dirty="0"/>
          </a:p>
        </p:txBody>
      </p:sp>
      <p:sp>
        <p:nvSpPr>
          <p:cNvPr id="55" name="Text 53"/>
          <p:cNvSpPr txBox="1"/>
          <p:nvPr/>
        </p:nvSpPr>
        <p:spPr>
          <a:xfrm>
            <a:off x="9061704" y="5010912"/>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stack, AgentCore AND connector residue</a:t>
            </a:r>
            <a:endParaRPr lang="en-US" sz="1100" dirty="0"/>
          </a:p>
        </p:txBody>
      </p:sp>
      <p:sp>
        <p:nvSpPr>
          <p:cNvPr id="56" name="Text 54"/>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5F7080"/>
                </a:solidFill>
                <a:latin typeface="Calibri" pitchFamily="34" charset="0"/>
                <a:ea typeface="Calibri" pitchFamily="34" charset="-122"/>
                <a:cs typeface="Calibri" pitchFamily="34" charset="-120"/>
              </a:rPr>
              <a:t>Scope of that claim, exactly: one pack, one AWS account, one region, two tenants, synthetic data. Run ben-fpg, 10 September 2026. Evidence: evidence/FULL-PORTFOLIO-GATE-benefits_runtime_agent.json</a:t>
            </a:r>
            <a:endParaRPr lang="en-US" sz="10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B3261E"/>
                </a:solidFill>
                <a:latin typeface="Calibri" pitchFamily="34" charset="0"/>
                <a:ea typeface="Calibri" pitchFamily="34" charset="-122"/>
                <a:cs typeface="Calibri" pitchFamily="34" charset="-120"/>
              </a:rPr>
              <a:t>THE ONE THING THAT CHANGED SINCE 9 SEPTEMBER</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A governed tool now reaches a real OAuth2 system of record. It is ours.</a:t>
            </a:r>
            <a:endParaRPr lang="en-US" sz="3400" dirty="0"/>
          </a:p>
        </p:txBody>
      </p:sp>
      <p:sp>
        <p:nvSpPr>
          <p:cNvPr id="4" name="Shape 2"/>
          <p:cNvSpPr/>
          <p:nvPr/>
        </p:nvSpPr>
        <p:spPr>
          <a:xfrm>
            <a:off x="566928" y="1609344"/>
            <a:ext cx="5349240" cy="2340864"/>
          </a:xfrm>
          <a:prstGeom prst="roundRect">
            <a:avLst>
              <a:gd name="adj" fmla="val 3516"/>
            </a:avLst>
          </a:prstGeom>
          <a:solidFill>
            <a:srgbClr val="E4F2EA"/>
          </a:solidFill>
          <a:ln w="12700">
            <a:solidFill>
              <a:srgbClr val="BFE0CE"/>
            </a:solidFill>
            <a:prstDash val="solid"/>
          </a:ln>
        </p:spPr>
        <p:txBody>
          <a:bodyPr/>
          <a:p/>
        </p:txBody>
      </p:sp>
      <p:sp>
        <p:nvSpPr>
          <p:cNvPr id="5" name="Text 3"/>
          <p:cNvSpPr txBox="1"/>
          <p:nvPr/>
        </p:nvSpPr>
        <p:spPr>
          <a:xfrm>
            <a:off x="868680" y="1773936"/>
            <a:ext cx="4754880" cy="329184"/>
          </a:xfrm>
          <a:prstGeom prst="rect">
            <a:avLst/>
          </a:prstGeom>
          <a:noFill/>
          <a:ln/>
        </p:spPr>
        <p:txBody>
          <a:bodyPr wrap="square" lIns="0" tIns="0" rIns="0" bIns="0" rtlCol="0" anchor="ctr"/>
          <a:lstStyle/>
          <a:p>
            <a:pPr indent="0" marL="0">
              <a:buNone/>
            </a:pPr>
            <a:r>
              <a:rPr lang="en-US" sz="1700" b="1" dirty="0">
                <a:solidFill>
                  <a:srgbClr val="1D6F42"/>
                </a:solidFill>
                <a:latin typeface="Cambria" pitchFamily="34" charset="0"/>
                <a:ea typeface="Cambria" pitchFamily="34" charset="-122"/>
                <a:cs typeface="Cambria" pitchFamily="34" charset="-120"/>
              </a:rPr>
              <a:t>What is now proven</a:t>
            </a:r>
            <a:endParaRPr lang="en-US" sz="1700" dirty="0"/>
          </a:p>
        </p:txBody>
      </p:sp>
      <p:sp>
        <p:nvSpPr>
          <p:cNvPr id="6" name="Text 4"/>
          <p:cNvSpPr txBox="1"/>
          <p:nvPr/>
        </p:nvSpPr>
        <p:spPr>
          <a:xfrm>
            <a:off x="868680" y="2194560"/>
            <a:ext cx="4754880" cy="1627632"/>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verify_source is a Gateway target and holds NO client secret</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The outbound token is minted by the AgentCore Identity vault (M2M)</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The system of record verifies RS256 against the issuer's live JWKS</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Cedar denied an outsider — naming a specific policy, not refusing everyone</a:t>
            </a:r>
            <a:endParaRPr lang="en-US" sz="1200" dirty="0"/>
          </a:p>
        </p:txBody>
      </p:sp>
      <p:sp>
        <p:nvSpPr>
          <p:cNvPr id="7" name="Shape 5"/>
          <p:cNvSpPr/>
          <p:nvPr/>
        </p:nvSpPr>
        <p:spPr>
          <a:xfrm>
            <a:off x="6236208" y="1609344"/>
            <a:ext cx="5349240" cy="2340864"/>
          </a:xfrm>
          <a:prstGeom prst="roundRect">
            <a:avLst>
              <a:gd name="adj" fmla="val 3516"/>
            </a:avLst>
          </a:prstGeom>
          <a:solidFill>
            <a:srgbClr val="FBE9E7"/>
          </a:solidFill>
          <a:ln w="12700">
            <a:solidFill>
              <a:srgbClr val="F0C4C0"/>
            </a:solidFill>
            <a:prstDash val="solid"/>
          </a:ln>
        </p:spPr>
        <p:txBody>
          <a:bodyPr/>
          <a:p/>
        </p:txBody>
      </p:sp>
      <p:sp>
        <p:nvSpPr>
          <p:cNvPr id="8" name="Text 6"/>
          <p:cNvSpPr txBox="1"/>
          <p:nvPr/>
        </p:nvSpPr>
        <p:spPr>
          <a:xfrm>
            <a:off x="6537960" y="1773936"/>
            <a:ext cx="4754880" cy="329184"/>
          </a:xfrm>
          <a:prstGeom prst="rect">
            <a:avLst/>
          </a:prstGeom>
          <a:noFill/>
          <a:ln/>
        </p:spPr>
        <p:txBody>
          <a:bodyPr wrap="square" lIns="0" tIns="0" rIns="0" bIns="0" rtlCol="0" anchor="ctr"/>
          <a:lstStyle/>
          <a:p>
            <a:pPr indent="0" marL="0">
              <a:buNone/>
            </a:pPr>
            <a:r>
              <a:rPr lang="en-US" sz="1700" b="1" dirty="0">
                <a:solidFill>
                  <a:srgbClr val="B3261E"/>
                </a:solidFill>
                <a:latin typeface="Cambria" pitchFamily="34" charset="0"/>
                <a:ea typeface="Cambria" pitchFamily="34" charset="-122"/>
                <a:cs typeface="Cambria" pitchFamily="34" charset="-120"/>
              </a:rPr>
              <a:t>What it still is not</a:t>
            </a:r>
            <a:endParaRPr lang="en-US" sz="1700" dirty="0"/>
          </a:p>
        </p:txBody>
      </p:sp>
      <p:sp>
        <p:nvSpPr>
          <p:cNvPr id="9" name="Text 7"/>
          <p:cNvSpPr txBox="1"/>
          <p:nvPr/>
        </p:nvSpPr>
        <p:spPr>
          <a:xfrm>
            <a:off x="6537960" y="2194560"/>
            <a:ext cx="4754880" cy="1627632"/>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The system of record is REAL — and it is OURS. Not a customer's.</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connect_system_of_record remains stubbed in the manifest, on purpose</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No customer IdP, network boundary, token lifetime or change control</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Six from-zero live runs to get this far: treat it as engineering work</a:t>
            </a:r>
            <a:endParaRPr lang="en-US" sz="1200" dirty="0"/>
          </a:p>
        </p:txBody>
      </p:sp>
      <p:sp>
        <p:nvSpPr>
          <p:cNvPr id="10" name="Text 8"/>
          <p:cNvSpPr txBox="1"/>
          <p:nvPr/>
        </p:nvSpPr>
        <p:spPr>
          <a:xfrm>
            <a:off x="566928" y="4169664"/>
            <a:ext cx="11018520" cy="749808"/>
          </a:xfrm>
          <a:prstGeom prst="rect">
            <a:avLst/>
          </a:prstGeom>
          <a:noFill/>
          <a:ln/>
        </p:spPr>
        <p:txBody>
          <a:bodyPr wrap="square" lIns="0" tIns="0" rIns="0" bIns="0" rtlCol="0" anchor="t"/>
          <a:lstStyle/>
          <a:p>
            <a:pPr indent="0" marL="0">
              <a:lnSpc>
                <a:spcPct val="115000"/>
              </a:lnSpc>
              <a:buNone/>
            </a:pPr>
            <a:r>
              <a:rPr lang="en-US" sz="1400" b="1" dirty="0">
                <a:solidFill>
                  <a:srgbClr val="2C3A4E"/>
                </a:solidFill>
                <a:latin typeface="Calibri" pitchFamily="34" charset="0"/>
                <a:ea typeface="Calibri" pitchFamily="34" charset="-122"/>
                <a:cs typeface="Calibri" pitchFamily="34" charset="-120"/>
              </a:rPr>
              <a:t>Why this slide is here. </a:t>
            </a:r>
            <a:pPr indent="0" marL="0">
              <a:lnSpc>
                <a:spcPct val="115000"/>
              </a:lnSpc>
              <a:buNone/>
            </a:pPr>
            <a:r>
              <a:rPr lang="en-US" sz="1400" dirty="0">
                <a:solidFill>
                  <a:srgbClr val="2C3A4E"/>
                </a:solidFill>
                <a:latin typeface="Calibri" pitchFamily="34" charset="0"/>
                <a:ea typeface="Calibri" pitchFamily="34" charset="-122"/>
                <a:cs typeface="Calibri" pitchFamily="34" charset="-120"/>
              </a:rPr>
              <a:t>Nothing in the previous edition of this deck claimed a governed connector, because until 10 September it had never once run to completion. Not one of the six failures was where it appeared to be: authentication, then the gateway authorizer, then the system of record itself — each hidden behind an error written to /dev/null. The gate that now proves it is stricter than the gate that used to pass it.</a:t>
            </a:r>
            <a:endParaRPr lang="en-US" sz="1400" dirty="0"/>
          </a:p>
        </p:txBody>
      </p:sp>
      <p:sp>
        <p:nvSpPr>
          <p:cNvPr id="11" name="Shape 9"/>
          <p:cNvSpPr/>
          <p:nvPr/>
        </p:nvSpPr>
        <p:spPr>
          <a:xfrm>
            <a:off x="566928" y="5029200"/>
            <a:ext cx="11018520" cy="969264"/>
          </a:xfrm>
          <a:prstGeom prst="roundRect">
            <a:avLst>
              <a:gd name="adj" fmla="val 8491"/>
            </a:avLst>
          </a:prstGeom>
          <a:solidFill>
            <a:srgbClr val="F1F4F7"/>
          </a:solidFill>
          <a:ln w="12700">
            <a:solidFill>
              <a:srgbClr val="D8E0E7"/>
            </a:solidFill>
            <a:prstDash val="solid"/>
          </a:ln>
        </p:spPr>
        <p:txBody>
          <a:bodyPr/>
          <a:p/>
        </p:txBody>
      </p:sp>
      <p:sp>
        <p:nvSpPr>
          <p:cNvPr id="12" name="Text 10"/>
          <p:cNvSpPr txBox="1"/>
          <p:nvPr/>
        </p:nvSpPr>
        <p:spPr>
          <a:xfrm>
            <a:off x="868680" y="5138928"/>
            <a:ext cx="4023360" cy="292608"/>
          </a:xfrm>
          <a:prstGeom prst="rect">
            <a:avLst/>
          </a:prstGeom>
          <a:noFill/>
          <a:ln/>
        </p:spPr>
        <p:txBody>
          <a:bodyPr wrap="square" lIns="0" tIns="0" rIns="0" bIns="0" rtlCol="0" anchor="ctr"/>
          <a:lstStyle/>
          <a:p>
            <a:pPr indent="0" marL="0">
              <a:buNone/>
            </a:pPr>
            <a:r>
              <a:rPr lang="en-US" sz="1300" b="1" dirty="0">
                <a:solidFill>
                  <a:srgbClr val="1A2433"/>
                </a:solidFill>
                <a:latin typeface="Cambria" pitchFamily="34" charset="0"/>
                <a:ea typeface="Cambria" pitchFamily="34" charset="-122"/>
                <a:cs typeface="Cambria" pitchFamily="34" charset="-120"/>
              </a:rPr>
              <a:t>The two controls that stop it recurring</a:t>
            </a:r>
            <a:endParaRPr lang="en-US" sz="1300" dirty="0"/>
          </a:p>
        </p:txBody>
      </p:sp>
      <p:sp>
        <p:nvSpPr>
          <p:cNvPr id="13" name="Text 11"/>
          <p:cNvSpPr txBox="1"/>
          <p:nvPr/>
        </p:nvSpPr>
        <p:spPr>
          <a:xfrm>
            <a:off x="868680" y="5449824"/>
            <a:ext cx="10424160" cy="457200"/>
          </a:xfrm>
          <a:prstGeom prst="rect">
            <a:avLst/>
          </a:prstGeom>
          <a:noFill/>
          <a:ln/>
        </p:spPr>
        <p:txBody>
          <a:bodyPr wrap="square" lIns="0" tIns="0" rIns="0" bIns="0" rtlCol="0" anchor="ctr"/>
          <a:lstStyle/>
          <a:p>
            <a:pPr indent="0" marL="0">
              <a:lnSpc>
                <a:spcPct val="110000"/>
              </a:lnSpc>
              <a:buNone/>
            </a:pPr>
            <a:r>
              <a:rPr lang="en-US" sz="1250" dirty="0">
                <a:solidFill>
                  <a:srgbClr val="2C3A4E"/>
                </a:solidFill>
                <a:latin typeface="Calibri" pitchFamily="34" charset="0"/>
                <a:ea typeface="Calibri" pitchFamily="34" charset="-122"/>
                <a:cs typeface="Calibri" pitchFamily="34" charset="-120"/>
              </a:rPr>
              <a:t>CONN_deploy used to pass on the connector's artifacts merely existing, and did so twice over a system of record that trusted nothing. It now also requires the deploy to have exited 0 and the outbound leg to have been exercised — a rule validated by replay against those two failed runs before it shipped. And CI now fails when a new silenced error path appears.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WHY YOU SHOULD BELIEVE THE NUMBER ABOVE</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It took seven attempts. All six failures are published.</a:t>
            </a:r>
            <a:endParaRPr lang="en-US" sz="3400" dirty="0"/>
          </a:p>
        </p:txBody>
      </p:sp>
      <p:sp>
        <p:nvSpPr>
          <p:cNvPr id="4" name="Text 2"/>
          <p:cNvSpPr txBox="1"/>
          <p:nvPr/>
        </p:nvSpPr>
        <p:spPr>
          <a:xfrm>
            <a:off x="566928" y="1280160"/>
            <a:ext cx="10881360" cy="658368"/>
          </a:xfrm>
          <a:prstGeom prst="rect">
            <a:avLst/>
          </a:prstGeom>
          <a:noFill/>
          <a:ln/>
        </p:spPr>
        <p:txBody>
          <a:bodyPr wrap="square" lIns="0" tIns="0" rIns="0" bIns="0" rtlCol="0" anchor="t"/>
          <a:lstStyle/>
          <a:p>
            <a:pPr indent="0" marL="0">
              <a:lnSpc>
                <a:spcPct val="115000"/>
              </a:lnSpc>
              <a:buNone/>
            </a:pPr>
            <a:r>
              <a:rPr lang="en-US" sz="1500" dirty="0">
                <a:solidFill>
                  <a:srgbClr val="2C3A4E"/>
                </a:solidFill>
                <a:latin typeface="Calibri" pitchFamily="34" charset="0"/>
                <a:ea typeface="Calibri" pitchFamily="34" charset="-122"/>
                <a:cs typeface="Calibri" pitchFamily="34" charset="-120"/>
              </a:rPr>
              <a:t>The run immediately before the pass reached the checks and failed four of them. It sits in the same commit as the pass. If you read one thing to decide whether this evidence is honest, read those two files side by side.</a:t>
            </a:r>
            <a:endParaRPr lang="en-US" sz="1500" dirty="0"/>
          </a:p>
        </p:txBody>
      </p:sp>
      <p:sp>
        <p:nvSpPr>
          <p:cNvPr id="5" name="Shape 3"/>
          <p:cNvSpPr/>
          <p:nvPr/>
        </p:nvSpPr>
        <p:spPr>
          <a:xfrm>
            <a:off x="566928" y="2103120"/>
            <a:ext cx="11018520" cy="914400"/>
          </a:xfrm>
          <a:prstGeom prst="roundRect">
            <a:avLst>
              <a:gd name="adj" fmla="val 9000"/>
            </a:avLst>
          </a:prstGeom>
          <a:solidFill>
            <a:srgbClr val="FFFFFF"/>
          </a:solidFill>
          <a:ln w="12700">
            <a:solidFill>
              <a:srgbClr val="DDE4EA"/>
            </a:solidFill>
            <a:prstDash val="solid"/>
          </a:ln>
        </p:spPr>
        <p:txBody>
          <a:bodyPr/>
          <a:p/>
        </p:txBody>
      </p:sp>
      <p:sp>
        <p:nvSpPr>
          <p:cNvPr id="6" name="Text 4"/>
          <p:cNvSpPr txBox="1"/>
          <p:nvPr/>
        </p:nvSpPr>
        <p:spPr>
          <a:xfrm>
            <a:off x="786384" y="2157984"/>
            <a:ext cx="1051560" cy="402336"/>
          </a:xfrm>
          <a:prstGeom prst="rect">
            <a:avLst/>
          </a:prstGeom>
          <a:noFill/>
          <a:ln/>
        </p:spPr>
        <p:txBody>
          <a:bodyPr wrap="square" lIns="0" tIns="0" rIns="0" bIns="0" rtlCol="0" anchor="ctr"/>
          <a:lstStyle/>
          <a:p>
            <a:pPr indent="0" marL="0">
              <a:buNone/>
            </a:pPr>
            <a:r>
              <a:rPr lang="en-US" sz="1300" b="1" dirty="0">
                <a:solidFill>
                  <a:srgbClr val="B3261E"/>
                </a:solidFill>
                <a:latin typeface="Courier New" pitchFamily="34" charset="0"/>
                <a:ea typeface="Courier New" pitchFamily="34" charset="-122"/>
                <a:cs typeface="Courier New" pitchFamily="34" charset="-120"/>
              </a:rPr>
              <a:t>L60</a:t>
            </a:r>
            <a:endParaRPr lang="en-US" sz="1300" dirty="0"/>
          </a:p>
        </p:txBody>
      </p:sp>
      <p:sp>
        <p:nvSpPr>
          <p:cNvPr id="7" name="Text 5"/>
          <p:cNvSpPr txBox="1"/>
          <p:nvPr/>
        </p:nvSpPr>
        <p:spPr>
          <a:xfrm>
            <a:off x="1920240" y="2221992"/>
            <a:ext cx="9464040" cy="731520"/>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Line-ending noise that was cosmetic — and which I first diagnosed as digest corruption and was wrong. Tested before publishing; the claim was false and the commit message was rewritten.</a:t>
            </a:r>
            <a:endParaRPr lang="en-US" sz="1250" dirty="0"/>
          </a:p>
        </p:txBody>
      </p:sp>
      <p:sp>
        <p:nvSpPr>
          <p:cNvPr id="8" name="Shape 6"/>
          <p:cNvSpPr/>
          <p:nvPr/>
        </p:nvSpPr>
        <p:spPr>
          <a:xfrm>
            <a:off x="566928" y="3127248"/>
            <a:ext cx="11018520" cy="969264"/>
          </a:xfrm>
          <a:prstGeom prst="roundRect">
            <a:avLst>
              <a:gd name="adj" fmla="val 8491"/>
            </a:avLst>
          </a:prstGeom>
          <a:solidFill>
            <a:srgbClr val="F1F4F7"/>
          </a:solidFill>
          <a:ln w="12700">
            <a:solidFill>
              <a:srgbClr val="DDE4EA"/>
            </a:solidFill>
            <a:prstDash val="solid"/>
          </a:ln>
        </p:spPr>
        <p:txBody>
          <a:bodyPr/>
          <a:p/>
        </p:txBody>
      </p:sp>
      <p:sp>
        <p:nvSpPr>
          <p:cNvPr id="9" name="Text 7"/>
          <p:cNvSpPr txBox="1"/>
          <p:nvPr/>
        </p:nvSpPr>
        <p:spPr>
          <a:xfrm>
            <a:off x="786384" y="3182112"/>
            <a:ext cx="1051560" cy="402336"/>
          </a:xfrm>
          <a:prstGeom prst="rect">
            <a:avLst/>
          </a:prstGeom>
          <a:noFill/>
          <a:ln/>
        </p:spPr>
        <p:txBody>
          <a:bodyPr wrap="square" lIns="0" tIns="0" rIns="0" bIns="0" rtlCol="0" anchor="ctr"/>
          <a:lstStyle/>
          <a:p>
            <a:pPr indent="0" marL="0">
              <a:buNone/>
            </a:pPr>
            <a:r>
              <a:rPr lang="en-US" sz="1300" b="1" dirty="0">
                <a:solidFill>
                  <a:srgbClr val="B3261E"/>
                </a:solidFill>
                <a:latin typeface="Courier New" pitchFamily="34" charset="0"/>
                <a:ea typeface="Courier New" pitchFamily="34" charset="-122"/>
                <a:cs typeface="Courier New" pitchFamily="34" charset="-120"/>
              </a:rPr>
              <a:t>L64</a:t>
            </a:r>
            <a:endParaRPr lang="en-US" sz="1300" dirty="0"/>
          </a:p>
        </p:txBody>
      </p:sp>
      <p:sp>
        <p:nvSpPr>
          <p:cNvPr id="10" name="Text 8"/>
          <p:cNvSpPr txBox="1"/>
          <p:nvPr/>
        </p:nvSpPr>
        <p:spPr>
          <a:xfrm>
            <a:off x="1920240" y="3246120"/>
            <a:ext cx="9464040" cy="786384"/>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Three consecutive wrong diagnoses of one ConflictException. Real cause: AgentCore policy names are unique per account and region, not per policy engine. The repo's own code comment had said so all along.</a:t>
            </a:r>
            <a:endParaRPr lang="en-US" sz="1250" dirty="0"/>
          </a:p>
        </p:txBody>
      </p:sp>
      <p:sp>
        <p:nvSpPr>
          <p:cNvPr id="11" name="Shape 9"/>
          <p:cNvSpPr/>
          <p:nvPr/>
        </p:nvSpPr>
        <p:spPr>
          <a:xfrm>
            <a:off x="566928" y="4206240"/>
            <a:ext cx="11018520" cy="694944"/>
          </a:xfrm>
          <a:prstGeom prst="roundRect">
            <a:avLst>
              <a:gd name="adj" fmla="val 11842"/>
            </a:avLst>
          </a:prstGeom>
          <a:solidFill>
            <a:srgbClr val="FFFFFF"/>
          </a:solidFill>
          <a:ln w="12700">
            <a:solidFill>
              <a:srgbClr val="DDE4EA"/>
            </a:solidFill>
            <a:prstDash val="solid"/>
          </a:ln>
        </p:spPr>
        <p:txBody>
          <a:bodyPr/>
          <a:p/>
        </p:txBody>
      </p:sp>
      <p:sp>
        <p:nvSpPr>
          <p:cNvPr id="12" name="Text 10"/>
          <p:cNvSpPr txBox="1"/>
          <p:nvPr/>
        </p:nvSpPr>
        <p:spPr>
          <a:xfrm>
            <a:off x="786384" y="4261104"/>
            <a:ext cx="1051560" cy="402336"/>
          </a:xfrm>
          <a:prstGeom prst="rect">
            <a:avLst/>
          </a:prstGeom>
          <a:noFill/>
          <a:ln/>
        </p:spPr>
        <p:txBody>
          <a:bodyPr wrap="square" lIns="0" tIns="0" rIns="0" bIns="0" rtlCol="0" anchor="ctr"/>
          <a:lstStyle/>
          <a:p>
            <a:pPr indent="0" marL="0">
              <a:buNone/>
            </a:pPr>
            <a:r>
              <a:rPr lang="en-US" sz="1300" b="1" dirty="0">
                <a:solidFill>
                  <a:srgbClr val="9A6700"/>
                </a:solidFill>
                <a:latin typeface="Courier New" pitchFamily="34" charset="0"/>
                <a:ea typeface="Courier New" pitchFamily="34" charset="-122"/>
                <a:cs typeface="Courier New" pitchFamily="34" charset="-120"/>
              </a:rPr>
              <a:t>L61</a:t>
            </a:r>
            <a:endParaRPr lang="en-US" sz="1300" dirty="0"/>
          </a:p>
        </p:txBody>
      </p:sp>
      <p:sp>
        <p:nvSpPr>
          <p:cNvPr id="13" name="Text 11"/>
          <p:cNvSpPr txBox="1"/>
          <p:nvPr/>
        </p:nvSpPr>
        <p:spPr>
          <a:xfrm>
            <a:off x="1920240" y="4325112"/>
            <a:ext cx="9464040" cy="512064"/>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The CloudTrail five-trails-per-region quota, which AWS marks not adjustable. A service limit, not a defect. Still open.</a:t>
            </a:r>
            <a:endParaRPr lang="en-US" sz="1250" dirty="0"/>
          </a:p>
        </p:txBody>
      </p:sp>
      <p:sp>
        <p:nvSpPr>
          <p:cNvPr id="14" name="Shape 12"/>
          <p:cNvSpPr/>
          <p:nvPr/>
        </p:nvSpPr>
        <p:spPr>
          <a:xfrm>
            <a:off x="566928" y="5010912"/>
            <a:ext cx="11018520" cy="640080"/>
          </a:xfrm>
          <a:prstGeom prst="roundRect">
            <a:avLst>
              <a:gd name="adj" fmla="val 12857"/>
            </a:avLst>
          </a:prstGeom>
          <a:solidFill>
            <a:srgbClr val="F1F4F7"/>
          </a:solidFill>
          <a:ln w="12700">
            <a:solidFill>
              <a:srgbClr val="DDE4EA"/>
            </a:solidFill>
            <a:prstDash val="solid"/>
          </a:ln>
        </p:spPr>
        <p:txBody>
          <a:bodyPr/>
          <a:p/>
        </p:txBody>
      </p:sp>
      <p:sp>
        <p:nvSpPr>
          <p:cNvPr id="15" name="Text 13"/>
          <p:cNvSpPr txBox="1"/>
          <p:nvPr/>
        </p:nvSpPr>
        <p:spPr>
          <a:xfrm>
            <a:off x="786384" y="5065776"/>
            <a:ext cx="1051560" cy="402336"/>
          </a:xfrm>
          <a:prstGeom prst="rect">
            <a:avLst/>
          </a:prstGeom>
          <a:noFill/>
          <a:ln/>
        </p:spPr>
        <p:txBody>
          <a:bodyPr wrap="square" lIns="0" tIns="0" rIns="0" bIns="0" rtlCol="0" anchor="ctr"/>
          <a:lstStyle/>
          <a:p>
            <a:pPr indent="0" marL="0">
              <a:buNone/>
            </a:pPr>
            <a:r>
              <a:rPr lang="en-US" sz="1300" b="1" dirty="0">
                <a:solidFill>
                  <a:srgbClr val="9A6700"/>
                </a:solidFill>
                <a:latin typeface="Courier New" pitchFamily="34" charset="0"/>
                <a:ea typeface="Courier New" pitchFamily="34" charset="-122"/>
                <a:cs typeface="Courier New" pitchFamily="34" charset="-120"/>
              </a:rPr>
              <a:t>L65 / L66</a:t>
            </a:r>
            <a:endParaRPr lang="en-US" sz="1300" dirty="0"/>
          </a:p>
        </p:txBody>
      </p:sp>
      <p:sp>
        <p:nvSpPr>
          <p:cNvPr id="16" name="Text 14"/>
          <p:cNvSpPr txBox="1"/>
          <p:nvPr/>
        </p:nvSpPr>
        <p:spPr>
          <a:xfrm>
            <a:off x="1920240" y="5129784"/>
            <a:ext cx="9464040" cy="457200"/>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RT-4 — a control that worked and made the agent unreachable. Reverted to opt-in; R4-2 reopened.</a:t>
            </a:r>
            <a:endParaRPr lang="en-US" sz="1250" dirty="0"/>
          </a:p>
        </p:txBody>
      </p:sp>
      <p:sp>
        <p:nvSpPr>
          <p:cNvPr id="17" name="Shape 15"/>
          <p:cNvSpPr/>
          <p:nvPr/>
        </p:nvSpPr>
        <p:spPr>
          <a:xfrm>
            <a:off x="566928" y="5797296"/>
            <a:ext cx="11018520" cy="566928"/>
          </a:xfrm>
          <a:prstGeom prst="roundRect">
            <a:avLst>
              <a:gd name="adj" fmla="val 14516"/>
            </a:avLst>
          </a:prstGeom>
          <a:solidFill>
            <a:srgbClr val="E4F2EA"/>
          </a:solidFill>
          <a:ln w="12700">
            <a:solidFill>
              <a:srgbClr val="BFE0CE"/>
            </a:solidFill>
            <a:prstDash val="solid"/>
          </a:ln>
        </p:spPr>
        <p:txBody>
          <a:bodyPr/>
          <a:p/>
        </p:txBody>
      </p:sp>
      <p:sp>
        <p:nvSpPr>
          <p:cNvPr id="18" name="Text 16"/>
          <p:cNvSpPr txBox="1"/>
          <p:nvPr/>
        </p:nvSpPr>
        <p:spPr>
          <a:xfrm>
            <a:off x="868680" y="5888736"/>
            <a:ext cx="10424160" cy="402336"/>
          </a:xfrm>
          <a:prstGeom prst="rect">
            <a:avLst/>
          </a:prstGeom>
          <a:noFill/>
          <a:ln/>
        </p:spPr>
        <p:txBody>
          <a:bodyPr wrap="square" lIns="0" tIns="0" rIns="0" bIns="0" rtlCol="0" anchor="ctr"/>
          <a:lstStyle/>
          <a:p>
            <a:pPr indent="0" marL="0">
              <a:buNone/>
            </a:pPr>
            <a:r>
              <a:rPr lang="en-US" sz="1250" b="1" dirty="0">
                <a:solidFill>
                  <a:srgbClr val="1D6F42"/>
                </a:solidFill>
                <a:latin typeface="Calibri" pitchFamily="34" charset="0"/>
                <a:ea typeface="Calibri" pitchFamily="34" charset="-122"/>
                <a:cs typeface="Calibri" pitchFamily="34" charset="-120"/>
              </a:rPr>
              <a:t>Seventy findings are recorded this way, including every one where I was wrong — and the connector on the next slide took six more from-zero runs after this one. That register is the strongest credibility asset in the repository.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FFB4A8"/>
                </a:solidFill>
                <a:latin typeface="Calibri" pitchFamily="34" charset="0"/>
                <a:ea typeface="Calibri" pitchFamily="34" charset="-122"/>
                <a:cs typeface="Calibri" pitchFamily="34" charset="-120"/>
              </a:rPr>
              <a:t>WHAT IS NOT PROVEN</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Read this list before any customer conversation</a:t>
            </a:r>
            <a:endParaRPr lang="en-US" sz="3400" dirty="0"/>
          </a:p>
        </p:txBody>
      </p:sp>
      <p:sp>
        <p:nvSpPr>
          <p:cNvPr id="4" name="Shape 2"/>
          <p:cNvSpPr/>
          <p:nvPr/>
        </p:nvSpPr>
        <p:spPr>
          <a:xfrm>
            <a:off x="10012680" y="420624"/>
            <a:ext cx="1572768" cy="274320"/>
          </a:xfrm>
          <a:prstGeom prst="roundRect">
            <a:avLst>
              <a:gd name="adj" fmla="val 50000"/>
            </a:avLst>
          </a:prstGeom>
          <a:solidFill>
            <a:srgbClr val="B3261E"/>
          </a:solidFill>
          <a:ln w="12700">
            <a:solidFill>
              <a:srgbClr val="B3261E"/>
            </a:solidFill>
            <a:prstDash val="solid"/>
          </a:ln>
        </p:spPr>
        <p:txBody>
          <a:bodyPr/>
          <a:p/>
        </p:txBody>
      </p:sp>
      <p:sp>
        <p:nvSpPr>
          <p:cNvPr id="5" name="Text 3"/>
          <p:cNvSpPr txBox="1"/>
          <p:nvPr/>
        </p:nvSpPr>
        <p:spPr>
          <a:xfrm>
            <a:off x="10012680" y="420624"/>
            <a:ext cx="157276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NOT PROVEN</a:t>
            </a:r>
            <a:endParaRPr lang="en-US" sz="1050" dirty="0"/>
          </a:p>
        </p:txBody>
      </p:sp>
      <p:sp>
        <p:nvSpPr>
          <p:cNvPr id="6" name="Shape 4"/>
          <p:cNvSpPr/>
          <p:nvPr/>
        </p:nvSpPr>
        <p:spPr>
          <a:xfrm>
            <a:off x="566928" y="1371600"/>
            <a:ext cx="5349240" cy="1042416"/>
          </a:xfrm>
          <a:prstGeom prst="roundRect">
            <a:avLst>
              <a:gd name="adj" fmla="val 7895"/>
            </a:avLst>
          </a:prstGeom>
          <a:solidFill>
            <a:srgbClr val="2C3A4E"/>
          </a:solidFill>
          <a:ln w="12700">
            <a:solidFill>
              <a:srgbClr val="4A3038"/>
            </a:solidFill>
            <a:prstDash val="solid"/>
          </a:ln>
        </p:spPr>
        <p:txBody>
          <a:bodyPr/>
          <a:p/>
        </p:txBody>
      </p:sp>
      <p:sp>
        <p:nvSpPr>
          <p:cNvPr id="7" name="Text 5"/>
          <p:cNvSpPr txBox="1"/>
          <p:nvPr/>
        </p:nvSpPr>
        <p:spPr>
          <a:xfrm>
            <a:off x="804672" y="1490472"/>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All evidence is author-produced</a:t>
            </a:r>
            <a:endParaRPr lang="en-US" sz="1250" dirty="0"/>
          </a:p>
        </p:txBody>
      </p:sp>
      <p:sp>
        <p:nvSpPr>
          <p:cNvPr id="8" name="Text 6"/>
          <p:cNvSpPr txBox="1"/>
          <p:nvPr/>
        </p:nvSpPr>
        <p:spPr>
          <a:xfrm>
            <a:off x="804672" y="1810512"/>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One AWS account. No third party has run it. No amount of further self-testing closes this.</a:t>
            </a:r>
            <a:endParaRPr lang="en-US" sz="1150" dirty="0"/>
          </a:p>
        </p:txBody>
      </p:sp>
      <p:sp>
        <p:nvSpPr>
          <p:cNvPr id="9" name="Shape 7"/>
          <p:cNvSpPr/>
          <p:nvPr/>
        </p:nvSpPr>
        <p:spPr>
          <a:xfrm>
            <a:off x="6190488" y="1371600"/>
            <a:ext cx="5349240" cy="1042416"/>
          </a:xfrm>
          <a:prstGeom prst="roundRect">
            <a:avLst>
              <a:gd name="adj" fmla="val 7895"/>
            </a:avLst>
          </a:prstGeom>
          <a:solidFill>
            <a:srgbClr val="2C3A4E"/>
          </a:solidFill>
          <a:ln w="12700">
            <a:solidFill>
              <a:srgbClr val="4A3038"/>
            </a:solidFill>
            <a:prstDash val="solid"/>
          </a:ln>
        </p:spPr>
        <p:txBody>
          <a:bodyPr/>
          <a:p/>
        </p:txBody>
      </p:sp>
      <p:sp>
        <p:nvSpPr>
          <p:cNvPr id="10" name="Text 8"/>
          <p:cNvSpPr txBox="1"/>
          <p:nvPr/>
        </p:nvSpPr>
        <p:spPr>
          <a:xfrm>
            <a:off x="6428232" y="1490472"/>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No CUSTOMER system of record</a:t>
            </a:r>
            <a:endParaRPr lang="en-US" sz="1250" dirty="0"/>
          </a:p>
        </p:txBody>
      </p:sp>
      <p:sp>
        <p:nvSpPr>
          <p:cNvPr id="11" name="Text 9"/>
          <p:cNvSpPr txBox="1"/>
          <p:nvPr/>
        </p:nvSpPr>
        <p:spPr>
          <a:xfrm>
            <a:off x="6428232" y="1810512"/>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A governed OAuth2 connector is now live and proven — but the system of record is ours. connect_system_of_record stays stubbed. Every live run governed synthetic data.</a:t>
            </a:r>
            <a:endParaRPr lang="en-US" sz="1150" dirty="0"/>
          </a:p>
        </p:txBody>
      </p:sp>
      <p:sp>
        <p:nvSpPr>
          <p:cNvPr id="12" name="Shape 10"/>
          <p:cNvSpPr/>
          <p:nvPr/>
        </p:nvSpPr>
        <p:spPr>
          <a:xfrm>
            <a:off x="566928" y="2532888"/>
            <a:ext cx="5349240" cy="1042416"/>
          </a:xfrm>
          <a:prstGeom prst="roundRect">
            <a:avLst>
              <a:gd name="adj" fmla="val 7895"/>
            </a:avLst>
          </a:prstGeom>
          <a:solidFill>
            <a:srgbClr val="2C3A4E"/>
          </a:solidFill>
          <a:ln w="12700">
            <a:solidFill>
              <a:srgbClr val="4A3038"/>
            </a:solidFill>
            <a:prstDash val="solid"/>
          </a:ln>
        </p:spPr>
        <p:txBody>
          <a:bodyPr/>
          <a:p/>
        </p:txBody>
      </p:sp>
      <p:sp>
        <p:nvSpPr>
          <p:cNvPr id="13" name="Text 11"/>
          <p:cNvSpPr txBox="1"/>
          <p:nvPr/>
        </p:nvSpPr>
        <p:spPr>
          <a:xfrm>
            <a:off x="804672" y="2651760"/>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No account-wide prevention</a:t>
            </a:r>
            <a:endParaRPr lang="en-US" sz="1250" dirty="0"/>
          </a:p>
        </p:txBody>
      </p:sp>
      <p:sp>
        <p:nvSpPr>
          <p:cNvPr id="14" name="Text 12"/>
          <p:cNvSpPr txBox="1"/>
          <p:nvPr/>
        </p:nvSpPr>
        <p:spPr>
          <a:xfrm>
            <a:off x="804672" y="2971800"/>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No AWS Organization, therefore no SCP. A direct Bedrock call is detected, not prevented.</a:t>
            </a:r>
            <a:endParaRPr lang="en-US" sz="1150" dirty="0"/>
          </a:p>
        </p:txBody>
      </p:sp>
      <p:sp>
        <p:nvSpPr>
          <p:cNvPr id="15" name="Shape 13"/>
          <p:cNvSpPr/>
          <p:nvPr/>
        </p:nvSpPr>
        <p:spPr>
          <a:xfrm>
            <a:off x="6190488" y="2532888"/>
            <a:ext cx="5349240" cy="1042416"/>
          </a:xfrm>
          <a:prstGeom prst="roundRect">
            <a:avLst>
              <a:gd name="adj" fmla="val 7895"/>
            </a:avLst>
          </a:prstGeom>
          <a:solidFill>
            <a:srgbClr val="2C3A4E"/>
          </a:solidFill>
          <a:ln w="12700">
            <a:solidFill>
              <a:srgbClr val="4A3038"/>
            </a:solidFill>
            <a:prstDash val="solid"/>
          </a:ln>
        </p:spPr>
        <p:txBody>
          <a:bodyPr/>
          <a:p/>
        </p:txBody>
      </p:sp>
      <p:sp>
        <p:nvSpPr>
          <p:cNvPr id="16" name="Text 14"/>
          <p:cNvSpPr txBox="1"/>
          <p:nvPr/>
        </p:nvSpPr>
        <p:spPr>
          <a:xfrm>
            <a:off x="6428232" y="2651760"/>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R4-2 is open, deliberately</a:t>
            </a:r>
            <a:endParaRPr lang="en-US" sz="1250" dirty="0"/>
          </a:p>
        </p:txBody>
      </p:sp>
      <p:sp>
        <p:nvSpPr>
          <p:cNvPr id="17" name="Text 15"/>
          <p:cNvSpPr txBox="1"/>
          <p:nvPr/>
        </p:nvSpPr>
        <p:spPr>
          <a:xfrm>
            <a:off x="6428232" y="2971800"/>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Gateway-only runtime invocation was tested live and reverted. Mitigated at the gateway, not closed.</a:t>
            </a:r>
            <a:endParaRPr lang="en-US" sz="1150" dirty="0"/>
          </a:p>
        </p:txBody>
      </p:sp>
      <p:sp>
        <p:nvSpPr>
          <p:cNvPr id="18" name="Shape 16"/>
          <p:cNvSpPr/>
          <p:nvPr/>
        </p:nvSpPr>
        <p:spPr>
          <a:xfrm>
            <a:off x="566928" y="3694176"/>
            <a:ext cx="5349240" cy="1042416"/>
          </a:xfrm>
          <a:prstGeom prst="roundRect">
            <a:avLst>
              <a:gd name="adj" fmla="val 7895"/>
            </a:avLst>
          </a:prstGeom>
          <a:solidFill>
            <a:srgbClr val="2C3A4E"/>
          </a:solidFill>
          <a:ln w="12700">
            <a:solidFill>
              <a:srgbClr val="4A3038"/>
            </a:solidFill>
            <a:prstDash val="solid"/>
          </a:ln>
        </p:spPr>
        <p:txBody>
          <a:bodyPr/>
          <a:p/>
        </p:txBody>
      </p:sp>
      <p:sp>
        <p:nvSpPr>
          <p:cNvPr id="19" name="Text 17"/>
          <p:cNvSpPr txBox="1"/>
          <p:nvPr/>
        </p:nvSpPr>
        <p:spPr>
          <a:xfrm>
            <a:off x="804672" y="3813048"/>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Three of four packs never deployed</a:t>
            </a:r>
            <a:endParaRPr lang="en-US" sz="1250" dirty="0"/>
          </a:p>
        </p:txBody>
      </p:sp>
      <p:sp>
        <p:nvSpPr>
          <p:cNvPr id="20" name="Text 18"/>
          <p:cNvSpPr txBox="1"/>
          <p:nvPr/>
        </p:nvSpPr>
        <p:spPr>
          <a:xfrm>
            <a:off x="804672" y="4133088"/>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Same core, propagated fixes, unit tests — zero from-zero deployments. Housing wires 3 of 17 controls.</a:t>
            </a:r>
            <a:endParaRPr lang="en-US" sz="1150" dirty="0"/>
          </a:p>
        </p:txBody>
      </p:sp>
      <p:sp>
        <p:nvSpPr>
          <p:cNvPr id="21" name="Shape 19"/>
          <p:cNvSpPr/>
          <p:nvPr/>
        </p:nvSpPr>
        <p:spPr>
          <a:xfrm>
            <a:off x="6190488" y="3694176"/>
            <a:ext cx="5349240" cy="1042416"/>
          </a:xfrm>
          <a:prstGeom prst="roundRect">
            <a:avLst>
              <a:gd name="adj" fmla="val 7895"/>
            </a:avLst>
          </a:prstGeom>
          <a:solidFill>
            <a:srgbClr val="2C3A4E"/>
          </a:solidFill>
          <a:ln w="12700">
            <a:solidFill>
              <a:srgbClr val="4A3038"/>
            </a:solidFill>
            <a:prstDash val="solid"/>
          </a:ln>
        </p:spPr>
        <p:txBody>
          <a:bodyPr/>
          <a:p/>
        </p:txBody>
      </p:sp>
      <p:sp>
        <p:nvSpPr>
          <p:cNvPr id="22" name="Text 20"/>
          <p:cNvSpPr txBox="1"/>
          <p:nvPr/>
        </p:nvSpPr>
        <p:spPr>
          <a:xfrm>
            <a:off x="6428232" y="3813048"/>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COMPLIANCE lock proven at 1 day</a:t>
            </a:r>
            <a:endParaRPr lang="en-US" sz="1250" dirty="0"/>
          </a:p>
        </p:txBody>
      </p:sp>
      <p:sp>
        <p:nvSpPr>
          <p:cNvPr id="23" name="Text 21"/>
          <p:cNvSpPr txBox="1"/>
          <p:nvPr/>
        </p:nvSpPr>
        <p:spPr>
          <a:xfrm>
            <a:off x="6428232" y="4133088"/>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The mechanism is proven; the seven-year duration is a parameter, not evidence.</a:t>
            </a:r>
            <a:endParaRPr lang="en-US" sz="1150" dirty="0"/>
          </a:p>
        </p:txBody>
      </p:sp>
      <p:sp>
        <p:nvSpPr>
          <p:cNvPr id="24" name="Shape 22"/>
          <p:cNvSpPr/>
          <p:nvPr/>
        </p:nvSpPr>
        <p:spPr>
          <a:xfrm>
            <a:off x="566928" y="4855464"/>
            <a:ext cx="5349240" cy="1042416"/>
          </a:xfrm>
          <a:prstGeom prst="roundRect">
            <a:avLst>
              <a:gd name="adj" fmla="val 7895"/>
            </a:avLst>
          </a:prstGeom>
          <a:solidFill>
            <a:srgbClr val="2C3A4E"/>
          </a:solidFill>
          <a:ln w="12700">
            <a:solidFill>
              <a:srgbClr val="4A3038"/>
            </a:solidFill>
            <a:prstDash val="solid"/>
          </a:ln>
        </p:spPr>
        <p:txBody>
          <a:bodyPr/>
          <a:p/>
        </p:txBody>
      </p:sp>
      <p:sp>
        <p:nvSpPr>
          <p:cNvPr id="25" name="Text 23"/>
          <p:cNvSpPr txBox="1"/>
          <p:nvPr/>
        </p:nvSpPr>
        <p:spPr>
          <a:xfrm>
            <a:off x="804672" y="4974336"/>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No pen test, DR, SLO or ATO</a:t>
            </a:r>
            <a:endParaRPr lang="en-US" sz="1250" dirty="0"/>
          </a:p>
        </p:txBody>
      </p:sp>
      <p:sp>
        <p:nvSpPr>
          <p:cNvPr id="26" name="Text 24"/>
          <p:cNvSpPr txBox="1"/>
          <p:nvPr/>
        </p:nvSpPr>
        <p:spPr>
          <a:xfrm>
            <a:off x="804672" y="5294376"/>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None performed. The platform carries no authorization of any kind.</a:t>
            </a:r>
            <a:endParaRPr lang="en-US" sz="1150" dirty="0"/>
          </a:p>
        </p:txBody>
      </p:sp>
      <p:sp>
        <p:nvSpPr>
          <p:cNvPr id="27" name="Shape 25"/>
          <p:cNvSpPr/>
          <p:nvPr/>
        </p:nvSpPr>
        <p:spPr>
          <a:xfrm>
            <a:off x="6190488" y="4855464"/>
            <a:ext cx="5349240" cy="1042416"/>
          </a:xfrm>
          <a:prstGeom prst="roundRect">
            <a:avLst>
              <a:gd name="adj" fmla="val 7895"/>
            </a:avLst>
          </a:prstGeom>
          <a:solidFill>
            <a:srgbClr val="2C3A4E"/>
          </a:solidFill>
          <a:ln w="12700">
            <a:solidFill>
              <a:srgbClr val="4A3038"/>
            </a:solidFill>
            <a:prstDash val="solid"/>
          </a:ln>
        </p:spPr>
        <p:txBody>
          <a:bodyPr/>
          <a:p/>
        </p:txBody>
      </p:sp>
      <p:sp>
        <p:nvSpPr>
          <p:cNvPr id="28" name="Text 26"/>
          <p:cNvSpPr txBox="1"/>
          <p:nvPr/>
        </p:nvSpPr>
        <p:spPr>
          <a:xfrm>
            <a:off x="6428232" y="4974336"/>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488 checkov findings baselined</a:t>
            </a:r>
            <a:endParaRPr lang="en-US" sz="1250" dirty="0"/>
          </a:p>
        </p:txBody>
      </p:sp>
      <p:sp>
        <p:nvSpPr>
          <p:cNvPr id="29" name="Text 27"/>
          <p:cNvSpPr txBox="1"/>
          <p:nvPr/>
        </p:nvSpPr>
        <p:spPr>
          <a:xfrm>
            <a:off x="6428232" y="5294376"/>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Reviewed and gated so new findings fail CI — but the residual is real.</a:t>
            </a:r>
            <a:endParaRPr lang="en-US" sz="1150" dirty="0"/>
          </a:p>
        </p:txBody>
      </p:sp>
      <p:sp>
        <p:nvSpPr>
          <p:cNvPr id="30" name="Text 28"/>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9FB3C8"/>
                </a:solidFill>
                <a:latin typeface="Calibri" pitchFamily="34" charset="0"/>
                <a:ea typeface="Calibri" pitchFamily="34" charset="-122"/>
                <a:cs typeface="Calibri" pitchFamily="34" charset="-120"/>
              </a:rPr>
              <a:t>This list is longer than the proven list, and it is in the deck on purpose. NOT-CLAIMS.md governs every other page in the repository.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B3261E"/>
                </a:solidFill>
                <a:latin typeface="Calibri" pitchFamily="34" charset="0"/>
                <a:ea typeface="Calibri" pitchFamily="34" charset="-122"/>
                <a:cs typeface="Calibri" pitchFamily="34" charset="-120"/>
              </a:rPr>
              <a:t>A NUMBER WE GOT WRONG, AND WHAT WE DID ABOUT IT</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We said three alarms. It was twenty-two.</a:t>
            </a:r>
            <a:endParaRPr lang="en-US" sz="3400" dirty="0"/>
          </a:p>
        </p:txBody>
      </p:sp>
      <p:sp>
        <p:nvSpPr>
          <p:cNvPr id="4" name="Shape 2"/>
          <p:cNvSpPr/>
          <p:nvPr/>
        </p:nvSpPr>
        <p:spPr>
          <a:xfrm>
            <a:off x="566928" y="1609344"/>
            <a:ext cx="5349240" cy="2340864"/>
          </a:xfrm>
          <a:prstGeom prst="roundRect">
            <a:avLst>
              <a:gd name="adj" fmla="val 3516"/>
            </a:avLst>
          </a:prstGeom>
          <a:solidFill>
            <a:srgbClr val="FBE9E7"/>
          </a:solidFill>
          <a:ln w="12700">
            <a:solidFill>
              <a:srgbClr val="F0C4C0"/>
            </a:solidFill>
            <a:prstDash val="solid"/>
          </a:ln>
        </p:spPr>
        <p:txBody>
          <a:bodyPr/>
          <a:p/>
        </p:txBody>
      </p:sp>
      <p:sp>
        <p:nvSpPr>
          <p:cNvPr id="5" name="Text 3"/>
          <p:cNvSpPr txBox="1"/>
          <p:nvPr/>
        </p:nvSpPr>
        <p:spPr>
          <a:xfrm>
            <a:off x="868680" y="1773936"/>
            <a:ext cx="4754880" cy="329184"/>
          </a:xfrm>
          <a:prstGeom prst="rect">
            <a:avLst/>
          </a:prstGeom>
          <a:noFill/>
          <a:ln/>
        </p:spPr>
        <p:txBody>
          <a:bodyPr wrap="square" lIns="0" tIns="0" rIns="0" bIns="0" rtlCol="0" anchor="ctr"/>
          <a:lstStyle/>
          <a:p>
            <a:pPr indent="0" marL="0">
              <a:buNone/>
            </a:pPr>
            <a:r>
              <a:rPr lang="en-US" sz="1700" b="1" dirty="0">
                <a:solidFill>
                  <a:srgbClr val="B3261E"/>
                </a:solidFill>
                <a:latin typeface="Cambria" pitchFamily="34" charset="0"/>
                <a:ea typeface="Cambria" pitchFamily="34" charset="-122"/>
                <a:cs typeface="Cambria" pitchFamily="34" charset="-120"/>
              </a:rPr>
              <a:t>What we claimed</a:t>
            </a:r>
            <a:endParaRPr lang="en-US" sz="1700" dirty="0"/>
          </a:p>
        </p:txBody>
      </p:sp>
      <p:sp>
        <p:nvSpPr>
          <p:cNvPr id="6" name="Text 4"/>
          <p:cNvSpPr txBox="1"/>
          <p:nvPr/>
        </p:nvSpPr>
        <p:spPr>
          <a:xfrm>
            <a:off x="868680" y="2194560"/>
            <a:ext cx="4754880" cy="1627632"/>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"Three alarms. Observability is the thinnest part of the platform."</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Counted cw.Alarm( CALL SITES in the source - two are inside loops</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Measured the generating code instead of the deployed artifact</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Same defect as two entries already in our own register (L60, L67)</a:t>
            </a:r>
            <a:endParaRPr lang="en-US" sz="1200" dirty="0"/>
          </a:p>
        </p:txBody>
      </p:sp>
      <p:sp>
        <p:nvSpPr>
          <p:cNvPr id="7" name="Shape 5"/>
          <p:cNvSpPr/>
          <p:nvPr/>
        </p:nvSpPr>
        <p:spPr>
          <a:xfrm>
            <a:off x="6236208" y="1609344"/>
            <a:ext cx="5349240" cy="2340864"/>
          </a:xfrm>
          <a:prstGeom prst="roundRect">
            <a:avLst>
              <a:gd name="adj" fmla="val 3516"/>
            </a:avLst>
          </a:prstGeom>
          <a:solidFill>
            <a:srgbClr val="E4F2EA"/>
          </a:solidFill>
          <a:ln w="12700">
            <a:solidFill>
              <a:srgbClr val="BFE0CE"/>
            </a:solidFill>
            <a:prstDash val="solid"/>
          </a:ln>
        </p:spPr>
        <p:txBody>
          <a:bodyPr/>
          <a:p/>
        </p:txBody>
      </p:sp>
      <p:sp>
        <p:nvSpPr>
          <p:cNvPr id="8" name="Text 6"/>
          <p:cNvSpPr txBox="1"/>
          <p:nvPr/>
        </p:nvSpPr>
        <p:spPr>
          <a:xfrm>
            <a:off x="6537960" y="1773936"/>
            <a:ext cx="4754880" cy="329184"/>
          </a:xfrm>
          <a:prstGeom prst="rect">
            <a:avLst/>
          </a:prstGeom>
          <a:noFill/>
          <a:ln/>
        </p:spPr>
        <p:txBody>
          <a:bodyPr wrap="square" lIns="0" tIns="0" rIns="0" bIns="0" rtlCol="0" anchor="ctr"/>
          <a:lstStyle/>
          <a:p>
            <a:pPr indent="0" marL="0">
              <a:buNone/>
            </a:pPr>
            <a:r>
              <a:rPr lang="en-US" sz="1700" b="1" dirty="0">
                <a:solidFill>
                  <a:srgbClr val="1D6F42"/>
                </a:solidFill>
                <a:latin typeface="Cambria" pitchFamily="34" charset="0"/>
                <a:ea typeface="Cambria" pitchFamily="34" charset="-122"/>
                <a:cs typeface="Cambria" pitchFamily="34" charset="-120"/>
              </a:rPr>
              <a:t>What is actually deployed</a:t>
            </a:r>
            <a:endParaRPr lang="en-US" sz="1700" dirty="0"/>
          </a:p>
        </p:txBody>
      </p:sp>
      <p:sp>
        <p:nvSpPr>
          <p:cNvPr id="9" name="Text 7"/>
          <p:cNvSpPr txBox="1"/>
          <p:nvPr/>
        </p:nvSpPr>
        <p:spPr>
          <a:xfrm>
            <a:off x="6537960" y="2194560"/>
            <a:ext cx="4754880" cy="1627632"/>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26 named alarms in 3 severity tiers - P1 page, P2 ticket, P3 advisory</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Latency alarmed, not merely charted. Approval backlog: 2h, was 24h</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Every alarm has a runbook entry, enforced by a test in CI</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Still open: per-tenant dashboards, canary, proof a tier fires live, DR</a:t>
            </a:r>
            <a:endParaRPr lang="en-US" sz="1200" dirty="0"/>
          </a:p>
        </p:txBody>
      </p:sp>
      <p:sp>
        <p:nvSpPr>
          <p:cNvPr id="10" name="Text 8"/>
          <p:cNvSpPr txBox="1"/>
          <p:nvPr/>
        </p:nvSpPr>
        <p:spPr>
          <a:xfrm>
            <a:off x="566928" y="4169664"/>
            <a:ext cx="11018520" cy="749808"/>
          </a:xfrm>
          <a:prstGeom prst="rect">
            <a:avLst/>
          </a:prstGeom>
          <a:noFill/>
          <a:ln/>
        </p:spPr>
        <p:txBody>
          <a:bodyPr wrap="square" lIns="0" tIns="0" rIns="0" bIns="0" rtlCol="0" anchor="t"/>
          <a:lstStyle/>
          <a:p>
            <a:pPr indent="0" marL="0">
              <a:lnSpc>
                <a:spcPct val="115000"/>
              </a:lnSpc>
              <a:buNone/>
            </a:pPr>
            <a:r>
              <a:rPr lang="en-US" sz="1400" b="1" dirty="0">
                <a:solidFill>
                  <a:srgbClr val="2C3A4E"/>
                </a:solidFill>
                <a:latin typeface="Calibri" pitchFamily="34" charset="0"/>
                <a:ea typeface="Calibri" pitchFamily="34" charset="-122"/>
                <a:cs typeface="Calibri" pitchFamily="34" charset="-120"/>
              </a:rPr>
              <a:t>Why this slide is in the deck at all. </a:t>
            </a:r>
            <a:pPr indent="0" marL="0">
              <a:lnSpc>
                <a:spcPct val="115000"/>
              </a:lnSpc>
              <a:buNone/>
            </a:pPr>
            <a:r>
              <a:rPr lang="en-US" sz="1400" dirty="0">
                <a:solidFill>
                  <a:srgbClr val="2C3A4E"/>
                </a:solidFill>
                <a:latin typeface="Calibri" pitchFamily="34" charset="0"/>
                <a:ea typeface="Calibri" pitchFamily="34" charset="-122"/>
                <a:cs typeface="Calibri" pitchFamily="34" charset="-120"/>
              </a:rPr>
              <a:t>A number in our own material was wrong by a factor of seven, in the direction that flattered nobody. How a team handles its own bad number is worth more signal than the number was — and the fix is not "measure more carefully next time", it is a script that reads the CloudFormation template and fails CI when these figures drift from what the brief says.</a:t>
            </a:r>
            <a:endParaRPr lang="en-US" sz="1400" dirty="0"/>
          </a:p>
        </p:txBody>
      </p:sp>
      <p:sp>
        <p:nvSpPr>
          <p:cNvPr id="11" name="Shape 9"/>
          <p:cNvSpPr/>
          <p:nvPr/>
        </p:nvSpPr>
        <p:spPr>
          <a:xfrm>
            <a:off x="566928" y="5029200"/>
            <a:ext cx="11018520" cy="969264"/>
          </a:xfrm>
          <a:prstGeom prst="roundRect">
            <a:avLst>
              <a:gd name="adj" fmla="val 8491"/>
            </a:avLst>
          </a:prstGeom>
          <a:solidFill>
            <a:srgbClr val="F1F4F7"/>
          </a:solidFill>
          <a:ln w="12700">
            <a:solidFill>
              <a:srgbClr val="D8E0E7"/>
            </a:solidFill>
            <a:prstDash val="solid"/>
          </a:ln>
        </p:spPr>
        <p:txBody>
          <a:bodyPr/>
          <a:p/>
        </p:txBody>
      </p:sp>
      <p:sp>
        <p:nvSpPr>
          <p:cNvPr id="12" name="Text 10"/>
          <p:cNvSpPr txBox="1"/>
          <p:nvPr/>
        </p:nvSpPr>
        <p:spPr>
          <a:xfrm>
            <a:off x="868680" y="5138928"/>
            <a:ext cx="4023360" cy="292608"/>
          </a:xfrm>
          <a:prstGeom prst="rect">
            <a:avLst/>
          </a:prstGeom>
          <a:noFill/>
          <a:ln/>
        </p:spPr>
        <p:txBody>
          <a:bodyPr wrap="square" lIns="0" tIns="0" rIns="0" bIns="0" rtlCol="0" anchor="ctr"/>
          <a:lstStyle/>
          <a:p>
            <a:pPr indent="0" marL="0">
              <a:buNone/>
            </a:pPr>
            <a:r>
              <a:rPr lang="en-US" sz="1300" b="1" dirty="0">
                <a:solidFill>
                  <a:srgbClr val="1A2433"/>
                </a:solidFill>
                <a:latin typeface="Cambria" pitchFamily="34" charset="0"/>
                <a:ea typeface="Cambria" pitchFamily="34" charset="-122"/>
                <a:cs typeface="Cambria" pitchFamily="34" charset="-120"/>
              </a:rPr>
              <a:t>The control that stops it recurring</a:t>
            </a:r>
            <a:endParaRPr lang="en-US" sz="1300" dirty="0"/>
          </a:p>
        </p:txBody>
      </p:sp>
      <p:sp>
        <p:nvSpPr>
          <p:cNvPr id="13" name="Text 11"/>
          <p:cNvSpPr txBox="1"/>
          <p:nvPr/>
        </p:nvSpPr>
        <p:spPr>
          <a:xfrm>
            <a:off x="868680" y="5449824"/>
            <a:ext cx="10424160" cy="457200"/>
          </a:xfrm>
          <a:prstGeom prst="rect">
            <a:avLst/>
          </a:prstGeom>
          <a:noFill/>
          <a:ln/>
        </p:spPr>
        <p:txBody>
          <a:bodyPr wrap="square" lIns="0" tIns="0" rIns="0" bIns="0" rtlCol="0" anchor="ctr"/>
          <a:lstStyle/>
          <a:p>
            <a:pPr indent="0" marL="0">
              <a:lnSpc>
                <a:spcPct val="110000"/>
              </a:lnSpc>
              <a:buNone/>
            </a:pPr>
            <a:r>
              <a:rPr lang="en-US" sz="1250" dirty="0">
                <a:solidFill>
                  <a:srgbClr val="2C3A4E"/>
                </a:solidFill>
                <a:latin typeface="Calibri" pitchFamily="34" charset="0"/>
                <a:ea typeface="Calibri" pitchFamily="34" charset="-122"/>
                <a:cs typeface="Calibri" pitchFamily="34" charset="-120"/>
              </a:rPr>
              <a:t>tools/observability_census.py reads the synthesized template and counts what actually deploys. --assert-baseline fails if the numbers drift from what the partner documents quote, so the brief and the infrastructure cannot disagree silently. Ask your SA to run it.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1D6F42"/>
                </a:solidFill>
                <a:latin typeface="Calibri" pitchFamily="34" charset="0"/>
                <a:ea typeface="Calibri" pitchFamily="34" charset="-122"/>
                <a:cs typeface="Calibri" pitchFamily="34" charset="-120"/>
              </a:rPr>
              <a:t>THE ASK</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One thing, and it is cheap: run it yourself</a:t>
            </a:r>
            <a:endParaRPr lang="en-US" sz="3400" dirty="0"/>
          </a:p>
        </p:txBody>
      </p:sp>
      <p:sp>
        <p:nvSpPr>
          <p:cNvPr id="4" name="Shape 2"/>
          <p:cNvSpPr/>
          <p:nvPr/>
        </p:nvSpPr>
        <p:spPr>
          <a:xfrm>
            <a:off x="566928" y="1280160"/>
            <a:ext cx="11018520" cy="1207008"/>
          </a:xfrm>
          <a:prstGeom prst="roundRect">
            <a:avLst>
              <a:gd name="adj" fmla="val 6818"/>
            </a:avLst>
          </a:prstGeom>
          <a:solidFill>
            <a:srgbClr val="E4F2EA"/>
          </a:solidFill>
          <a:ln w="12700">
            <a:solidFill>
              <a:srgbClr val="BFE0CE"/>
            </a:solidFill>
            <a:prstDash val="solid"/>
          </a:ln>
        </p:spPr>
        <p:txBody>
          <a:bodyPr/>
          <a:p/>
        </p:txBody>
      </p:sp>
      <p:sp>
        <p:nvSpPr>
          <p:cNvPr id="5" name="Text 3"/>
          <p:cNvSpPr txBox="1"/>
          <p:nvPr/>
        </p:nvSpPr>
        <p:spPr>
          <a:xfrm>
            <a:off x="914400" y="1463040"/>
            <a:ext cx="10332720" cy="859536"/>
          </a:xfrm>
          <a:prstGeom prst="rect">
            <a:avLst/>
          </a:prstGeom>
          <a:noFill/>
          <a:ln/>
        </p:spPr>
        <p:txBody>
          <a:bodyPr wrap="square" lIns="0" tIns="0" rIns="0" bIns="0" rtlCol="0" anchor="ctr"/>
          <a:lstStyle/>
          <a:p>
            <a:pPr indent="0" marL="0">
              <a:lnSpc>
                <a:spcPct val="115000"/>
              </a:lnSpc>
              <a:buNone/>
            </a:pPr>
            <a:r>
              <a:rPr lang="en-US" sz="1550" i="1" dirty="0">
                <a:solidFill>
                  <a:srgbClr val="1D6F42"/>
                </a:solidFill>
                <a:latin typeface="Cambria" pitchFamily="34" charset="0"/>
                <a:ea typeface="Cambria" pitchFamily="34" charset="-122"/>
                <a:cs typeface="Cambria" pitchFamily="34" charset="-120"/>
              </a:rPr>
              <a:t>“All of the evidence is ours, which means none of it counts. We want your SA to run the verification protocol in a clean account. It is scripted, it takes about half a day, and it either reproduces our results or it does not.”</a:t>
            </a:r>
            <a:endParaRPr lang="en-US" sz="1550" dirty="0"/>
          </a:p>
        </p:txBody>
      </p:sp>
      <p:sp>
        <p:nvSpPr>
          <p:cNvPr id="6" name="Shape 4"/>
          <p:cNvSpPr/>
          <p:nvPr/>
        </p:nvSpPr>
        <p:spPr>
          <a:xfrm>
            <a:off x="566928" y="2578608"/>
            <a:ext cx="11018520" cy="438912"/>
          </a:xfrm>
          <a:prstGeom prst="roundRect">
            <a:avLst>
              <a:gd name="adj" fmla="val 18750"/>
            </a:avLst>
          </a:prstGeom>
          <a:solidFill>
            <a:srgbClr val="FFFFFF"/>
          </a:solidFill>
          <a:ln w="12700">
            <a:solidFill>
              <a:srgbClr val="DDE4EA"/>
            </a:solidFill>
            <a:prstDash val="solid"/>
          </a:ln>
        </p:spPr>
        <p:txBody>
          <a:bodyPr/>
          <a:p/>
        </p:txBody>
      </p:sp>
      <p:sp>
        <p:nvSpPr>
          <p:cNvPr id="7" name="Shape 5"/>
          <p:cNvSpPr/>
          <p:nvPr/>
        </p:nvSpPr>
        <p:spPr>
          <a:xfrm>
            <a:off x="694944" y="2633472"/>
            <a:ext cx="329184" cy="329184"/>
          </a:xfrm>
          <a:prstGeom prst="ellipse">
            <a:avLst/>
          </a:prstGeom>
          <a:solidFill>
            <a:srgbClr val="1A2433"/>
          </a:solidFill>
          <a:ln w="12700">
            <a:solidFill>
              <a:srgbClr val="1A2433"/>
            </a:solidFill>
            <a:prstDash val="solid"/>
          </a:ln>
        </p:spPr>
        <p:txBody>
          <a:bodyPr/>
          <a:p/>
        </p:txBody>
      </p:sp>
      <p:sp>
        <p:nvSpPr>
          <p:cNvPr id="8" name="Text 6"/>
          <p:cNvSpPr txBox="1"/>
          <p:nvPr/>
        </p:nvSpPr>
        <p:spPr>
          <a:xfrm>
            <a:off x="694944" y="26334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133856" y="257860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Clone the tag</a:t>
            </a:r>
            <a:endParaRPr lang="en-US" sz="1250" dirty="0"/>
          </a:p>
        </p:txBody>
      </p:sp>
      <p:sp>
        <p:nvSpPr>
          <p:cNvPr id="10" name="Text 8"/>
          <p:cNvSpPr txBox="1"/>
          <p:nvPr/>
        </p:nvSpPr>
        <p:spPr>
          <a:xfrm>
            <a:off x="3438144" y="257860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10 min</a:t>
            </a:r>
            <a:endParaRPr lang="en-US" sz="1100" dirty="0"/>
          </a:p>
        </p:txBody>
      </p:sp>
      <p:sp>
        <p:nvSpPr>
          <p:cNvPr id="11" name="Text 9"/>
          <p:cNvSpPr txBox="1"/>
          <p:nvPr/>
        </p:nvSpPr>
        <p:spPr>
          <a:xfrm>
            <a:off x="4370832" y="257860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v0.7.0-pilot-rc1. Confirm tag == main and the RELEASE file inside the tag names the tag.</a:t>
            </a:r>
            <a:endParaRPr lang="en-US" sz="1150" dirty="0"/>
          </a:p>
        </p:txBody>
      </p:sp>
      <p:sp>
        <p:nvSpPr>
          <p:cNvPr id="12" name="Shape 10"/>
          <p:cNvSpPr/>
          <p:nvPr/>
        </p:nvSpPr>
        <p:spPr>
          <a:xfrm>
            <a:off x="566928" y="3081528"/>
            <a:ext cx="11018520" cy="438912"/>
          </a:xfrm>
          <a:prstGeom prst="roundRect">
            <a:avLst>
              <a:gd name="adj" fmla="val 18750"/>
            </a:avLst>
          </a:prstGeom>
          <a:solidFill>
            <a:srgbClr val="F1F4F7"/>
          </a:solidFill>
          <a:ln w="12700">
            <a:solidFill>
              <a:srgbClr val="DDE4EA"/>
            </a:solidFill>
            <a:prstDash val="solid"/>
          </a:ln>
        </p:spPr>
        <p:txBody>
          <a:bodyPr/>
          <a:p/>
        </p:txBody>
      </p:sp>
      <p:sp>
        <p:nvSpPr>
          <p:cNvPr id="13" name="Shape 11"/>
          <p:cNvSpPr/>
          <p:nvPr/>
        </p:nvSpPr>
        <p:spPr>
          <a:xfrm>
            <a:off x="694944" y="3136392"/>
            <a:ext cx="329184" cy="329184"/>
          </a:xfrm>
          <a:prstGeom prst="ellipse">
            <a:avLst/>
          </a:prstGeom>
          <a:solidFill>
            <a:srgbClr val="1A2433"/>
          </a:solidFill>
          <a:ln w="12700">
            <a:solidFill>
              <a:srgbClr val="1A2433"/>
            </a:solidFill>
            <a:prstDash val="solid"/>
          </a:ln>
        </p:spPr>
        <p:txBody>
          <a:bodyPr/>
          <a:p/>
        </p:txBody>
      </p:sp>
      <p:sp>
        <p:nvSpPr>
          <p:cNvPr id="14" name="Text 12"/>
          <p:cNvSpPr txBox="1"/>
          <p:nvPr/>
        </p:nvSpPr>
        <p:spPr>
          <a:xfrm>
            <a:off x="694944" y="313639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1133856" y="308152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Run the offline suite</a:t>
            </a:r>
            <a:endParaRPr lang="en-US" sz="1250" dirty="0"/>
          </a:p>
        </p:txBody>
      </p:sp>
      <p:sp>
        <p:nvSpPr>
          <p:cNvPr id="16" name="Text 14"/>
          <p:cNvSpPr txBox="1"/>
          <p:nvPr/>
        </p:nvSpPr>
        <p:spPr>
          <a:xfrm>
            <a:off x="3438144" y="308152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20 min</a:t>
            </a:r>
            <a:endParaRPr lang="en-US" sz="1100" dirty="0"/>
          </a:p>
        </p:txBody>
      </p:sp>
      <p:sp>
        <p:nvSpPr>
          <p:cNvPr id="17" name="Text 15"/>
          <p:cNvSpPr txBox="1"/>
          <p:nvPr/>
        </p:nvSpPr>
        <p:spPr>
          <a:xfrm>
            <a:off x="4370832" y="308152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510 pass, 4 skip (514 collected). Confirm the CI security gates are blocking, not report-only.</a:t>
            </a:r>
            <a:endParaRPr lang="en-US" sz="1150" dirty="0"/>
          </a:p>
        </p:txBody>
      </p:sp>
      <p:sp>
        <p:nvSpPr>
          <p:cNvPr id="18" name="Shape 16"/>
          <p:cNvSpPr/>
          <p:nvPr/>
        </p:nvSpPr>
        <p:spPr>
          <a:xfrm>
            <a:off x="566928" y="3584448"/>
            <a:ext cx="11018520" cy="438912"/>
          </a:xfrm>
          <a:prstGeom prst="roundRect">
            <a:avLst>
              <a:gd name="adj" fmla="val 18750"/>
            </a:avLst>
          </a:prstGeom>
          <a:solidFill>
            <a:srgbClr val="FFFFFF"/>
          </a:solidFill>
          <a:ln w="12700">
            <a:solidFill>
              <a:srgbClr val="DDE4EA"/>
            </a:solidFill>
            <a:prstDash val="solid"/>
          </a:ln>
        </p:spPr>
        <p:txBody>
          <a:bodyPr/>
          <a:p/>
        </p:txBody>
      </p:sp>
      <p:sp>
        <p:nvSpPr>
          <p:cNvPr id="19" name="Shape 17"/>
          <p:cNvSpPr/>
          <p:nvPr/>
        </p:nvSpPr>
        <p:spPr>
          <a:xfrm>
            <a:off x="694944" y="3639312"/>
            <a:ext cx="329184" cy="329184"/>
          </a:xfrm>
          <a:prstGeom prst="ellipse">
            <a:avLst/>
          </a:prstGeom>
          <a:solidFill>
            <a:srgbClr val="1A2433"/>
          </a:solidFill>
          <a:ln w="12700">
            <a:solidFill>
              <a:srgbClr val="1A2433"/>
            </a:solidFill>
            <a:prstDash val="solid"/>
          </a:ln>
        </p:spPr>
        <p:txBody>
          <a:bodyPr/>
          <a:p/>
        </p:txBody>
      </p:sp>
      <p:sp>
        <p:nvSpPr>
          <p:cNvPr id="20" name="Text 18"/>
          <p:cNvSpPr txBox="1"/>
          <p:nvPr/>
        </p:nvSpPr>
        <p:spPr>
          <a:xfrm>
            <a:off x="694944" y="363931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1133856" y="358444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Read a pass and a failure</a:t>
            </a:r>
            <a:endParaRPr lang="en-US" sz="1250" dirty="0"/>
          </a:p>
        </p:txBody>
      </p:sp>
      <p:sp>
        <p:nvSpPr>
          <p:cNvPr id="22" name="Text 20"/>
          <p:cNvSpPr txBox="1"/>
          <p:nvPr/>
        </p:nvSpPr>
        <p:spPr>
          <a:xfrm>
            <a:off x="3438144" y="358444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20 min</a:t>
            </a:r>
            <a:endParaRPr lang="en-US" sz="1100" dirty="0"/>
          </a:p>
        </p:txBody>
      </p:sp>
      <p:sp>
        <p:nvSpPr>
          <p:cNvPr id="23" name="Text 21"/>
          <p:cNvSpPr txBox="1"/>
          <p:nvPr/>
        </p:nvSpPr>
        <p:spPr>
          <a:xfrm>
            <a:off x="4370832" y="358444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A pass and the failure before it, side by side, in the same commit. Cheapest high-signal step in the list.</a:t>
            </a:r>
            <a:endParaRPr lang="en-US" sz="1150" dirty="0"/>
          </a:p>
        </p:txBody>
      </p:sp>
      <p:sp>
        <p:nvSpPr>
          <p:cNvPr id="24" name="Shape 22"/>
          <p:cNvSpPr/>
          <p:nvPr/>
        </p:nvSpPr>
        <p:spPr>
          <a:xfrm>
            <a:off x="566928" y="4087368"/>
            <a:ext cx="11018520" cy="438912"/>
          </a:xfrm>
          <a:prstGeom prst="roundRect">
            <a:avLst>
              <a:gd name="adj" fmla="val 18750"/>
            </a:avLst>
          </a:prstGeom>
          <a:solidFill>
            <a:srgbClr val="F1F4F7"/>
          </a:solidFill>
          <a:ln w="12700">
            <a:solidFill>
              <a:srgbClr val="DDE4EA"/>
            </a:solidFill>
            <a:prstDash val="solid"/>
          </a:ln>
        </p:spPr>
        <p:txBody>
          <a:bodyPr/>
          <a:p/>
        </p:txBody>
      </p:sp>
      <p:sp>
        <p:nvSpPr>
          <p:cNvPr id="25" name="Shape 23"/>
          <p:cNvSpPr/>
          <p:nvPr/>
        </p:nvSpPr>
        <p:spPr>
          <a:xfrm>
            <a:off x="694944" y="4142232"/>
            <a:ext cx="329184" cy="329184"/>
          </a:xfrm>
          <a:prstGeom prst="ellipse">
            <a:avLst/>
          </a:prstGeom>
          <a:solidFill>
            <a:srgbClr val="1A2433"/>
          </a:solidFill>
          <a:ln w="12700">
            <a:solidFill>
              <a:srgbClr val="1A2433"/>
            </a:solidFill>
            <a:prstDash val="solid"/>
          </a:ln>
        </p:spPr>
        <p:txBody>
          <a:bodyPr/>
          <a:p/>
        </p:txBody>
      </p:sp>
      <p:sp>
        <p:nvSpPr>
          <p:cNvPr id="26" name="Text 24"/>
          <p:cNvSpPr txBox="1"/>
          <p:nvPr/>
        </p:nvSpPr>
        <p:spPr>
          <a:xfrm>
            <a:off x="694944" y="414223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1133856" y="408736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Deploy from zero</a:t>
            </a:r>
            <a:endParaRPr lang="en-US" sz="1250" dirty="0"/>
          </a:p>
        </p:txBody>
      </p:sp>
      <p:sp>
        <p:nvSpPr>
          <p:cNvPr id="28" name="Text 26"/>
          <p:cNvSpPr txBox="1"/>
          <p:nvPr/>
        </p:nvSpPr>
        <p:spPr>
          <a:xfrm>
            <a:off x="3438144" y="408736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~2 hr</a:t>
            </a:r>
            <a:endParaRPr lang="en-US" sz="1100" dirty="0"/>
          </a:p>
        </p:txBody>
      </p:sp>
      <p:sp>
        <p:nvSpPr>
          <p:cNvPr id="29" name="Text 27"/>
          <p:cNvSpPr txBox="1"/>
          <p:nvPr/>
        </p:nvSpPr>
        <p:spPr>
          <a:xfrm>
            <a:off x="4370832" y="408736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Into a clean account you control, following docs/INDEPENDENT-VERIFICATION.md.</a:t>
            </a:r>
            <a:endParaRPr lang="en-US" sz="1150" dirty="0"/>
          </a:p>
        </p:txBody>
      </p:sp>
      <p:sp>
        <p:nvSpPr>
          <p:cNvPr id="30" name="Shape 28"/>
          <p:cNvSpPr/>
          <p:nvPr/>
        </p:nvSpPr>
        <p:spPr>
          <a:xfrm>
            <a:off x="566928" y="4590288"/>
            <a:ext cx="11018520" cy="438912"/>
          </a:xfrm>
          <a:prstGeom prst="roundRect">
            <a:avLst>
              <a:gd name="adj" fmla="val 18750"/>
            </a:avLst>
          </a:prstGeom>
          <a:solidFill>
            <a:srgbClr val="FFFFFF"/>
          </a:solidFill>
          <a:ln w="12700">
            <a:solidFill>
              <a:srgbClr val="DDE4EA"/>
            </a:solidFill>
            <a:prstDash val="solid"/>
          </a:ln>
        </p:spPr>
        <p:txBody>
          <a:bodyPr/>
          <a:p/>
        </p:txBody>
      </p:sp>
      <p:sp>
        <p:nvSpPr>
          <p:cNvPr id="31" name="Shape 29"/>
          <p:cNvSpPr/>
          <p:nvPr/>
        </p:nvSpPr>
        <p:spPr>
          <a:xfrm>
            <a:off x="694944" y="4645152"/>
            <a:ext cx="329184" cy="329184"/>
          </a:xfrm>
          <a:prstGeom prst="ellipse">
            <a:avLst/>
          </a:prstGeom>
          <a:solidFill>
            <a:srgbClr val="1A2433"/>
          </a:solidFill>
          <a:ln w="12700">
            <a:solidFill>
              <a:srgbClr val="1A2433"/>
            </a:solidFill>
            <a:prstDash val="solid"/>
          </a:ln>
        </p:spPr>
        <p:txBody>
          <a:bodyPr/>
          <a:p/>
        </p:txBody>
      </p:sp>
      <p:sp>
        <p:nvSpPr>
          <p:cNvPr id="32" name="Text 30"/>
          <p:cNvSpPr txBox="1"/>
          <p:nvPr/>
        </p:nvSpPr>
        <p:spPr>
          <a:xfrm>
            <a:off x="694944" y="464515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31"/>
          <p:cNvSpPr txBox="1"/>
          <p:nvPr/>
        </p:nvSpPr>
        <p:spPr>
          <a:xfrm>
            <a:off x="1133856" y="459028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Run the gate yourself</a:t>
            </a:r>
            <a:endParaRPr lang="en-US" sz="1250" dirty="0"/>
          </a:p>
        </p:txBody>
      </p:sp>
      <p:sp>
        <p:nvSpPr>
          <p:cNvPr id="34" name="Text 32"/>
          <p:cNvSpPr txBox="1"/>
          <p:nvPr/>
        </p:nvSpPr>
        <p:spPr>
          <a:xfrm>
            <a:off x="3438144" y="459028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~1.5 hr</a:t>
            </a:r>
            <a:endParaRPr lang="en-US" sz="1100" dirty="0"/>
          </a:p>
        </p:txBody>
      </p:sp>
      <p:sp>
        <p:nvSpPr>
          <p:cNvPr id="35" name="Text 33"/>
          <p:cNvSpPr txBox="1"/>
          <p:nvPr/>
        </p:nvSpPr>
        <p:spPr>
          <a:xfrm>
            <a:off x="4370832" y="459028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Record the result — including if it fails. That is the deliverable either way.</a:t>
            </a:r>
            <a:endParaRPr lang="en-US" sz="1150" dirty="0"/>
          </a:p>
        </p:txBody>
      </p:sp>
      <p:sp>
        <p:nvSpPr>
          <p:cNvPr id="36" name="Shape 34"/>
          <p:cNvSpPr/>
          <p:nvPr/>
        </p:nvSpPr>
        <p:spPr>
          <a:xfrm>
            <a:off x="566928" y="5093208"/>
            <a:ext cx="11018520" cy="438912"/>
          </a:xfrm>
          <a:prstGeom prst="roundRect">
            <a:avLst>
              <a:gd name="adj" fmla="val 18750"/>
            </a:avLst>
          </a:prstGeom>
          <a:solidFill>
            <a:srgbClr val="F1F4F7"/>
          </a:solidFill>
          <a:ln w="12700">
            <a:solidFill>
              <a:srgbClr val="DDE4EA"/>
            </a:solidFill>
            <a:prstDash val="solid"/>
          </a:ln>
        </p:spPr>
        <p:txBody>
          <a:bodyPr/>
          <a:p/>
        </p:txBody>
      </p:sp>
      <p:sp>
        <p:nvSpPr>
          <p:cNvPr id="37" name="Shape 35"/>
          <p:cNvSpPr/>
          <p:nvPr/>
        </p:nvSpPr>
        <p:spPr>
          <a:xfrm>
            <a:off x="694944" y="5148072"/>
            <a:ext cx="329184" cy="329184"/>
          </a:xfrm>
          <a:prstGeom prst="ellipse">
            <a:avLst/>
          </a:prstGeom>
          <a:solidFill>
            <a:srgbClr val="1A2433"/>
          </a:solidFill>
          <a:ln w="12700">
            <a:solidFill>
              <a:srgbClr val="1A2433"/>
            </a:solidFill>
            <a:prstDash val="solid"/>
          </a:ln>
        </p:spPr>
        <p:txBody>
          <a:bodyPr/>
          <a:p/>
        </p:txBody>
      </p:sp>
      <p:sp>
        <p:nvSpPr>
          <p:cNvPr id="38" name="Text 36"/>
          <p:cNvSpPr txBox="1"/>
          <p:nvPr/>
        </p:nvSpPr>
        <p:spPr>
          <a:xfrm>
            <a:off x="694944" y="51480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9" name="Text 37"/>
          <p:cNvSpPr txBox="1"/>
          <p:nvPr/>
        </p:nvSpPr>
        <p:spPr>
          <a:xfrm>
            <a:off x="1133856" y="509320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Try to break it</a:t>
            </a:r>
            <a:endParaRPr lang="en-US" sz="1250" dirty="0"/>
          </a:p>
        </p:txBody>
      </p:sp>
      <p:sp>
        <p:nvSpPr>
          <p:cNvPr id="40" name="Text 38"/>
          <p:cNvSpPr txBox="1"/>
          <p:nvPr/>
        </p:nvSpPr>
        <p:spPr>
          <a:xfrm>
            <a:off x="3438144" y="509320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~1 hr</a:t>
            </a:r>
            <a:endParaRPr lang="en-US" sz="1100" dirty="0"/>
          </a:p>
        </p:txBody>
      </p:sp>
      <p:sp>
        <p:nvSpPr>
          <p:cNvPr id="41" name="Text 39"/>
          <p:cNvSpPr txBox="1"/>
          <p:nvPr/>
        </p:nvSpPr>
        <p:spPr>
          <a:xfrm>
            <a:off x="4370832" y="509320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Forge a sanitized_ref. Call a tool with no entitlement. Call finalize_determination directly.</a:t>
            </a:r>
            <a:endParaRPr lang="en-US" sz="1150" dirty="0"/>
          </a:p>
        </p:txBody>
      </p:sp>
      <p:sp>
        <p:nvSpPr>
          <p:cNvPr id="42" name="Shape 40"/>
          <p:cNvSpPr/>
          <p:nvPr/>
        </p:nvSpPr>
        <p:spPr>
          <a:xfrm>
            <a:off x="566928" y="5596128"/>
            <a:ext cx="11018520" cy="438912"/>
          </a:xfrm>
          <a:prstGeom prst="roundRect">
            <a:avLst>
              <a:gd name="adj" fmla="val 18750"/>
            </a:avLst>
          </a:prstGeom>
          <a:solidFill>
            <a:srgbClr val="FFFFFF"/>
          </a:solidFill>
          <a:ln w="12700">
            <a:solidFill>
              <a:srgbClr val="DDE4EA"/>
            </a:solidFill>
            <a:prstDash val="solid"/>
          </a:ln>
        </p:spPr>
        <p:txBody>
          <a:bodyPr/>
          <a:p/>
        </p:txBody>
      </p:sp>
      <p:sp>
        <p:nvSpPr>
          <p:cNvPr id="43" name="Shape 41"/>
          <p:cNvSpPr/>
          <p:nvPr/>
        </p:nvSpPr>
        <p:spPr>
          <a:xfrm>
            <a:off x="694944" y="5650992"/>
            <a:ext cx="329184" cy="329184"/>
          </a:xfrm>
          <a:prstGeom prst="ellipse">
            <a:avLst/>
          </a:prstGeom>
          <a:solidFill>
            <a:srgbClr val="1A2433"/>
          </a:solidFill>
          <a:ln w="12700">
            <a:solidFill>
              <a:srgbClr val="1A2433"/>
            </a:solidFill>
            <a:prstDash val="solid"/>
          </a:ln>
        </p:spPr>
        <p:txBody>
          <a:bodyPr/>
          <a:p/>
        </p:txBody>
      </p:sp>
      <p:sp>
        <p:nvSpPr>
          <p:cNvPr id="44" name="Text 42"/>
          <p:cNvSpPr txBox="1"/>
          <p:nvPr/>
        </p:nvSpPr>
        <p:spPr>
          <a:xfrm>
            <a:off x="694944" y="565099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5" name="Text 43"/>
          <p:cNvSpPr txBox="1"/>
          <p:nvPr/>
        </p:nvSpPr>
        <p:spPr>
          <a:xfrm>
            <a:off x="1133856" y="559612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Tear down</a:t>
            </a:r>
            <a:endParaRPr lang="en-US" sz="1250" dirty="0"/>
          </a:p>
        </p:txBody>
      </p:sp>
      <p:sp>
        <p:nvSpPr>
          <p:cNvPr id="46" name="Text 44"/>
          <p:cNvSpPr txBox="1"/>
          <p:nvPr/>
        </p:nvSpPr>
        <p:spPr>
          <a:xfrm>
            <a:off x="3438144" y="559612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30 min</a:t>
            </a:r>
            <a:endParaRPr lang="en-US" sz="1100" dirty="0"/>
          </a:p>
        </p:txBody>
      </p:sp>
      <p:sp>
        <p:nvSpPr>
          <p:cNvPr id="47" name="Text 45"/>
          <p:cNvSpPr txBox="1"/>
          <p:nvPr/>
        </p:nvSpPr>
        <p:spPr>
          <a:xfrm>
            <a:off x="4370832" y="559612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Confirm zero stack and zero AgentCore residue in your account.</a:t>
            </a:r>
            <a:endParaRPr lang="en-US" sz="1150" dirty="0"/>
          </a:p>
        </p:txBody>
      </p:sp>
      <p:sp>
        <p:nvSpPr>
          <p:cNvPr id="48" name="Text 46"/>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9A6700"/>
                </a:solidFill>
                <a:latin typeface="Calibri" pitchFamily="34" charset="0"/>
                <a:ea typeface="Calibri" pitchFamily="34" charset="-122"/>
                <a:cs typeface="Calibri" pitchFamily="34" charset="-120"/>
              </a:rPr>
              <a:t>One prerequisite we owe you: the account needs CloudTrail headroom. The limit is five trails per region and AWS marks it not adjustable. Each deployed pack needs two.</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HOW THIS MOVES FORWARD</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Verify, then extend, then a customer — in that order</a:t>
            </a:r>
            <a:endParaRPr lang="en-US" sz="3400" dirty="0"/>
          </a:p>
        </p:txBody>
      </p:sp>
      <p:sp>
        <p:nvSpPr>
          <p:cNvPr id="4" name="Shape 2"/>
          <p:cNvSpPr/>
          <p:nvPr/>
        </p:nvSpPr>
        <p:spPr>
          <a:xfrm>
            <a:off x="566928" y="1481328"/>
            <a:ext cx="11018520" cy="1042416"/>
          </a:xfrm>
          <a:prstGeom prst="roundRect">
            <a:avLst>
              <a:gd name="adj" fmla="val 7895"/>
            </a:avLst>
          </a:prstGeom>
          <a:solidFill>
            <a:srgbClr val="FFFFFF"/>
          </a:solidFill>
          <a:ln w="12700">
            <a:solidFill>
              <a:srgbClr val="D8E0E7"/>
            </a:solidFill>
            <a:prstDash val="solid"/>
          </a:ln>
        </p:spPr>
        <p:txBody>
          <a:bodyPr/>
          <a:p/>
        </p:txBody>
      </p:sp>
      <p:sp>
        <p:nvSpPr>
          <p:cNvPr id="5" name="Shape 3"/>
          <p:cNvSpPr/>
          <p:nvPr/>
        </p:nvSpPr>
        <p:spPr>
          <a:xfrm>
            <a:off x="822960" y="1764792"/>
            <a:ext cx="475488" cy="475488"/>
          </a:xfrm>
          <a:prstGeom prst="ellipse">
            <a:avLst/>
          </a:prstGeom>
          <a:solidFill>
            <a:srgbClr val="1D6F42"/>
          </a:solidFill>
          <a:ln w="12700">
            <a:solidFill>
              <a:srgbClr val="1D6F42"/>
            </a:solidFill>
            <a:prstDash val="solid"/>
          </a:ln>
        </p:spPr>
        <p:txBody>
          <a:bodyPr/>
          <a:p/>
        </p:txBody>
      </p:sp>
      <p:sp>
        <p:nvSpPr>
          <p:cNvPr id="6" name="Text 4"/>
          <p:cNvSpPr txBox="1"/>
          <p:nvPr/>
        </p:nvSpPr>
        <p:spPr>
          <a:xfrm>
            <a:off x="822960" y="1764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463040" y="1627632"/>
            <a:ext cx="1920240" cy="365760"/>
          </a:xfrm>
          <a:prstGeom prst="rect">
            <a:avLst/>
          </a:prstGeom>
          <a:noFill/>
          <a:ln/>
        </p:spPr>
        <p:txBody>
          <a:bodyPr wrap="square" lIns="0" tIns="0" rIns="0" bIns="0" rtlCol="0" anchor="ctr"/>
          <a:lstStyle/>
          <a:p>
            <a:pPr indent="0" marL="0">
              <a:buNone/>
            </a:pPr>
            <a:r>
              <a:rPr lang="en-US" sz="1700" b="1" dirty="0">
                <a:solidFill>
                  <a:srgbClr val="1D6F42"/>
                </a:solidFill>
                <a:latin typeface="Cambria" pitchFamily="34" charset="0"/>
                <a:ea typeface="Cambria" pitchFamily="34" charset="-122"/>
                <a:cs typeface="Cambria" pitchFamily="34" charset="-120"/>
              </a:rPr>
              <a:t>Verify</a:t>
            </a:r>
            <a:endParaRPr lang="en-US" sz="1700" dirty="0"/>
          </a:p>
        </p:txBody>
      </p:sp>
      <p:sp>
        <p:nvSpPr>
          <p:cNvPr id="8" name="Text 6"/>
          <p:cNvSpPr txBox="1"/>
          <p:nvPr/>
        </p:nvSpPr>
        <p:spPr>
          <a:xfrm>
            <a:off x="1463040" y="2011680"/>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Weeks 1–2</a:t>
            </a:r>
            <a:endParaRPr lang="en-US" sz="1100" dirty="0"/>
          </a:p>
        </p:txBody>
      </p:sp>
      <p:sp>
        <p:nvSpPr>
          <p:cNvPr id="9" name="Text 7"/>
          <p:cNvSpPr txBox="1"/>
          <p:nvPr/>
        </p:nvSpPr>
        <p:spPr>
          <a:xfrm>
            <a:off x="3520440" y="1609344"/>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Partner SA reproduces the gate in a clean account, including the break-it step.</a:t>
            </a:r>
            <a:endParaRPr lang="en-US" sz="1250" dirty="0"/>
          </a:p>
        </p:txBody>
      </p:sp>
      <p:sp>
        <p:nvSpPr>
          <p:cNvPr id="10" name="Text 8"/>
          <p:cNvSpPr txBox="1"/>
          <p:nvPr/>
        </p:nvSpPr>
        <p:spPr>
          <a:xfrm>
            <a:off x="8823960" y="1609344"/>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1D6F42"/>
                </a:solidFill>
                <a:latin typeface="Calibri" pitchFamily="34" charset="0"/>
                <a:ea typeface="Calibri" pitchFamily="34" charset="-122"/>
                <a:cs typeface="Calibri" pitchFamily="34" charset="-120"/>
              </a:rPr>
              <a:t>Gate: it reproduces, or we learn why not.</a:t>
            </a:r>
            <a:endParaRPr lang="en-US" sz="1150" dirty="0"/>
          </a:p>
        </p:txBody>
      </p:sp>
      <p:sp>
        <p:nvSpPr>
          <p:cNvPr id="11" name="Shape 9"/>
          <p:cNvSpPr/>
          <p:nvPr/>
        </p:nvSpPr>
        <p:spPr>
          <a:xfrm>
            <a:off x="566928" y="2651760"/>
            <a:ext cx="11018520" cy="1042416"/>
          </a:xfrm>
          <a:prstGeom prst="roundRect">
            <a:avLst>
              <a:gd name="adj" fmla="val 7895"/>
            </a:avLst>
          </a:prstGeom>
          <a:solidFill>
            <a:srgbClr val="FFFFFF"/>
          </a:solidFill>
          <a:ln w="12700">
            <a:solidFill>
              <a:srgbClr val="D8E0E7"/>
            </a:solidFill>
            <a:prstDash val="solid"/>
          </a:ln>
        </p:spPr>
        <p:txBody>
          <a:bodyPr/>
          <a:p/>
        </p:txBody>
      </p:sp>
      <p:sp>
        <p:nvSpPr>
          <p:cNvPr id="12" name="Shape 10"/>
          <p:cNvSpPr/>
          <p:nvPr/>
        </p:nvSpPr>
        <p:spPr>
          <a:xfrm>
            <a:off x="822960" y="2935224"/>
            <a:ext cx="475488" cy="475488"/>
          </a:xfrm>
          <a:prstGeom prst="ellipse">
            <a:avLst/>
          </a:prstGeom>
          <a:solidFill>
            <a:srgbClr val="1A2433"/>
          </a:solidFill>
          <a:ln w="12700">
            <a:solidFill>
              <a:srgbClr val="1A2433"/>
            </a:solidFill>
            <a:prstDash val="solid"/>
          </a:ln>
        </p:spPr>
        <p:txBody>
          <a:bodyPr/>
          <a:p/>
        </p:txBody>
      </p:sp>
      <p:sp>
        <p:nvSpPr>
          <p:cNvPr id="13" name="Text 11"/>
          <p:cNvSpPr txBox="1"/>
          <p:nvPr/>
        </p:nvSpPr>
        <p:spPr>
          <a:xfrm>
            <a:off x="822960" y="29352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4" name="Text 12"/>
          <p:cNvSpPr txBox="1"/>
          <p:nvPr/>
        </p:nvSpPr>
        <p:spPr>
          <a:xfrm>
            <a:off x="1463040" y="2798064"/>
            <a:ext cx="1920240" cy="365760"/>
          </a:xfrm>
          <a:prstGeom prst="rect">
            <a:avLst/>
          </a:prstGeom>
          <a:noFill/>
          <a:ln/>
        </p:spPr>
        <p:txBody>
          <a:bodyPr wrap="square" lIns="0" tIns="0" rIns="0" bIns="0" rtlCol="0" anchor="ctr"/>
          <a:lstStyle/>
          <a:p>
            <a:pPr indent="0" marL="0">
              <a:buNone/>
            </a:pPr>
            <a:r>
              <a:rPr lang="en-US" sz="1700" b="1" dirty="0">
                <a:solidFill>
                  <a:srgbClr val="1A2433"/>
                </a:solidFill>
                <a:latin typeface="Cambria" pitchFamily="34" charset="0"/>
                <a:ea typeface="Cambria" pitchFamily="34" charset="-122"/>
                <a:cs typeface="Cambria" pitchFamily="34" charset="-120"/>
              </a:rPr>
              <a:t>Extend</a:t>
            </a:r>
            <a:endParaRPr lang="en-US" sz="1700" dirty="0"/>
          </a:p>
        </p:txBody>
      </p:sp>
      <p:sp>
        <p:nvSpPr>
          <p:cNvPr id="15" name="Text 13"/>
          <p:cNvSpPr txBox="1"/>
          <p:nvPr/>
        </p:nvSpPr>
        <p:spPr>
          <a:xfrm>
            <a:off x="1463040" y="3182112"/>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Weeks 3–8</a:t>
            </a:r>
            <a:endParaRPr lang="en-US" sz="1100" dirty="0"/>
          </a:p>
        </p:txBody>
      </p:sp>
      <p:sp>
        <p:nvSpPr>
          <p:cNvPr id="16" name="Text 14"/>
          <p:cNvSpPr txBox="1"/>
          <p:nvPr/>
        </p:nvSpPr>
        <p:spPr>
          <a:xfrm>
            <a:off x="3520440" y="2779776"/>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The same connector proof against a real EXTERNAL system of record — ours is proven, a customer's is not. Live re-gate of a second pack. Observability uplift. Organization + SCP if you can supply an OU.</a:t>
            </a:r>
            <a:endParaRPr lang="en-US" sz="1250" dirty="0"/>
          </a:p>
        </p:txBody>
      </p:sp>
      <p:sp>
        <p:nvSpPr>
          <p:cNvPr id="17" name="Text 15"/>
          <p:cNvSpPr txBox="1"/>
          <p:nvPr/>
        </p:nvSpPr>
        <p:spPr>
          <a:xfrm>
            <a:off x="8823960" y="2779776"/>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1D6F42"/>
                </a:solidFill>
                <a:latin typeface="Calibri" pitchFamily="34" charset="0"/>
                <a:ea typeface="Calibri" pitchFamily="34" charset="-122"/>
                <a:cs typeface="Calibri" pitchFamily="34" charset="-120"/>
              </a:rPr>
              <a:t>Gate: a system of record we do not own is governed.</a:t>
            </a:r>
            <a:endParaRPr lang="en-US" sz="1150" dirty="0"/>
          </a:p>
        </p:txBody>
      </p:sp>
      <p:sp>
        <p:nvSpPr>
          <p:cNvPr id="18" name="Shape 16"/>
          <p:cNvSpPr/>
          <p:nvPr/>
        </p:nvSpPr>
        <p:spPr>
          <a:xfrm>
            <a:off x="566928" y="3822192"/>
            <a:ext cx="11018520" cy="1042416"/>
          </a:xfrm>
          <a:prstGeom prst="roundRect">
            <a:avLst>
              <a:gd name="adj" fmla="val 7895"/>
            </a:avLst>
          </a:prstGeom>
          <a:solidFill>
            <a:srgbClr val="FFFFFF"/>
          </a:solidFill>
          <a:ln w="12700">
            <a:solidFill>
              <a:srgbClr val="D8E0E7"/>
            </a:solidFill>
            <a:prstDash val="solid"/>
          </a:ln>
        </p:spPr>
        <p:txBody>
          <a:bodyPr/>
          <a:p/>
        </p:txBody>
      </p:sp>
      <p:sp>
        <p:nvSpPr>
          <p:cNvPr id="19" name="Shape 17"/>
          <p:cNvSpPr/>
          <p:nvPr/>
        </p:nvSpPr>
        <p:spPr>
          <a:xfrm>
            <a:off x="822960" y="4105656"/>
            <a:ext cx="475488" cy="475488"/>
          </a:xfrm>
          <a:prstGeom prst="ellipse">
            <a:avLst/>
          </a:prstGeom>
          <a:solidFill>
            <a:srgbClr val="9A6700"/>
          </a:solidFill>
          <a:ln w="12700">
            <a:solidFill>
              <a:srgbClr val="9A6700"/>
            </a:solidFill>
            <a:prstDash val="solid"/>
          </a:ln>
        </p:spPr>
        <p:txBody>
          <a:bodyPr/>
          <a:p/>
        </p:txBody>
      </p:sp>
      <p:sp>
        <p:nvSpPr>
          <p:cNvPr id="20" name="Text 18"/>
          <p:cNvSpPr txBox="1"/>
          <p:nvPr/>
        </p:nvSpPr>
        <p:spPr>
          <a:xfrm>
            <a:off x="822960" y="41056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1" name="Text 19"/>
          <p:cNvSpPr txBox="1"/>
          <p:nvPr/>
        </p:nvSpPr>
        <p:spPr>
          <a:xfrm>
            <a:off x="1463040" y="3968496"/>
            <a:ext cx="1920240" cy="365760"/>
          </a:xfrm>
          <a:prstGeom prst="rect">
            <a:avLst/>
          </a:prstGeom>
          <a:noFill/>
          <a:ln/>
        </p:spPr>
        <p:txBody>
          <a:bodyPr wrap="square" lIns="0" tIns="0" rIns="0" bIns="0" rtlCol="0" anchor="ctr"/>
          <a:lstStyle/>
          <a:p>
            <a:pPr indent="0" marL="0">
              <a:buNone/>
            </a:pPr>
            <a:r>
              <a:rPr lang="en-US" sz="1700" b="1" dirty="0">
                <a:solidFill>
                  <a:srgbClr val="9A6700"/>
                </a:solidFill>
                <a:latin typeface="Cambria" pitchFamily="34" charset="0"/>
                <a:ea typeface="Cambria" pitchFamily="34" charset="-122"/>
                <a:cs typeface="Cambria" pitchFamily="34" charset="-120"/>
              </a:rPr>
              <a:t>Pilot</a:t>
            </a:r>
            <a:endParaRPr lang="en-US" sz="1700" dirty="0"/>
          </a:p>
        </p:txBody>
      </p:sp>
      <p:sp>
        <p:nvSpPr>
          <p:cNvPr id="22" name="Text 20"/>
          <p:cNvSpPr txBox="1"/>
          <p:nvPr/>
        </p:nvSpPr>
        <p:spPr>
          <a:xfrm>
            <a:off x="1463040" y="4352544"/>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Quarter 2</a:t>
            </a:r>
            <a:endParaRPr lang="en-US" sz="1100" dirty="0"/>
          </a:p>
        </p:txBody>
      </p:sp>
      <p:sp>
        <p:nvSpPr>
          <p:cNvPr id="23" name="Text 21"/>
          <p:cNvSpPr txBox="1"/>
          <p:nvPr/>
        </p:nvSpPr>
        <p:spPr>
          <a:xfrm>
            <a:off x="3520440" y="3950208"/>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Named customer. Supervised pilot on de-identified data. Customer's own security engineering, testing and authorization.</a:t>
            </a:r>
            <a:endParaRPr lang="en-US" sz="1250" dirty="0"/>
          </a:p>
        </p:txBody>
      </p:sp>
      <p:sp>
        <p:nvSpPr>
          <p:cNvPr id="24" name="Text 22"/>
          <p:cNvSpPr txBox="1"/>
          <p:nvPr/>
        </p:nvSpPr>
        <p:spPr>
          <a:xfrm>
            <a:off x="8823960" y="3950208"/>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1D6F42"/>
                </a:solidFill>
                <a:latin typeface="Calibri" pitchFamily="34" charset="0"/>
                <a:ea typeface="Calibri" pitchFamily="34" charset="-122"/>
                <a:cs typeface="Calibri" pitchFamily="34" charset="-120"/>
              </a:rPr>
              <a:t>Gate: the customer's AO accepts the compensating-control statement.</a:t>
            </a:r>
            <a:endParaRPr lang="en-US" sz="1150" dirty="0"/>
          </a:p>
        </p:txBody>
      </p:sp>
      <p:sp>
        <p:nvSpPr>
          <p:cNvPr id="25" name="Shape 23"/>
          <p:cNvSpPr/>
          <p:nvPr/>
        </p:nvSpPr>
        <p:spPr>
          <a:xfrm>
            <a:off x="566928" y="4992624"/>
            <a:ext cx="11018520" cy="1042416"/>
          </a:xfrm>
          <a:prstGeom prst="roundRect">
            <a:avLst>
              <a:gd name="adj" fmla="val 7895"/>
            </a:avLst>
          </a:prstGeom>
          <a:solidFill>
            <a:srgbClr val="F1F4F7"/>
          </a:solidFill>
          <a:ln w="12700">
            <a:solidFill>
              <a:srgbClr val="D8E0E7"/>
            </a:solidFill>
            <a:prstDash val="solid"/>
          </a:ln>
        </p:spPr>
        <p:txBody>
          <a:bodyPr/>
          <a:p/>
        </p:txBody>
      </p:sp>
      <p:sp>
        <p:nvSpPr>
          <p:cNvPr id="26" name="Shape 24"/>
          <p:cNvSpPr/>
          <p:nvPr/>
        </p:nvSpPr>
        <p:spPr>
          <a:xfrm>
            <a:off x="822960" y="5276088"/>
            <a:ext cx="475488" cy="475488"/>
          </a:xfrm>
          <a:prstGeom prst="ellipse">
            <a:avLst/>
          </a:prstGeom>
          <a:solidFill>
            <a:srgbClr val="5F7080"/>
          </a:solidFill>
          <a:ln w="12700">
            <a:solidFill>
              <a:srgbClr val="5F7080"/>
            </a:solidFill>
            <a:prstDash val="solid"/>
          </a:ln>
        </p:spPr>
        <p:txBody>
          <a:bodyPr/>
          <a:p/>
        </p:txBody>
      </p:sp>
      <p:sp>
        <p:nvSpPr>
          <p:cNvPr id="27" name="Text 25"/>
          <p:cNvSpPr txBox="1"/>
          <p:nvPr/>
        </p:nvSpPr>
        <p:spPr>
          <a:xfrm>
            <a:off x="822960" y="52760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8" name="Text 26"/>
          <p:cNvSpPr txBox="1"/>
          <p:nvPr/>
        </p:nvSpPr>
        <p:spPr>
          <a:xfrm>
            <a:off x="1463040" y="5138928"/>
            <a:ext cx="1920240" cy="365760"/>
          </a:xfrm>
          <a:prstGeom prst="rect">
            <a:avLst/>
          </a:prstGeom>
          <a:noFill/>
          <a:ln/>
        </p:spPr>
        <p:txBody>
          <a:bodyPr wrap="square" lIns="0" tIns="0" rIns="0" bIns="0" rtlCol="0" anchor="ctr"/>
          <a:lstStyle/>
          <a:p>
            <a:pPr indent="0" marL="0">
              <a:buNone/>
            </a:pPr>
            <a:r>
              <a:rPr lang="en-US" sz="1700" b="1" dirty="0">
                <a:solidFill>
                  <a:srgbClr val="5F7080"/>
                </a:solidFill>
                <a:latin typeface="Cambria" pitchFamily="34" charset="0"/>
                <a:ea typeface="Cambria" pitchFamily="34" charset="-122"/>
                <a:cs typeface="Cambria" pitchFamily="34" charset="-120"/>
              </a:rPr>
              <a:t>Production</a:t>
            </a:r>
            <a:endParaRPr lang="en-US" sz="1700" dirty="0"/>
          </a:p>
        </p:txBody>
      </p:sp>
      <p:sp>
        <p:nvSpPr>
          <p:cNvPr id="29" name="Text 27"/>
          <p:cNvSpPr txBox="1"/>
          <p:nvPr/>
        </p:nvSpPr>
        <p:spPr>
          <a:xfrm>
            <a:off x="1463040" y="5522976"/>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Later</a:t>
            </a:r>
            <a:endParaRPr lang="en-US" sz="1100" dirty="0"/>
          </a:p>
        </p:txBody>
      </p:sp>
      <p:sp>
        <p:nvSpPr>
          <p:cNvPr id="30" name="Text 28"/>
          <p:cNvSpPr txBox="1"/>
          <p:nvPr/>
        </p:nvSpPr>
        <p:spPr>
          <a:xfrm>
            <a:off x="3520440" y="5120640"/>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Not in scope for this conversation. Pen test, DR, SLO, IdP round-trip, ATO, formal authorization.</a:t>
            </a:r>
            <a:endParaRPr lang="en-US" sz="1250" dirty="0"/>
          </a:p>
        </p:txBody>
      </p:sp>
      <p:sp>
        <p:nvSpPr>
          <p:cNvPr id="31" name="Text 29"/>
          <p:cNvSpPr txBox="1"/>
          <p:nvPr/>
        </p:nvSpPr>
        <p:spPr>
          <a:xfrm>
            <a:off x="8823960" y="5120640"/>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5F7080"/>
                </a:solidFill>
                <a:latin typeface="Calibri" pitchFamily="34" charset="0"/>
                <a:ea typeface="Calibri" pitchFamily="34" charset="-122"/>
                <a:cs typeface="Calibri" pitchFamily="34" charset="-120"/>
              </a:rPr>
              <a:t>—</a:t>
            </a:r>
            <a:endParaRPr lang="en-US" sz="1150" dirty="0"/>
          </a:p>
        </p:txBody>
      </p:sp>
      <p:sp>
        <p:nvSpPr>
          <p:cNvPr id="32" name="Text 30"/>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B3261E"/>
                </a:solidFill>
                <a:latin typeface="Calibri" pitchFamily="34" charset="0"/>
                <a:ea typeface="Calibri" pitchFamily="34" charset="-122"/>
                <a:cs typeface="Calibri" pitchFamily="34" charset="-120"/>
              </a:rPr>
              <a:t>We are deliberately NOT asking you to find a customer yet. That would be asking you to put your name on synthetic, author-produced evidence.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777240" y="1051560"/>
            <a:ext cx="1060704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Where this actually stands</a:t>
            </a:r>
            <a:endParaRPr lang="en-US" sz="3600" dirty="0"/>
          </a:p>
        </p:txBody>
      </p:sp>
      <p:sp>
        <p:nvSpPr>
          <p:cNvPr id="3" name="Shape 1"/>
          <p:cNvSpPr/>
          <p:nvPr/>
        </p:nvSpPr>
        <p:spPr>
          <a:xfrm>
            <a:off x="777240" y="2011680"/>
            <a:ext cx="5212080" cy="2377440"/>
          </a:xfrm>
          <a:prstGeom prst="roundRect">
            <a:avLst>
              <a:gd name="adj" fmla="val 3462"/>
            </a:avLst>
          </a:prstGeom>
          <a:solidFill>
            <a:srgbClr val="2C3A4E"/>
          </a:solidFill>
          <a:ln w="12700">
            <a:solidFill>
              <a:srgbClr val="2E6B4A"/>
            </a:solidFill>
            <a:prstDash val="solid"/>
          </a:ln>
        </p:spPr>
        <p:txBody>
          <a:bodyPr/>
          <a:p/>
        </p:txBody>
      </p:sp>
      <p:sp>
        <p:nvSpPr>
          <p:cNvPr id="4" name="Text 2"/>
          <p:cNvSpPr txBox="1"/>
          <p:nvPr/>
        </p:nvSpPr>
        <p:spPr>
          <a:xfrm>
            <a:off x="1051560" y="2212848"/>
            <a:ext cx="4617720" cy="310896"/>
          </a:xfrm>
          <a:prstGeom prst="rect">
            <a:avLst/>
          </a:prstGeom>
          <a:noFill/>
          <a:ln/>
        </p:spPr>
        <p:txBody>
          <a:bodyPr wrap="square" lIns="0" tIns="0" rIns="0" bIns="0" rtlCol="0" anchor="ctr"/>
          <a:lstStyle/>
          <a:p>
            <a:pPr indent="0" marL="0">
              <a:buNone/>
            </a:pPr>
            <a:r>
              <a:rPr lang="en-US" sz="1500" b="1" dirty="0">
                <a:solidFill>
                  <a:srgbClr val="6BCB8F"/>
                </a:solidFill>
                <a:latin typeface="Cambria" pitchFamily="34" charset="0"/>
                <a:ea typeface="Cambria" pitchFamily="34" charset="-122"/>
                <a:cs typeface="Cambria" pitchFamily="34" charset="-120"/>
              </a:rPr>
              <a:t>What it is</a:t>
            </a:r>
            <a:endParaRPr lang="en-US" sz="1500" dirty="0"/>
          </a:p>
        </p:txBody>
      </p:sp>
      <p:sp>
        <p:nvSpPr>
          <p:cNvPr id="5" name="Text 3"/>
          <p:cNvSpPr txBox="1"/>
          <p:nvPr/>
        </p:nvSpPr>
        <p:spPr>
          <a:xfrm>
            <a:off x="1051560" y="2578608"/>
            <a:ext cx="4617720" cy="1005840"/>
          </a:xfrm>
          <a:prstGeom prst="rect">
            <a:avLst/>
          </a:prstGeom>
          <a:noFill/>
          <a:ln/>
        </p:spPr>
        <p:txBody>
          <a:bodyPr wrap="square" lIns="0" tIns="0" rIns="0" bIns="0" rtlCol="0" anchor="ctr"/>
          <a:lstStyle/>
          <a:p>
            <a:pPr indent="0" marL="0">
              <a:lnSpc>
                <a:spcPct val="115000"/>
              </a:lnSpc>
              <a:buNone/>
            </a:pPr>
            <a:r>
              <a:rPr lang="en-US" sz="1350" dirty="0">
                <a:solidFill>
                  <a:srgbClr val="BFD3E6"/>
                </a:solidFill>
                <a:latin typeface="Calibri" pitchFamily="34" charset="0"/>
                <a:ea typeface="Calibri" pitchFamily="34" charset="-122"/>
                <a:cs typeface="Calibri" pitchFamily="34" charset="-120"/>
              </a:rPr>
              <a:t>A credible governance control plane at reference-architecture maturity, with an unusually well-documented gap list — and further along than most teams will have built themselves.</a:t>
            </a:r>
            <a:endParaRPr lang="en-US" sz="1350" dirty="0"/>
          </a:p>
        </p:txBody>
      </p:sp>
      <p:sp>
        <p:nvSpPr>
          <p:cNvPr id="6" name="Text 4"/>
          <p:cNvSpPr txBox="1"/>
          <p:nvPr/>
        </p:nvSpPr>
        <p:spPr>
          <a:xfrm>
            <a:off x="1051560" y="3639312"/>
            <a:ext cx="4617720" cy="640080"/>
          </a:xfrm>
          <a:prstGeom prst="rect">
            <a:avLst/>
          </a:prstGeom>
          <a:noFill/>
          <a:ln/>
        </p:spPr>
        <p:txBody>
          <a:bodyPr wrap="square" lIns="0" tIns="0" rIns="0" bIns="0" rtlCol="0" anchor="ctr"/>
          <a:lstStyle/>
          <a:p>
            <a:pPr indent="0" marL="0">
              <a:lnSpc>
                <a:spcPct val="110000"/>
              </a:lnSpc>
              <a:buNone/>
            </a:pPr>
            <a:r>
              <a:rPr lang="en-US" sz="1150" i="1" dirty="0">
                <a:solidFill>
                  <a:srgbClr val="9FB3C8"/>
                </a:solidFill>
                <a:latin typeface="Calibri" pitchFamily="34" charset="0"/>
                <a:ea typeface="Calibri" pitchFamily="34" charset="-122"/>
                <a:cs typeface="Calibri" pitchFamily="34" charset="-120"/>
              </a:rPr>
              <a:t>Good for: architecture workshops, a CISO/AO conversation, a supervised pilot on synthetic or de-identified data.</a:t>
            </a:r>
            <a:endParaRPr lang="en-US" sz="1150" dirty="0"/>
          </a:p>
        </p:txBody>
      </p:sp>
      <p:sp>
        <p:nvSpPr>
          <p:cNvPr id="7" name="Shape 5"/>
          <p:cNvSpPr/>
          <p:nvPr/>
        </p:nvSpPr>
        <p:spPr>
          <a:xfrm>
            <a:off x="6172200" y="2011680"/>
            <a:ext cx="5212080" cy="2377440"/>
          </a:xfrm>
          <a:prstGeom prst="roundRect">
            <a:avLst>
              <a:gd name="adj" fmla="val 3462"/>
            </a:avLst>
          </a:prstGeom>
          <a:solidFill>
            <a:srgbClr val="2C3A4E"/>
          </a:solidFill>
          <a:ln w="12700">
            <a:solidFill>
              <a:srgbClr val="6B3030"/>
            </a:solidFill>
            <a:prstDash val="solid"/>
          </a:ln>
        </p:spPr>
        <p:txBody>
          <a:bodyPr/>
          <a:p/>
        </p:txBody>
      </p:sp>
      <p:sp>
        <p:nvSpPr>
          <p:cNvPr id="8" name="Text 6"/>
          <p:cNvSpPr txBox="1"/>
          <p:nvPr/>
        </p:nvSpPr>
        <p:spPr>
          <a:xfrm>
            <a:off x="6446520" y="2212848"/>
            <a:ext cx="4663440" cy="310896"/>
          </a:xfrm>
          <a:prstGeom prst="rect">
            <a:avLst/>
          </a:prstGeom>
          <a:noFill/>
          <a:ln/>
        </p:spPr>
        <p:txBody>
          <a:bodyPr wrap="square" lIns="0" tIns="0" rIns="0" bIns="0" rtlCol="0" anchor="ctr"/>
          <a:lstStyle/>
          <a:p>
            <a:pPr indent="0" marL="0">
              <a:buNone/>
            </a:pPr>
            <a:r>
              <a:rPr lang="en-US" sz="1500" b="1" dirty="0">
                <a:solidFill>
                  <a:srgbClr val="FFB4A8"/>
                </a:solidFill>
                <a:latin typeface="Cambria" pitchFamily="34" charset="0"/>
                <a:ea typeface="Cambria" pitchFamily="34" charset="-122"/>
                <a:cs typeface="Cambria" pitchFamily="34" charset="-120"/>
              </a:rPr>
              <a:t>What it is not</a:t>
            </a:r>
            <a:endParaRPr lang="en-US" sz="1500" dirty="0"/>
          </a:p>
        </p:txBody>
      </p:sp>
      <p:sp>
        <p:nvSpPr>
          <p:cNvPr id="9" name="Text 7"/>
          <p:cNvSpPr txBox="1"/>
          <p:nvPr/>
        </p:nvSpPr>
        <p:spPr>
          <a:xfrm>
            <a:off x="6446520" y="2578608"/>
            <a:ext cx="4663440" cy="1005840"/>
          </a:xfrm>
          <a:prstGeom prst="rect">
            <a:avLst/>
          </a:prstGeom>
          <a:noFill/>
          <a:ln/>
        </p:spPr>
        <p:txBody>
          <a:bodyPr wrap="square" lIns="0" tIns="0" rIns="0" bIns="0" rtlCol="0" anchor="ctr"/>
          <a:lstStyle/>
          <a:p>
            <a:pPr indent="0" marL="0">
              <a:lnSpc>
                <a:spcPct val="115000"/>
              </a:lnSpc>
              <a:buNone/>
            </a:pPr>
            <a:r>
              <a:rPr lang="en-US" sz="1350" dirty="0">
                <a:solidFill>
                  <a:srgbClr val="BFD3E6"/>
                </a:solidFill>
                <a:latin typeface="Calibri" pitchFamily="34" charset="0"/>
                <a:ea typeface="Calibri" pitchFamily="34" charset="-122"/>
                <a:cs typeface="Calibri" pitchFamily="34" charset="-120"/>
              </a:rPr>
              <a:t>Not a product. Not an AWS service. Not certified, authorized or ATO'd. Not ready for real regulated data. Not independently verified by anyone.</a:t>
            </a:r>
            <a:endParaRPr lang="en-US" sz="1350" dirty="0"/>
          </a:p>
        </p:txBody>
      </p:sp>
      <p:sp>
        <p:nvSpPr>
          <p:cNvPr id="10" name="Text 8"/>
          <p:cNvSpPr txBox="1"/>
          <p:nvPr/>
        </p:nvSpPr>
        <p:spPr>
          <a:xfrm>
            <a:off x="6446520" y="3639312"/>
            <a:ext cx="4663440" cy="640080"/>
          </a:xfrm>
          <a:prstGeom prst="rect">
            <a:avLst/>
          </a:prstGeom>
          <a:noFill/>
          <a:ln/>
        </p:spPr>
        <p:txBody>
          <a:bodyPr wrap="square" lIns="0" tIns="0" rIns="0" bIns="0" rtlCol="0" anchor="ctr"/>
          <a:lstStyle/>
          <a:p>
            <a:pPr indent="0" marL="0">
              <a:lnSpc>
                <a:spcPct val="110000"/>
              </a:lnSpc>
              <a:buNone/>
            </a:pPr>
            <a:r>
              <a:rPr lang="en-US" sz="1150" i="1" dirty="0">
                <a:solidFill>
                  <a:srgbClr val="9FB3C8"/>
                </a:solidFill>
                <a:latin typeface="Calibri" pitchFamily="34" charset="0"/>
                <a:ea typeface="Calibri" pitchFamily="34" charset="-122"/>
                <a:cs typeface="Calibri" pitchFamily="34" charset="-120"/>
              </a:rPr>
              <a:t>Say this first. It costs nothing, and it buys you the rest of the conversation.</a:t>
            </a:r>
            <a:endParaRPr lang="en-US" sz="1150" dirty="0"/>
          </a:p>
        </p:txBody>
      </p:sp>
      <p:sp>
        <p:nvSpPr>
          <p:cNvPr id="11" name="Shape 9"/>
          <p:cNvSpPr/>
          <p:nvPr/>
        </p:nvSpPr>
        <p:spPr>
          <a:xfrm>
            <a:off x="777240" y="4645152"/>
            <a:ext cx="10607040" cy="1225296"/>
          </a:xfrm>
          <a:prstGeom prst="roundRect">
            <a:avLst>
              <a:gd name="adj" fmla="val 6716"/>
            </a:avLst>
          </a:prstGeom>
          <a:solidFill>
            <a:srgbClr val="17352A"/>
          </a:solidFill>
          <a:ln w="12700">
            <a:solidFill>
              <a:srgbClr val="2E6B4A"/>
            </a:solidFill>
            <a:prstDash val="solid"/>
          </a:ln>
        </p:spPr>
        <p:txBody>
          <a:bodyPr/>
          <a:p/>
        </p:txBody>
      </p:sp>
      <p:sp>
        <p:nvSpPr>
          <p:cNvPr id="12" name="Text 10"/>
          <p:cNvSpPr txBox="1"/>
          <p:nvPr/>
        </p:nvSpPr>
        <p:spPr>
          <a:xfrm>
            <a:off x="1097280" y="4809744"/>
            <a:ext cx="10058400" cy="310896"/>
          </a:xfrm>
          <a:prstGeom prst="rect">
            <a:avLst/>
          </a:prstGeom>
          <a:noFill/>
          <a:ln/>
        </p:spPr>
        <p:txBody>
          <a:bodyPr wrap="square" lIns="0" tIns="0" rIns="0" bIns="0" rtlCol="0" anchor="ctr"/>
          <a:lstStyle/>
          <a:p>
            <a:pPr indent="0" marL="0">
              <a:buNone/>
            </a:pPr>
            <a:r>
              <a:rPr lang="en-US" sz="1400" b="1" dirty="0">
                <a:solidFill>
                  <a:srgbClr val="6BCB8F"/>
                </a:solidFill>
                <a:latin typeface="Cambria" pitchFamily="34" charset="0"/>
                <a:ea typeface="Cambria" pitchFamily="34" charset="-122"/>
                <a:cs typeface="Cambria" pitchFamily="34" charset="-120"/>
              </a:rPr>
              <a:t>The one thing we need from you</a:t>
            </a:r>
            <a:endParaRPr lang="en-US" sz="1400" dirty="0"/>
          </a:p>
        </p:txBody>
      </p:sp>
      <p:sp>
        <p:nvSpPr>
          <p:cNvPr id="13" name="Text 11"/>
          <p:cNvSpPr txBox="1"/>
          <p:nvPr/>
        </p:nvSpPr>
        <p:spPr>
          <a:xfrm>
            <a:off x="1097280" y="5157216"/>
            <a:ext cx="10058400" cy="566928"/>
          </a:xfrm>
          <a:prstGeom prst="rect">
            <a:avLst/>
          </a:prstGeom>
          <a:noFill/>
          <a:ln/>
        </p:spPr>
        <p:txBody>
          <a:bodyPr wrap="square" lIns="0" tIns="0" rIns="0" bIns="0" rtlCol="0" anchor="ctr"/>
          <a:lstStyle/>
          <a:p>
            <a:pPr indent="0" marL="0">
              <a:lnSpc>
                <a:spcPct val="115000"/>
              </a:lnSpc>
              <a:buNone/>
            </a:pPr>
            <a:r>
              <a:rPr lang="en-US" sz="1500" dirty="0">
                <a:solidFill>
                  <a:srgbClr val="FFFFFF"/>
                </a:solidFill>
                <a:latin typeface="Calibri" pitchFamily="34" charset="0"/>
                <a:ea typeface="Calibri" pitchFamily="34" charset="-122"/>
                <a:cs typeface="Calibri" pitchFamily="34" charset="-120"/>
              </a:rPr>
              <a:t>Half a day of an SA's time, in an account we do not control, to find out whether any of this survives contact with someone who is not us.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2026-09-09T18:10:27Z</dcterms:created>
  <dcterms:modified xsi:type="dcterms:W3CDTF">2026-09-09T18:10:27Z</dcterms:modified>
</cp:coreProperties>
</file>