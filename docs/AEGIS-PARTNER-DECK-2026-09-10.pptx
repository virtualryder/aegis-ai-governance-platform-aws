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71" r:id="rId22"/>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900">
                <a:latin typeface="Calibri"/>
              </a:rPr>
              <a:t>THE MOVE</a:t>
            </a:r>
            <a:endParaRPr lang="en-US" dirty="0"/>
          </a:p>
          <a:p>
            <a:r>
              <a:rPr sz="900">
                <a:latin typeface="Calibri"/>
              </a:rPr>
              <a:t>Establish that you will qualify your own claims before anyone has to ask you to.</a:t>
            </a:r>
          </a:p>
          <a:p/>
          <a:p>
            <a:r>
              <a:rPr sz="900">
                <a:latin typeface="Calibri"/>
              </a:rPr>
              <a:t>SAY</a:t>
            </a:r>
          </a:p>
          <a:p>
            <a:r>
              <a:rPr sz="900">
                <a:latin typeface="Calibri"/>
              </a:rPr>
              <a:t>- Open with the scope, not the number: "Before I show you anything - one pack, one AWS</a:t>
            </a:r>
          </a:p>
          <a:p>
            <a:r>
              <a:rPr sz="900">
                <a:latin typeface="Calibri"/>
              </a:rPr>
              <a:t>  account, one region, synthetic data, and every piece of evidence in here was produced</a:t>
            </a:r>
          </a:p>
          <a:p>
            <a:r>
              <a:rPr sz="900">
                <a:latin typeface="Calibri"/>
              </a:rPr>
              <a:t>  by me, on my own account."</a:t>
            </a:r>
          </a:p>
          <a:p>
            <a:r>
              <a:rPr sz="900">
                <a:latin typeface="Calibri"/>
              </a:rPr>
              <a:t>- Then the number: 21 of 21, from an empty account back to an empty account, 10 September.</a:t>
            </a:r>
          </a:p>
          <a:p>
            <a:r>
              <a:rPr sz="900">
                <a:latin typeface="Calibri"/>
              </a:rPr>
              <a:t>- Then the frame, verbatim: "This is a reference architecture, not a product. No SLA, no</a:t>
            </a:r>
          </a:p>
          <a:p>
            <a:r>
              <a:rPr sz="900">
                <a:latin typeface="Calibri"/>
              </a:rPr>
              <a:t>  support contract, no certification."</a:t>
            </a:r>
          </a:p>
          <a:p>
            <a:r>
              <a:rPr sz="900">
                <a:latin typeface="Calibri"/>
              </a:rPr>
              <a:t>- Tell them the ask in the first two minutes so the rest of the meeting has a shape:</a:t>
            </a:r>
          </a:p>
          <a:p>
            <a:r>
              <a:rPr sz="900">
                <a:latin typeface="Calibri"/>
              </a:rPr>
              <a:t>  "I am going to ask you for half a day of an SA's time. That is the whole ask."</a:t>
            </a:r>
          </a:p>
          <a:p/>
          <a:p>
            <a:r>
              <a:rPr sz="900">
                <a:latin typeface="Calibri"/>
              </a:rPr>
              <a:t>DON'T</a:t>
            </a:r>
          </a:p>
          <a:p>
            <a:r>
              <a:rPr sz="900">
                <a:latin typeface="Calibri"/>
              </a:rPr>
              <a:t>- Don't lead with 21/21. The number is only credible because the qualification arrives in</a:t>
            </a:r>
          </a:p>
          <a:p>
            <a:r>
              <a:rPr sz="900">
                <a:latin typeface="Calibri"/>
              </a:rPr>
              <a:t>  the same breath.</a:t>
            </a:r>
          </a:p>
          <a:p>
            <a:r>
              <a:rPr sz="900">
                <a:latin typeface="Calibri"/>
              </a:rPr>
              <a:t>- Don't say "platform" as though it is a product, and don't let "verified" stand alone -</a:t>
            </a:r>
          </a:p>
          <a:p>
            <a:r>
              <a:rPr sz="900">
                <a:latin typeface="Calibri"/>
              </a:rPr>
              <a:t>  verified BY ME is the accurate phrase.</a:t>
            </a:r>
          </a:p>
          <a:p/>
          <a:p>
            <a:r>
              <a:rPr sz="900">
                <a:latin typeface="Calibri"/>
              </a:rPr>
              <a:t>Q&amp;A</a:t>
            </a:r>
          </a:p>
          <a:p>
            <a:r>
              <a:rPr sz="900">
                <a:latin typeface="Calibri"/>
              </a:rPr>
              <a:t>Q: What does "from zero" actually mean?</a:t>
            </a:r>
          </a:p>
          <a:p>
            <a:r>
              <a:rPr sz="900">
                <a:latin typeface="Calibri"/>
              </a:rPr>
              <a:t>A: The account is empty when the run starts and empty when it ends, and both facts are</a:t>
            </a:r>
          </a:p>
          <a:p>
            <a:r>
              <a:rPr sz="900">
                <a:latin typeface="Calibri"/>
              </a:rPr>
              <a:t>   established by asking AWS directly - not by trusting the teardown script's own verdict.</a:t>
            </a:r>
          </a:p>
          <a:p>
            <a:r>
              <a:rPr sz="900">
                <a:latin typeface="Calibri"/>
              </a:rPr>
              <a:t>   That distinction is not pedantry: a teardown once reported CLEAN over a live credential</a:t>
            </a:r>
          </a:p>
          <a:p>
            <a:r>
              <a:rPr sz="900">
                <a:latin typeface="Calibri"/>
              </a:rPr>
              <a:t>   provider holding a client secret. That is why there are now four separate residue checks.</a:t>
            </a:r>
          </a:p>
          <a:p/>
          <a:p>
            <a:r>
              <a:rPr sz="900">
                <a:latin typeface="Calibri"/>
              </a:rPr>
              <a:t>Q: Is 21 of 21 better than the 17 of 17 I saw last week?</a:t>
            </a:r>
          </a:p>
          <a:p>
            <a:r>
              <a:rPr sz="900">
                <a:latin typeface="Calibri"/>
              </a:rPr>
              <a:t>A: Same platform, four more checks. The four are a governed system-of-record connector and</a:t>
            </a:r>
          </a:p>
          <a:p>
            <a:r>
              <a:rPr sz="900">
                <a:latin typeface="Calibri"/>
              </a:rPr>
              <a:t>   its residue sweep. The total going up is not the story - what the new checks measure is.</a:t>
            </a:r>
          </a:p>
          <a:p>
            <a:r>
              <a:rPr sz="900">
                <a:latin typeface="Calibri"/>
              </a:rPr>
              <a:t>   I will spend a slide on exactly that.</a:t>
            </a:r>
          </a:p>
          <a:p/>
          <a:p>
            <a:r>
              <a:rPr sz="900">
                <a:latin typeface="Calibri"/>
              </a:rPr>
              <a:t>Q: Who is using this today?</a:t>
            </a:r>
          </a:p>
          <a:p>
            <a:r>
              <a:rPr sz="900">
                <a:latin typeface="Calibri"/>
              </a:rPr>
              <a:t>A: Nobody. That is the honest answer and it is the reason for this meeting.</a:t>
            </a:r>
          </a:p>
          <a:p/>
          <a:p>
            <a:r>
              <a:rPr sz="900">
                <a:latin typeface="Calibri"/>
              </a:rPr>
              <a:t>Q: Why should I spend time on a reference architecture?</a:t>
            </a:r>
          </a:p>
          <a:p>
            <a:r>
              <a:rPr sz="900">
                <a:latin typeface="Calibri"/>
              </a:rPr>
              <a:t>A: Because what your customers are shipping right now is a system prompt and a log file.</a:t>
            </a:r>
          </a:p>
          <a:p>
            <a:r>
              <a:rPr sz="900">
                <a:latin typeface="Calibri"/>
              </a:rPr>
              <a:t>   This is the same problem solved somewhere the agent cannot argue with it. And the ask is</a:t>
            </a:r>
          </a:p>
          <a:p>
            <a:r>
              <a:rPr sz="900">
                <a:latin typeface="Calibri"/>
              </a:rPr>
              <a:t>   half a day, not a commitment.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900">
                <a:latin typeface="Calibri"/>
              </a:rPr>
              <a:t>THE MOVE</a:t>
            </a:r>
            <a:endParaRPr lang="en-US" dirty="0"/>
          </a:p>
          <a:p>
            <a:r>
              <a:rPr sz="900">
                <a:latin typeface="Calibri"/>
              </a:rPr>
              <a:t>Make the category distinction land - governance INSIDE the thing being governed is not</a:t>
            </a:r>
          </a:p>
          <a:p>
            <a:r>
              <a:rPr sz="900">
                <a:latin typeface="Calibri"/>
              </a:rPr>
              <a:t>governance - so that everything after this slide has somewhere to sit.</a:t>
            </a:r>
          </a:p>
          <a:p/>
          <a:p>
            <a:r>
              <a:rPr sz="900">
                <a:latin typeface="Calibri"/>
              </a:rPr>
              <a:t>SAY</a:t>
            </a:r>
          </a:p>
          <a:p>
            <a:r>
              <a:rPr sz="900">
                <a:latin typeface="Calibri"/>
              </a:rPr>
              <a:t>- Both of the common approaches live inside the thing they are supposed to constrain.</a:t>
            </a:r>
          </a:p>
          <a:p>
            <a:r>
              <a:rPr sz="900">
                <a:latin typeface="Calibri"/>
              </a:rPr>
              <a:t>- A prompt ASKS the model to comply. Compliance is a behaviour, not a control, and</a:t>
            </a:r>
          </a:p>
          <a:p>
            <a:r>
              <a:rPr sz="900">
                <a:latin typeface="Calibri"/>
              </a:rPr>
              <a:t>  behaviours degrade under adversarial input.</a:t>
            </a:r>
          </a:p>
          <a:p>
            <a:r>
              <a:rPr sz="900">
                <a:latin typeface="Calibri"/>
              </a:rPr>
              <a:t>- Application-code controls are genuinely better - but the agent chooses which code path to</a:t>
            </a:r>
          </a:p>
          <a:p>
            <a:r>
              <a:rPr sz="900">
                <a:latin typeface="Calibri"/>
              </a:rPr>
              <a:t>  call, so the control sits downstream of the decision it is meant to constrain.</a:t>
            </a:r>
          </a:p>
          <a:p>
            <a:r>
              <a:rPr sz="900">
                <a:latin typeface="Calibri"/>
              </a:rPr>
              <a:t>- Land the last line on the slide. If they remember one sentence from the whole deck, it is</a:t>
            </a:r>
          </a:p>
          <a:p>
            <a:r>
              <a:rPr sz="900">
                <a:latin typeface="Calibri"/>
              </a:rPr>
              <a:t>  that the governance cannot be talked out of by the agent it governs.</a:t>
            </a:r>
          </a:p>
          <a:p/>
          <a:p>
            <a:r>
              <a:rPr sz="900">
                <a:latin typeface="Calibri"/>
              </a:rPr>
              <a:t>DON'T</a:t>
            </a:r>
          </a:p>
          <a:p>
            <a:r>
              <a:rPr sz="900">
                <a:latin typeface="Calibri"/>
              </a:rPr>
              <a:t>- Don't caricature the alternatives. Plenty of good teams are at position two, and saying so</a:t>
            </a:r>
          </a:p>
          <a:p>
            <a:r>
              <a:rPr sz="900">
                <a:latin typeface="Calibri"/>
              </a:rPr>
              <a:t>  buys you credibility for the rest.</a:t>
            </a:r>
          </a:p>
          <a:p/>
          <a:p>
            <a:r>
              <a:rPr sz="900">
                <a:latin typeface="Calibri"/>
              </a:rPr>
              <a:t>Q&amp;A</a:t>
            </a:r>
          </a:p>
          <a:p>
            <a:r>
              <a:rPr sz="900">
                <a:latin typeface="Calibri"/>
              </a:rPr>
              <a:t>Q: Don't Bedrock Guardrails already do this?</a:t>
            </a:r>
          </a:p>
          <a:p>
            <a:r>
              <a:rPr sz="900">
                <a:latin typeface="Calibri"/>
              </a:rPr>
              <a:t>A: Guardrails filter content, and we use them - every runtime model call in the gate was</a:t>
            </a:r>
          </a:p>
          <a:p>
            <a:r>
              <a:rPr sz="900">
                <a:latin typeface="Calibri"/>
              </a:rPr>
              <a:t>   guardrail-assessed, 20 of 20. What a guardrail does not decide is whether THIS human may</a:t>
            </a:r>
          </a:p>
          <a:p>
            <a:r>
              <a:rPr sz="900">
                <a:latin typeface="Calibri"/>
              </a:rPr>
              <a:t>   invoke THIS tool against THIS tenant's data for THIS purpose within THIS budget. That is</a:t>
            </a:r>
          </a:p>
          <a:p>
            <a:r>
              <a:rPr sz="900">
                <a:latin typeface="Calibri"/>
              </a:rPr>
              <a:t>   authorization, and it is a different question. Guardrails are one control inside the</a:t>
            </a:r>
          </a:p>
          <a:p>
            <a:r>
              <a:rPr sz="900">
                <a:latin typeface="Calibri"/>
              </a:rPr>
              <a:t>   perimeter, not the perimeter.</a:t>
            </a:r>
          </a:p>
          <a:p/>
          <a:p>
            <a:r>
              <a:rPr sz="900">
                <a:latin typeface="Calibri"/>
              </a:rPr>
              <a:t>Q: Isn't this just an API gateway with authentication?</a:t>
            </a:r>
          </a:p>
          <a:p>
            <a:r>
              <a:rPr sz="900">
                <a:latin typeface="Calibri"/>
              </a:rPr>
              <a:t>A: The difference is where the decision is made and what it is made from. Cedar evaluates the</a:t>
            </a:r>
          </a:p>
          <a:p>
            <a:r>
              <a:rPr sz="900">
                <a:latin typeface="Calibri"/>
              </a:rPr>
              <a:t>   real human's token at the AgentCore Gateway before any tool Lambda is invoked, using</a:t>
            </a:r>
          </a:p>
          <a:p>
            <a:r>
              <a:rPr sz="900">
                <a:latin typeface="Calibri"/>
              </a:rPr>
              <a:t>   context the caller cannot supply - tenant, budget and service window are injected</a:t>
            </a:r>
          </a:p>
          <a:p>
            <a:r>
              <a:rPr sz="900">
                <a:latin typeface="Calibri"/>
              </a:rPr>
              <a:t>   server-side and any caller-supplied value is stripped first.</a:t>
            </a:r>
          </a:p>
          <a:p/>
          <a:p>
            <a:r>
              <a:rPr sz="900">
                <a:latin typeface="Calibri"/>
              </a:rPr>
              <a:t>Q: What if the model itself is the thing I can't trust?</a:t>
            </a:r>
          </a:p>
          <a:p>
            <a:r>
              <a:rPr sz="900">
                <a:latin typeface="Calibri"/>
              </a:rPr>
              <a:t>A: Then you should like this design. The model never holds a credential, never chooses the</a:t>
            </a:r>
          </a:p>
          <a:p>
            <a:r>
              <a:rPr sz="900">
                <a:latin typeface="Calibri"/>
              </a:rPr>
              <a:t>   control path, and cannot commit anything. Every consequential action terminates at a human</a:t>
            </a:r>
          </a:p>
          <a:p>
            <a:r>
              <a:rPr sz="900">
                <a:latin typeface="Calibri"/>
              </a:rPr>
              <a:t>   gate where a different verified identity approves.</a:t>
            </a:r>
          </a:p>
          <a:p/>
          <a:p>
            <a:r>
              <a:rPr sz="900">
                <a:latin typeface="Calibri"/>
              </a:rPr>
              <a:t>Q: Where does this break down?</a:t>
            </a:r>
          </a:p>
          <a:p>
            <a:r>
              <a:rPr sz="900">
                <a:latin typeface="Calibri"/>
              </a:rPr>
              <a:t>A: When someone reaches the compute without going through the gateway. I have a slide on that</a:t>
            </a:r>
          </a:p>
          <a:p>
            <a:r>
              <a:rPr sz="900">
                <a:latin typeface="Calibri"/>
              </a:rPr>
              <a:t>   and the answer is a reopened finding, not a fix.</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900">
                <a:latin typeface="Calibri"/>
              </a:rPr>
              <a:t>THE MOVE</a:t>
            </a:r>
            <a:endParaRPr lang="en-US" dirty="0"/>
          </a:p>
          <a:p>
            <a:r>
              <a:rPr sz="900">
                <a:latin typeface="Calibri"/>
              </a:rPr>
              <a:t>Give them the scale of the thing - and disqualify the fourth number yourself, out loud,</a:t>
            </a:r>
          </a:p>
          <a:p>
            <a:r>
              <a:rPr sz="900">
                <a:latin typeface="Calibri"/>
              </a:rPr>
              <a:t>before anyone does it for you.</a:t>
            </a:r>
          </a:p>
          <a:p/>
          <a:p>
            <a:r>
              <a:rPr sz="900">
                <a:latin typeface="Calibri"/>
              </a:rPr>
              <a:t>SAY</a:t>
            </a:r>
          </a:p>
          <a:p>
            <a:r>
              <a:rPr sz="900">
                <a:latin typeface="Calibri"/>
              </a:rPr>
              <a:t>- Four numbers. Three are straightforward: 13 Cedar policies at the gateway, 9 CloudFormation</a:t>
            </a:r>
          </a:p>
          <a:p>
            <a:r>
              <a:rPr sz="900">
                <a:latin typeface="Calibri"/>
              </a:rPr>
              <a:t>  stacks deployed from zero, 27 CDK switches that shape a deployment without editing code.</a:t>
            </a:r>
          </a:p>
          <a:p>
            <a:r>
              <a:rPr sz="900">
                <a:latin typeface="Calibri"/>
              </a:rPr>
              <a:t>- The fourth needs the caveat in the same breath: four packs on one hash-locked core is</a:t>
            </a:r>
          </a:p>
          <a:p>
            <a:r>
              <a:rPr sz="900">
                <a:latin typeface="Calibri"/>
              </a:rPr>
              <a:t>  evidence the core PORTS. It is not evidence the other three work. Only one has ever been</a:t>
            </a:r>
          </a:p>
          <a:p>
            <a:r>
              <a:rPr sz="900">
                <a:latin typeface="Calibri"/>
              </a:rPr>
              <a:t>  deployed.</a:t>
            </a:r>
          </a:p>
          <a:p>
            <a:r>
              <a:rPr sz="900">
                <a:latin typeface="Calibri"/>
              </a:rPr>
              <a:t>- The real platform capability is the configuration path: an agent manifest declares the tool</a:t>
            </a:r>
          </a:p>
          <a:p>
            <a:r>
              <a:rPr sz="900">
                <a:latin typeface="Calibri"/>
              </a:rPr>
              <a:t>  targets, render.py emits the gateway targets, the Cedar statements and the guardrail config.</a:t>
            </a:r>
          </a:p>
          <a:p>
            <a:r>
              <a:rPr sz="900">
                <a:latin typeface="Calibri"/>
              </a:rPr>
              <a:t>  That is what a customer would use.</a:t>
            </a:r>
          </a:p>
          <a:p/>
          <a:p>
            <a:r>
              <a:rPr sz="900">
                <a:latin typeface="Calibri"/>
              </a:rPr>
              <a:t>DON'T</a:t>
            </a:r>
          </a:p>
          <a:p>
            <a:r>
              <a:rPr sz="900">
                <a:latin typeface="Calibri"/>
              </a:rPr>
              <a:t>- Don't let "four verticals" sit in the room unqualified for even a few seconds. It is the</a:t>
            </a:r>
          </a:p>
          <a:p>
            <a:r>
              <a:rPr sz="900">
                <a:latin typeface="Calibri"/>
              </a:rPr>
              <a:t>  single easiest thing in this deck to over-read.</a:t>
            </a:r>
          </a:p>
          <a:p/>
          <a:p>
            <a:r>
              <a:rPr sz="900">
                <a:latin typeface="Calibri"/>
              </a:rPr>
              <a:t>Q&amp;A</a:t>
            </a:r>
          </a:p>
          <a:p>
            <a:r>
              <a:rPr sz="900">
                <a:latin typeface="Calibri"/>
              </a:rPr>
              <a:t>Q: Can I stand this up for a customer in a different domain?</a:t>
            </a:r>
          </a:p>
          <a:p>
            <a:r>
              <a:rPr sz="900">
                <a:latin typeface="Calibri"/>
              </a:rPr>
              <a:t>A: The scaffold, yes - that is what the manifest and the render pipeline are for. The thirteen</a:t>
            </a:r>
          </a:p>
          <a:p>
            <a:r>
              <a:rPr sz="900">
                <a:latin typeface="Calibri"/>
              </a:rPr>
              <a:t>   policies, no: they name benefits-specific tool actions like assess-eligibility. A customer</a:t>
            </a:r>
          </a:p>
          <a:p>
            <a:r>
              <a:rPr sz="900">
                <a:latin typeface="Calibri"/>
              </a:rPr>
              <a:t>   authors their own. "Configurable governance platform" is true; "thirteen reusable policies"</a:t>
            </a:r>
          </a:p>
          <a:p>
            <a:r>
              <a:rPr sz="900">
                <a:latin typeface="Calibri"/>
              </a:rPr>
              <a:t>   is not, and I try not to blur them.</a:t>
            </a:r>
          </a:p>
          <a:p/>
          <a:p>
            <a:r>
              <a:rPr sz="900">
                <a:latin typeface="Calibri"/>
              </a:rPr>
              <a:t>Q: What is a CDK context switch - is that an AWS feature?</a:t>
            </a:r>
          </a:p>
          <a:p>
            <a:r>
              <a:rPr sz="900">
                <a:latin typeface="Calibri"/>
              </a:rPr>
              <a:t>A: No, it is our infrastructure code. The 27 switches cover network mode, KMS mode, retention</a:t>
            </a:r>
          </a:p>
          <a:p>
            <a:r>
              <a:rPr sz="900">
                <a:latin typeface="Calibri"/>
              </a:rPr>
              <a:t>   profile, identity mode, tenancy, perimeter, account-wide capture, model logging and the</a:t>
            </a:r>
          </a:p>
          <a:p>
            <a:r>
              <a:rPr sz="900">
                <a:latin typeface="Calibri"/>
              </a:rPr>
              <a:t>   spend ceiling.</a:t>
            </a:r>
          </a:p>
          <a:p/>
          <a:p>
            <a:r>
              <a:rPr sz="900">
                <a:latin typeface="Calibri"/>
              </a:rPr>
              <a:t>Q: If only one pack is proven, why ship four?</a:t>
            </a:r>
          </a:p>
          <a:p>
            <a:r>
              <a:rPr sz="900">
                <a:latin typeface="Calibri"/>
              </a:rPr>
              <a:t>A: Because the property being demonstrated is that the core is consumed as a pinned,</a:t>
            </a:r>
          </a:p>
          <a:p>
            <a:r>
              <a:rPr sz="900">
                <a:latin typeface="Calibri"/>
              </a:rPr>
              <a:t>   hash-verified dependency rather than copied. That matters: we found the same control</a:t>
            </a:r>
          </a:p>
          <a:p>
            <a:r>
              <a:rPr sz="900">
                <a:latin typeface="Calibri"/>
              </a:rPr>
              <a:t>   present in two packs and missing from two others while all four integrity locks recorded</a:t>
            </a:r>
          </a:p>
          <a:p>
            <a:r>
              <a:rPr sz="900">
                <a:latin typeface="Calibri"/>
              </a:rPr>
              <a:t>   the same hash and every CI run was green. The dependency prevents that. The other three</a:t>
            </a:r>
          </a:p>
          <a:p>
            <a:r>
              <a:rPr sz="900">
                <a:latin typeface="Calibri"/>
              </a:rPr>
              <a:t>   get every fix with unit tests and a cross-repo parity check - but no live gate.</a:t>
            </a:r>
          </a:p>
          <a:p/>
          <a:p>
            <a:r>
              <a:rPr sz="900">
                <a:latin typeface="Calibri"/>
              </a:rPr>
              <a:t>Q: Pinned by sha256 - what happens when you release a new core?</a:t>
            </a:r>
          </a:p>
          <a:p>
            <a:r>
              <a:rPr sz="900">
                <a:latin typeface="Calibri"/>
              </a:rPr>
              <a:t>A: The consumer bumps the version and the hash together, and pip refuses the install if the</a:t>
            </a:r>
          </a:p>
          <a:p>
            <a:r>
              <a:rPr sz="900">
                <a:latin typeface="Calibri"/>
              </a:rPr>
              <a:t>   artifact at that URL ever changes. That is the property that makes it a dependency rather</a:t>
            </a:r>
          </a:p>
          <a:p>
            <a:r>
              <a:rPr sz="900">
                <a:latin typeface="Calibri"/>
              </a:rPr>
              <a:t>   than a copy with extra steps.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900">
                <a:latin typeface="Calibri"/>
              </a:rPr>
              <a:t>THE MOVE</a:t>
            </a:r>
            <a:endParaRPr lang="en-US" dirty="0"/>
          </a:p>
          <a:p>
            <a:r>
              <a:rPr sz="900">
                <a:latin typeface="Calibri"/>
              </a:rPr>
              <a:t>Show that the architecture follows from one decision, not from a shopping list of controls.</a:t>
            </a:r>
          </a:p>
          <a:p/>
          <a:p>
            <a:r>
              <a:rPr sz="900">
                <a:latin typeface="Calibri"/>
              </a:rPr>
              <a:t>SAY</a:t>
            </a:r>
          </a:p>
          <a:p>
            <a:r>
              <a:rPr sz="900">
                <a:latin typeface="Calibri"/>
              </a:rPr>
              <a:t>- The bet: put the authorization decision somewhere the agent cannot reach, and make every</a:t>
            </a:r>
          </a:p>
          <a:p>
            <a:r>
              <a:rPr sz="900">
                <a:latin typeface="Calibri"/>
              </a:rPr>
              <a:t>  downstream control depend on a PROOF rather than a CLAIM.</a:t>
            </a:r>
          </a:p>
          <a:p>
            <a:r>
              <a:rPr sz="900">
                <a:latin typeface="Calibri"/>
              </a:rPr>
              <a:t>- Bet 2 is the one worth defending in detail - it is what makes reverting RT-4 defensible</a:t>
            </a:r>
          </a:p>
          <a:p>
            <a:r>
              <a:rPr sz="900">
                <a:latin typeface="Calibri"/>
              </a:rPr>
              <a:t>  when we get to that slide, so plant it now.</a:t>
            </a:r>
          </a:p>
          <a:p>
            <a:r>
              <a:rPr sz="900">
                <a:latin typeface="Calibri"/>
              </a:rPr>
              <a:t>- Land bet 4 deliberately: the audit row is a control, not a log. It is written BEFORE the</a:t>
            </a:r>
          </a:p>
          <a:p>
            <a:r>
              <a:rPr sz="900">
                <a:latin typeface="Calibri"/>
              </a:rPr>
              <a:t>  side effect, and a consequential commit requires the WORM copy to be durable - not just the</a:t>
            </a:r>
          </a:p>
          <a:p>
            <a:r>
              <a:rPr sz="900">
                <a:latin typeface="Calibri"/>
              </a:rPr>
              <a:t>  ledger write. That was a fault-semantics finding from an external review, not something we</a:t>
            </a:r>
          </a:p>
          <a:p>
            <a:r>
              <a:rPr sz="900">
                <a:latin typeface="Calibri"/>
              </a:rPr>
              <a:t>  got right first time.</a:t>
            </a:r>
          </a:p>
          <a:p/>
          <a:p>
            <a:r>
              <a:rPr sz="900">
                <a:latin typeface="Calibri"/>
              </a:rPr>
              <a:t>DON'T</a:t>
            </a:r>
          </a:p>
          <a:p>
            <a:r>
              <a:rPr sz="900">
                <a:latin typeface="Calibri"/>
              </a:rPr>
              <a:t>- Don't rush bet 3. "The model is a participant, never the controller" is the sentence that</a:t>
            </a:r>
          </a:p>
          <a:p>
            <a:r>
              <a:rPr sz="900">
                <a:latin typeface="Calibri"/>
              </a:rPr>
              <a:t>  separates this from an agent framework with logging.</a:t>
            </a:r>
          </a:p>
          <a:p/>
          <a:p>
            <a:r>
              <a:rPr sz="900">
                <a:latin typeface="Calibri"/>
              </a:rPr>
              <a:t>Q&amp;A</a:t>
            </a:r>
          </a:p>
          <a:p>
            <a:r>
              <a:rPr sz="900">
                <a:latin typeface="Calibri"/>
              </a:rPr>
              <a:t>Q: Deny-by-default sounds expensive to operate. How does anyone get work done?</a:t>
            </a:r>
          </a:p>
          <a:p>
            <a:r>
              <a:rPr sz="900">
                <a:latin typeface="Calibri"/>
              </a:rPr>
              <a:t>A: One permit grants the caseworker role the governed tools; the twelve forbids constrain how</a:t>
            </a:r>
          </a:p>
          <a:p>
            <a:r>
              <a:rPr sz="900">
                <a:latin typeface="Calibri"/>
              </a:rPr>
              <a:t>   they may be used. The friction lands on missing claims and missing proofs, which is exactly</a:t>
            </a:r>
          </a:p>
          <a:p>
            <a:r>
              <a:rPr sz="900">
                <a:latin typeface="Calibri"/>
              </a:rPr>
              <a:t>   where you want it. In the gate run a legitimate reviewer drove a full case through all ten</a:t>
            </a:r>
          </a:p>
          <a:p>
            <a:r>
              <a:rPr sz="900">
                <a:latin typeface="Calibri"/>
              </a:rPr>
              <a:t>   workflow states without touching a policy.</a:t>
            </a:r>
          </a:p>
          <a:p/>
          <a:p>
            <a:r>
              <a:rPr sz="900">
                <a:latin typeface="Calibri"/>
              </a:rPr>
              <a:t>Q: What happens when a Cedar policy is simply wrong?</a:t>
            </a:r>
          </a:p>
          <a:p>
            <a:r>
              <a:rPr sz="900">
                <a:latin typeface="Calibri"/>
              </a:rPr>
              <a:t>A: Two answers. First, the decision is written to the ledger with the policy version that made</a:t>
            </a:r>
          </a:p>
          <a:p>
            <a:r>
              <a:rPr sz="900">
                <a:latin typeface="Calibri"/>
              </a:rPr>
              <a:t>   it, so "which policy decided this case?" is answerable from the record rather than from</a:t>
            </a:r>
          </a:p>
          <a:p>
            <a:r>
              <a:rPr sz="900">
                <a:latin typeface="Calibri"/>
              </a:rPr>
              <a:t>   someone's memory. Second, the policies are ours and a customer replaces them - that is the</a:t>
            </a:r>
          </a:p>
          <a:p>
            <a:r>
              <a:rPr sz="900">
                <a:latin typeface="Calibri"/>
              </a:rPr>
              <a:t>   design, not a dodge.</a:t>
            </a:r>
          </a:p>
          <a:p/>
          <a:p>
            <a:r>
              <a:rPr sz="900">
                <a:latin typeface="Calibri"/>
              </a:rPr>
              <a:t>Q: Writing the record before the side effect means you record things that never happened.</a:t>
            </a:r>
          </a:p>
          <a:p>
            <a:r>
              <a:rPr sz="900">
                <a:latin typeface="Calibri"/>
              </a:rPr>
              <a:t>A: Yes, deliberately. An INTENT row with no matching outcome is a detectable anomaly and the</a:t>
            </a:r>
          </a:p>
          <a:p>
            <a:r>
              <a:rPr sz="900">
                <a:latin typeface="Calibri"/>
              </a:rPr>
              <a:t>   lineage proof looks for exactly that. The alternative - writing after - means a crash</a:t>
            </a:r>
          </a:p>
          <a:p>
            <a:r>
              <a:rPr sz="900">
                <a:latin typeface="Calibri"/>
              </a:rPr>
              <a:t>   between the action and the log leaves no record of the action at all, which is the failure</a:t>
            </a:r>
          </a:p>
          <a:p>
            <a:r>
              <a:rPr sz="900">
                <a:latin typeface="Calibri"/>
              </a:rPr>
              <a:t>   mode an auditor actually cares about.</a:t>
            </a:r>
          </a:p>
          <a:p/>
          <a:p>
            <a:r>
              <a:rPr sz="900">
                <a:latin typeface="Calibri"/>
              </a:rPr>
              <a:t>Q: "A forged reference is refused" - refused by what?</a:t>
            </a:r>
          </a:p>
          <a:p>
            <a:r>
              <a:rPr sz="900">
                <a:latin typeface="Calibri"/>
              </a:rPr>
              <a:t>A: By the workflow guard, before the consequential step runs. The signature is issued only by</a:t>
            </a:r>
          </a:p>
          <a:p>
            <a:r>
              <a:rPr sz="900">
                <a:latin typeface="Calibri"/>
              </a:rPr>
              <a:t>   the masking control. I will spend a whole slide on this because it is the strongest thing</a:t>
            </a:r>
          </a:p>
          <a:p>
            <a:r>
              <a:rPr sz="900">
                <a:latin typeface="Calibri"/>
              </a:rPr>
              <a:t>   in the system.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900">
                <a:latin typeface="Calibri"/>
              </a:rPr>
              <a:t>THE MOVE</a:t>
            </a:r>
            <a:endParaRPr lang="en-US" dirty="0"/>
          </a:p>
          <a:p>
            <a:r>
              <a:rPr sz="900">
                <a:latin typeface="Calibri"/>
              </a:rPr>
              <a:t>Orient them without reading eight bullets. Then hand them the artifact that proves you are</a:t>
            </a:r>
          </a:p>
          <a:p>
            <a:r>
              <a:rPr sz="900">
                <a:latin typeface="Calibri"/>
              </a:rPr>
              <a:t>not hiding the weak parts.</a:t>
            </a:r>
          </a:p>
          <a:p/>
          <a:p>
            <a:r>
              <a:rPr sz="900">
                <a:latin typeface="Calibri"/>
              </a:rPr>
              <a:t>SAY</a:t>
            </a:r>
          </a:p>
          <a:p>
            <a:r>
              <a:rPr sz="900">
                <a:latin typeface="Calibri"/>
              </a:rPr>
              <a:t>- Do not read all eight. Pick three for this audience: layer 2 (authorization), layer 6</a:t>
            </a:r>
          </a:p>
          <a:p>
            <a:r>
              <a:rPr sz="900">
                <a:latin typeface="Calibri"/>
              </a:rPr>
              <a:t>  (evidence), layer 8 (containment). Offer the rest on request.</a:t>
            </a:r>
          </a:p>
          <a:p>
            <a:r>
              <a:rPr sz="900">
                <a:latin typeface="Calibri"/>
              </a:rPr>
              <a:t>- Layer 5 has a number worth saying out loud: zero NAT gateways, zero internet gateways -</a:t>
            </a:r>
          </a:p>
          <a:p>
            <a:r>
              <a:rPr sz="900">
                <a:latin typeface="Calibri"/>
              </a:rPr>
              <a:t>  MEASURED from the synthesized template, not asserted in prose.</a:t>
            </a:r>
          </a:p>
          <a:p>
            <a:r>
              <a:rPr sz="900">
                <a:latin typeface="Calibri"/>
              </a:rPr>
              <a:t>- Point at the attached architecture file and say the thing that makes it credible: every</a:t>
            </a:r>
          </a:p>
          <a:p>
            <a:r>
              <a:rPr sz="900">
                <a:latin typeface="Calibri"/>
              </a:rPr>
              <a:t>  component carries a status - LIVE, IAC-asserted, or OFF - and the OFF and adopter-owned</a:t>
            </a:r>
          </a:p>
          <a:p>
            <a:r>
              <a:rPr sz="900">
                <a:latin typeface="Calibri"/>
              </a:rPr>
              <a:t>  boxes are drawn the same size and in the same places as the live ones. A diagram that showed</a:t>
            </a:r>
          </a:p>
          <a:p>
            <a:r>
              <a:rPr sz="900">
                <a:latin typeface="Calibri"/>
              </a:rPr>
              <a:t>  only what works would be a sales diagram.</a:t>
            </a:r>
          </a:p>
          <a:p/>
          <a:p>
            <a:r>
              <a:rPr sz="900">
                <a:latin typeface="Calibri"/>
              </a:rPr>
              <a:t>DON'T</a:t>
            </a:r>
          </a:p>
          <a:p>
            <a:r>
              <a:rPr sz="900">
                <a:latin typeface="Calibri"/>
              </a:rPr>
              <a:t>- Don't claim "Bedrock in your VPC". Say PrivateLink and mean PrivateLink.</a:t>
            </a:r>
          </a:p>
          <a:p/>
          <a:p>
            <a:r>
              <a:rPr sz="900">
                <a:latin typeface="Calibri"/>
              </a:rPr>
              <a:t>Q&amp;A</a:t>
            </a:r>
          </a:p>
          <a:p>
            <a:r>
              <a:rPr sz="900">
                <a:latin typeface="Calibri"/>
              </a:rPr>
              <a:t>Q: Bedrock over PrivateLink - so the model runs inside my VPC?</a:t>
            </a:r>
          </a:p>
          <a:p>
            <a:r>
              <a:rPr sz="900">
                <a:latin typeface="Calibri"/>
              </a:rPr>
              <a:t>A: No, and the distinction matters enough that I correct it whenever I hear it. PrivateLink</a:t>
            </a:r>
          </a:p>
          <a:p>
            <a:r>
              <a:rPr sz="900">
                <a:latin typeface="Calibri"/>
              </a:rPr>
              <a:t>   means traffic to Bedrock does not traverse the public internet. It does not mean Bedrock</a:t>
            </a:r>
          </a:p>
          <a:p>
            <a:r>
              <a:rPr sz="900">
                <a:latin typeface="Calibri"/>
              </a:rPr>
              <a:t>   runs in your VPC.</a:t>
            </a:r>
          </a:p>
          <a:p/>
          <a:p>
            <a:r>
              <a:rPr sz="900">
                <a:latin typeface="Calibri"/>
              </a:rPr>
              <a:t>Q: What is the difference between IaC-asserted and live-verified?</a:t>
            </a:r>
          </a:p>
          <a:p>
            <a:r>
              <a:rPr sz="900">
                <a:latin typeface="Calibri"/>
              </a:rPr>
              <a:t>A: Live-verified means a from-zero run exercised it and a named gate check proves it.</a:t>
            </a:r>
          </a:p>
          <a:p>
            <a:r>
              <a:rPr sz="900">
                <a:latin typeface="Calibri"/>
              </a:rPr>
              <a:t>   IaC-asserted means CDK builds it and a synthesis test asserts it, but no live run has</a:t>
            </a:r>
          </a:p>
          <a:p>
            <a:r>
              <a:rPr sz="900">
                <a:latin typeface="Calibri"/>
              </a:rPr>
              <a:t>   demonstrated it. WAF on the auth front door is an example of the second, and it is drawn</a:t>
            </a:r>
          </a:p>
          <a:p>
            <a:r>
              <a:rPr sz="900">
                <a:latin typeface="Calibri"/>
              </a:rPr>
              <a:t>   that way.</a:t>
            </a:r>
          </a:p>
          <a:p/>
          <a:p>
            <a:r>
              <a:rPr sz="900">
                <a:latin typeface="Calibri"/>
              </a:rPr>
              <a:t>Q: 26 alarms - are they wired to anything, or is that a dashboard number?</a:t>
            </a:r>
          </a:p>
          <a:p>
            <a:r>
              <a:rPr sz="900">
                <a:latin typeface="Calibri"/>
              </a:rPr>
              <a:t>A: Three severity tiers, each with its own SNS topic: P1 page, P2 ticket, P3 advisory. Every</a:t>
            </a:r>
          </a:p>
          <a:p>
            <a:r>
              <a:rPr sz="900">
                <a:latin typeface="Calibri"/>
              </a:rPr>
              <a:t>   alarm has an entry in the incident runbook, enforced by a CI test - a new alarm without a</a:t>
            </a:r>
          </a:p>
          <a:p>
            <a:r>
              <a:rPr sz="900">
                <a:latin typeface="Calibri"/>
              </a:rPr>
              <a:t>   documented first action fails the build. What I cannot tell you is that any tier has ever</a:t>
            </a:r>
          </a:p>
          <a:p>
            <a:r>
              <a:rPr sz="900">
                <a:latin typeface="Calibri"/>
              </a:rPr>
              <a:t>   fired in a real incident. That is on the not-proven list and I will show you.</a:t>
            </a:r>
          </a:p>
          <a:p/>
          <a:p>
            <a:r>
              <a:rPr sz="900">
                <a:latin typeface="Calibri"/>
              </a:rPr>
              <a:t>Q: Per-tenant isolation - is that a partition key?</a:t>
            </a:r>
          </a:p>
          <a:p>
            <a:r>
              <a:rPr sz="900">
                <a:latin typeface="Calibri"/>
              </a:rPr>
              <a:t>A: No. Each tenant gets its own tables and its own WORM bucket, not a shared table with a</a:t>
            </a:r>
          </a:p>
          <a:p>
            <a:r>
              <a:rPr sz="900">
                <a:latin typeface="Calibri"/>
              </a:rPr>
              <a:t>   tenant column. And the tenant is DERIVED from the verified token by the gateway</a:t>
            </a:r>
          </a:p>
          <a:p>
            <a:r>
              <a:rPr sz="900">
                <a:latin typeface="Calibri"/>
              </a:rPr>
              <a:t>   interceptor, never read from the request body, so cross-tenant access is impossible by</a:t>
            </a:r>
          </a:p>
          <a:p>
            <a:r>
              <a:rPr sz="900">
                <a:latin typeface="Calibri"/>
              </a:rPr>
              <a:t>   construction rather than by check.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900">
                <a:latin typeface="Calibri"/>
              </a:rPr>
              <a:t>THE MOVE</a:t>
            </a:r>
            <a:endParaRPr lang="en-US" dirty="0"/>
          </a:p>
          <a:p>
            <a:r>
              <a:rPr sz="900">
                <a:latin typeface="Calibri"/>
              </a:rPr>
              <a:t>Make them feel why the asymmetry is load-bearing, not stylistic.</a:t>
            </a:r>
          </a:p>
          <a:p/>
          <a:p>
            <a:r>
              <a:rPr sz="900">
                <a:latin typeface="Calibri"/>
              </a:rPr>
              <a:t>SAY</a:t>
            </a:r>
          </a:p>
          <a:p>
            <a:r>
              <a:rPr sz="900">
                <a:latin typeface="Calibri"/>
              </a:rPr>
              <a:t>- Cedar is forbid-wins: any single forbid that matches kills the request no matter how many</a:t>
            </a:r>
          </a:p>
          <a:p>
            <a:r>
              <a:rPr sz="900">
                <a:latin typeface="Calibri"/>
              </a:rPr>
              <a:t>  permits fire. So the twelve forbids are the product and the one permit is only the door</a:t>
            </a:r>
          </a:p>
          <a:p>
            <a:r>
              <a:rPr sz="900">
                <a:latin typeface="Calibri"/>
              </a:rPr>
              <a:t>  being unlocked.</a:t>
            </a:r>
          </a:p>
          <a:p>
            <a:r>
              <a:rPr sz="900">
                <a:latin typeface="Calibri"/>
              </a:rPr>
              <a:t>- The consequence is the failure mode most agent stacks get backwards: a caller with a missing</a:t>
            </a:r>
          </a:p>
          <a:p>
            <a:r>
              <a:rPr sz="900">
                <a:latin typeface="Calibri"/>
              </a:rPr>
              <a:t>  or malformed claim is granted ZERO tools, not all of them.</a:t>
            </a:r>
          </a:p>
          <a:p>
            <a:r>
              <a:rPr sz="900">
                <a:latin typeface="Calibri"/>
              </a:rPr>
              <a:t>- New in this run and worth saying: deny-by-default reached a NEWLY ADDED tool with no new</a:t>
            </a:r>
          </a:p>
          <a:p>
            <a:r>
              <a:rPr sz="900">
                <a:latin typeface="Calibri"/>
              </a:rPr>
              <a:t>  policy written. That is the portability claim doing real work rather than being asserted.</a:t>
            </a:r>
          </a:p>
          <a:p/>
          <a:p>
            <a:r>
              <a:rPr sz="900">
                <a:latin typeface="Calibri"/>
              </a:rPr>
              <a:t>DON'T</a:t>
            </a:r>
          </a:p>
          <a:p>
            <a:r>
              <a:rPr sz="900">
                <a:latin typeface="Calibri"/>
              </a:rPr>
              <a:t>- Don't say "deny by default" and move on. The interesting property is that it is selective -</a:t>
            </a:r>
          </a:p>
          <a:p>
            <a:r>
              <a:rPr sz="900">
                <a:latin typeface="Calibri"/>
              </a:rPr>
              <a:t>  see the first question below, and get there before they do.</a:t>
            </a:r>
          </a:p>
          <a:p/>
          <a:p>
            <a:r>
              <a:rPr sz="900">
                <a:latin typeface="Calibri"/>
              </a:rPr>
              <a:t>Q&amp;A</a:t>
            </a:r>
          </a:p>
          <a:p>
            <a:r>
              <a:rPr sz="900">
                <a:latin typeface="Calibri"/>
              </a:rPr>
              <a:t>Q: What if a policy has a bug and just denies everything? How would you know?</a:t>
            </a:r>
          </a:p>
          <a:p>
            <a:r>
              <a:rPr sz="900">
                <a:latin typeface="Calibri"/>
              </a:rPr>
              <a:t>A: That happened, and it is the most useful thing on this slide. On one run the outsider AND</a:t>
            </a:r>
          </a:p>
          <a:p>
            <a:r>
              <a:rPr sz="900">
                <a:latin typeface="Calibri"/>
              </a:rPr>
              <a:t>   the legitimate reviewer were denied by the same string. "Outsider denied" proved nothing,</a:t>
            </a:r>
          </a:p>
          <a:p>
            <a:r>
              <a:rPr sz="900">
                <a:latin typeface="Calibri"/>
              </a:rPr>
              <a:t>   because everything was denied - and widening the check to make it pass would have turned it</a:t>
            </a:r>
          </a:p>
          <a:p>
            <a:r>
              <a:rPr sz="900">
                <a:latin typeface="Calibri"/>
              </a:rPr>
              <a:t>   green while proving less than nothing. A deny-by-default claim is only evidence when the</a:t>
            </a:r>
          </a:p>
          <a:p>
            <a:r>
              <a:rPr sz="900">
                <a:latin typeface="Calibri"/>
              </a:rPr>
              <a:t>   denial is SELECTIVE, so the proof now requires the denial to name a specific policy.</a:t>
            </a:r>
          </a:p>
          <a:p/>
          <a:p>
            <a:r>
              <a:rPr sz="900">
                <a:latin typeface="Calibri"/>
              </a:rPr>
              <a:t>Q: Why does every policy read "context.input has X &amp;&amp; ..."?</a:t>
            </a:r>
          </a:p>
          <a:p>
            <a:r>
              <a:rPr sz="900">
                <a:latin typeface="Calibri"/>
              </a:rPr>
              <a:t>A: Because the GA Cedar engine rejects an unguarded optional-attribute access outright. The</a:t>
            </a:r>
          </a:p>
          <a:p>
            <a:r>
              <a:rPr sz="900">
                <a:latin typeface="Calibri"/>
              </a:rPr>
              <a:t>   useful consequence is that an absent value fails CLOSED - the forbid fires.</a:t>
            </a:r>
          </a:p>
          <a:p/>
          <a:p>
            <a:r>
              <a:rPr sz="900">
                <a:latin typeface="Calibri"/>
              </a:rPr>
              <a:t>Q: Can a caller influence the context Cedar evaluates?</a:t>
            </a:r>
          </a:p>
          <a:p>
            <a:r>
              <a:rPr sz="900">
                <a:latin typeface="Calibri"/>
              </a:rPr>
              <a:t>A: No. The interceptor strips caller-supplied consent, purpose, budget_ok and service-window</a:t>
            </a:r>
          </a:p>
          <a:p>
            <a:r>
              <a:rPr sz="900">
                <a:latin typeface="Calibri"/>
              </a:rPr>
              <a:t>   values and injects only server-derived ones - the real clock, the live meter, a pack</a:t>
            </a:r>
          </a:p>
          <a:p>
            <a:r>
              <a:rPr sz="900">
                <a:latin typeface="Calibri"/>
              </a:rPr>
              <a:t>   resolver. That came out of an external review round; the earlier version trusted caller</a:t>
            </a:r>
          </a:p>
          <a:p>
            <a:r>
              <a:rPr sz="900">
                <a:latin typeface="Calibri"/>
              </a:rPr>
              <a:t>   assertions for some of those fields.</a:t>
            </a:r>
          </a:p>
          <a:p/>
          <a:p>
            <a:r>
              <a:rPr sz="900">
                <a:latin typeface="Calibri"/>
              </a:rPr>
              <a:t>Q: Where is the decision actually made?</a:t>
            </a:r>
          </a:p>
          <a:p>
            <a:r>
              <a:rPr sz="900">
                <a:latin typeface="Calibri"/>
              </a:rPr>
              <a:t>A: In AWS's Cedar engine at the AgentCore Gateway, before the tool Lambda is invoked. Not in</a:t>
            </a:r>
          </a:p>
          <a:p>
            <a:r>
              <a:rPr sz="900">
                <a:latin typeface="Calibri"/>
              </a:rPr>
              <a:t>   our code, and not anywhere the agent can reach.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900">
                <a:latin typeface="Calibri"/>
              </a:rPr>
              <a:t>THE MOVE</a:t>
            </a:r>
            <a:endParaRPr lang="en-US" dirty="0"/>
          </a:p>
          <a:p>
            <a:r>
              <a:rPr sz="900">
                <a:latin typeface="Calibri"/>
              </a:rPr>
              <a:t>Show breadth in four groups, then disqualify the reusability claim yourself.</a:t>
            </a:r>
          </a:p>
          <a:p/>
          <a:p>
            <a:r>
              <a:rPr sz="900">
                <a:latin typeface="Calibri"/>
              </a:rPr>
              <a:t>SAY</a:t>
            </a:r>
          </a:p>
          <a:p>
            <a:r>
              <a:rPr sz="900">
                <a:latin typeface="Calibri"/>
              </a:rPr>
              <a:t>- Walk the four groups in a sentence each. Do not read thirteen policy names.</a:t>
            </a:r>
          </a:p>
          <a:p>
            <a:r>
              <a:rPr sz="900">
                <a:latin typeface="Calibri"/>
              </a:rPr>
              <a:t>- Group B is the one to dwell on, because it sets up the next slide.</a:t>
            </a:r>
          </a:p>
          <a:p>
            <a:r>
              <a:rPr sz="900">
                <a:latin typeface="Calibri"/>
              </a:rPr>
              <a:t>- Group C is the separation-of-duties answer: the agent can never commit a determination or</a:t>
            </a:r>
          </a:p>
          <a:p>
            <a:r>
              <a:rPr sz="900">
                <a:latin typeface="Calibri"/>
              </a:rPr>
              <a:t>  raise a fraud referral - forbidden AND hidden from the advertised tool list.</a:t>
            </a:r>
          </a:p>
          <a:p>
            <a:r>
              <a:rPr sz="900">
                <a:latin typeface="Calibri"/>
              </a:rPr>
              <a:t>- Finish on the honest limit, out loud: these thirteen are a worked example, not a reusable</a:t>
            </a:r>
          </a:p>
          <a:p>
            <a:r>
              <a:rPr sz="900">
                <a:latin typeface="Calibri"/>
              </a:rPr>
              <a:t>  library. A customer authors their own against their own manifest, and THAT is the platform</a:t>
            </a:r>
          </a:p>
          <a:p>
            <a:r>
              <a:rPr sz="900">
                <a:latin typeface="Calibri"/>
              </a:rPr>
              <a:t>  capability.</a:t>
            </a:r>
          </a:p>
          <a:p/>
          <a:p>
            <a:r>
              <a:rPr sz="900">
                <a:latin typeface="Calibri"/>
              </a:rPr>
              <a:t>DON'T</a:t>
            </a:r>
          </a:p>
          <a:p>
            <a:r>
              <a:rPr sz="900">
                <a:latin typeface="Calibri"/>
              </a:rPr>
              <a:t>- Don't let "thirteen policies" be heard as "thirteen policies you get for free".</a:t>
            </a:r>
          </a:p>
          <a:p/>
          <a:p>
            <a:r>
              <a:rPr sz="900">
                <a:latin typeface="Calibri"/>
              </a:rPr>
              <a:t>Q&amp;A</a:t>
            </a:r>
          </a:p>
          <a:p>
            <a:r>
              <a:rPr sz="900">
                <a:latin typeface="Calibri"/>
              </a:rPr>
              <a:t>Q: The overpayment cap is $5,000 - where did that come from?</a:t>
            </a:r>
          </a:p>
          <a:p>
            <a:r>
              <a:rPr sz="900">
                <a:latin typeface="Calibri"/>
              </a:rPr>
              <a:t>A: It is illustrative. The program rules and thresholds in this pack are illustrative federal</a:t>
            </a:r>
          </a:p>
          <a:p>
            <a:r>
              <a:rPr sz="900">
                <a:latin typeface="Calibri"/>
              </a:rPr>
              <a:t>   defaults. They need a domain owner who can say what the authoritative values are and sign</a:t>
            </a:r>
          </a:p>
          <a:p>
            <a:r>
              <a:rPr sz="900">
                <a:latin typeface="Calibri"/>
              </a:rPr>
              <a:t>   off on them, and that is pilot work, not done work.</a:t>
            </a:r>
          </a:p>
          <a:p/>
          <a:p>
            <a:r>
              <a:rPr sz="900">
                <a:latin typeface="Calibri"/>
              </a:rPr>
              <a:t>Q: Why hide finalize_determination rather than just forbid it?</a:t>
            </a:r>
          </a:p>
          <a:p>
            <a:r>
              <a:rPr sz="900">
                <a:latin typeface="Calibri"/>
              </a:rPr>
              <a:t>A: Both, deliberately. It is forbidden by Cedar AND absent from the advertised tool list, so</a:t>
            </a:r>
          </a:p>
          <a:p>
            <a:r>
              <a:rPr sz="900">
                <a:latin typeface="Calibri"/>
              </a:rPr>
              <a:t>   the agent cannot select it in the first place. The forbid is the control; the hiding removes</a:t>
            </a:r>
          </a:p>
          <a:p>
            <a:r>
              <a:rPr sz="900">
                <a:latin typeface="Calibri"/>
              </a:rPr>
              <a:t>   the temptation. Every new high-risk action gets the same treatment.</a:t>
            </a:r>
          </a:p>
          <a:p/>
          <a:p>
            <a:r>
              <a:rPr sz="900">
                <a:latin typeface="Calibri"/>
              </a:rPr>
              <a:t>Q: Is a service window really a security control?</a:t>
            </a:r>
          </a:p>
          <a:p>
            <a:r>
              <a:rPr sz="900">
                <a:latin typeface="Calibri"/>
              </a:rPr>
              <a:t>A: It is a scope control, and the part that makes it meaningful is that it is authoritative:</a:t>
            </a:r>
          </a:p>
          <a:p>
            <a:r>
              <a:rPr sz="900">
                <a:latin typeface="Calibri"/>
              </a:rPr>
              <a:t>   set by the interceptor from the real request time, never from the caller. It is scoped to</a:t>
            </a:r>
          </a:p>
          <a:p>
            <a:r>
              <a:rPr sz="900">
                <a:latin typeface="Calibri"/>
              </a:rPr>
              <a:t>   the four consequential actions because the built-in AgentCore actions carry no input in</a:t>
            </a:r>
          </a:p>
          <a:p>
            <a:r>
              <a:rPr sz="900">
                <a:latin typeface="Calibri"/>
              </a:rPr>
              <a:t>   their context.</a:t>
            </a:r>
          </a:p>
          <a:p/>
          <a:p>
            <a:r>
              <a:rPr sz="900">
                <a:latin typeface="Calibri"/>
              </a:rPr>
              <a:t>Q: How does a customer write their own policies - do they need Cedar expertise?</a:t>
            </a:r>
          </a:p>
          <a:p>
            <a:r>
              <a:rPr sz="900">
                <a:latin typeface="Calibri"/>
              </a:rPr>
              <a:t>A: They declare the policies in the agent manifest and the render pipeline emits the Cedar</a:t>
            </a:r>
          </a:p>
          <a:p>
            <a:r>
              <a:rPr sz="900">
                <a:latin typeface="Calibri"/>
              </a:rPr>
              <a:t>   statements with the gateway ARN substituted. Cedar expertise helps, but the manifest is the</a:t>
            </a:r>
          </a:p>
          <a:p>
            <a:r>
              <a:rPr sz="900">
                <a:latin typeface="Calibri"/>
              </a:rPr>
              <a:t>   interface. I would not pretend it is no-code.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900">
                <a:latin typeface="Calibri"/>
              </a:rPr>
              <a:t>THE MOVE</a:t>
            </a:r>
            <a:endParaRPr lang="en-US" dirty="0"/>
          </a:p>
          <a:p>
            <a:r>
              <a:rPr sz="900">
                <a:latin typeface="Calibri"/>
              </a:rPr>
              <a:t>Land the strongest control - and then hand them the bypass question before they think to ask</a:t>
            </a:r>
          </a:p>
          <a:p>
            <a:r>
              <a:rPr sz="900">
                <a:latin typeface="Calibri"/>
              </a:rPr>
              <a:t>it. Answering with a reopened finding rather than a fix is the credibility move of the deck.</a:t>
            </a:r>
          </a:p>
          <a:p/>
          <a:p>
            <a:r>
              <a:rPr sz="900">
                <a:latin typeface="Calibri"/>
              </a:rPr>
              <a:t>SAY</a:t>
            </a:r>
          </a:p>
          <a:p>
            <a:r>
              <a:rPr sz="900">
                <a:latin typeface="Calibri"/>
              </a:rPr>
              <a:t>- Most systems accept deidentified: true from the caller - a self-report by the party the</a:t>
            </a:r>
          </a:p>
          <a:p>
            <a:r>
              <a:rPr sz="900">
                <a:latin typeface="Calibri"/>
              </a:rPr>
              <a:t>  control constrains. Ours is a signed sanitized_ref, issued only by mask_pii, and a forged or</a:t>
            </a:r>
          </a:p>
          <a:p>
            <a:r>
              <a:rPr sz="900">
                <a:latin typeface="Calibri"/>
              </a:rPr>
              <a:t>  tampered reference is refused by the guard.</a:t>
            </a:r>
          </a:p>
          <a:p>
            <a:r>
              <a:rPr sz="900">
                <a:latin typeface="Calibri"/>
              </a:rPr>
              <a:t>- The part not on the slide: raw application text and the drafted notice never cross workflow</a:t>
            </a:r>
          </a:p>
          <a:p>
            <a:r>
              <a:rPr sz="900">
                <a:latin typeface="Calibri"/>
              </a:rPr>
              <a:t>  state AT ALL. Only opaque references do. Pass-by-reference, not pass-by-value.</a:t>
            </a:r>
          </a:p>
          <a:p>
            <a:r>
              <a:rPr sz="900">
                <a:latin typeface="Calibri"/>
              </a:rPr>
              <a:t>- Strict PII canary: zero leaks across CloudWatch Logs, X-Ray, the DLQ and Step Functions</a:t>
            </a:r>
          </a:p>
          <a:p>
            <a:r>
              <a:rPr sz="900">
                <a:latin typeface="Calibri"/>
              </a:rPr>
              <a:t>  execution history.</a:t>
            </a:r>
          </a:p>
          <a:p>
            <a:r>
              <a:rPr sz="900">
                <a:latin typeface="Calibri"/>
              </a:rPr>
              <a:t>- Then volunteer the bypass question yourself: "The obvious attack is, what if someone skips</a:t>
            </a:r>
          </a:p>
          <a:p>
            <a:r>
              <a:rPr sz="900">
                <a:latin typeface="Calibri"/>
              </a:rPr>
              <a:t>  the gateway?" Give the RT-4 answer below.</a:t>
            </a:r>
          </a:p>
          <a:p/>
          <a:p>
            <a:r>
              <a:rPr sz="900">
                <a:latin typeface="Calibri"/>
              </a:rPr>
              <a:t>DON'T</a:t>
            </a:r>
          </a:p>
          <a:p>
            <a:r>
              <a:rPr sz="900">
                <a:latin typeface="Calibri"/>
              </a:rPr>
              <a:t>- Don't present RT-4 as a fix. It is an OPEN finding, R4-2, and saying so is worth more than</a:t>
            </a:r>
          </a:p>
          <a:p>
            <a:r>
              <a:rPr sz="900">
                <a:latin typeface="Calibri"/>
              </a:rPr>
              <a:t>  claiming it closed.</a:t>
            </a:r>
          </a:p>
          <a:p/>
          <a:p>
            <a:r>
              <a:rPr sz="900">
                <a:latin typeface="Calibri"/>
              </a:rPr>
              <a:t>Q&amp;A</a:t>
            </a:r>
          </a:p>
          <a:p>
            <a:r>
              <a:rPr sz="900">
                <a:latin typeface="Calibri"/>
              </a:rPr>
              <a:t>Q: What if someone bypasses the gateway and invokes the runtime directly?</a:t>
            </a:r>
          </a:p>
          <a:p>
            <a:r>
              <a:rPr sz="900">
                <a:latin typeface="Calibri"/>
              </a:rPr>
              <a:t>A: We built exactly that control - RT-4, gateway-only runtime invocation. It worked. And</a:t>
            </a:r>
          </a:p>
          <a:p>
            <a:r>
              <a:rPr sz="900">
                <a:latin typeface="Calibri"/>
              </a:rPr>
              <a:t>   because the gateway sits downstream of the runtime in this topology, it left the agent with</a:t>
            </a:r>
          </a:p>
          <a:p>
            <a:r>
              <a:rPr sz="900">
                <a:latin typeface="Calibri"/>
              </a:rPr>
              <a:t>   no permitted invoker and failed four gate checks. So it is now opt-in and off by default,</a:t>
            </a:r>
          </a:p>
          <a:p>
            <a:r>
              <a:rPr sz="900">
                <a:latin typeface="Calibri"/>
              </a:rPr>
              <a:t>   and R4-2 is OPEN in the register. The mitigation is these four mask_before_* forbids: they</a:t>
            </a:r>
          </a:p>
          <a:p>
            <a:r>
              <a:rPr sz="900">
                <a:latin typeface="Calibri"/>
              </a:rPr>
              <a:t>   refuse the consequential ACTIONS unless the payload is provably de-identified, whoever</a:t>
            </a:r>
          </a:p>
          <a:p>
            <a:r>
              <a:rPr sz="900">
                <a:latin typeface="Calibri"/>
              </a:rPr>
              <a:t>   calls. RT-4 would have closed a path; these close the action - which is the stronger place</a:t>
            </a:r>
          </a:p>
          <a:p>
            <a:r>
              <a:rPr sz="900">
                <a:latin typeface="Calibri"/>
              </a:rPr>
              <a:t>   to enforce, and it is live-proven rather than unit-tested.</a:t>
            </a:r>
          </a:p>
          <a:p/>
          <a:p>
            <a:r>
              <a:rPr sz="900">
                <a:latin typeface="Calibri"/>
              </a:rPr>
              <a:t>Q: What signs the sanitized_ref, and what happens if that secret leaks?</a:t>
            </a:r>
          </a:p>
          <a:p>
            <a:r>
              <a:rPr sz="900">
                <a:latin typeface="Calibri"/>
              </a:rPr>
              <a:t>A: HMAC-SHA256 with a per-deployment shared secret in AWS Secrets Manager. Symmetric is</a:t>
            </a:r>
          </a:p>
          <a:p>
            <a:r>
              <a:rPr sz="900">
                <a:latin typeface="Calibri"/>
              </a:rPr>
              <a:t>   deliberate: signer and verifier are two Lambdas in the SAME deployment and account, already</a:t>
            </a:r>
          </a:p>
          <a:p>
            <a:r>
              <a:rPr sz="900">
                <a:latin typeface="Calibri"/>
              </a:rPr>
              <a:t>   inside one trust boundary. Where a boundary is actually crossed - the connector reaching the</a:t>
            </a:r>
          </a:p>
          <a:p>
            <a:r>
              <a:rPr sz="900">
                <a:latin typeface="Calibri"/>
              </a:rPr>
              <a:t>   system of record - it is asymmetric RS256 against published JWKS. If the secret leaked you</a:t>
            </a:r>
          </a:p>
          <a:p>
            <a:r>
              <a:rPr sz="900">
                <a:latin typeface="Calibri"/>
              </a:rPr>
              <a:t>   could forge a reference, which is why it is in Secrets Manager rather than the template,</a:t>
            </a:r>
          </a:p>
          <a:p>
            <a:r>
              <a:rPr sz="900">
                <a:latin typeface="Calibri"/>
              </a:rPr>
              <a:t>   cached only on a SUCCESSFUL read, and fails closed when unreadable. A plaintext env fallback</a:t>
            </a:r>
          </a:p>
          <a:p>
            <a:r>
              <a:rPr sz="900">
                <a:latin typeface="Calibri"/>
              </a:rPr>
              <a:t>   exists for disposable sandbox validation only. Attack it - it is on the break-it list.</a:t>
            </a:r>
          </a:p>
          <a:p/>
          <a:p>
            <a:r>
              <a:rPr sz="900">
                <a:latin typeface="Calibri"/>
              </a:rPr>
              <a:t>Q: Why not KMS asymmetric signing everywhere?</a:t>
            </a:r>
          </a:p>
          <a:p>
            <a:r>
              <a:rPr sz="900">
                <a:latin typeface="Calibri"/>
              </a:rPr>
              <a:t>A: It would be machinery without a threat to answer: inside one account the two parties already</a:t>
            </a:r>
          </a:p>
          <a:p>
            <a:r>
              <a:rPr sz="900">
                <a:latin typeface="Calibri"/>
              </a:rPr>
              <a:t>   share a trust boundary, so asymmetric buys non-repudiation between parties that do not need</a:t>
            </a:r>
          </a:p>
          <a:p>
            <a:r>
              <a:rPr sz="900">
                <a:latin typeface="Calibri"/>
              </a:rPr>
              <a:t>   it. The moment the boundary is real, the design switches. If your threat model says otherwise</a:t>
            </a:r>
          </a:p>
          <a:p>
            <a:r>
              <a:rPr sz="900">
                <a:latin typeface="Calibri"/>
              </a:rPr>
              <a:t>   I would genuinely like to hear it.</a:t>
            </a:r>
          </a:p>
          <a:p/>
          <a:p>
            <a:r>
              <a:rPr sz="900">
                <a:latin typeface="Calibri"/>
              </a:rPr>
              <a:t>Q: Comprehend is not perfect at PII detection.</a:t>
            </a:r>
          </a:p>
          <a:p>
            <a:r>
              <a:rPr sz="900">
                <a:latin typeface="Calibri"/>
              </a:rPr>
              <a:t>A: Agreed, and the platform does not rely on it alone. There is a Luhn-checked regex backstop</a:t>
            </a:r>
          </a:p>
          <a:p>
            <a:r>
              <a:rPr sz="900">
                <a:latin typeface="Calibri"/>
              </a:rPr>
              <a:t>   for SSN, email, phone, IP and card, and UTF-8 byte-window chunking so a record larger than</a:t>
            </a:r>
          </a:p>
          <a:p>
            <a:r>
              <a:rPr sz="900">
                <a:latin typeface="Calibri"/>
              </a:rPr>
              <a:t>   Comprehend's synchronous size limit does not get its tail returned unmasked. That was a real</a:t>
            </a:r>
          </a:p>
          <a:p>
            <a:r>
              <a:rPr sz="900">
                <a:latin typeface="Calibri"/>
              </a:rPr>
              <a:t>   defect, found and fixed in core 1.10.0.</a:t>
            </a:r>
          </a:p>
          <a:p/>
          <a:p>
            <a:r>
              <a:rPr sz="900">
                <a:latin typeface="Calibri"/>
              </a:rPr>
              <a:t>Q: Zero leaks across four surfaces - how hard did you look?</a:t>
            </a:r>
          </a:p>
          <a:p>
            <a:r>
              <a:rPr sz="900">
                <a:latin typeface="Calibri"/>
              </a:rPr>
              <a:t>A: A strict canary with known markers, checked in Logs, X-Ray, the DLQ and Step Functions</a:t>
            </a:r>
          </a:p>
          <a:p>
            <a:r>
              <a:rPr sz="900">
                <a:latin typeface="Calibri"/>
              </a:rPr>
              <a:t>   history. It is a canary, not a pen test. There has been no penetration test at all and that</a:t>
            </a:r>
          </a:p>
          <a:p>
            <a:r>
              <a:rPr sz="900">
                <a:latin typeface="Calibri"/>
              </a:rPr>
              <a:t>   is on the not-proven list.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900">
                <a:latin typeface="Calibri"/>
              </a:rPr>
              <a:t>THE MOVE</a:t>
            </a:r>
            <a:endParaRPr lang="en-US" dirty="0"/>
          </a:p>
          <a:p>
            <a:r>
              <a:rPr sz="900">
                <a:latin typeface="Calibri"/>
              </a:rPr>
              <a:t>Give them the result with its scope attached, and make it easy to check rather than easy to</a:t>
            </a:r>
          </a:p>
          <a:p>
            <a:r>
              <a:rPr sz="900">
                <a:latin typeface="Calibri"/>
              </a:rPr>
              <a:t>believe.</a:t>
            </a:r>
          </a:p>
          <a:p/>
          <a:p>
            <a:r>
              <a:rPr sz="900">
                <a:latin typeface="Calibri"/>
              </a:rPr>
              <a:t>SAY</a:t>
            </a:r>
          </a:p>
          <a:p>
            <a:r>
              <a:rPr sz="900">
                <a:latin typeface="Calibri"/>
              </a:rPr>
              <a:t>- Read the scope line FIRST, then the grid. One pack, one account, one region, two tenants,</a:t>
            </a:r>
          </a:p>
          <a:p>
            <a:r>
              <a:rPr sz="900">
                <a:latin typeface="Calibri"/>
              </a:rPr>
              <a:t>  synthetic data, run ben-fpg.</a:t>
            </a:r>
          </a:p>
          <a:p>
            <a:r>
              <a:rPr sz="900">
                <a:latin typeface="Calibri"/>
              </a:rPr>
              <a:t>- Do not read ten tiles. Pick three this audience cares about and say the CHECK NAME out loud</a:t>
            </a:r>
          </a:p>
          <a:p>
            <a:r>
              <a:rPr sz="900">
                <a:latin typeface="Calibri"/>
              </a:rPr>
              <a:t>  - they can grep for it in the evidence file.</a:t>
            </a:r>
          </a:p>
          <a:p>
            <a:r>
              <a:rPr sz="900">
                <a:latin typeface="Calibri"/>
              </a:rPr>
              <a:t>- Offer the evidence file by name and offer the failed run beside it. That offer is more</a:t>
            </a:r>
          </a:p>
          <a:p>
            <a:r>
              <a:rPr sz="900">
                <a:latin typeface="Calibri"/>
              </a:rPr>
              <a:t>  persuasive than the grid.</a:t>
            </a:r>
          </a:p>
          <a:p/>
          <a:p>
            <a:r>
              <a:rPr sz="900">
                <a:latin typeface="Calibri"/>
              </a:rPr>
              <a:t>DON'T</a:t>
            </a:r>
          </a:p>
          <a:p>
            <a:r>
              <a:rPr sz="900">
                <a:latin typeface="Calibri"/>
              </a:rPr>
              <a:t>- Don't let "proven" drift into "certified". Nothing here is certified.</a:t>
            </a:r>
          </a:p>
          <a:p/>
          <a:p>
            <a:r>
              <a:rPr sz="900">
                <a:latin typeface="Calibri"/>
              </a:rPr>
              <a:t>Q&amp;A</a:t>
            </a:r>
          </a:p>
          <a:p>
            <a:r>
              <a:rPr sz="900">
                <a:latin typeface="Calibri"/>
              </a:rPr>
              <a:t>Q: Can I see the evidence file?</a:t>
            </a:r>
          </a:p>
          <a:p>
            <a:r>
              <a:rPr sz="900">
                <a:latin typeface="Calibri"/>
              </a:rPr>
              <a:t>A: Yes - it is committed in the repository, and so is the failed run immediately before it, in</a:t>
            </a:r>
          </a:p>
          <a:p>
            <a:r>
              <a:rPr sz="900">
                <a:latin typeface="Calibri"/>
              </a:rPr>
              <a:t>   the same commit. I would rather you read those two side by side than take this grid at face</a:t>
            </a:r>
          </a:p>
          <a:p>
            <a:r>
              <a:rPr sz="900">
                <a:latin typeface="Calibri"/>
              </a:rPr>
              <a:t>   value. It is the cheapest high-signal thing you can do.</a:t>
            </a:r>
          </a:p>
          <a:p/>
          <a:p>
            <a:r>
              <a:rPr sz="900">
                <a:latin typeface="Calibri"/>
              </a:rPr>
              <a:t>Q: What does "audit routing 12/12, transparency 13/13 per tenant" actually mean?</a:t>
            </a:r>
          </a:p>
          <a:p>
            <a:r>
              <a:rPr sz="900">
                <a:latin typeface="Calibri"/>
              </a:rPr>
              <a:t>A: Two tenants with physically separate stores. Twelve isolation assertions confirm each</a:t>
            </a:r>
          </a:p>
          <a:p>
            <a:r>
              <a:rPr sz="900">
                <a:latin typeface="Calibri"/>
              </a:rPr>
              <a:t>   tenant's records land in that tenant's own ledger, WORM vault and approvals table - and</a:t>
            </a:r>
          </a:p>
          <a:p>
            <a:r>
              <a:rPr sz="900">
                <a:latin typeface="Calibri"/>
              </a:rPr>
              <a:t>   that the other tenant cannot reach them. Thirteen transparency assertions confirm the</a:t>
            </a:r>
          </a:p>
          <a:p>
            <a:r>
              <a:rPr sz="900">
                <a:latin typeface="Calibri"/>
              </a:rPr>
              <a:t>   correlation set - tenant, session, trace, MCP session, execution, request, case - is present</a:t>
            </a:r>
          </a:p>
          <a:p>
            <a:r>
              <a:rPr sz="900">
                <a:latin typeface="Calibri"/>
              </a:rPr>
              <a:t>   and joinable, per tenant.</a:t>
            </a:r>
          </a:p>
          <a:p/>
          <a:p>
            <a:r>
              <a:rPr sz="900">
                <a:latin typeface="Calibri"/>
              </a:rPr>
              <a:t>Q: Nine stacks in 722 seconds - cold account or warm?</a:t>
            </a:r>
          </a:p>
          <a:p>
            <a:r>
              <a:rPr sz="900">
                <a:latin typeface="Calibri"/>
              </a:rPr>
              <a:t>A: Cold. Empty account with CDK bootstrapped, no prior resources. The preflight check refuses</a:t>
            </a:r>
          </a:p>
          <a:p>
            <a:r>
              <a:rPr sz="900">
                <a:latin typeface="Calibri"/>
              </a:rPr>
              <a:t>   to deploy at all if any gateway, policy engine or agent runtime carrying the prefix already</a:t>
            </a:r>
          </a:p>
          <a:p>
            <a:r>
              <a:rPr sz="900">
                <a:latin typeface="Calibri"/>
              </a:rPr>
              <a:t>   exists - that check exists because a leftover policy engine from a sibling pack once held</a:t>
            </a:r>
          </a:p>
          <a:p>
            <a:r>
              <a:rPr sz="900">
                <a:latin typeface="Calibri"/>
              </a:rPr>
              <a:t>   the policy names and produced three wrong diagnoses.</a:t>
            </a:r>
          </a:p>
          <a:p/>
          <a:p>
            <a:r>
              <a:rPr sz="900">
                <a:latin typeface="Calibri"/>
              </a:rPr>
              <a:t>Q: What is NOT in this grid?</a:t>
            </a:r>
          </a:p>
          <a:p>
            <a:r>
              <a:rPr sz="900">
                <a:latin typeface="Calibri"/>
              </a:rPr>
              <a:t>A: Real data, a customer system of record, an Organization-level perimeter, and any</a:t>
            </a:r>
          </a:p>
          <a:p>
            <a:r>
              <a:rPr sz="900">
                <a:latin typeface="Calibri"/>
              </a:rPr>
              <a:t>   verification by someone who is not me. The next-but-one slide is that list, and it is</a:t>
            </a:r>
          </a:p>
          <a:p>
            <a:r>
              <a:rPr sz="900">
                <a:latin typeface="Calibri"/>
              </a:rPr>
              <a:t>   longer than this one.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900">
                <a:latin typeface="Calibri"/>
              </a:rPr>
              <a:t>THE MOVE</a:t>
            </a:r>
            <a:endParaRPr lang="en-US" dirty="0"/>
          </a:p>
          <a:p>
            <a:r>
              <a:rPr sz="900">
                <a:latin typeface="Calibri"/>
              </a:rPr>
              <a:t>Convert the failure list from an apology into the reason the pass is believable.</a:t>
            </a:r>
          </a:p>
          <a:p/>
          <a:p>
            <a:r>
              <a:rPr sz="900">
                <a:latin typeface="Calibri"/>
              </a:rPr>
              <a:t>SAY</a:t>
            </a:r>
          </a:p>
          <a:p>
            <a:r>
              <a:rPr sz="900">
                <a:latin typeface="Calibri"/>
              </a:rPr>
              <a:t>- The point of this slide is not the four findings. It is that the run that FAILED sits in the</a:t>
            </a:r>
          </a:p>
          <a:p>
            <a:r>
              <a:rPr sz="900">
                <a:latin typeface="Calibri"/>
              </a:rPr>
              <a:t>  same commit as the run that passed.</a:t>
            </a:r>
          </a:p>
          <a:p>
            <a:r>
              <a:rPr sz="900">
                <a:latin typeface="Calibri"/>
              </a:rPr>
              <a:t>- Say it plainly: if you read one thing to decide whether this evidence is honest, read those</a:t>
            </a:r>
          </a:p>
          <a:p>
            <a:r>
              <a:rPr sz="900">
                <a:latin typeface="Calibri"/>
              </a:rPr>
              <a:t>  two files side by side.</a:t>
            </a:r>
          </a:p>
          <a:p>
            <a:r>
              <a:rPr sz="900">
                <a:latin typeface="Calibri"/>
              </a:rPr>
              <a:t>- Seventy findings are recorded this way, including every one where I was wrong - and the</a:t>
            </a:r>
          </a:p>
          <a:p>
            <a:r>
              <a:rPr sz="900">
                <a:latin typeface="Calibri"/>
              </a:rPr>
              <a:t>  connector on the previous slide took six more runs after this one.</a:t>
            </a:r>
          </a:p>
          <a:p/>
          <a:p>
            <a:r>
              <a:rPr sz="900">
                <a:latin typeface="Calibri"/>
              </a:rPr>
              <a:t>DON'T</a:t>
            </a:r>
          </a:p>
          <a:p>
            <a:r>
              <a:rPr sz="900">
                <a:latin typeface="Calibri"/>
              </a:rPr>
              <a:t>- Don't perform humility. State the findings flatly and let them do the work.</a:t>
            </a:r>
          </a:p>
          <a:p/>
          <a:p>
            <a:r>
              <a:rPr sz="900">
                <a:latin typeface="Calibri"/>
              </a:rPr>
              <a:t>Q&amp;A</a:t>
            </a:r>
          </a:p>
          <a:p>
            <a:r>
              <a:rPr sz="900">
                <a:latin typeface="Calibri"/>
              </a:rPr>
              <a:t>Q: Isn't publishing your own failures a bit performative?</a:t>
            </a:r>
          </a:p>
          <a:p>
            <a:r>
              <a:rPr sz="900">
                <a:latin typeface="Calibri"/>
              </a:rPr>
              <a:t>A: Fair challenge, and the test is whether the register changes behaviour. It does: several</a:t>
            </a:r>
          </a:p>
          <a:p>
            <a:r>
              <a:rPr sz="900">
                <a:latin typeface="Calibri"/>
              </a:rPr>
              <a:t>   entries produced CI controls that now fail builds - the account-id gate, the doc-count gate,</a:t>
            </a:r>
          </a:p>
          <a:p>
            <a:r>
              <a:rPr sz="900">
                <a:latin typeface="Calibri"/>
              </a:rPr>
              <a:t>   the silenced-error gate, the stale-checkout gate. If it were performative there would be no</a:t>
            </a:r>
          </a:p>
          <a:p>
            <a:r>
              <a:rPr sz="900">
                <a:latin typeface="Calibri"/>
              </a:rPr>
              <a:t>   code attached to it.</a:t>
            </a:r>
          </a:p>
          <a:p/>
          <a:p>
            <a:r>
              <a:rPr sz="900">
                <a:latin typeface="Calibri"/>
              </a:rPr>
              <a:t>Q: L61, the CloudTrail quota - is that going to bite us?</a:t>
            </a:r>
          </a:p>
          <a:p>
            <a:r>
              <a:rPr sz="900">
                <a:latin typeface="Calibri"/>
              </a:rPr>
              <a:t>A: Yes, and it is the one prerequisite I owe you before you start. Five trails per region, AWS</a:t>
            </a:r>
          </a:p>
          <a:p>
            <a:r>
              <a:rPr sz="900">
                <a:latin typeface="Calibri"/>
              </a:rPr>
              <a:t>   marks it not adjustable, and each deployed pack needs two. Check your account's headroom</a:t>
            </a:r>
          </a:p>
          <a:p>
            <a:r>
              <a:rPr sz="900">
                <a:latin typeface="Calibri"/>
              </a:rPr>
              <a:t>   first. The support case needs a human in the console and a Business or Enterprise support</a:t>
            </a:r>
          </a:p>
          <a:p>
            <a:r>
              <a:rPr sz="900">
                <a:latin typeface="Calibri"/>
              </a:rPr>
              <a:t>   plan, which is why it is still open.</a:t>
            </a:r>
          </a:p>
          <a:p/>
          <a:p>
            <a:r>
              <a:rPr sz="900">
                <a:latin typeface="Calibri"/>
              </a:rPr>
              <a:t>Q: You diagnosed one error wrongly three times in a row. Why does that build confidence?</a:t>
            </a:r>
          </a:p>
          <a:p>
            <a:r>
              <a:rPr sz="900">
                <a:latin typeface="Calibri"/>
              </a:rPr>
              <a:t>A: Because the entry says so, names the real cause - AgentCore policy names are unique per</a:t>
            </a:r>
          </a:p>
          <a:p>
            <a:r>
              <a:rPr sz="900">
                <a:latin typeface="Calibri"/>
              </a:rPr>
              <a:t>   account and region, not per policy engine - and records that the repo's own code comment had</a:t>
            </a:r>
          </a:p>
          <a:p>
            <a:r>
              <a:rPr sz="900">
                <a:latin typeface="Calibri"/>
              </a:rPr>
              <a:t>   said it the whole time. The alternative version of this project is the one where that entry</a:t>
            </a:r>
          </a:p>
          <a:p>
            <a:r>
              <a:rPr sz="900">
                <a:latin typeface="Calibri"/>
              </a:rPr>
              <a:t>   does not exist and you find out later.</a:t>
            </a:r>
          </a:p>
          <a:p/>
          <a:p>
            <a:r>
              <a:rPr sz="900">
                <a:latin typeface="Calibri"/>
              </a:rPr>
              <a:t>Q: How do I know the register is complete?</a:t>
            </a:r>
          </a:p>
          <a:p>
            <a:r>
              <a:rPr sz="900">
                <a:latin typeface="Calibri"/>
              </a:rPr>
              <a:t>A: You don't, and I can't prove a negative. What I can show you is that entries get added when</a:t>
            </a:r>
          </a:p>
          <a:p>
            <a:r>
              <a:rPr sz="900">
                <a:latin typeface="Calibri"/>
              </a:rPr>
              <a:t>   they are embarrassing, that the failed runs are committed rather than described, and that</a:t>
            </a:r>
          </a:p>
          <a:p>
            <a:r>
              <a:rPr sz="900">
                <a:latin typeface="Calibri"/>
              </a:rPr>
              <a:t>   several entries are of the form "a control I wrote was wrong".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900">
                <a:latin typeface="Calibri"/>
              </a:rPr>
              <a:t>THE MOVE</a:t>
            </a:r>
            <a:endParaRPr lang="en-US" dirty="0"/>
          </a:p>
          <a:p>
            <a:r>
              <a:rPr sz="900">
                <a:latin typeface="Calibri"/>
              </a:rPr>
              <a:t>Slow down. This list is longer than the proven list on purpose, and the first tile is the whole</a:t>
            </a:r>
          </a:p>
          <a:p>
            <a:r>
              <a:rPr sz="900">
                <a:latin typeface="Calibri"/>
              </a:rPr>
              <a:t>reason for the meeting.</a:t>
            </a:r>
          </a:p>
          <a:p/>
          <a:p>
            <a:r>
              <a:rPr sz="900">
                <a:latin typeface="Calibri"/>
              </a:rPr>
              <a:t>SAY</a:t>
            </a:r>
          </a:p>
          <a:p>
            <a:r>
              <a:rPr sz="900">
                <a:latin typeface="Calibri"/>
              </a:rPr>
              <a:t>- Take this slowly and do not skip tiles to save time. Skipping is what gets found later.</a:t>
            </a:r>
          </a:p>
          <a:p>
            <a:r>
              <a:rPr sz="900">
                <a:latin typeface="Calibri"/>
              </a:rPr>
              <a:t>- Tile one is the meeting: all evidence is author-produced, one AWS account, no third party has</a:t>
            </a:r>
          </a:p>
          <a:p>
            <a:r>
              <a:rPr sz="900">
                <a:latin typeface="Calibri"/>
              </a:rPr>
              <a:t>  run it, and no amount of further self-testing closes it.</a:t>
            </a:r>
          </a:p>
          <a:p>
            <a:r>
              <a:rPr sz="900">
                <a:latin typeface="Calibri"/>
              </a:rPr>
              <a:t>- Say the closing line as a commitment: NOT-CLAIMS.md governs every other page in the</a:t>
            </a:r>
          </a:p>
          <a:p>
            <a:r>
              <a:rPr sz="900">
                <a:latin typeface="Calibri"/>
              </a:rPr>
              <a:t>  repository - if anything I have said today reads stronger than that page, that page wins.</a:t>
            </a:r>
          </a:p>
          <a:p/>
          <a:p>
            <a:r>
              <a:rPr sz="900">
                <a:latin typeface="Calibri"/>
              </a:rPr>
              <a:t>DON'T</a:t>
            </a:r>
          </a:p>
          <a:p>
            <a:r>
              <a:rPr sz="900">
                <a:latin typeface="Calibri"/>
              </a:rPr>
              <a:t>- Don't soften any tile with "but". Each one can stand on its own.</a:t>
            </a:r>
          </a:p>
          <a:p/>
          <a:p>
            <a:r>
              <a:rPr sz="900">
                <a:latin typeface="Calibri"/>
              </a:rPr>
              <a:t>Q&amp;A</a:t>
            </a:r>
          </a:p>
          <a:p>
            <a:r>
              <a:rPr sz="900">
                <a:latin typeface="Calibri"/>
              </a:rPr>
              <a:t>Q: 488 checkov findings is a lot.</a:t>
            </a:r>
          </a:p>
          <a:p>
            <a:r>
              <a:rPr sz="900">
                <a:latin typeface="Calibri"/>
              </a:rPr>
              <a:t>A: It is, and the number is real. They concentrate in Lambda concurrency limits, DLQs, VPC</a:t>
            </a:r>
          </a:p>
          <a:p>
            <a:r>
              <a:rPr sz="900">
                <a:latin typeface="Calibri"/>
              </a:rPr>
              <a:t>   attachment, log-group and environment KMS, DynamoDB CMK and PITR. The baseline is reviewed</a:t>
            </a:r>
          </a:p>
          <a:p>
            <a:r>
              <a:rPr sz="900">
                <a:latin typeface="Calibri"/>
              </a:rPr>
              <a:t>   and gated so NEW findings fail CI - the residual does not grow silently. Burning it down to a</a:t>
            </a:r>
          </a:p>
          <a:p>
            <a:r>
              <a:rPr sz="900">
                <a:latin typeface="Calibri"/>
              </a:rPr>
              <a:t>   justified residual is an open P1.</a:t>
            </a:r>
          </a:p>
          <a:p/>
          <a:p>
            <a:r>
              <a:rPr sz="900">
                <a:latin typeface="Calibri"/>
              </a:rPr>
              <a:t>Q: No Organization means no SCP. How big a problem is that in public sector?</a:t>
            </a:r>
          </a:p>
          <a:p>
            <a:r>
              <a:rPr sz="900">
                <a:latin typeface="Calibri"/>
              </a:rPr>
              <a:t>A: Frequently the question that decides the deal. Today a non-governed principal calling Bedrock</a:t>
            </a:r>
          </a:p>
          <a:p>
            <a:r>
              <a:rPr sz="900">
                <a:latin typeface="Calibri"/>
              </a:rPr>
              <a:t>   directly is DETECTED, not prevented - there is a metric filter and a bypass alarm. The SCP</a:t>
            </a:r>
          </a:p>
          <a:p>
            <a:r>
              <a:rPr sz="900">
                <a:latin typeface="Calibri"/>
              </a:rPr>
              <a:t>   and the VPC-endpoint policy ship in the repo as a lint-validated template that has never been</a:t>
            </a:r>
          </a:p>
          <a:p>
            <a:r>
              <a:rPr sz="900">
                <a:latin typeface="Calibri"/>
              </a:rPr>
              <a:t>   tested in a real OU. If you can supply an OU, that is the cheapest unblock on my entire list.</a:t>
            </a:r>
          </a:p>
          <a:p/>
          <a:p>
            <a:r>
              <a:rPr sz="900">
                <a:latin typeface="Calibri"/>
              </a:rPr>
              <a:t>Q: Why prove the COMPLIANCE lock at one day rather than seven years?</a:t>
            </a:r>
          </a:p>
          <a:p>
            <a:r>
              <a:rPr sz="900">
                <a:latin typeface="Calibri"/>
              </a:rPr>
              <a:t>A: Because at seven years I could not tear it down, and I would be showing you an untestable</a:t>
            </a:r>
          </a:p>
          <a:p>
            <a:r>
              <a:rPr sz="900">
                <a:latin typeface="Calibri"/>
              </a:rPr>
              <a:t>   claim. The mechanism IS proven: BypassGovernanceRetention is refused and the deployment's own</a:t>
            </a:r>
          </a:p>
          <a:p>
            <a:r>
              <a:rPr sz="900">
                <a:latin typeface="Calibri"/>
              </a:rPr>
              <a:t>   teardown fails. The duration is a parameter. Stating it any other way invites an auditor to</a:t>
            </a:r>
          </a:p>
          <a:p>
            <a:r>
              <a:rPr sz="900">
                <a:latin typeface="Calibri"/>
              </a:rPr>
              <a:t>   find the gap themselves.</a:t>
            </a:r>
          </a:p>
          <a:p/>
          <a:p>
            <a:r>
              <a:rPr sz="900">
                <a:latin typeface="Calibri"/>
              </a:rPr>
              <a:t>Q: Housing wires 3 of 17 controls - why is it in the portfolio?</a:t>
            </a:r>
          </a:p>
          <a:p>
            <a:r>
              <a:rPr sz="900">
                <a:latin typeface="Calibri"/>
              </a:rPr>
              <a:t>A: It should not be presented as a peer of the other three, and this deck does not. It is at the</a:t>
            </a:r>
          </a:p>
          <a:p>
            <a:r>
              <a:rPr sz="900">
                <a:latin typeface="Calibri"/>
              </a:rPr>
              <a:t>   July Gate-B level and it is tracked as PAR-2 on the backlog.</a:t>
            </a:r>
          </a:p>
          <a:p/>
          <a:p>
            <a:r>
              <a:rPr sz="900">
                <a:latin typeface="Calibri"/>
              </a:rPr>
              <a:t>Q: R4-2 open "deliberately" sounds like a rationalisation.</a:t>
            </a:r>
          </a:p>
          <a:p>
            <a:r>
              <a:rPr sz="900">
                <a:latin typeface="Calibri"/>
              </a:rPr>
              <a:t>A: Judge it on the mitigation. The consequential actions are refused without a cryptographic</a:t>
            </a:r>
          </a:p>
          <a:p>
            <a:r>
              <a:rPr sz="900">
                <a:latin typeface="Calibri"/>
              </a:rPr>
              <a:t>   proof of de-identification, whoever calls them. That is a stronger place to enforce than the</a:t>
            </a:r>
          </a:p>
          <a:p>
            <a:r>
              <a:rPr sz="900">
                <a:latin typeface="Calibri"/>
              </a:rPr>
              <a:t>   invocation path, and it is live-proven. If your SA can get a consequential action through</a:t>
            </a:r>
          </a:p>
          <a:p>
            <a:r>
              <a:rPr sz="900">
                <a:latin typeface="Calibri"/>
              </a:rPr>
              <a:t>   without that proof, that is the finding of the engagement and I want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900">
                <a:latin typeface="Calibri"/>
              </a:rPr>
              <a:t>THE MOVE</a:t>
            </a:r>
            <a:endParaRPr lang="en-US" dirty="0"/>
          </a:p>
          <a:p>
            <a:r>
              <a:rPr sz="900">
                <a:latin typeface="Calibri"/>
              </a:rPr>
              <a:t>Show them how you behave when your own number is wrong. This slide is about method, not alarms.</a:t>
            </a:r>
          </a:p>
          <a:p/>
          <a:p>
            <a:r>
              <a:rPr sz="900">
                <a:latin typeface="Calibri"/>
              </a:rPr>
              <a:t>SAY</a:t>
            </a:r>
          </a:p>
          <a:p>
            <a:r>
              <a:rPr sz="900">
                <a:latin typeface="Calibri"/>
              </a:rPr>
              <a:t>- Say the claim first, then the correction, and do not soften either: we told people three</a:t>
            </a:r>
          </a:p>
          <a:p>
            <a:r>
              <a:rPr sz="900">
                <a:latin typeface="Calibri"/>
              </a:rPr>
              <a:t>  alarms. Twenty-two were deployed. Twenty-six now.</a:t>
            </a:r>
          </a:p>
          <a:p>
            <a:r>
              <a:rPr sz="900">
                <a:latin typeface="Calibri"/>
              </a:rPr>
              <a:t>- The error was the METHOD, not the arithmetic: we counted cw.Alarm( call sites in the source -</a:t>
            </a:r>
          </a:p>
          <a:p>
            <a:r>
              <a:rPr sz="900">
                <a:latin typeface="Calibri"/>
              </a:rPr>
              <a:t>  two of the three are inside loops - instead of counting what the synthesized template actually</a:t>
            </a:r>
          </a:p>
          <a:p>
            <a:r>
              <a:rPr sz="900">
                <a:latin typeface="Calibri"/>
              </a:rPr>
              <a:t>  deploys.</a:t>
            </a:r>
          </a:p>
          <a:p>
            <a:r>
              <a:rPr sz="900">
                <a:latin typeface="Calibri"/>
              </a:rPr>
              <a:t>- Then the control: a script that reads the template and counts what deploys, with an</a:t>
            </a:r>
          </a:p>
          <a:p>
            <a:r>
              <a:rPr sz="900">
                <a:latin typeface="Calibri"/>
              </a:rPr>
              <a:t>  --assert-baseline mode that fails if the numbers drift from what the partner documents quote.</a:t>
            </a:r>
          </a:p>
          <a:p>
            <a:r>
              <a:rPr sz="900">
                <a:latin typeface="Calibri"/>
              </a:rPr>
              <a:t>  The brief and the infrastructure cannot disagree silently any more.</a:t>
            </a:r>
          </a:p>
          <a:p>
            <a:r>
              <a:rPr sz="900">
                <a:latin typeface="Calibri"/>
              </a:rPr>
              <a:t>- Invite them to run it. It takes seconds and it is the cheapest trust-building step on offer.</a:t>
            </a:r>
          </a:p>
          <a:p/>
          <a:p>
            <a:r>
              <a:rPr sz="900">
                <a:latin typeface="Calibri"/>
              </a:rPr>
              <a:t>DON'T</a:t>
            </a:r>
          </a:p>
          <a:p>
            <a:r>
              <a:rPr sz="900">
                <a:latin typeface="Calibri"/>
              </a:rPr>
              <a:t>- Don't frame this as a win. It was wrong in the direction that flattered nobody - we called our</a:t>
            </a:r>
          </a:p>
          <a:p>
            <a:r>
              <a:rPr sz="900">
                <a:latin typeface="Calibri"/>
              </a:rPr>
              <a:t>  strongest-growing area our weakest - and the point is what happened next.</a:t>
            </a:r>
          </a:p>
          <a:p/>
          <a:p>
            <a:r>
              <a:rPr sz="900">
                <a:latin typeface="Calibri"/>
              </a:rPr>
              <a:t>Q&amp;A</a:t>
            </a:r>
          </a:p>
          <a:p>
            <a:r>
              <a:rPr sz="900">
                <a:latin typeface="Calibri"/>
              </a:rPr>
              <a:t>Q: Why is a mistake in a partner deck at all?</a:t>
            </a:r>
          </a:p>
          <a:p>
            <a:r>
              <a:rPr sz="900">
                <a:latin typeface="Calibri"/>
              </a:rPr>
              <a:t>A: Because you are going to check my numbers, and I would rather you find that I check them</a:t>
            </a:r>
          </a:p>
          <a:p>
            <a:r>
              <a:rPr sz="900">
                <a:latin typeface="Calibri"/>
              </a:rPr>
              <a:t>   first. How a team handles its own bad number is worth more signal than the number was.</a:t>
            </a:r>
          </a:p>
          <a:p/>
          <a:p>
            <a:r>
              <a:rPr sz="900">
                <a:latin typeface="Calibri"/>
              </a:rPr>
              <a:t>Q: What else might be wrong by a factor of seven?</a:t>
            </a:r>
          </a:p>
          <a:p>
            <a:r>
              <a:rPr sz="900">
                <a:latin typeface="Calibri"/>
              </a:rPr>
              <a:t>A: The honest answer is: anything that is not gated. That is why the numbers in this deck are</a:t>
            </a:r>
          </a:p>
          <a:p>
            <a:r>
              <a:rPr sz="900">
                <a:latin typeface="Calibri"/>
              </a:rPr>
              <a:t>   the gated ones - the suite size, the alarm count, the account-id redaction, the release tag</a:t>
            </a:r>
          </a:p>
          <a:p>
            <a:r>
              <a:rPr sz="900">
                <a:latin typeface="Calibri"/>
              </a:rPr>
              <a:t>   and the silenced-error scan all fail CI on drift. Where a number is not gated I say so, and</a:t>
            </a:r>
          </a:p>
          <a:p>
            <a:r>
              <a:rPr sz="900">
                <a:latin typeface="Calibri"/>
              </a:rPr>
              <a:t>   the maturity file records which is which.</a:t>
            </a:r>
          </a:p>
          <a:p/>
          <a:p>
            <a:r>
              <a:rPr sz="900">
                <a:latin typeface="Calibri"/>
              </a:rPr>
              <a:t>Q: Is 26 alarms enough?</a:t>
            </a:r>
          </a:p>
          <a:p>
            <a:r>
              <a:rPr sz="900">
                <a:latin typeface="Calibri"/>
              </a:rPr>
              <a:t>A: I don't know, and neither does anyone until a tier fires in a real incident. What I can tell</a:t>
            </a:r>
          </a:p>
          <a:p>
            <a:r>
              <a:rPr sz="900">
                <a:latin typeface="Calibri"/>
              </a:rPr>
              <a:t>   you is that they are NAMED - nine of them previously existed only as CloudFormation logical</a:t>
            </a:r>
          </a:p>
          <a:p>
            <a:r>
              <a:rPr sz="900">
                <a:latin typeface="Calibri"/>
              </a:rPr>
              <a:t>   ids, so no runbook could reference them and no operator could find them in the console -</a:t>
            </a:r>
          </a:p>
          <a:p>
            <a:r>
              <a:rPr sz="900">
                <a:latin typeface="Calibri"/>
              </a:rPr>
              <a:t>   they are tiered, and each has a documented first action enforced by a test.</a:t>
            </a:r>
          </a:p>
          <a:p/>
          <a:p>
            <a:r>
              <a:rPr sz="900">
                <a:latin typeface="Calibri"/>
              </a:rPr>
              <a:t>Q: You say this is the same defect as two other register entries. Which?</a:t>
            </a:r>
          </a:p>
          <a:p>
            <a:r>
              <a:rPr sz="900">
                <a:latin typeface="Calibri"/>
              </a:rPr>
              <a:t>A: Measuring the generating code instead of the deployed artifact. It shows up as L60 and L67,</a:t>
            </a:r>
          </a:p>
          <a:p>
            <a:r>
              <a:rPr sz="900">
                <a:latin typeface="Calibri"/>
              </a:rPr>
              <a:t>   and it showed up again in the connector work. The standing rule that came out of it is the</a:t>
            </a:r>
          </a:p>
          <a:p>
            <a:r>
              <a:rPr sz="900">
                <a:latin typeface="Calibri"/>
              </a:rPr>
              <a:t>   one on the architecture diagram: measure the artifact, not the source.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900">
                <a:latin typeface="Calibri"/>
              </a:rPr>
              <a:t>THE MOVE</a:t>
            </a:r>
            <a:endParaRPr lang="en-US" dirty="0"/>
          </a:p>
          <a:p>
            <a:r>
              <a:rPr sz="900">
                <a:latin typeface="Calibri"/>
              </a:rPr>
              <a:t>Make the ask small, concrete, falsifiable - and make clear that a failure is a good outcome.</a:t>
            </a:r>
          </a:p>
          <a:p/>
          <a:p>
            <a:r>
              <a:rPr sz="900">
                <a:latin typeface="Calibri"/>
              </a:rPr>
              <a:t>SAY</a:t>
            </a:r>
          </a:p>
          <a:p>
            <a:r>
              <a:rPr sz="900">
                <a:latin typeface="Calibri"/>
              </a:rPr>
              <a:t>- Say the quotation on the slide verbatim. It is the whole meeting in four sentences.</a:t>
            </a:r>
          </a:p>
          <a:p>
            <a:r>
              <a:rPr sz="900">
                <a:latin typeface="Calibri"/>
              </a:rPr>
              <a:t>- Then the seven steps, but only emphasise two: step 3 is the cheapest high-signal step, and</a:t>
            </a:r>
          </a:p>
          <a:p>
            <a:r>
              <a:rPr sz="900">
                <a:latin typeface="Calibri"/>
              </a:rPr>
              <a:t>  step 6 is the one I most want them to do.</a:t>
            </a:r>
          </a:p>
          <a:p>
            <a:r>
              <a:rPr sz="900">
                <a:latin typeface="Calibri"/>
              </a:rPr>
              <a:t>- Say this plainly: a failure is a USEFUL result. If a step does not work, or you needed a fix</a:t>
            </a:r>
          </a:p>
          <a:p>
            <a:r>
              <a:rPr sz="900">
                <a:latin typeface="Calibri"/>
              </a:rPr>
              <a:t>  that is not in the documentation, that is a real defect and recording it is the entire point.</a:t>
            </a:r>
          </a:p>
          <a:p>
            <a:r>
              <a:rPr sz="900">
                <a:latin typeface="Calibri"/>
              </a:rPr>
              <a:t>- And: please do not ask me to talk you through it. That would defeat the exercise.</a:t>
            </a:r>
          </a:p>
          <a:p>
            <a:r>
              <a:rPr sz="900">
                <a:latin typeface="Calibri"/>
              </a:rPr>
              <a:t>- Give them the CloudTrail prerequisite BEFORE they start, not after.</a:t>
            </a:r>
          </a:p>
          <a:p/>
          <a:p>
            <a:r>
              <a:rPr sz="900">
                <a:latin typeface="Calibri"/>
              </a:rPr>
              <a:t>DON'T</a:t>
            </a:r>
          </a:p>
          <a:p>
            <a:r>
              <a:rPr sz="900">
                <a:latin typeface="Calibri"/>
              </a:rPr>
              <a:t>- Don't offer to run it for them, even to be helpful. See the last question.</a:t>
            </a:r>
          </a:p>
          <a:p/>
          <a:p>
            <a:r>
              <a:rPr sz="900">
                <a:latin typeface="Calibri"/>
              </a:rPr>
              <a:t>Q&amp;A</a:t>
            </a:r>
          </a:p>
          <a:p>
            <a:r>
              <a:rPr sz="900">
                <a:latin typeface="Calibri"/>
              </a:rPr>
              <a:t>Q: Half a day of an SA is not nothing. What do we get?</a:t>
            </a:r>
          </a:p>
          <a:p>
            <a:r>
              <a:rPr sz="900">
                <a:latin typeface="Calibri"/>
              </a:rPr>
              <a:t>A: A defensible answer to "does this work" that is not mine, and a named list of what stands</a:t>
            </a:r>
          </a:p>
          <a:p>
            <a:r>
              <a:rPr sz="900">
                <a:latin typeface="Calibri"/>
              </a:rPr>
              <a:t>   between it and a customer pilot. If it fails, you have saved us both a customer conversation</a:t>
            </a:r>
          </a:p>
          <a:p>
            <a:r>
              <a:rPr sz="900">
                <a:latin typeface="Calibri"/>
              </a:rPr>
              <a:t>   - that is also a good outcome, and I mean that.</a:t>
            </a:r>
          </a:p>
          <a:p/>
          <a:p>
            <a:r>
              <a:rPr sz="900">
                <a:latin typeface="Calibri"/>
              </a:rPr>
              <a:t>Q: What if our SA finds something embarrassing?</a:t>
            </a:r>
          </a:p>
          <a:p>
            <a:r>
              <a:rPr sz="900">
                <a:latin typeface="Calibri"/>
              </a:rPr>
              <a:t>A: Then it goes into the register with their finding, and it gets fixed. That is the</a:t>
            </a:r>
          </a:p>
          <a:p>
            <a:r>
              <a:rPr sz="900">
                <a:latin typeface="Calibri"/>
              </a:rPr>
              <a:t>   seventy-first entry, not a problem. The register exists precisely so that has somewhere to go.</a:t>
            </a:r>
          </a:p>
          <a:p/>
          <a:p>
            <a:r>
              <a:rPr sz="900">
                <a:latin typeface="Calibri"/>
              </a:rPr>
              <a:t>Q: Who pays for the AWS spend?</a:t>
            </a:r>
          </a:p>
          <a:p>
            <a:r>
              <a:rPr sz="900">
                <a:latin typeface="Calibri"/>
              </a:rPr>
              <a:t>A: You do, and it is a few dollars - VPC interface endpoints, Lambda, Step Functions, DynamoDB,</a:t>
            </a:r>
          </a:p>
          <a:p>
            <a:r>
              <a:rPr sz="900">
                <a:latin typeface="Calibri"/>
              </a:rPr>
              <a:t>   KMS, one Bedrock call and one Comprehend call. Everything is torn down at the end and your SA</a:t>
            </a:r>
          </a:p>
          <a:p>
            <a:r>
              <a:rPr sz="900">
                <a:latin typeface="Calibri"/>
              </a:rPr>
              <a:t>   confirms zero residue themselves rather than taking our word for it.</a:t>
            </a:r>
          </a:p>
          <a:p/>
          <a:p>
            <a:r>
              <a:rPr sz="900">
                <a:latin typeface="Calibri"/>
              </a:rPr>
              <a:t>Q: Could you just run it for us on a screen share?</a:t>
            </a:r>
          </a:p>
          <a:p>
            <a:r>
              <a:rPr sz="900">
                <a:latin typeface="Calibri"/>
              </a:rPr>
              <a:t>A: I could, and it would prove nothing. The entire value is that it runs in an account I do not</a:t>
            </a:r>
          </a:p>
          <a:p>
            <a:r>
              <a:rPr sz="900">
                <a:latin typeface="Calibri"/>
              </a:rPr>
              <a:t>   control, from written instructions, without me in the room. If a step does not work, that is</a:t>
            </a:r>
          </a:p>
          <a:p>
            <a:r>
              <a:rPr sz="900">
                <a:latin typeface="Calibri"/>
              </a:rPr>
              <a:t>   the finding - and if I am on the call, the finding never gets recorded.</a:t>
            </a:r>
          </a:p>
          <a:p/>
          <a:p>
            <a:r>
              <a:rPr sz="900">
                <a:latin typeface="Calibri"/>
              </a:rPr>
              <a:t>Q: What skill level does the SA need?</a:t>
            </a:r>
          </a:p>
          <a:p>
            <a:r>
              <a:rPr sz="900">
                <a:latin typeface="Calibri"/>
              </a:rPr>
              <a:t>A: Comfortable with the AWS CLI, CDK bootstrap and Python. The harness is scripted, including a</a:t>
            </a:r>
          </a:p>
          <a:p>
            <a:r>
              <a:rPr sz="900">
                <a:latin typeface="Calibri"/>
              </a:rPr>
              <a:t>   dry-run mode that makes no AWS calls and spends nothing - start there.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900">
                <a:latin typeface="Calibri"/>
              </a:rPr>
              <a:t>THE MOVE</a:t>
            </a:r>
            <a:endParaRPr lang="en-US" dirty="0"/>
          </a:p>
          <a:p>
            <a:r>
              <a:rPr sz="900">
                <a:latin typeface="Calibri"/>
              </a:rPr>
              <a:t>Show a sequence with gates, and make the restraint visible: you are not asking them to find a</a:t>
            </a:r>
          </a:p>
          <a:p>
            <a:r>
              <a:rPr sz="900">
                <a:latin typeface="Calibri"/>
              </a:rPr>
              <a:t>customer.</a:t>
            </a:r>
          </a:p>
          <a:p/>
          <a:p>
            <a:r>
              <a:rPr sz="900">
                <a:latin typeface="Calibri"/>
              </a:rPr>
              <a:t>SAY</a:t>
            </a:r>
          </a:p>
          <a:p>
            <a:r>
              <a:rPr sz="900">
                <a:latin typeface="Calibri"/>
              </a:rPr>
              <a:t>- The ORDER is the point: verify, then extend, then a customer. Each phase has a gate that has</a:t>
            </a:r>
          </a:p>
          <a:p>
            <a:r>
              <a:rPr sz="900">
                <a:latin typeface="Calibri"/>
              </a:rPr>
              <a:t>  to be met before the next one starts.</a:t>
            </a:r>
          </a:p>
          <a:p>
            <a:r>
              <a:rPr sz="900">
                <a:latin typeface="Calibri"/>
              </a:rPr>
              <a:t>- Phase B is where the connector work goes next: the same proof against a system of record we do</a:t>
            </a:r>
          </a:p>
          <a:p>
            <a:r>
              <a:rPr sz="900">
                <a:latin typeface="Calibri"/>
              </a:rPr>
              <a:t>  NOT own.</a:t>
            </a:r>
          </a:p>
          <a:p>
            <a:r>
              <a:rPr sz="900">
                <a:latin typeface="Calibri"/>
              </a:rPr>
              <a:t>- Say the last line out loud, deliberately: we are NOT asking you to find a customer yet. That</a:t>
            </a:r>
          </a:p>
          <a:p>
            <a:r>
              <a:rPr sz="900">
                <a:latin typeface="Calibri"/>
              </a:rPr>
              <a:t>  would be asking you to put your name on synthetic, author-produced evidence.</a:t>
            </a:r>
          </a:p>
          <a:p/>
          <a:p>
            <a:r>
              <a:rPr sz="900">
                <a:latin typeface="Calibri"/>
              </a:rPr>
              <a:t>DON'T</a:t>
            </a:r>
          </a:p>
          <a:p>
            <a:r>
              <a:rPr sz="900">
                <a:latin typeface="Calibri"/>
              </a:rPr>
              <a:t>- Don't let phase C slide earlier in the conversation, even if they push. That is the move that</a:t>
            </a:r>
          </a:p>
          <a:p>
            <a:r>
              <a:rPr sz="900">
                <a:latin typeface="Calibri"/>
              </a:rPr>
              <a:t>  ends the relationship badly.</a:t>
            </a:r>
          </a:p>
          <a:p/>
          <a:p>
            <a:r>
              <a:rPr sz="900">
                <a:latin typeface="Calibri"/>
              </a:rPr>
              <a:t>Q&amp;A</a:t>
            </a:r>
          </a:p>
          <a:p>
            <a:r>
              <a:rPr sz="900">
                <a:latin typeface="Calibri"/>
              </a:rPr>
              <a:t>Q: Quarter 2 for a pilot feels slow.</a:t>
            </a:r>
          </a:p>
          <a:p>
            <a:r>
              <a:rPr sz="900">
                <a:latin typeface="Calibri"/>
              </a:rPr>
              <a:t>A: It is paced by things I do not control: your SA's verification, a real system of record, and</a:t>
            </a:r>
          </a:p>
          <a:p>
            <a:r>
              <a:rPr sz="900">
                <a:latin typeface="Calibri"/>
              </a:rPr>
              <a:t>   a customer's own security engineering. I would rather give you a date I can hit than one that</a:t>
            </a:r>
          </a:p>
          <a:p>
            <a:r>
              <a:rPr sz="900">
                <a:latin typeface="Calibri"/>
              </a:rPr>
              <a:t>   slips. If verification goes well and you can supply an OU, phase B compresses.</a:t>
            </a:r>
          </a:p>
          <a:p/>
          <a:p>
            <a:r>
              <a:rPr sz="900">
                <a:latin typeface="Calibri"/>
              </a:rPr>
              <a:t>Q: What if we want to go straight to a customer?</a:t>
            </a:r>
          </a:p>
          <a:p>
            <a:r>
              <a:rPr sz="900">
                <a:latin typeface="Calibri"/>
              </a:rPr>
              <a:t>A: I would push back, and my reason is as self-interested as it is principled: that asks you to</a:t>
            </a:r>
          </a:p>
          <a:p>
            <a:r>
              <a:rPr sz="900">
                <a:latin typeface="Calibri"/>
              </a:rPr>
              <a:t>   put your name on evidence that is synthetic and author-produced. If it goes wrong it goes</a:t>
            </a:r>
          </a:p>
          <a:p>
            <a:r>
              <a:rPr sz="900">
                <a:latin typeface="Calibri"/>
              </a:rPr>
              <a:t>   wrong on your relationship, not mine.</a:t>
            </a:r>
          </a:p>
          <a:p/>
          <a:p>
            <a:r>
              <a:rPr sz="900">
                <a:latin typeface="Calibri"/>
              </a:rPr>
              <a:t>Q: What does "the customer's AO accepts the compensating-control statement" mean?</a:t>
            </a:r>
          </a:p>
          <a:p>
            <a:r>
              <a:rPr sz="900">
                <a:latin typeface="Calibri"/>
              </a:rPr>
              <a:t>A: It means the authorizing official agrees the controls present here compensate for what is</a:t>
            </a:r>
          </a:p>
          <a:p>
            <a:r>
              <a:rPr sz="900">
                <a:latin typeface="Calibri"/>
              </a:rPr>
              <a:t>   missing. That is an ATO conversation, not a checkbox, and it needs the customer's own security</a:t>
            </a:r>
          </a:p>
          <a:p>
            <a:r>
              <a:rPr sz="900">
                <a:latin typeface="Calibri"/>
              </a:rPr>
              <a:t>   engineering and testing - which is why it is phase C and not phase A.</a:t>
            </a:r>
          </a:p>
          <a:p/>
          <a:p>
            <a:r>
              <a:rPr sz="900">
                <a:latin typeface="Calibri"/>
              </a:rPr>
              <a:t>Q: What do you need from us in phase B specifically?</a:t>
            </a:r>
          </a:p>
          <a:p>
            <a:r>
              <a:rPr sz="900">
                <a:latin typeface="Calibri"/>
              </a:rPr>
              <a:t>A: Three things, in order of value: an OU so the SCP perimeter can be tested for real; an</a:t>
            </a:r>
          </a:p>
          <a:p>
            <a:r>
              <a:rPr sz="900">
                <a:latin typeface="Calibri"/>
              </a:rPr>
              <a:t>   introduction to a system of record we do not own; and an adversarial review of the Cedar</a:t>
            </a:r>
          </a:p>
          <a:p>
            <a:r>
              <a:rPr sz="900">
                <a:latin typeface="Calibri"/>
              </a:rPr>
              <a:t>   policy set and the fault semantics.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900">
                <a:latin typeface="Calibri"/>
              </a:rPr>
              <a:t>THE MOVE</a:t>
            </a:r>
            <a:endParaRPr lang="en-US" dirty="0"/>
          </a:p>
          <a:p>
            <a:r>
              <a:rPr sz="900">
                <a:latin typeface="Calibri"/>
              </a:rPr>
              <a:t>Close on the ask, not on the result. Leave them with one decision, not a summary.</a:t>
            </a:r>
          </a:p>
          <a:p/>
          <a:p>
            <a:r>
              <a:rPr sz="900">
                <a:latin typeface="Calibri"/>
              </a:rPr>
              <a:t>SAY</a:t>
            </a:r>
          </a:p>
          <a:p>
            <a:r>
              <a:rPr sz="900">
                <a:latin typeface="Calibri"/>
              </a:rPr>
              <a:t>- Say "what it is NOT" first. It costs nothing and it buys you the rest of the conversation -</a:t>
            </a:r>
          </a:p>
          <a:p>
            <a:r>
              <a:rPr sz="900">
                <a:latin typeface="Calibri"/>
              </a:rPr>
              <a:t>  and by this point in the deck it will read as consistency rather than hedging.</a:t>
            </a:r>
          </a:p>
          <a:p>
            <a:r>
              <a:rPr sz="900">
                <a:latin typeface="Calibri"/>
              </a:rPr>
              <a:t>- Then what it is: a credible governance control plane at reference-architecture maturity, with</a:t>
            </a:r>
          </a:p>
          <a:p>
            <a:r>
              <a:rPr sz="900">
                <a:latin typeface="Calibri"/>
              </a:rPr>
              <a:t>  an unusually well-documented gap list, and further along than most teams will have built</a:t>
            </a:r>
          </a:p>
          <a:p>
            <a:r>
              <a:rPr sz="900">
                <a:latin typeface="Calibri"/>
              </a:rPr>
              <a:t>  themselves.</a:t>
            </a:r>
          </a:p>
          <a:p>
            <a:r>
              <a:rPr sz="900">
                <a:latin typeface="Calibri"/>
              </a:rPr>
              <a:t>- Close on the ask, not on the 21/21: half a day of an SA's time, in an account we do not</a:t>
            </a:r>
          </a:p>
          <a:p>
            <a:r>
              <a:rPr sz="900">
                <a:latin typeface="Calibri"/>
              </a:rPr>
              <a:t>  control, to find out whether any of this survives contact with someone who is not us.</a:t>
            </a:r>
          </a:p>
          <a:p>
            <a:r>
              <a:rPr sz="900">
                <a:latin typeface="Calibri"/>
              </a:rPr>
              <a:t>- Then stop talking. The silence is doing work.</a:t>
            </a:r>
          </a:p>
          <a:p/>
          <a:p>
            <a:r>
              <a:rPr sz="900">
                <a:latin typeface="Calibri"/>
              </a:rPr>
              <a:t>DON'T</a:t>
            </a:r>
          </a:p>
          <a:p>
            <a:r>
              <a:rPr sz="900">
                <a:latin typeface="Calibri"/>
              </a:rPr>
              <a:t>- Don't re-summarise the proven list. They have seen it, and ending on it undoes the posture the</a:t>
            </a:r>
          </a:p>
          <a:p>
            <a:r>
              <a:rPr sz="900">
                <a:latin typeface="Calibri"/>
              </a:rPr>
              <a:t>  whole deck has built.</a:t>
            </a:r>
          </a:p>
          <a:p/>
          <a:p>
            <a:r>
              <a:rPr sz="900">
                <a:latin typeface="Calibri"/>
              </a:rPr>
              <a:t>Q&amp;A</a:t>
            </a:r>
          </a:p>
          <a:p>
            <a:r>
              <a:rPr sz="900">
                <a:latin typeface="Calibri"/>
              </a:rPr>
              <a:t>Q: What would change your mind about any of this?</a:t>
            </a:r>
          </a:p>
          <a:p>
            <a:r>
              <a:rPr sz="900">
                <a:latin typeface="Calibri"/>
              </a:rPr>
              <a:t>A: A verification run that does not reproduce. A policy set a customer cannot express in the</a:t>
            </a:r>
          </a:p>
          <a:p>
            <a:r>
              <a:rPr sz="900">
                <a:latin typeface="Calibri"/>
              </a:rPr>
              <a:t>   manifest. Or an auditor who says the evidence chain does not answer their question. Any of</a:t>
            </a:r>
          </a:p>
          <a:p>
            <a:r>
              <a:rPr sz="900">
                <a:latin typeface="Calibri"/>
              </a:rPr>
              <a:t>   those is more useful to me than agreement.</a:t>
            </a:r>
          </a:p>
          <a:p/>
          <a:p>
            <a:r>
              <a:rPr sz="900">
                <a:latin typeface="Calibri"/>
              </a:rPr>
              <a:t>Q: Who else has looked at this?</a:t>
            </a:r>
          </a:p>
          <a:p>
            <a:r>
              <a:rPr sz="900">
                <a:latin typeface="Calibri"/>
              </a:rPr>
              <a:t>A: Four external review rounds, and each one found something real - the fault-semantics work in</a:t>
            </a:r>
          </a:p>
          <a:p>
            <a:r>
              <a:rPr sz="900">
                <a:latin typeface="Calibri"/>
              </a:rPr>
              <a:t>   core 1.10.1 came straight out of the third. No partner SA has run it. That is the gap I am</a:t>
            </a:r>
          </a:p>
          <a:p>
            <a:r>
              <a:rPr sz="900">
                <a:latin typeface="Calibri"/>
              </a:rPr>
              <a:t>   asking you to close.</a:t>
            </a:r>
          </a:p>
          <a:p/>
          <a:p>
            <a:r>
              <a:rPr sz="900">
                <a:latin typeface="Calibri"/>
              </a:rPr>
              <a:t>Q: What happens if we say no?</a:t>
            </a:r>
          </a:p>
          <a:p>
            <a:r>
              <a:rPr sz="900">
                <a:latin typeface="Calibri"/>
              </a:rPr>
              <a:t>A: I keep building, and the credibility gap stays exactly where it is. I would rather know now</a:t>
            </a:r>
          </a:p>
          <a:p>
            <a:r>
              <a:rPr sz="900">
                <a:latin typeface="Calibri"/>
              </a:rPr>
              <a:t>   than after a customer conversation.</a:t>
            </a:r>
          </a:p>
          <a:p/>
          <a:p>
            <a:r>
              <a:rPr sz="900">
                <a:latin typeface="Calibri"/>
              </a:rPr>
              <a:t>Q: What is the one thing you would want us to remember?</a:t>
            </a:r>
          </a:p>
          <a:p>
            <a:r>
              <a:rPr sz="900">
                <a:latin typeface="Calibri"/>
              </a:rPr>
              <a:t>A: That the governance sits in front of the model rather than inside it - and that everything I</a:t>
            </a:r>
          </a:p>
          <a:p>
            <a:r>
              <a:rPr sz="900">
                <a:latin typeface="Calibri"/>
              </a:rPr>
              <a:t>   have claimed today has either a named gate check behind it or a line on the not-proven list.</a:t>
            </a:r>
          </a:p>
          <a:p>
            <a:r>
              <a:rPr sz="900">
                <a:latin typeface="Calibri"/>
              </a:rPr>
              <a:t>   There is no third category.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900">
                <a:latin typeface="Calibri"/>
              </a:rPr>
              <a:t>THE MOVE</a:t>
            </a:r>
          </a:p>
          <a:p>
            <a:r>
              <a:rPr sz="900">
                <a:latin typeface="Calibri"/>
              </a:rPr>
              <a:t>This is the only substantive change since the last edition of this deck. Claim it precisely -</a:t>
            </a:r>
          </a:p>
          <a:p>
            <a:r>
              <a:rPr sz="900">
                <a:latin typeface="Calibri"/>
              </a:rPr>
              <a:t>and say "it is ours" before they work it out for themselves.</a:t>
            </a:r>
          </a:p>
          <a:p/>
          <a:p>
            <a:r>
              <a:rPr sz="900">
                <a:latin typeface="Calibri"/>
              </a:rPr>
              <a:t>SAY</a:t>
            </a:r>
          </a:p>
          <a:p>
            <a:r>
              <a:rPr sz="900">
                <a:latin typeface="Calibri"/>
              </a:rPr>
              <a:t>- Left column, briskly: verify_source is a Gateway target; it holds NO client secret; the</a:t>
            </a:r>
          </a:p>
          <a:p>
            <a:r>
              <a:rPr sz="900">
                <a:latin typeface="Calibri"/>
              </a:rPr>
              <a:t>  outbound OAuth2 token is minted by the AgentCore Identity vault; the system of record</a:t>
            </a:r>
          </a:p>
          <a:p>
            <a:r>
              <a:rPr sz="900">
                <a:latin typeface="Calibri"/>
              </a:rPr>
              <a:t>  verifies RS256 against the issuer's live JWKS; an outsider calling it was denied by Cedar,</a:t>
            </a:r>
          </a:p>
          <a:p>
            <a:r>
              <a:rPr sz="900">
                <a:latin typeface="Calibri"/>
              </a:rPr>
              <a:t>  naming a specific policy rather than refusing everyone alike.</a:t>
            </a:r>
          </a:p>
          <a:p>
            <a:r>
              <a:rPr sz="900">
                <a:latin typeface="Calibri"/>
              </a:rPr>
              <a:t>- Then, before anyone asks, the right column: the system of record is REAL - and it is OURS.</a:t>
            </a:r>
          </a:p>
          <a:p>
            <a:r>
              <a:rPr sz="900">
                <a:latin typeface="Calibri"/>
              </a:rPr>
              <a:t>  connect_system_of_record, the one that would reach a state benefits system, stays stubbed.</a:t>
            </a:r>
          </a:p>
          <a:p>
            <a:r>
              <a:rPr sz="900">
                <a:latin typeface="Calibri"/>
              </a:rPr>
              <a:t>- The six-runs story is the credibility, not the pass. Not one of the six failures was where it</a:t>
            </a:r>
          </a:p>
          <a:p>
            <a:r>
              <a:rPr sz="900">
                <a:latin typeface="Calibri"/>
              </a:rPr>
              <a:t>  appeared to be.</a:t>
            </a:r>
          </a:p>
          <a:p>
            <a:r>
              <a:rPr sz="900">
                <a:latin typeface="Calibri"/>
              </a:rPr>
              <a:t>- Land the standing rule in the bottom band: existence is not function. An artifact check that</a:t>
            </a:r>
          </a:p>
          <a:p>
            <a:r>
              <a:rPr sz="900">
                <a:latin typeface="Calibri"/>
              </a:rPr>
              <a:t>  never exercises the thing is not evidence that the thing works.</a:t>
            </a:r>
          </a:p>
          <a:p/>
          <a:p>
            <a:r>
              <a:rPr sz="900">
                <a:latin typeface="Calibri"/>
              </a:rPr>
              <a:t>DON'T</a:t>
            </a:r>
          </a:p>
          <a:p>
            <a:r>
              <a:rPr sz="900">
                <a:latin typeface="Calibri"/>
              </a:rPr>
              <a:t>- Don't say "we now have a system-of-record connector" without the second half of the sentence</a:t>
            </a:r>
          </a:p>
          <a:p>
            <a:r>
              <a:rPr sz="900">
                <a:latin typeface="Calibri"/>
              </a:rPr>
              <a:t>  in the same breath. That is the single most over-readable claim in the deck.</a:t>
            </a:r>
          </a:p>
          <a:p/>
          <a:p>
            <a:r>
              <a:rPr sz="900">
                <a:latin typeface="Calibri"/>
              </a:rPr>
              <a:t>Q&amp;A</a:t>
            </a:r>
          </a:p>
          <a:p>
            <a:r>
              <a:rPr sz="900">
                <a:latin typeface="Calibri"/>
              </a:rPr>
              <a:t>Q: If it is your own mock, what has it actually proven?</a:t>
            </a:r>
          </a:p>
          <a:p>
            <a:r>
              <a:rPr sz="900">
                <a:latin typeface="Calibri"/>
              </a:rPr>
              <a:t>A: That the governed path works end to end against a real OAuth2 protocol: a token from a vault</a:t>
            </a:r>
          </a:p>
          <a:p>
            <a:r>
              <a:rPr sz="900">
                <a:latin typeface="Calibri"/>
              </a:rPr>
              <a:t>   rather than a secret in code, RS256 verified against live published keys, a 401 for an</a:t>
            </a:r>
          </a:p>
          <a:p>
            <a:r>
              <a:rPr sz="900">
                <a:latin typeface="Calibri"/>
              </a:rPr>
              <a:t>   unauthenticated caller, and Cedar denying an outsider selectively. What it has NOT proven is</a:t>
            </a:r>
          </a:p>
          <a:p>
            <a:r>
              <a:rPr sz="900">
                <a:latin typeface="Calibri"/>
              </a:rPr>
              <a:t>   anything about a customer's schema, entitlements, latency or change control. That is the next</a:t>
            </a:r>
          </a:p>
          <a:p>
            <a:r>
              <a:rPr sz="900">
                <a:latin typeface="Calibri"/>
              </a:rPr>
              <a:t>   milestone and it needs a counterparty - which is part of what I am asking you for.</a:t>
            </a:r>
          </a:p>
          <a:p/>
          <a:p>
            <a:r>
              <a:rPr sz="900">
                <a:latin typeface="Calibri"/>
              </a:rPr>
              <a:t>Q: Six runs. Should I be worried about the engineering?</a:t>
            </a:r>
          </a:p>
          <a:p>
            <a:r>
              <a:rPr sz="900">
                <a:latin typeface="Calibri"/>
              </a:rPr>
              <a:t>A: You should judge it on the diagnosis, and I would say that either way. The failures were:</a:t>
            </a:r>
          </a:p>
          <a:p>
            <a:r>
              <a:rPr sz="900">
                <a:latin typeface="Calibri"/>
              </a:rPr>
              <a:t>   proof users that a code path never creates, an authorizer that allow-lists exactly one</a:t>
            </a:r>
          </a:p>
          <a:p>
            <a:r>
              <a:rPr sz="900">
                <a:latin typeface="Calibri"/>
              </a:rPr>
              <a:t>   client, and a Lambda environment silently left empty because a label contained a comma. None</a:t>
            </a:r>
          </a:p>
          <a:p>
            <a:r>
              <a:rPr sz="900">
                <a:latin typeface="Calibri"/>
              </a:rPr>
              <a:t>   of those is visible in a design review. Three of the six were hidden behind an error written</a:t>
            </a:r>
          </a:p>
          <a:p>
            <a:r>
              <a:rPr sz="900">
                <a:latin typeface="Calibri"/>
              </a:rPr>
              <a:t>   to /dev/null - and that defect class now fails CI.</a:t>
            </a:r>
          </a:p>
          <a:p/>
          <a:p>
            <a:r>
              <a:rPr sz="900">
                <a:latin typeface="Calibri"/>
              </a:rPr>
              <a:t>Q: Your own gate passed twice over a broken connector. Why would I trust the gate?</a:t>
            </a:r>
          </a:p>
          <a:p>
            <a:r>
              <a:rPr sz="900">
                <a:latin typeface="Calibri"/>
              </a:rPr>
              <a:t>A: You should not trust it further than its rule allows, which is why the rule changed. It used</a:t>
            </a:r>
          </a:p>
          <a:p>
            <a:r>
              <a:rPr sz="900">
                <a:latin typeface="Calibri"/>
              </a:rPr>
              <a:t>   to pass on the connector's artifacts merely EXISTING. It now also requires the deploy to have</a:t>
            </a:r>
          </a:p>
          <a:p>
            <a:r>
              <a:rPr sz="900">
                <a:latin typeface="Calibri"/>
              </a:rPr>
              <a:t>   exited 0 and the outbound leg to have been exercised - and that rule was replayed against the</a:t>
            </a:r>
          </a:p>
          <a:p>
            <a:r>
              <a:rPr sz="900">
                <a:latin typeface="Calibri"/>
              </a:rPr>
              <a:t>   committed evidence of the two broken runs BEFORE it shipped. It fails both and passes the</a:t>
            </a:r>
          </a:p>
          <a:p>
            <a:r>
              <a:rPr sz="900">
                <a:latin typeface="Calibri"/>
              </a:rPr>
              <a:t>   proven one, where the old rule passes all three. A rule that cannot fail a run you know was</a:t>
            </a:r>
          </a:p>
          <a:p>
            <a:r>
              <a:rPr sz="900">
                <a:latin typeface="Calibri"/>
              </a:rPr>
              <a:t>   broken is not a control.</a:t>
            </a:r>
          </a:p>
          <a:p/>
          <a:p>
            <a:r>
              <a:rPr sz="900">
                <a:latin typeface="Calibri"/>
              </a:rPr>
              <a:t>Q: How long to point this at a real system of record?</a:t>
            </a:r>
          </a:p>
          <a:p>
            <a:r>
              <a:rPr sz="900">
                <a:latin typeface="Calibri"/>
              </a:rPr>
              <a:t>A: Honestly: the engineering is days, the integration is weeks, and the variable is the</a:t>
            </a:r>
          </a:p>
          <a:p>
            <a:r>
              <a:rPr sz="900">
                <a:latin typeface="Calibri"/>
              </a:rPr>
              <a:t>   counterparty - their IdP, their network boundary, their token lifetimes, their change</a:t>
            </a:r>
          </a:p>
          <a:p>
            <a:r>
              <a:rPr sz="900">
                <a:latin typeface="Calibri"/>
              </a:rPr>
              <a:t>   control. I will not quote you a date that depends on someone else's security review.</a:t>
            </a:r>
          </a:p>
          <a:p/>
          <a:p>
            <a:r>
              <a:rPr sz="900">
                <a:latin typeface="Calibri"/>
              </a:rPr>
              <a:t>Q: Why is connect_system_of_record still stubbed if the connector works?</a:t>
            </a:r>
          </a:p>
          <a:p>
            <a:r>
              <a:rPr sz="900">
                <a:latin typeface="Calibri"/>
              </a:rPr>
              <a:t>A: Because they are different claims. One is "the governed path can reach an OAuth2 API" and it</a:t>
            </a:r>
          </a:p>
          <a:p>
            <a:r>
              <a:rPr sz="900">
                <a:latin typeface="Calibri"/>
              </a:rPr>
              <a:t>   is proven. The other is "a customer's system of record has been governed" and it is not. The</a:t>
            </a:r>
          </a:p>
          <a:p>
            <a:r>
              <a:rPr sz="900">
                <a:latin typeface="Calibri"/>
              </a:rPr>
              <a:t>   manifest records the second as stubbed so nobody can read the first as the second.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433"/>
        </a:solidFill>
      </p:bgPr>
    </p:bg>
    <p:spTree>
      <p:nvGrpSpPr>
        <p:cNvPr id="1" name=""/>
        <p:cNvGrpSpPr/>
        <p:nvPr/>
      </p:nvGrpSpPr>
      <p:grpSpPr>
        <a:xfrm>
          <a:off x="0" y="0"/>
          <a:ext cx="0" cy="0"/>
          <a:chOff x="0" y="0"/>
          <a:chExt cx="0" cy="0"/>
        </a:xfrm>
      </p:grpSpPr>
      <p:sp>
        <p:nvSpPr>
          <p:cNvPr id="2" name="Text 0"/>
          <p:cNvSpPr txBox="1"/>
          <p:nvPr/>
        </p:nvSpPr>
        <p:spPr>
          <a:xfrm>
            <a:off x="777240" y="1508760"/>
            <a:ext cx="7315200" cy="1234440"/>
          </a:xfrm>
          <a:prstGeom prst="rect">
            <a:avLst/>
          </a:prstGeom>
          <a:noFill/>
          <a:ln/>
        </p:spPr>
        <p:txBody>
          <a:bodyPr wrap="square" lIns="0" tIns="0" rIns="0" bIns="0" rtlCol="0" anchor="ctr"/>
          <a:lstStyle/>
          <a:p>
            <a:pPr indent="0" marL="0">
              <a:buNone/>
            </a:pPr>
            <a:r>
              <a:rPr lang="en-US" sz="6800" b="1" spc="300" kern="0" dirty="0">
                <a:solidFill>
                  <a:srgbClr val="FFFFFF"/>
                </a:solidFill>
                <a:latin typeface="Cambria" pitchFamily="34" charset="0"/>
                <a:ea typeface="Cambria" pitchFamily="34" charset="-122"/>
                <a:cs typeface="Cambria" pitchFamily="34" charset="-120"/>
              </a:rPr>
              <a:t>AEGIS</a:t>
            </a:r>
            <a:endParaRPr lang="en-US" sz="6800" dirty="0"/>
          </a:p>
        </p:txBody>
      </p:sp>
      <p:sp>
        <p:nvSpPr>
          <p:cNvPr id="3" name="Text 1"/>
          <p:cNvSpPr txBox="1"/>
          <p:nvPr/>
        </p:nvSpPr>
        <p:spPr>
          <a:xfrm>
            <a:off x="822960" y="2743200"/>
            <a:ext cx="7863840" cy="822960"/>
          </a:xfrm>
          <a:prstGeom prst="rect">
            <a:avLst/>
          </a:prstGeom>
          <a:noFill/>
          <a:ln/>
        </p:spPr>
        <p:txBody>
          <a:bodyPr wrap="square" lIns="0" tIns="0" rIns="0" bIns="0" rtlCol="0" anchor="ctr"/>
          <a:lstStyle/>
          <a:p>
            <a:pPr indent="0" marL="0">
              <a:lnSpc>
                <a:spcPct val="115000"/>
              </a:lnSpc>
              <a:buNone/>
            </a:pPr>
            <a:r>
              <a:rPr lang="en-US" sz="2000" dirty="0">
                <a:solidFill>
                  <a:srgbClr val="BFD3E6"/>
                </a:solidFill>
                <a:latin typeface="Calibri" pitchFamily="34" charset="0"/>
                <a:ea typeface="Calibri" pitchFamily="34" charset="-122"/>
                <a:cs typeface="Calibri" pitchFamily="34" charset="-120"/>
              </a:rPr>
              <a:t>A deny-by-default governance control plane for LLM agents on AWS</a:t>
            </a:r>
            <a:endParaRPr lang="en-US" sz="2000" dirty="0"/>
          </a:p>
        </p:txBody>
      </p:sp>
      <p:sp>
        <p:nvSpPr>
          <p:cNvPr id="4" name="Text 2"/>
          <p:cNvSpPr txBox="1"/>
          <p:nvPr/>
        </p:nvSpPr>
        <p:spPr>
          <a:xfrm>
            <a:off x="822960" y="3675888"/>
            <a:ext cx="7315200" cy="329184"/>
          </a:xfrm>
          <a:prstGeom prst="rect">
            <a:avLst/>
          </a:prstGeom>
          <a:noFill/>
          <a:ln/>
        </p:spPr>
        <p:txBody>
          <a:bodyPr wrap="square" lIns="0" tIns="0" rIns="0" bIns="0" rtlCol="0" anchor="ctr"/>
          <a:lstStyle/>
          <a:p>
            <a:pPr indent="0" marL="0">
              <a:buNone/>
            </a:pPr>
            <a:r>
              <a:rPr lang="en-US" sz="1300" dirty="0">
                <a:solidFill>
                  <a:srgbClr val="5F7080"/>
                </a:solidFill>
                <a:latin typeface="Calibri" pitchFamily="34" charset="0"/>
                <a:ea typeface="Calibri" pitchFamily="34" charset="-122"/>
                <a:cs typeface="Calibri" pitchFamily="34" charset="-120"/>
              </a:rPr>
              <a:t>Partner brief  ·  10 September 2026</a:t>
            </a:r>
            <a:endParaRPr lang="en-US" sz="1300" dirty="0"/>
          </a:p>
        </p:txBody>
      </p:sp>
      <p:sp>
        <p:nvSpPr>
          <p:cNvPr id="5" name="Shape 3"/>
          <p:cNvSpPr/>
          <p:nvPr/>
        </p:nvSpPr>
        <p:spPr>
          <a:xfrm>
            <a:off x="8732520" y="1508760"/>
            <a:ext cx="2834640" cy="3246120"/>
          </a:xfrm>
          <a:prstGeom prst="roundRect">
            <a:avLst>
              <a:gd name="adj" fmla="val 2903"/>
            </a:avLst>
          </a:prstGeom>
          <a:solidFill>
            <a:srgbClr val="2C3A4E"/>
          </a:solidFill>
          <a:ln w="12700">
            <a:solidFill>
              <a:srgbClr val="3B4C63"/>
            </a:solidFill>
            <a:prstDash val="solid"/>
          </a:ln>
        </p:spPr>
        <p:txBody>
          <a:bodyPr/>
          <a:p/>
        </p:txBody>
      </p:sp>
      <p:sp>
        <p:nvSpPr>
          <p:cNvPr id="6" name="Text 4"/>
          <p:cNvSpPr txBox="1"/>
          <p:nvPr/>
        </p:nvSpPr>
        <p:spPr>
          <a:xfrm>
            <a:off x="9006840" y="1783080"/>
            <a:ext cx="2331720" cy="237744"/>
          </a:xfrm>
          <a:prstGeom prst="rect">
            <a:avLst/>
          </a:prstGeom>
          <a:noFill/>
          <a:ln/>
        </p:spPr>
        <p:txBody>
          <a:bodyPr wrap="square" lIns="0" tIns="0" rIns="0" bIns="0" rtlCol="0" anchor="ctr"/>
          <a:lstStyle/>
          <a:p>
            <a:pPr indent="0" marL="0">
              <a:buNone/>
            </a:pPr>
            <a:r>
              <a:rPr lang="en-US" sz="950" b="1" spc="150" kern="0" dirty="0">
                <a:solidFill>
                  <a:srgbClr val="5F7080"/>
                </a:solidFill>
                <a:latin typeface="Calibri" pitchFamily="34" charset="0"/>
                <a:ea typeface="Calibri" pitchFamily="34" charset="-122"/>
                <a:cs typeface="Calibri" pitchFamily="34" charset="-120"/>
              </a:rPr>
              <a:t>VERIFIED AGAINST</a:t>
            </a:r>
            <a:endParaRPr lang="en-US" sz="950" dirty="0"/>
          </a:p>
        </p:txBody>
      </p:sp>
      <p:sp>
        <p:nvSpPr>
          <p:cNvPr id="7" name="Text 5"/>
          <p:cNvSpPr txBox="1"/>
          <p:nvPr/>
        </p:nvSpPr>
        <p:spPr>
          <a:xfrm>
            <a:off x="9006840" y="2029968"/>
            <a:ext cx="2331720" cy="310896"/>
          </a:xfrm>
          <a:prstGeom prst="rect">
            <a:avLst/>
          </a:prstGeom>
          <a:noFill/>
          <a:ln/>
        </p:spPr>
        <p:txBody>
          <a:bodyPr wrap="square" lIns="0" tIns="0" rIns="0" bIns="0" rtlCol="0" anchor="ctr"/>
          <a:lstStyle/>
          <a:p>
            <a:pPr indent="0" marL="0">
              <a:buNone/>
            </a:pPr>
            <a:r>
              <a:rPr lang="en-US" sz="1500" b="1" dirty="0">
                <a:solidFill>
                  <a:srgbClr val="FFFFFF"/>
                </a:solidFill>
                <a:latin typeface="Courier New" pitchFamily="34" charset="0"/>
                <a:ea typeface="Courier New" pitchFamily="34" charset="-122"/>
                <a:cs typeface="Courier New" pitchFamily="34" charset="-120"/>
              </a:rPr>
              <a:t>v0.7.0-pilot-rc1</a:t>
            </a:r>
            <a:endParaRPr lang="en-US" sz="1500" dirty="0"/>
          </a:p>
        </p:txBody>
      </p:sp>
      <p:sp>
        <p:nvSpPr>
          <p:cNvPr id="8" name="Text 6"/>
          <p:cNvSpPr txBox="1"/>
          <p:nvPr/>
        </p:nvSpPr>
        <p:spPr>
          <a:xfrm>
            <a:off x="9006840" y="2487168"/>
            <a:ext cx="2331720" cy="713232"/>
          </a:xfrm>
          <a:prstGeom prst="rect">
            <a:avLst/>
          </a:prstGeom>
          <a:noFill/>
          <a:ln/>
        </p:spPr>
        <p:txBody>
          <a:bodyPr wrap="square" lIns="0" tIns="0" rIns="0" bIns="0" rtlCol="0" anchor="ctr"/>
          <a:lstStyle/>
          <a:p>
            <a:pPr indent="0" marL="0">
              <a:buNone/>
            </a:pPr>
            <a:r>
              <a:rPr lang="en-US" sz="4400" b="1" dirty="0">
                <a:solidFill>
                  <a:srgbClr val="6BCB8F"/>
                </a:solidFill>
                <a:latin typeface="Cambria" pitchFamily="34" charset="0"/>
                <a:ea typeface="Cambria" pitchFamily="34" charset="-122"/>
                <a:cs typeface="Cambria" pitchFamily="34" charset="-120"/>
              </a:rPr>
              <a:t>21 / 21</a:t>
            </a:r>
            <a:endParaRPr lang="en-US" sz="4400" dirty="0"/>
          </a:p>
        </p:txBody>
      </p:sp>
      <p:sp>
        <p:nvSpPr>
          <p:cNvPr id="9" name="Text 7"/>
          <p:cNvSpPr txBox="1"/>
          <p:nvPr/>
        </p:nvSpPr>
        <p:spPr>
          <a:xfrm>
            <a:off x="9006840" y="3200400"/>
            <a:ext cx="2331720" cy="658368"/>
          </a:xfrm>
          <a:prstGeom prst="rect">
            <a:avLst/>
          </a:prstGeom>
          <a:noFill/>
          <a:ln/>
        </p:spPr>
        <p:txBody>
          <a:bodyPr wrap="square" lIns="0" tIns="0" rIns="0" bIns="0" rtlCol="0" anchor="ctr"/>
          <a:lstStyle/>
          <a:p>
            <a:pPr indent="0" marL="0">
              <a:lnSpc>
                <a:spcPct val="110000"/>
              </a:lnSpc>
              <a:buNone/>
            </a:pPr>
            <a:r>
              <a:rPr lang="en-US" sz="1100" dirty="0">
                <a:solidFill>
                  <a:srgbClr val="BFD3E6"/>
                </a:solidFill>
                <a:latin typeface="Calibri" pitchFamily="34" charset="0"/>
                <a:ea typeface="Calibri" pitchFamily="34" charset="-122"/>
                <a:cs typeface="Calibri" pitchFamily="34" charset="-120"/>
              </a:rPr>
              <a:t>full-portfolio gate, from zero, torn down to zero residue</a:t>
            </a:r>
            <a:endParaRPr lang="en-US" sz="1100" dirty="0"/>
          </a:p>
        </p:txBody>
      </p:sp>
      <p:sp>
        <p:nvSpPr>
          <p:cNvPr id="10" name="Text 8"/>
          <p:cNvSpPr txBox="1"/>
          <p:nvPr/>
        </p:nvSpPr>
        <p:spPr>
          <a:xfrm>
            <a:off x="9006840" y="3968496"/>
            <a:ext cx="2331720" cy="566928"/>
          </a:xfrm>
          <a:prstGeom prst="rect">
            <a:avLst/>
          </a:prstGeom>
          <a:noFill/>
          <a:ln/>
        </p:spPr>
        <p:txBody>
          <a:bodyPr wrap="square" lIns="0" tIns="0" rIns="0" bIns="0" rtlCol="0" anchor="ctr"/>
          <a:lstStyle/>
          <a:p>
            <a:pPr indent="0" marL="0">
              <a:lnSpc>
                <a:spcPct val="110000"/>
              </a:lnSpc>
              <a:buNone/>
            </a:pPr>
            <a:r>
              <a:rPr lang="en-US" sz="1000" i="1" dirty="0">
                <a:solidFill>
                  <a:srgbClr val="E0B872"/>
                </a:solidFill>
                <a:latin typeface="Calibri" pitchFamily="34" charset="0"/>
                <a:ea typeface="Calibri" pitchFamily="34" charset="-122"/>
                <a:cs typeface="Calibri" pitchFamily="34" charset="-120"/>
              </a:rPr>
              <a:t>One pack · one account · one region · synthetic data</a:t>
            </a:r>
            <a:endParaRPr lang="en-US" sz="1000" dirty="0"/>
          </a:p>
        </p:txBody>
      </p:sp>
      <p:sp>
        <p:nvSpPr>
          <p:cNvPr id="11" name="Text 9"/>
          <p:cNvSpPr txBox="1"/>
          <p:nvPr/>
        </p:nvSpPr>
        <p:spPr>
          <a:xfrm>
            <a:off x="822960" y="5074920"/>
            <a:ext cx="10607040" cy="640080"/>
          </a:xfrm>
          <a:prstGeom prst="rect">
            <a:avLst/>
          </a:prstGeom>
          <a:noFill/>
          <a:ln/>
        </p:spPr>
        <p:txBody>
          <a:bodyPr wrap="square" lIns="0" tIns="0" rIns="0" bIns="0" rtlCol="0" anchor="ctr"/>
          <a:lstStyle/>
          <a:p>
            <a:pPr indent="0" marL="0">
              <a:lnSpc>
                <a:spcPct val="115000"/>
              </a:lnSpc>
              <a:buNone/>
            </a:pPr>
            <a:r>
              <a:rPr lang="en-US" sz="1300" i="1" dirty="0">
                <a:solidFill>
                  <a:srgbClr val="9FB3C8"/>
                </a:solidFill>
                <a:latin typeface="Calibri" pitchFamily="34" charset="0"/>
                <a:ea typeface="Calibri" pitchFamily="34" charset="-122"/>
                <a:cs typeface="Calibri" pitchFamily="34" charset="-120"/>
              </a:rPr>
              <a:t>A reference architecture, not a product. No SLA, no support contract, no certification. Every piece of evidence in it was produced by its author.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5F7080"/>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Most “AI governance” is a prompt and a logging wrapper</a:t>
            </a:r>
            <a:endParaRPr lang="en-US" sz="3400" dirty="0"/>
          </a:p>
        </p:txBody>
      </p:sp>
      <p:sp>
        <p:nvSpPr>
          <p:cNvPr id="4" name="Text 2"/>
          <p:cNvSpPr txBox="1"/>
          <p:nvPr/>
        </p:nvSpPr>
        <p:spPr>
          <a:xfrm>
            <a:off x="566928" y="1280160"/>
            <a:ext cx="10881360" cy="658368"/>
          </a:xfrm>
          <a:prstGeom prst="rect">
            <a:avLst/>
          </a:prstGeom>
          <a:noFill/>
          <a:ln/>
        </p:spPr>
        <p:txBody>
          <a:bodyPr wrap="square" lIns="0" tIns="0" rIns="0" bIns="0" rtlCol="0" anchor="t"/>
          <a:lstStyle/>
          <a:p>
            <a:pPr indent="0" marL="0">
              <a:lnSpc>
                <a:spcPct val="115000"/>
              </a:lnSpc>
              <a:buNone/>
            </a:pPr>
            <a:r>
              <a:rPr lang="en-US" sz="1500" dirty="0">
                <a:solidFill>
                  <a:srgbClr val="2C3A4E"/>
                </a:solidFill>
                <a:latin typeface="Calibri" pitchFamily="34" charset="0"/>
                <a:ea typeface="Calibri" pitchFamily="34" charset="-122"/>
                <a:cs typeface="Calibri" pitchFamily="34" charset="-120"/>
              </a:rPr>
              <a:t>Both of those live inside the thing being governed. An agent that can reason about its instructions can reason around them, and a log written after the fact records what happened rather than preventing it.</a:t>
            </a:r>
            <a:endParaRPr lang="en-US" sz="1500" dirty="0"/>
          </a:p>
        </p:txBody>
      </p:sp>
      <p:sp>
        <p:nvSpPr>
          <p:cNvPr id="5" name="Shape 3"/>
          <p:cNvSpPr/>
          <p:nvPr/>
        </p:nvSpPr>
        <p:spPr>
          <a:xfrm>
            <a:off x="566928" y="2212848"/>
            <a:ext cx="3401568" cy="2487168"/>
          </a:xfrm>
          <a:prstGeom prst="roundRect">
            <a:avLst>
              <a:gd name="adj" fmla="val 3309"/>
            </a:avLst>
          </a:prstGeom>
          <a:solidFill>
            <a:srgbClr val="FBE9E7"/>
          </a:solidFill>
          <a:ln w="12700">
            <a:solidFill>
              <a:srgbClr val="FBE9E7"/>
            </a:solidFill>
            <a:prstDash val="solid"/>
          </a:ln>
        </p:spPr>
        <p:txBody>
          <a:bodyPr/>
          <a:p/>
        </p:txBody>
      </p:sp>
      <p:sp>
        <p:nvSpPr>
          <p:cNvPr id="6" name="Shape 4"/>
          <p:cNvSpPr/>
          <p:nvPr/>
        </p:nvSpPr>
        <p:spPr>
          <a:xfrm>
            <a:off x="822960" y="2450592"/>
            <a:ext cx="475488" cy="475488"/>
          </a:xfrm>
          <a:prstGeom prst="ellipse">
            <a:avLst/>
          </a:prstGeom>
          <a:solidFill>
            <a:srgbClr val="B3261E"/>
          </a:solidFill>
          <a:ln w="12700">
            <a:solidFill>
              <a:srgbClr val="B3261E"/>
            </a:solidFill>
            <a:prstDash val="solid"/>
          </a:ln>
        </p:spPr>
        <p:txBody>
          <a:bodyPr/>
          <a:p/>
        </p:txBody>
      </p:sp>
      <p:sp>
        <p:nvSpPr>
          <p:cNvPr id="7" name="Text 5"/>
          <p:cNvSpPr txBox="1"/>
          <p:nvPr/>
        </p:nvSpPr>
        <p:spPr>
          <a:xfrm>
            <a:off x="822960" y="245059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8" name="Text 6"/>
          <p:cNvSpPr txBox="1"/>
          <p:nvPr/>
        </p:nvSpPr>
        <p:spPr>
          <a:xfrm>
            <a:off x="822960" y="3035808"/>
            <a:ext cx="2889504" cy="512064"/>
          </a:xfrm>
          <a:prstGeom prst="rect">
            <a:avLst/>
          </a:prstGeom>
          <a:noFill/>
          <a:ln/>
        </p:spPr>
        <p:txBody>
          <a:bodyPr wrap="square" lIns="0" tIns="0" rIns="0" bIns="0" rtlCol="0" anchor="ctr"/>
          <a:lstStyle/>
          <a:p>
            <a:pPr indent="0" marL="0">
              <a:lnSpc>
                <a:spcPct val="105000"/>
              </a:lnSpc>
              <a:buNone/>
            </a:pPr>
            <a:r>
              <a:rPr lang="en-US" sz="1500" b="1" dirty="0">
                <a:solidFill>
                  <a:srgbClr val="1A2433"/>
                </a:solidFill>
                <a:latin typeface="Cambria" pitchFamily="34" charset="0"/>
                <a:ea typeface="Cambria" pitchFamily="34" charset="-122"/>
                <a:cs typeface="Cambria" pitchFamily="34" charset="-120"/>
              </a:rPr>
              <a:t>Governance in the prompt</a:t>
            </a:r>
            <a:endParaRPr lang="en-US" sz="1500" dirty="0"/>
          </a:p>
        </p:txBody>
      </p:sp>
      <p:sp>
        <p:nvSpPr>
          <p:cNvPr id="9" name="Text 7"/>
          <p:cNvSpPr txBox="1"/>
          <p:nvPr/>
        </p:nvSpPr>
        <p:spPr>
          <a:xfrm>
            <a:off x="822960" y="3602736"/>
            <a:ext cx="2889504" cy="969264"/>
          </a:xfrm>
          <a:prstGeom prst="rect">
            <a:avLst/>
          </a:prstGeom>
          <a:noFill/>
          <a:ln/>
        </p:spPr>
        <p:txBody>
          <a:bodyPr wrap="square" lIns="0" tIns="0" rIns="0" bIns="0" rtlCol="0" anchor="t"/>
          <a:lstStyle/>
          <a:p>
            <a:pPr indent="0" marL="0">
              <a:lnSpc>
                <a:spcPct val="115000"/>
              </a:lnSpc>
              <a:buNone/>
            </a:pPr>
            <a:r>
              <a:rPr lang="en-US" sz="1200" dirty="0">
                <a:solidFill>
                  <a:srgbClr val="2C3A4E"/>
                </a:solidFill>
                <a:latin typeface="Calibri" pitchFamily="34" charset="0"/>
                <a:ea typeface="Calibri" pitchFamily="34" charset="-122"/>
                <a:cs typeface="Calibri" pitchFamily="34" charset="-120"/>
              </a:rPr>
              <a:t>The model is asked to comply. Compliance is a behaviour, not a control, and it degrades under adversarial input.</a:t>
            </a:r>
            <a:endParaRPr lang="en-US" sz="1200" dirty="0"/>
          </a:p>
        </p:txBody>
      </p:sp>
      <p:sp>
        <p:nvSpPr>
          <p:cNvPr id="10" name="Shape 8"/>
          <p:cNvSpPr/>
          <p:nvPr/>
        </p:nvSpPr>
        <p:spPr>
          <a:xfrm>
            <a:off x="4242816" y="2212848"/>
            <a:ext cx="3401568" cy="2487168"/>
          </a:xfrm>
          <a:prstGeom prst="roundRect">
            <a:avLst>
              <a:gd name="adj" fmla="val 3309"/>
            </a:avLst>
          </a:prstGeom>
          <a:solidFill>
            <a:srgbClr val="FBE9E7"/>
          </a:solidFill>
          <a:ln w="12700">
            <a:solidFill>
              <a:srgbClr val="FBE9E7"/>
            </a:solidFill>
            <a:prstDash val="solid"/>
          </a:ln>
        </p:spPr>
        <p:txBody>
          <a:bodyPr/>
          <a:p/>
        </p:txBody>
      </p:sp>
      <p:sp>
        <p:nvSpPr>
          <p:cNvPr id="11" name="Shape 9"/>
          <p:cNvSpPr/>
          <p:nvPr/>
        </p:nvSpPr>
        <p:spPr>
          <a:xfrm>
            <a:off x="4498848" y="2450592"/>
            <a:ext cx="475488" cy="475488"/>
          </a:xfrm>
          <a:prstGeom prst="ellipse">
            <a:avLst/>
          </a:prstGeom>
          <a:solidFill>
            <a:srgbClr val="B3261E"/>
          </a:solidFill>
          <a:ln w="12700">
            <a:solidFill>
              <a:srgbClr val="B3261E"/>
            </a:solidFill>
            <a:prstDash val="solid"/>
          </a:ln>
        </p:spPr>
        <p:txBody>
          <a:bodyPr/>
          <a:p/>
        </p:txBody>
      </p:sp>
      <p:sp>
        <p:nvSpPr>
          <p:cNvPr id="12" name="Text 10"/>
          <p:cNvSpPr txBox="1"/>
          <p:nvPr/>
        </p:nvSpPr>
        <p:spPr>
          <a:xfrm>
            <a:off x="4498848" y="245059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3" name="Text 11"/>
          <p:cNvSpPr txBox="1"/>
          <p:nvPr/>
        </p:nvSpPr>
        <p:spPr>
          <a:xfrm>
            <a:off x="4498848" y="3035808"/>
            <a:ext cx="2889504" cy="512064"/>
          </a:xfrm>
          <a:prstGeom prst="rect">
            <a:avLst/>
          </a:prstGeom>
          <a:noFill/>
          <a:ln/>
        </p:spPr>
        <p:txBody>
          <a:bodyPr wrap="square" lIns="0" tIns="0" rIns="0" bIns="0" rtlCol="0" anchor="ctr"/>
          <a:lstStyle/>
          <a:p>
            <a:pPr indent="0" marL="0">
              <a:lnSpc>
                <a:spcPct val="105000"/>
              </a:lnSpc>
              <a:buNone/>
            </a:pPr>
            <a:r>
              <a:rPr lang="en-US" sz="1500" b="1" dirty="0">
                <a:solidFill>
                  <a:srgbClr val="1A2433"/>
                </a:solidFill>
                <a:latin typeface="Cambria" pitchFamily="34" charset="0"/>
                <a:ea typeface="Cambria" pitchFamily="34" charset="-122"/>
                <a:cs typeface="Cambria" pitchFamily="34" charset="-120"/>
              </a:rPr>
              <a:t>Governance in application code</a:t>
            </a:r>
            <a:endParaRPr lang="en-US" sz="1500" dirty="0"/>
          </a:p>
        </p:txBody>
      </p:sp>
      <p:sp>
        <p:nvSpPr>
          <p:cNvPr id="14" name="Text 12"/>
          <p:cNvSpPr txBox="1"/>
          <p:nvPr/>
        </p:nvSpPr>
        <p:spPr>
          <a:xfrm>
            <a:off x="4498848" y="3602736"/>
            <a:ext cx="2889504" cy="969264"/>
          </a:xfrm>
          <a:prstGeom prst="rect">
            <a:avLst/>
          </a:prstGeom>
          <a:noFill/>
          <a:ln/>
        </p:spPr>
        <p:txBody>
          <a:bodyPr wrap="square" lIns="0" tIns="0" rIns="0" bIns="0" rtlCol="0" anchor="t"/>
          <a:lstStyle/>
          <a:p>
            <a:pPr indent="0" marL="0">
              <a:lnSpc>
                <a:spcPct val="115000"/>
              </a:lnSpc>
              <a:buNone/>
            </a:pPr>
            <a:r>
              <a:rPr lang="en-US" sz="1200" dirty="0">
                <a:solidFill>
                  <a:srgbClr val="2C3A4E"/>
                </a:solidFill>
                <a:latin typeface="Calibri" pitchFamily="34" charset="0"/>
                <a:ea typeface="Calibri" pitchFamily="34" charset="-122"/>
                <a:cs typeface="Calibri" pitchFamily="34" charset="-120"/>
              </a:rPr>
              <a:t>Better — but the agent chooses which code path to call. The control is downstream of the decision it is meant to constrain.</a:t>
            </a:r>
            <a:endParaRPr lang="en-US" sz="1200" dirty="0"/>
          </a:p>
        </p:txBody>
      </p:sp>
      <p:sp>
        <p:nvSpPr>
          <p:cNvPr id="15" name="Shape 13"/>
          <p:cNvSpPr/>
          <p:nvPr/>
        </p:nvSpPr>
        <p:spPr>
          <a:xfrm>
            <a:off x="7918704" y="2212848"/>
            <a:ext cx="3401568" cy="2487168"/>
          </a:xfrm>
          <a:prstGeom prst="roundRect">
            <a:avLst>
              <a:gd name="adj" fmla="val 3309"/>
            </a:avLst>
          </a:prstGeom>
          <a:solidFill>
            <a:srgbClr val="E4F2EA"/>
          </a:solidFill>
          <a:ln w="12700">
            <a:solidFill>
              <a:srgbClr val="E4F2EA"/>
            </a:solidFill>
            <a:prstDash val="solid"/>
          </a:ln>
        </p:spPr>
        <p:txBody>
          <a:bodyPr/>
          <a:p/>
        </p:txBody>
      </p:sp>
      <p:sp>
        <p:nvSpPr>
          <p:cNvPr id="16" name="Shape 14"/>
          <p:cNvSpPr/>
          <p:nvPr/>
        </p:nvSpPr>
        <p:spPr>
          <a:xfrm>
            <a:off x="8174736" y="2450592"/>
            <a:ext cx="475488" cy="475488"/>
          </a:xfrm>
          <a:prstGeom prst="ellipse">
            <a:avLst/>
          </a:prstGeom>
          <a:solidFill>
            <a:srgbClr val="1D6F42"/>
          </a:solidFill>
          <a:ln w="12700">
            <a:solidFill>
              <a:srgbClr val="1D6F42"/>
            </a:solidFill>
            <a:prstDash val="solid"/>
          </a:ln>
        </p:spPr>
        <p:txBody>
          <a:bodyPr/>
          <a:p/>
        </p:txBody>
      </p:sp>
      <p:sp>
        <p:nvSpPr>
          <p:cNvPr id="17" name="Text 15"/>
          <p:cNvSpPr txBox="1"/>
          <p:nvPr/>
        </p:nvSpPr>
        <p:spPr>
          <a:xfrm>
            <a:off x="8174736" y="245059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8" name="Text 16"/>
          <p:cNvSpPr txBox="1"/>
          <p:nvPr/>
        </p:nvSpPr>
        <p:spPr>
          <a:xfrm>
            <a:off x="8174736" y="3035808"/>
            <a:ext cx="2889504" cy="512064"/>
          </a:xfrm>
          <a:prstGeom prst="rect">
            <a:avLst/>
          </a:prstGeom>
          <a:noFill/>
          <a:ln/>
        </p:spPr>
        <p:txBody>
          <a:bodyPr wrap="square" lIns="0" tIns="0" rIns="0" bIns="0" rtlCol="0" anchor="ctr"/>
          <a:lstStyle/>
          <a:p>
            <a:pPr indent="0" marL="0">
              <a:lnSpc>
                <a:spcPct val="105000"/>
              </a:lnSpc>
              <a:buNone/>
            </a:pPr>
            <a:r>
              <a:rPr lang="en-US" sz="1500" b="1" dirty="0">
                <a:solidFill>
                  <a:srgbClr val="1A2433"/>
                </a:solidFill>
                <a:latin typeface="Cambria" pitchFamily="34" charset="0"/>
                <a:ea typeface="Cambria" pitchFamily="34" charset="-122"/>
                <a:cs typeface="Cambria" pitchFamily="34" charset="-120"/>
              </a:rPr>
              <a:t>Governance in front of the model</a:t>
            </a:r>
            <a:endParaRPr lang="en-US" sz="1500" dirty="0"/>
          </a:p>
        </p:txBody>
      </p:sp>
      <p:sp>
        <p:nvSpPr>
          <p:cNvPr id="19" name="Text 17"/>
          <p:cNvSpPr txBox="1"/>
          <p:nvPr/>
        </p:nvSpPr>
        <p:spPr>
          <a:xfrm>
            <a:off x="8174736" y="3602736"/>
            <a:ext cx="2889504" cy="969264"/>
          </a:xfrm>
          <a:prstGeom prst="rect">
            <a:avLst/>
          </a:prstGeom>
          <a:noFill/>
          <a:ln/>
        </p:spPr>
        <p:txBody>
          <a:bodyPr wrap="square" lIns="0" tIns="0" rIns="0" bIns="0" rtlCol="0" anchor="t"/>
          <a:lstStyle/>
          <a:p>
            <a:pPr indent="0" marL="0">
              <a:lnSpc>
                <a:spcPct val="115000"/>
              </a:lnSpc>
              <a:buNone/>
            </a:pPr>
            <a:r>
              <a:rPr lang="en-US" sz="1200" dirty="0">
                <a:solidFill>
                  <a:srgbClr val="2C3A4E"/>
                </a:solidFill>
                <a:latin typeface="Calibri" pitchFamily="34" charset="0"/>
                <a:ea typeface="Calibri" pitchFamily="34" charset="-122"/>
                <a:cs typeface="Calibri" pitchFamily="34" charset="-120"/>
              </a:rPr>
              <a:t>Authorization is evaluated by AWS before the tool runs. The agent cannot reach the decision point, so it cannot argue with it.</a:t>
            </a:r>
            <a:endParaRPr lang="en-US" sz="1200" dirty="0"/>
          </a:p>
        </p:txBody>
      </p:sp>
      <p:sp>
        <p:nvSpPr>
          <p:cNvPr id="20" name="Text 18"/>
          <p:cNvSpPr txBox="1"/>
          <p:nvPr/>
        </p:nvSpPr>
        <p:spPr>
          <a:xfrm>
            <a:off x="566928" y="4956048"/>
            <a:ext cx="10881360" cy="822960"/>
          </a:xfrm>
          <a:prstGeom prst="rect">
            <a:avLst/>
          </a:prstGeom>
          <a:noFill/>
          <a:ln/>
        </p:spPr>
        <p:txBody>
          <a:bodyPr wrap="square" lIns="0" tIns="0" rIns="0" bIns="0" rtlCol="0" anchor="t"/>
          <a:lstStyle/>
          <a:p>
            <a:pPr indent="0" marL="0">
              <a:lnSpc>
                <a:spcPct val="115000"/>
              </a:lnSpc>
              <a:buNone/>
            </a:pPr>
            <a:r>
              <a:rPr lang="en-US" sz="1450" b="1" dirty="0">
                <a:solidFill>
                  <a:srgbClr val="2C3A4E"/>
                </a:solidFill>
                <a:latin typeface="Calibri" pitchFamily="34" charset="0"/>
                <a:ea typeface="Calibri" pitchFamily="34" charset="-122"/>
                <a:cs typeface="Calibri" pitchFamily="34" charset="-120"/>
              </a:rPr>
              <a:t>Aegis takes the third position. </a:t>
            </a:r>
            <a:pPr indent="0" marL="0">
              <a:lnSpc>
                <a:spcPct val="115000"/>
              </a:lnSpc>
              <a:buNone/>
            </a:pPr>
            <a:r>
              <a:rPr lang="en-US" sz="1450" dirty="0">
                <a:solidFill>
                  <a:srgbClr val="2C3A4E"/>
                </a:solidFill>
                <a:latin typeface="Calibri" pitchFamily="34" charset="0"/>
                <a:ea typeface="Calibri" pitchFamily="34" charset="-122"/>
                <a:cs typeface="Calibri" pitchFamily="34" charset="-120"/>
              </a:rPr>
              <a:t>Cedar authorization, masking proven by signature, per-tenant spend ceilings, a kill switch and a WORM audit ledger sit in front of the model — so the governance cannot be talked out of by the agent it governs.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5F7080"/>
                </a:solidFill>
                <a:latin typeface="Calibri" pitchFamily="34" charset="0"/>
                <a:ea typeface="Calibri" pitchFamily="34" charset="-122"/>
                <a:cs typeface="Calibri" pitchFamily="34" charset="-120"/>
              </a:rPr>
              <a:t>WHAT IT IS</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A configurable control plane, proven end to end on one pack</a:t>
            </a:r>
            <a:endParaRPr lang="en-US" sz="3400" dirty="0"/>
          </a:p>
        </p:txBody>
      </p:sp>
      <p:sp>
        <p:nvSpPr>
          <p:cNvPr id="4" name="Text 2"/>
          <p:cNvSpPr txBox="1"/>
          <p:nvPr/>
        </p:nvSpPr>
        <p:spPr>
          <a:xfrm>
            <a:off x="566928" y="1609344"/>
            <a:ext cx="2194560" cy="749808"/>
          </a:xfrm>
          <a:prstGeom prst="rect">
            <a:avLst/>
          </a:prstGeom>
          <a:noFill/>
          <a:ln/>
        </p:spPr>
        <p:txBody>
          <a:bodyPr wrap="square" lIns="0" tIns="0" rIns="0" bIns="0" rtlCol="0" anchor="ctr"/>
          <a:lstStyle/>
          <a:p>
            <a:pPr indent="0" marL="0">
              <a:buNone/>
            </a:pPr>
            <a:r>
              <a:rPr lang="en-US" sz="4600" b="1" dirty="0">
                <a:solidFill>
                  <a:srgbClr val="1D6F42"/>
                </a:solidFill>
                <a:latin typeface="Cambria" pitchFamily="34" charset="0"/>
                <a:ea typeface="Cambria" pitchFamily="34" charset="-122"/>
                <a:cs typeface="Cambria" pitchFamily="34" charset="-120"/>
              </a:rPr>
              <a:t>13</a:t>
            </a:r>
            <a:endParaRPr lang="en-US" sz="4600" dirty="0"/>
          </a:p>
        </p:txBody>
      </p:sp>
      <p:sp>
        <p:nvSpPr>
          <p:cNvPr id="5" name="Text 3"/>
          <p:cNvSpPr txBox="1"/>
          <p:nvPr/>
        </p:nvSpPr>
        <p:spPr>
          <a:xfrm>
            <a:off x="566928" y="2340864"/>
            <a:ext cx="2194560" cy="566928"/>
          </a:xfrm>
          <a:prstGeom prst="rect">
            <a:avLst/>
          </a:prstGeom>
          <a:noFill/>
          <a:ln/>
        </p:spPr>
        <p:txBody>
          <a:bodyPr wrap="square" lIns="0" tIns="0" rIns="0" bIns="0" rtlCol="0" anchor="ctr"/>
          <a:lstStyle/>
          <a:p>
            <a:pPr indent="0" marL="0">
              <a:lnSpc>
                <a:spcPct val="105000"/>
              </a:lnSpc>
              <a:buNone/>
            </a:pPr>
            <a:r>
              <a:rPr lang="en-US" sz="1150" dirty="0">
                <a:solidFill>
                  <a:srgbClr val="5F7080"/>
                </a:solidFill>
                <a:latin typeface="Calibri" pitchFamily="34" charset="0"/>
                <a:ea typeface="Calibri" pitchFamily="34" charset="-122"/>
                <a:cs typeface="Calibri" pitchFamily="34" charset="-120"/>
              </a:rPr>
              <a:t>Cedar policies at the gateway</a:t>
            </a:r>
            <a:endParaRPr lang="en-US" sz="1150" dirty="0"/>
          </a:p>
          <a:p>
            <a:pPr indent="0" marL="0">
              <a:lnSpc>
                <a:spcPct val="105000"/>
              </a:lnSpc>
              <a:buNone/>
            </a:pPr>
            <a:r>
              <a:rPr lang="en-US" sz="1150" dirty="0">
                <a:solidFill>
                  <a:srgbClr val="5F7080"/>
                </a:solidFill>
                <a:latin typeface="Calibri" pitchFamily="34" charset="0"/>
                <a:ea typeface="Calibri" pitchFamily="34" charset="-122"/>
                <a:cs typeface="Calibri" pitchFamily="34" charset="-120"/>
              </a:rPr>
              <a:t>12 forbid · 1 permit</a:t>
            </a:r>
            <a:endParaRPr lang="en-US" sz="1150" dirty="0"/>
          </a:p>
        </p:txBody>
      </p:sp>
      <p:sp>
        <p:nvSpPr>
          <p:cNvPr id="6" name="Text 4"/>
          <p:cNvSpPr txBox="1"/>
          <p:nvPr/>
        </p:nvSpPr>
        <p:spPr>
          <a:xfrm>
            <a:off x="3063240" y="1609344"/>
            <a:ext cx="2194560" cy="749808"/>
          </a:xfrm>
          <a:prstGeom prst="rect">
            <a:avLst/>
          </a:prstGeom>
          <a:noFill/>
          <a:ln/>
        </p:spPr>
        <p:txBody>
          <a:bodyPr wrap="square" lIns="0" tIns="0" rIns="0" bIns="0" rtlCol="0" anchor="ctr"/>
          <a:lstStyle/>
          <a:p>
            <a:pPr indent="0" marL="0">
              <a:buNone/>
            </a:pPr>
            <a:r>
              <a:rPr lang="en-US" sz="4600" b="1" dirty="0">
                <a:solidFill>
                  <a:srgbClr val="1D6F42"/>
                </a:solidFill>
                <a:latin typeface="Cambria" pitchFamily="34" charset="0"/>
                <a:ea typeface="Cambria" pitchFamily="34" charset="-122"/>
                <a:cs typeface="Cambria" pitchFamily="34" charset="-120"/>
              </a:rPr>
              <a:t>9</a:t>
            </a:r>
            <a:endParaRPr lang="en-US" sz="4600" dirty="0"/>
          </a:p>
        </p:txBody>
      </p:sp>
      <p:sp>
        <p:nvSpPr>
          <p:cNvPr id="7" name="Text 5"/>
          <p:cNvSpPr txBox="1"/>
          <p:nvPr/>
        </p:nvSpPr>
        <p:spPr>
          <a:xfrm>
            <a:off x="3063240" y="2340864"/>
            <a:ext cx="2194560" cy="566928"/>
          </a:xfrm>
          <a:prstGeom prst="rect">
            <a:avLst/>
          </a:prstGeom>
          <a:noFill/>
          <a:ln/>
        </p:spPr>
        <p:txBody>
          <a:bodyPr wrap="square" lIns="0" tIns="0" rIns="0" bIns="0" rtlCol="0" anchor="ctr"/>
          <a:lstStyle/>
          <a:p>
            <a:pPr indent="0" marL="0">
              <a:lnSpc>
                <a:spcPct val="105000"/>
              </a:lnSpc>
              <a:buNone/>
            </a:pPr>
            <a:r>
              <a:rPr lang="en-US" sz="1150" dirty="0">
                <a:solidFill>
                  <a:srgbClr val="5F7080"/>
                </a:solidFill>
                <a:latin typeface="Calibri" pitchFamily="34" charset="0"/>
                <a:ea typeface="Calibri" pitchFamily="34" charset="-122"/>
                <a:cs typeface="Calibri" pitchFamily="34" charset="-120"/>
              </a:rPr>
              <a:t>CloudFormation stacks</a:t>
            </a:r>
            <a:endParaRPr lang="en-US" sz="1150" dirty="0"/>
          </a:p>
          <a:p>
            <a:pPr indent="0" marL="0">
              <a:lnSpc>
                <a:spcPct val="105000"/>
              </a:lnSpc>
              <a:buNone/>
            </a:pPr>
            <a:r>
              <a:rPr lang="en-US" sz="1150" dirty="0">
                <a:solidFill>
                  <a:srgbClr val="5F7080"/>
                </a:solidFill>
                <a:latin typeface="Calibri" pitchFamily="34" charset="0"/>
                <a:ea typeface="Calibri" pitchFamily="34" charset="-122"/>
                <a:cs typeface="Calibri" pitchFamily="34" charset="-120"/>
              </a:rPr>
              <a:t>deployed from zero</a:t>
            </a:r>
            <a:endParaRPr lang="en-US" sz="1150" dirty="0"/>
          </a:p>
        </p:txBody>
      </p:sp>
      <p:sp>
        <p:nvSpPr>
          <p:cNvPr id="8" name="Text 6"/>
          <p:cNvSpPr txBox="1"/>
          <p:nvPr/>
        </p:nvSpPr>
        <p:spPr>
          <a:xfrm>
            <a:off x="5559552" y="1609344"/>
            <a:ext cx="2651760" cy="749808"/>
          </a:xfrm>
          <a:prstGeom prst="rect">
            <a:avLst/>
          </a:prstGeom>
          <a:noFill/>
          <a:ln/>
        </p:spPr>
        <p:txBody>
          <a:bodyPr wrap="square" lIns="0" tIns="0" rIns="0" bIns="0" rtlCol="0" anchor="ctr"/>
          <a:lstStyle/>
          <a:p>
            <a:pPr indent="0" marL="0">
              <a:buNone/>
            </a:pPr>
            <a:r>
              <a:rPr lang="en-US" sz="4600" b="1" dirty="0">
                <a:solidFill>
                  <a:srgbClr val="1D6F42"/>
                </a:solidFill>
                <a:latin typeface="Cambria" pitchFamily="34" charset="0"/>
                <a:ea typeface="Cambria" pitchFamily="34" charset="-122"/>
                <a:cs typeface="Cambria" pitchFamily="34" charset="-120"/>
              </a:rPr>
              <a:t>27</a:t>
            </a:r>
            <a:endParaRPr lang="en-US" sz="4600" dirty="0"/>
          </a:p>
        </p:txBody>
      </p:sp>
      <p:sp>
        <p:nvSpPr>
          <p:cNvPr id="9" name="Text 7"/>
          <p:cNvSpPr txBox="1"/>
          <p:nvPr/>
        </p:nvSpPr>
        <p:spPr>
          <a:xfrm>
            <a:off x="5559552" y="2340864"/>
            <a:ext cx="2651760" cy="566928"/>
          </a:xfrm>
          <a:prstGeom prst="rect">
            <a:avLst/>
          </a:prstGeom>
          <a:noFill/>
          <a:ln/>
        </p:spPr>
        <p:txBody>
          <a:bodyPr wrap="square" lIns="0" tIns="0" rIns="0" bIns="0" rtlCol="0" anchor="ctr"/>
          <a:lstStyle/>
          <a:p>
            <a:pPr indent="0" marL="0">
              <a:lnSpc>
                <a:spcPct val="105000"/>
              </a:lnSpc>
              <a:buNone/>
            </a:pPr>
            <a:r>
              <a:rPr lang="en-US" sz="1150" dirty="0">
                <a:solidFill>
                  <a:srgbClr val="5F7080"/>
                </a:solidFill>
                <a:latin typeface="Calibri" pitchFamily="34" charset="0"/>
                <a:ea typeface="Calibri" pitchFamily="34" charset="-122"/>
                <a:cs typeface="Calibri" pitchFamily="34" charset="-120"/>
              </a:rPr>
              <a:t>CDK configuration switches</a:t>
            </a:r>
            <a:endParaRPr lang="en-US" sz="1150" dirty="0"/>
          </a:p>
          <a:p>
            <a:pPr indent="0" marL="0">
              <a:lnSpc>
                <a:spcPct val="105000"/>
              </a:lnSpc>
              <a:buNone/>
            </a:pPr>
            <a:r>
              <a:rPr lang="en-US" sz="1150" dirty="0">
                <a:solidFill>
                  <a:srgbClr val="5F7080"/>
                </a:solidFill>
                <a:latin typeface="Calibri" pitchFamily="34" charset="0"/>
                <a:ea typeface="Calibri" pitchFamily="34" charset="-122"/>
                <a:cs typeface="Calibri" pitchFamily="34" charset="-120"/>
              </a:rPr>
              <a:t>network · KMS · tenancy · retention</a:t>
            </a:r>
            <a:endParaRPr lang="en-US" sz="1150" dirty="0"/>
          </a:p>
        </p:txBody>
      </p:sp>
      <p:sp>
        <p:nvSpPr>
          <p:cNvPr id="10" name="Text 8"/>
          <p:cNvSpPr txBox="1"/>
          <p:nvPr/>
        </p:nvSpPr>
        <p:spPr>
          <a:xfrm>
            <a:off x="8513064" y="1609344"/>
            <a:ext cx="2194560" cy="749808"/>
          </a:xfrm>
          <a:prstGeom prst="rect">
            <a:avLst/>
          </a:prstGeom>
          <a:noFill/>
          <a:ln/>
        </p:spPr>
        <p:txBody>
          <a:bodyPr wrap="square" lIns="0" tIns="0" rIns="0" bIns="0" rtlCol="0" anchor="ctr"/>
          <a:lstStyle/>
          <a:p>
            <a:pPr indent="0" marL="0">
              <a:buNone/>
            </a:pPr>
            <a:r>
              <a:rPr lang="en-US" sz="4600" b="1" dirty="0">
                <a:solidFill>
                  <a:srgbClr val="9A6700"/>
                </a:solidFill>
                <a:latin typeface="Cambria" pitchFamily="34" charset="0"/>
                <a:ea typeface="Cambria" pitchFamily="34" charset="-122"/>
                <a:cs typeface="Cambria" pitchFamily="34" charset="-120"/>
              </a:rPr>
              <a:t>4</a:t>
            </a:r>
            <a:endParaRPr lang="en-US" sz="4600" dirty="0"/>
          </a:p>
        </p:txBody>
      </p:sp>
      <p:sp>
        <p:nvSpPr>
          <p:cNvPr id="11" name="Text 9"/>
          <p:cNvSpPr txBox="1"/>
          <p:nvPr/>
        </p:nvSpPr>
        <p:spPr>
          <a:xfrm>
            <a:off x="8513064" y="2340864"/>
            <a:ext cx="2194560" cy="566928"/>
          </a:xfrm>
          <a:prstGeom prst="rect">
            <a:avLst/>
          </a:prstGeom>
          <a:noFill/>
          <a:ln/>
        </p:spPr>
        <p:txBody>
          <a:bodyPr wrap="square" lIns="0" tIns="0" rIns="0" bIns="0" rtlCol="0" anchor="ctr"/>
          <a:lstStyle/>
          <a:p>
            <a:pPr indent="0" marL="0">
              <a:lnSpc>
                <a:spcPct val="105000"/>
              </a:lnSpc>
              <a:buNone/>
            </a:pPr>
            <a:r>
              <a:rPr lang="en-US" sz="1150" dirty="0">
                <a:solidFill>
                  <a:srgbClr val="5F7080"/>
                </a:solidFill>
                <a:latin typeface="Calibri" pitchFamily="34" charset="0"/>
                <a:ea typeface="Calibri" pitchFamily="34" charset="-122"/>
                <a:cs typeface="Calibri" pitchFamily="34" charset="-120"/>
              </a:rPr>
              <a:t>vertical packs on one</a:t>
            </a:r>
            <a:endParaRPr lang="en-US" sz="1150" dirty="0"/>
          </a:p>
          <a:p>
            <a:pPr indent="0" marL="0">
              <a:lnSpc>
                <a:spcPct val="105000"/>
              </a:lnSpc>
              <a:buNone/>
            </a:pPr>
            <a:r>
              <a:rPr lang="en-US" sz="1150" dirty="0">
                <a:solidFill>
                  <a:srgbClr val="5F7080"/>
                </a:solidFill>
                <a:latin typeface="Calibri" pitchFamily="34" charset="0"/>
                <a:ea typeface="Calibri" pitchFamily="34" charset="-122"/>
                <a:cs typeface="Calibri" pitchFamily="34" charset="-120"/>
              </a:rPr>
              <a:t>hash-locked core</a:t>
            </a:r>
            <a:endParaRPr lang="en-US" sz="1150" dirty="0"/>
          </a:p>
        </p:txBody>
      </p:sp>
      <p:sp>
        <p:nvSpPr>
          <p:cNvPr id="12" name="Shape 10"/>
          <p:cNvSpPr/>
          <p:nvPr/>
        </p:nvSpPr>
        <p:spPr>
          <a:xfrm>
            <a:off x="566928" y="3493008"/>
            <a:ext cx="5349240" cy="2487168"/>
          </a:xfrm>
          <a:prstGeom prst="roundRect">
            <a:avLst>
              <a:gd name="adj" fmla="val 3309"/>
            </a:avLst>
          </a:prstGeom>
          <a:solidFill>
            <a:srgbClr val="F1F4F7"/>
          </a:solidFill>
          <a:ln w="12700">
            <a:solidFill>
              <a:srgbClr val="D8E0E7"/>
            </a:solidFill>
            <a:prstDash val="solid"/>
          </a:ln>
        </p:spPr>
        <p:txBody>
          <a:bodyPr/>
          <a:p/>
        </p:txBody>
      </p:sp>
      <p:sp>
        <p:nvSpPr>
          <p:cNvPr id="13" name="Text 11"/>
          <p:cNvSpPr txBox="1"/>
          <p:nvPr/>
        </p:nvSpPr>
        <p:spPr>
          <a:xfrm>
            <a:off x="841248" y="3675888"/>
            <a:ext cx="4800600" cy="329184"/>
          </a:xfrm>
          <a:prstGeom prst="rect">
            <a:avLst/>
          </a:prstGeom>
          <a:noFill/>
          <a:ln/>
        </p:spPr>
        <p:txBody>
          <a:bodyPr wrap="square" lIns="0" tIns="0" rIns="0" bIns="0" rtlCol="0" anchor="ctr"/>
          <a:lstStyle/>
          <a:p>
            <a:pPr indent="0" marL="0">
              <a:buNone/>
            </a:pPr>
            <a:r>
              <a:rPr lang="en-US" sz="1600" b="1" dirty="0">
                <a:solidFill>
                  <a:srgbClr val="1A2433"/>
                </a:solidFill>
                <a:latin typeface="Cambria" pitchFamily="34" charset="0"/>
                <a:ea typeface="Cambria" pitchFamily="34" charset="-122"/>
                <a:cs typeface="Cambria" pitchFamily="34" charset="-120"/>
              </a:rPr>
              <a:t>What it governs</a:t>
            </a:r>
            <a:endParaRPr lang="en-US" sz="1600" dirty="0"/>
          </a:p>
        </p:txBody>
      </p:sp>
      <p:sp>
        <p:nvSpPr>
          <p:cNvPr id="14" name="Text 12"/>
          <p:cNvSpPr txBox="1"/>
          <p:nvPr/>
        </p:nvSpPr>
        <p:spPr>
          <a:xfrm>
            <a:off x="841248" y="4114800"/>
            <a:ext cx="4800600" cy="1700784"/>
          </a:xfrm>
          <a:prstGeom prst="rect">
            <a:avLst/>
          </a:prstGeom>
          <a:noFill/>
          <a:ln/>
        </p:spPr>
        <p:txBody>
          <a:bodyPr wrap="square" lIns="0" tIns="0" rIns="0" bIns="0" rtlCol="0" anchor="ctr"/>
          <a:lstStyle/>
          <a:p>
            <a:pPr marL="342900" indent="-342900">
              <a:lnSpc>
                <a:spcPct val="110000"/>
              </a:lnSpc>
              <a:spcAft>
                <a:spcPts val="700"/>
              </a:spcAft>
              <a:buSzPct val="100000"/>
              <a:buChar char="•"/>
            </a:pPr>
            <a:r>
              <a:rPr lang="en-US" sz="1150" dirty="0">
                <a:solidFill>
                  <a:srgbClr val="2C3A4E"/>
                </a:solidFill>
                <a:latin typeface="Calibri" pitchFamily="34" charset="0"/>
                <a:ea typeface="Calibri" pitchFamily="34" charset="-122"/>
                <a:cs typeface="Calibri" pitchFamily="34" charset="-120"/>
              </a:rPr>
              <a:t>Who may call which tool, from a verified token — never the request body</a:t>
            </a:r>
            <a:endParaRPr lang="en-US" sz="1150" dirty="0"/>
          </a:p>
          <a:p>
            <a:pPr marL="342900" indent="-342900">
              <a:lnSpc>
                <a:spcPct val="110000"/>
              </a:lnSpc>
              <a:spcAft>
                <a:spcPts val="700"/>
              </a:spcAft>
              <a:buSzPct val="100000"/>
              <a:buChar char="•"/>
            </a:pPr>
            <a:r>
              <a:rPr lang="en-US" sz="1150" dirty="0">
                <a:solidFill>
                  <a:srgbClr val="2C3A4E"/>
                </a:solidFill>
                <a:latin typeface="Calibri" pitchFamily="34" charset="0"/>
                <a:ea typeface="Calibri" pitchFamily="34" charset="-122"/>
                <a:cs typeface="Calibri" pitchFamily="34" charset="-120"/>
              </a:rPr>
              <a:t>Whether the payload is provably de-identified before any consequential action</a:t>
            </a:r>
            <a:endParaRPr lang="en-US" sz="1150" dirty="0"/>
          </a:p>
          <a:p>
            <a:pPr marL="342900" indent="-342900">
              <a:lnSpc>
                <a:spcPct val="110000"/>
              </a:lnSpc>
              <a:spcAft>
                <a:spcPts val="700"/>
              </a:spcAft>
              <a:buSzPct val="100000"/>
              <a:buChar char="•"/>
            </a:pPr>
            <a:r>
              <a:rPr lang="en-US" sz="1150" dirty="0">
                <a:solidFill>
                  <a:srgbClr val="2C3A4E"/>
                </a:solidFill>
                <a:latin typeface="Calibri" pitchFamily="34" charset="0"/>
                <a:ea typeface="Calibri" pitchFamily="34" charset="-122"/>
                <a:cs typeface="Calibri" pitchFamily="34" charset="-120"/>
              </a:rPr>
              <a:t>Whether the spend ceiling still allows the call, checked before the spend</a:t>
            </a:r>
            <a:endParaRPr lang="en-US" sz="1150" dirty="0"/>
          </a:p>
          <a:p>
            <a:pPr marL="342900" indent="-342900">
              <a:lnSpc>
                <a:spcPct val="110000"/>
              </a:lnSpc>
              <a:spcAft>
                <a:spcPts val="700"/>
              </a:spcAft>
              <a:buSzPct val="100000"/>
              <a:buChar char="•"/>
            </a:pPr>
            <a:r>
              <a:rPr lang="en-US" sz="1150" dirty="0">
                <a:solidFill>
                  <a:srgbClr val="2C3A4E"/>
                </a:solidFill>
                <a:latin typeface="Calibri" pitchFamily="34" charset="0"/>
                <a:ea typeface="Calibri" pitchFamily="34" charset="-122"/>
                <a:cs typeface="Calibri" pitchFamily="34" charset="-120"/>
              </a:rPr>
              <a:t>That the record is written before the side effect, and cannot be altered after</a:t>
            </a:r>
            <a:endParaRPr lang="en-US" sz="1150" dirty="0"/>
          </a:p>
        </p:txBody>
      </p:sp>
      <p:sp>
        <p:nvSpPr>
          <p:cNvPr id="15" name="Shape 13"/>
          <p:cNvSpPr/>
          <p:nvPr/>
        </p:nvSpPr>
        <p:spPr>
          <a:xfrm>
            <a:off x="6236208" y="3493008"/>
            <a:ext cx="5349240" cy="2487168"/>
          </a:xfrm>
          <a:prstGeom prst="roundRect">
            <a:avLst>
              <a:gd name="adj" fmla="val 3309"/>
            </a:avLst>
          </a:prstGeom>
          <a:solidFill>
            <a:srgbClr val="F1F4F7"/>
          </a:solidFill>
          <a:ln w="12700">
            <a:solidFill>
              <a:srgbClr val="D8E0E7"/>
            </a:solidFill>
            <a:prstDash val="solid"/>
          </a:ln>
        </p:spPr>
        <p:txBody>
          <a:bodyPr/>
          <a:p/>
        </p:txBody>
      </p:sp>
      <p:sp>
        <p:nvSpPr>
          <p:cNvPr id="16" name="Text 14"/>
          <p:cNvSpPr txBox="1"/>
          <p:nvPr/>
        </p:nvSpPr>
        <p:spPr>
          <a:xfrm>
            <a:off x="6510528" y="3675888"/>
            <a:ext cx="4800600" cy="329184"/>
          </a:xfrm>
          <a:prstGeom prst="rect">
            <a:avLst/>
          </a:prstGeom>
          <a:noFill/>
          <a:ln/>
        </p:spPr>
        <p:txBody>
          <a:bodyPr wrap="square" lIns="0" tIns="0" rIns="0" bIns="0" rtlCol="0" anchor="ctr"/>
          <a:lstStyle/>
          <a:p>
            <a:pPr indent="0" marL="0">
              <a:buNone/>
            </a:pPr>
            <a:r>
              <a:rPr lang="en-US" sz="1600" b="1" dirty="0">
                <a:solidFill>
                  <a:srgbClr val="1A2433"/>
                </a:solidFill>
                <a:latin typeface="Cambria" pitchFamily="34" charset="0"/>
                <a:ea typeface="Cambria" pitchFamily="34" charset="-122"/>
                <a:cs typeface="Cambria" pitchFamily="34" charset="-120"/>
              </a:rPr>
              <a:t>How it is configured</a:t>
            </a:r>
            <a:endParaRPr lang="en-US" sz="1600" dirty="0"/>
          </a:p>
        </p:txBody>
      </p:sp>
      <p:sp>
        <p:nvSpPr>
          <p:cNvPr id="17" name="Text 15"/>
          <p:cNvSpPr txBox="1"/>
          <p:nvPr/>
        </p:nvSpPr>
        <p:spPr>
          <a:xfrm>
            <a:off x="6510528" y="4114800"/>
            <a:ext cx="4800600" cy="1700784"/>
          </a:xfrm>
          <a:prstGeom prst="rect">
            <a:avLst/>
          </a:prstGeom>
          <a:noFill/>
          <a:ln/>
        </p:spPr>
        <p:txBody>
          <a:bodyPr wrap="square" lIns="0" tIns="0" rIns="0" bIns="0" rtlCol="0" anchor="ctr"/>
          <a:lstStyle/>
          <a:p>
            <a:pPr marL="342900" indent="-342900">
              <a:lnSpc>
                <a:spcPct val="110000"/>
              </a:lnSpc>
              <a:spcAft>
                <a:spcPts val="700"/>
              </a:spcAft>
              <a:buSzPct val="100000"/>
              <a:buChar char="•"/>
            </a:pPr>
            <a:r>
              <a:rPr lang="en-US" sz="1150" dirty="0">
                <a:solidFill>
                  <a:srgbClr val="2C3A4E"/>
                </a:solidFill>
                <a:latin typeface="Calibri" pitchFamily="34" charset="0"/>
                <a:ea typeface="Calibri" pitchFamily="34" charset="-122"/>
                <a:cs typeface="Calibri" pitchFamily="34" charset="-120"/>
              </a:rPr>
              <a:t>An agent manifest declares the tool targets and the guardrail</a:t>
            </a:r>
            <a:endParaRPr lang="en-US" sz="1150" dirty="0"/>
          </a:p>
          <a:p>
            <a:pPr marL="342900" indent="-342900">
              <a:lnSpc>
                <a:spcPct val="110000"/>
              </a:lnSpc>
              <a:spcAft>
                <a:spcPts val="700"/>
              </a:spcAft>
              <a:buSzPct val="100000"/>
              <a:buChar char="•"/>
            </a:pPr>
            <a:r>
              <a:rPr lang="en-US" sz="1150" dirty="0">
                <a:solidFill>
                  <a:srgbClr val="2C3A4E"/>
                </a:solidFill>
                <a:latin typeface="Calibri" pitchFamily="34" charset="0"/>
                <a:ea typeface="Calibri" pitchFamily="34" charset="-122"/>
                <a:cs typeface="Calibri" pitchFamily="34" charset="-120"/>
              </a:rPr>
              <a:t>render.py emits gateway targets, Cedar statements and guardrail config</a:t>
            </a:r>
            <a:endParaRPr lang="en-US" sz="1150" dirty="0"/>
          </a:p>
          <a:p>
            <a:pPr marL="342900" indent="-342900">
              <a:lnSpc>
                <a:spcPct val="110000"/>
              </a:lnSpc>
              <a:spcAft>
                <a:spcPts val="700"/>
              </a:spcAft>
              <a:buSzPct val="100000"/>
              <a:buChar char="•"/>
            </a:pPr>
            <a:r>
              <a:rPr lang="en-US" sz="1150" dirty="0">
                <a:solidFill>
                  <a:srgbClr val="2C3A4E"/>
                </a:solidFill>
                <a:latin typeface="Calibri" pitchFamily="34" charset="0"/>
                <a:ea typeface="Calibri" pitchFamily="34" charset="-122"/>
                <a:cs typeface="Calibri" pitchFamily="34" charset="-120"/>
              </a:rPr>
              <a:t>CDK context switches set network mode, KMS, tenancy, retention, perimeter</a:t>
            </a:r>
            <a:endParaRPr lang="en-US" sz="1150" dirty="0"/>
          </a:p>
          <a:p>
            <a:pPr marL="342900" indent="-342900">
              <a:lnSpc>
                <a:spcPct val="110000"/>
              </a:lnSpc>
              <a:spcAft>
                <a:spcPts val="700"/>
              </a:spcAft>
              <a:buSzPct val="100000"/>
              <a:buChar char="•"/>
            </a:pPr>
            <a:r>
              <a:rPr lang="en-US" sz="1150" dirty="0">
                <a:solidFill>
                  <a:srgbClr val="2C3A4E"/>
                </a:solidFill>
                <a:latin typeface="Calibri" pitchFamily="34" charset="0"/>
                <a:ea typeface="Calibri" pitchFamily="34" charset="-122"/>
                <a:cs typeface="Calibri" pitchFamily="34" charset="-120"/>
              </a:rPr>
              <a:t>A customer authors their own policies against their own manifest</a:t>
            </a:r>
            <a:endParaRPr lang="en-US" sz="1150" dirty="0"/>
          </a:p>
        </p:txBody>
      </p:sp>
      <p:sp>
        <p:nvSpPr>
          <p:cNvPr id="18" name="Text 16"/>
          <p:cNvSpPr txBox="1"/>
          <p:nvPr/>
        </p:nvSpPr>
        <p:spPr>
          <a:xfrm>
            <a:off x="566928" y="6089904"/>
            <a:ext cx="11064240" cy="292608"/>
          </a:xfrm>
          <a:prstGeom prst="rect">
            <a:avLst/>
          </a:prstGeom>
          <a:noFill/>
          <a:ln/>
        </p:spPr>
        <p:txBody>
          <a:bodyPr wrap="square" lIns="0" tIns="0" rIns="0" bIns="0" rtlCol="0" anchor="ctr"/>
          <a:lstStyle/>
          <a:p>
            <a:pPr indent="0" marL="0">
              <a:buNone/>
            </a:pPr>
            <a:r>
              <a:rPr lang="en-US" sz="1000" i="1" dirty="0">
                <a:solidFill>
                  <a:srgbClr val="5F7080"/>
                </a:solidFill>
                <a:latin typeface="Calibri" pitchFamily="34" charset="0"/>
                <a:ea typeface="Calibri" pitchFamily="34" charset="-122"/>
                <a:cs typeface="Calibri" pitchFamily="34" charset="-120"/>
              </a:rPr>
              <a:t>The four packs share one governed-core artifact pinned by sha256. That is evidence the core ports — not evidence the other three work. Only one has ever been deployed.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5F7080"/>
                </a:solidFill>
                <a:latin typeface="Calibri" pitchFamily="34" charset="0"/>
                <a:ea typeface="Calibri" pitchFamily="34" charset="-122"/>
                <a:cs typeface="Calibri" pitchFamily="34" charset="-120"/>
              </a:rPr>
              <a:t>MY THINKING</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One design bet, and everything else follows from it</a:t>
            </a:r>
            <a:endParaRPr lang="en-US" sz="3400" dirty="0"/>
          </a:p>
        </p:txBody>
      </p:sp>
      <p:sp>
        <p:nvSpPr>
          <p:cNvPr id="4" name="Shape 2"/>
          <p:cNvSpPr/>
          <p:nvPr/>
        </p:nvSpPr>
        <p:spPr>
          <a:xfrm>
            <a:off x="566928" y="1298448"/>
            <a:ext cx="11018520" cy="1078992"/>
          </a:xfrm>
          <a:prstGeom prst="roundRect">
            <a:avLst>
              <a:gd name="adj" fmla="val 7627"/>
            </a:avLst>
          </a:prstGeom>
          <a:solidFill>
            <a:srgbClr val="E4F2EA"/>
          </a:solidFill>
          <a:ln w="12700">
            <a:solidFill>
              <a:srgbClr val="BFE0CE"/>
            </a:solidFill>
            <a:prstDash val="solid"/>
          </a:ln>
        </p:spPr>
        <p:txBody>
          <a:bodyPr/>
          <a:p/>
        </p:txBody>
      </p:sp>
      <p:sp>
        <p:nvSpPr>
          <p:cNvPr id="5" name="Text 3"/>
          <p:cNvSpPr txBox="1"/>
          <p:nvPr/>
        </p:nvSpPr>
        <p:spPr>
          <a:xfrm>
            <a:off x="914400" y="1481328"/>
            <a:ext cx="10332720" cy="731520"/>
          </a:xfrm>
          <a:prstGeom prst="rect">
            <a:avLst/>
          </a:prstGeom>
          <a:noFill/>
          <a:ln/>
        </p:spPr>
        <p:txBody>
          <a:bodyPr wrap="square" lIns="0" tIns="0" rIns="0" bIns="0" rtlCol="0" anchor="ctr"/>
          <a:lstStyle/>
          <a:p>
            <a:pPr indent="0" marL="0">
              <a:lnSpc>
                <a:spcPct val="110000"/>
              </a:lnSpc>
              <a:buNone/>
            </a:pPr>
            <a:r>
              <a:rPr lang="en-US" sz="1800" b="1" dirty="0">
                <a:solidFill>
                  <a:srgbClr val="1D6F42"/>
                </a:solidFill>
                <a:latin typeface="Cambria" pitchFamily="34" charset="0"/>
                <a:ea typeface="Cambria" pitchFamily="34" charset="-122"/>
                <a:cs typeface="Cambria" pitchFamily="34" charset="-120"/>
              </a:rPr>
              <a:t>Put the authorization decision somewhere the agent cannot reach, and make every downstream control depend on a proof rather than a claim.</a:t>
            </a:r>
            <a:endParaRPr lang="en-US" sz="1800" dirty="0"/>
          </a:p>
        </p:txBody>
      </p:sp>
      <p:sp>
        <p:nvSpPr>
          <p:cNvPr id="6" name="Shape 4"/>
          <p:cNvSpPr/>
          <p:nvPr/>
        </p:nvSpPr>
        <p:spPr>
          <a:xfrm>
            <a:off x="566928" y="2670048"/>
            <a:ext cx="402336" cy="402336"/>
          </a:xfrm>
          <a:prstGeom prst="ellipse">
            <a:avLst/>
          </a:prstGeom>
          <a:solidFill>
            <a:srgbClr val="1A2433"/>
          </a:solidFill>
          <a:ln w="12700">
            <a:solidFill>
              <a:srgbClr val="1A2433"/>
            </a:solidFill>
            <a:prstDash val="solid"/>
          </a:ln>
        </p:spPr>
        <p:txBody>
          <a:bodyPr/>
          <a:p/>
        </p:txBody>
      </p:sp>
      <p:sp>
        <p:nvSpPr>
          <p:cNvPr id="7" name="Text 5"/>
          <p:cNvSpPr txBox="1"/>
          <p:nvPr/>
        </p:nvSpPr>
        <p:spPr>
          <a:xfrm>
            <a:off x="566928" y="26700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1152144" y="2642616"/>
            <a:ext cx="2889504" cy="438912"/>
          </a:xfrm>
          <a:prstGeom prst="rect">
            <a:avLst/>
          </a:prstGeom>
          <a:noFill/>
          <a:ln/>
        </p:spPr>
        <p:txBody>
          <a:bodyPr wrap="square" lIns="0" tIns="0" rIns="0" bIns="0" rtlCol="0" anchor="ctr"/>
          <a:lstStyle/>
          <a:p>
            <a:pPr indent="0" marL="0">
              <a:lnSpc>
                <a:spcPct val="100000"/>
              </a:lnSpc>
              <a:buNone/>
            </a:pPr>
            <a:r>
              <a:rPr lang="en-US" sz="1450" b="1" dirty="0">
                <a:solidFill>
                  <a:srgbClr val="1A2433"/>
                </a:solidFill>
                <a:latin typeface="Cambria" pitchFamily="34" charset="0"/>
                <a:ea typeface="Cambria" pitchFamily="34" charset="-122"/>
                <a:cs typeface="Cambria" pitchFamily="34" charset="-120"/>
              </a:rPr>
              <a:t>Deny-by-default, forbid-wins</a:t>
            </a:r>
            <a:endParaRPr lang="en-US" sz="1450" dirty="0"/>
          </a:p>
        </p:txBody>
      </p:sp>
      <p:sp>
        <p:nvSpPr>
          <p:cNvPr id="9" name="Text 7"/>
          <p:cNvSpPr txBox="1"/>
          <p:nvPr/>
        </p:nvSpPr>
        <p:spPr>
          <a:xfrm>
            <a:off x="4480560" y="2651760"/>
            <a:ext cx="7104888" cy="841248"/>
          </a:xfrm>
          <a:prstGeom prst="rect">
            <a:avLst/>
          </a:prstGeom>
          <a:noFill/>
          <a:ln/>
        </p:spPr>
        <p:txBody>
          <a:bodyPr wrap="square" lIns="0" tIns="0" rIns="0" bIns="0" rtlCol="0" anchor="t"/>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Twelve forbid policies and one permit. Any forbid that matches kills the request. A caller with a missing or malformed claim gets zero tools, not all of them — the failure mode most agent stacks get backwards.</a:t>
            </a:r>
            <a:endParaRPr lang="en-US" sz="1250" dirty="0"/>
          </a:p>
        </p:txBody>
      </p:sp>
      <p:sp>
        <p:nvSpPr>
          <p:cNvPr id="10" name="Shape 8"/>
          <p:cNvSpPr/>
          <p:nvPr/>
        </p:nvSpPr>
        <p:spPr>
          <a:xfrm>
            <a:off x="566928" y="3602736"/>
            <a:ext cx="402336" cy="402336"/>
          </a:xfrm>
          <a:prstGeom prst="ellipse">
            <a:avLst/>
          </a:prstGeom>
          <a:solidFill>
            <a:srgbClr val="1A2433"/>
          </a:solidFill>
          <a:ln w="12700">
            <a:solidFill>
              <a:srgbClr val="1A2433"/>
            </a:solidFill>
            <a:prstDash val="solid"/>
          </a:ln>
        </p:spPr>
        <p:txBody>
          <a:bodyPr/>
          <a:p/>
        </p:txBody>
      </p:sp>
      <p:sp>
        <p:nvSpPr>
          <p:cNvPr id="11" name="Text 9"/>
          <p:cNvSpPr txBox="1"/>
          <p:nvPr/>
        </p:nvSpPr>
        <p:spPr>
          <a:xfrm>
            <a:off x="566928" y="360273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52144" y="3575304"/>
            <a:ext cx="2889504" cy="438912"/>
          </a:xfrm>
          <a:prstGeom prst="rect">
            <a:avLst/>
          </a:prstGeom>
          <a:noFill/>
          <a:ln/>
        </p:spPr>
        <p:txBody>
          <a:bodyPr wrap="square" lIns="0" tIns="0" rIns="0" bIns="0" rtlCol="0" anchor="ctr"/>
          <a:lstStyle/>
          <a:p>
            <a:pPr indent="0" marL="0">
              <a:lnSpc>
                <a:spcPct val="100000"/>
              </a:lnSpc>
              <a:buNone/>
            </a:pPr>
            <a:r>
              <a:rPr lang="en-US" sz="1450" b="1" dirty="0">
                <a:solidFill>
                  <a:srgbClr val="1A2433"/>
                </a:solidFill>
                <a:latin typeface="Cambria" pitchFamily="34" charset="0"/>
                <a:ea typeface="Cambria" pitchFamily="34" charset="-122"/>
                <a:cs typeface="Cambria" pitchFamily="34" charset="-120"/>
              </a:rPr>
              <a:t>Proofs, not booleans</a:t>
            </a:r>
            <a:endParaRPr lang="en-US" sz="1450" dirty="0"/>
          </a:p>
        </p:txBody>
      </p:sp>
      <p:sp>
        <p:nvSpPr>
          <p:cNvPr id="13" name="Text 11"/>
          <p:cNvSpPr txBox="1"/>
          <p:nvPr/>
        </p:nvSpPr>
        <p:spPr>
          <a:xfrm>
            <a:off x="4480560" y="3584448"/>
            <a:ext cx="7104888" cy="841248"/>
          </a:xfrm>
          <a:prstGeom prst="rect">
            <a:avLst/>
          </a:prstGeom>
          <a:noFill/>
          <a:ln/>
        </p:spPr>
        <p:txBody>
          <a:bodyPr wrap="square" lIns="0" tIns="0" rIns="0" bIns="0" rtlCol="0" anchor="t"/>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deidentified: true from a caller is never accepted. The proof is a signed sanitized_ref, and a forged reference is refused. Raw case text and the drafted notice never cross workflow state at all.</a:t>
            </a:r>
            <a:endParaRPr lang="en-US" sz="1250" dirty="0"/>
          </a:p>
        </p:txBody>
      </p:sp>
      <p:sp>
        <p:nvSpPr>
          <p:cNvPr id="14" name="Shape 12"/>
          <p:cNvSpPr/>
          <p:nvPr/>
        </p:nvSpPr>
        <p:spPr>
          <a:xfrm>
            <a:off x="566928" y="4535424"/>
            <a:ext cx="402336" cy="402336"/>
          </a:xfrm>
          <a:prstGeom prst="ellipse">
            <a:avLst/>
          </a:prstGeom>
          <a:solidFill>
            <a:srgbClr val="1A2433"/>
          </a:solidFill>
          <a:ln w="12700">
            <a:solidFill>
              <a:srgbClr val="1A2433"/>
            </a:solidFill>
            <a:prstDash val="solid"/>
          </a:ln>
        </p:spPr>
        <p:txBody>
          <a:bodyPr/>
          <a:p/>
        </p:txBody>
      </p:sp>
      <p:sp>
        <p:nvSpPr>
          <p:cNvPr id="15" name="Text 13"/>
          <p:cNvSpPr txBox="1"/>
          <p:nvPr/>
        </p:nvSpPr>
        <p:spPr>
          <a:xfrm>
            <a:off x="566928" y="453542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txBox="1"/>
          <p:nvPr/>
        </p:nvSpPr>
        <p:spPr>
          <a:xfrm>
            <a:off x="1152144" y="4507992"/>
            <a:ext cx="2889504" cy="438912"/>
          </a:xfrm>
          <a:prstGeom prst="rect">
            <a:avLst/>
          </a:prstGeom>
          <a:noFill/>
          <a:ln/>
        </p:spPr>
        <p:txBody>
          <a:bodyPr wrap="square" lIns="0" tIns="0" rIns="0" bIns="0" rtlCol="0" anchor="ctr"/>
          <a:lstStyle/>
          <a:p>
            <a:pPr indent="0" marL="0">
              <a:lnSpc>
                <a:spcPct val="100000"/>
              </a:lnSpc>
              <a:buNone/>
            </a:pPr>
            <a:r>
              <a:rPr lang="en-US" sz="1450" b="1" dirty="0">
                <a:solidFill>
                  <a:srgbClr val="1A2433"/>
                </a:solidFill>
                <a:latin typeface="Cambria" pitchFamily="34" charset="0"/>
                <a:ea typeface="Cambria" pitchFamily="34" charset="-122"/>
                <a:cs typeface="Cambria" pitchFamily="34" charset="-120"/>
              </a:rPr>
              <a:t>A controller the model does not drive</a:t>
            </a:r>
            <a:endParaRPr lang="en-US" sz="1450" dirty="0"/>
          </a:p>
        </p:txBody>
      </p:sp>
      <p:sp>
        <p:nvSpPr>
          <p:cNvPr id="17" name="Text 15"/>
          <p:cNvSpPr txBox="1"/>
          <p:nvPr/>
        </p:nvSpPr>
        <p:spPr>
          <a:xfrm>
            <a:off x="4480560" y="4517136"/>
            <a:ext cx="7104888" cy="841248"/>
          </a:xfrm>
          <a:prstGeom prst="rect">
            <a:avLst/>
          </a:prstGeom>
          <a:noFill/>
          <a:ln/>
        </p:spPr>
        <p:txBody>
          <a:bodyPr wrap="square" lIns="0" tIns="0" rIns="0" bIns="0" rtlCol="0" anchor="t"/>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A deterministic Step Functions machine runs a guard after every substantive step and cannot advance on unverified state. The model is a participant, never the controller.</a:t>
            </a:r>
            <a:endParaRPr lang="en-US" sz="1250" dirty="0"/>
          </a:p>
        </p:txBody>
      </p:sp>
      <p:sp>
        <p:nvSpPr>
          <p:cNvPr id="18" name="Shape 16"/>
          <p:cNvSpPr/>
          <p:nvPr/>
        </p:nvSpPr>
        <p:spPr>
          <a:xfrm>
            <a:off x="566928" y="5468112"/>
            <a:ext cx="402336" cy="402336"/>
          </a:xfrm>
          <a:prstGeom prst="ellipse">
            <a:avLst/>
          </a:prstGeom>
          <a:solidFill>
            <a:srgbClr val="1A2433"/>
          </a:solidFill>
          <a:ln w="12700">
            <a:solidFill>
              <a:srgbClr val="1A2433"/>
            </a:solidFill>
            <a:prstDash val="solid"/>
          </a:ln>
        </p:spPr>
        <p:txBody>
          <a:bodyPr/>
          <a:p/>
        </p:txBody>
      </p:sp>
      <p:sp>
        <p:nvSpPr>
          <p:cNvPr id="19" name="Text 17"/>
          <p:cNvSpPr txBox="1"/>
          <p:nvPr/>
        </p:nvSpPr>
        <p:spPr>
          <a:xfrm>
            <a:off x="566928" y="546811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0" name="Text 18"/>
          <p:cNvSpPr txBox="1"/>
          <p:nvPr/>
        </p:nvSpPr>
        <p:spPr>
          <a:xfrm>
            <a:off x="1152144" y="5440680"/>
            <a:ext cx="2889504" cy="438912"/>
          </a:xfrm>
          <a:prstGeom prst="rect">
            <a:avLst/>
          </a:prstGeom>
          <a:noFill/>
          <a:ln/>
        </p:spPr>
        <p:txBody>
          <a:bodyPr wrap="square" lIns="0" tIns="0" rIns="0" bIns="0" rtlCol="0" anchor="ctr"/>
          <a:lstStyle/>
          <a:p>
            <a:pPr indent="0" marL="0">
              <a:lnSpc>
                <a:spcPct val="100000"/>
              </a:lnSpc>
              <a:buNone/>
            </a:pPr>
            <a:r>
              <a:rPr lang="en-US" sz="1450" b="1" dirty="0">
                <a:solidFill>
                  <a:srgbClr val="1A2433"/>
                </a:solidFill>
                <a:latin typeface="Cambria" pitchFamily="34" charset="0"/>
                <a:ea typeface="Cambria" pitchFamily="34" charset="-122"/>
                <a:cs typeface="Cambria" pitchFamily="34" charset="-120"/>
              </a:rPr>
              <a:t>The record is a control, not a log</a:t>
            </a:r>
            <a:endParaRPr lang="en-US" sz="1450" dirty="0"/>
          </a:p>
        </p:txBody>
      </p:sp>
      <p:sp>
        <p:nvSpPr>
          <p:cNvPr id="21" name="Text 19"/>
          <p:cNvSpPr txBox="1"/>
          <p:nvPr/>
        </p:nvSpPr>
        <p:spPr>
          <a:xfrm>
            <a:off x="4480560" y="5449824"/>
            <a:ext cx="7104888" cy="841248"/>
          </a:xfrm>
          <a:prstGeom prst="rect">
            <a:avLst/>
          </a:prstGeom>
          <a:noFill/>
          <a:ln/>
        </p:spPr>
        <p:txBody>
          <a:bodyPr wrap="square" lIns="0" tIns="0" rIns="0" bIns="0" rtlCol="0" anchor="t"/>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The audit row is written before the side effect, hash-chained, append-only, with IAM Deny on update and delete — and it carries the policy version that decided the case.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5F7080"/>
                </a:solidFill>
                <a:latin typeface="Calibri" pitchFamily="34" charset="0"/>
                <a:ea typeface="Calibri" pitchFamily="34" charset="-122"/>
                <a:cs typeface="Calibri" pitchFamily="34" charset="-120"/>
              </a:rPr>
              <a:t>COMPONENTS</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Eight layers, and what each one contributes</a:t>
            </a:r>
            <a:endParaRPr lang="en-US" sz="3400" dirty="0"/>
          </a:p>
        </p:txBody>
      </p:sp>
      <p:sp>
        <p:nvSpPr>
          <p:cNvPr id="4" name="Shape 2"/>
          <p:cNvSpPr/>
          <p:nvPr/>
        </p:nvSpPr>
        <p:spPr>
          <a:xfrm>
            <a:off x="566928" y="1444752"/>
            <a:ext cx="11018520" cy="502920"/>
          </a:xfrm>
          <a:prstGeom prst="roundRect">
            <a:avLst>
              <a:gd name="adj" fmla="val 16364"/>
            </a:avLst>
          </a:prstGeom>
          <a:solidFill>
            <a:srgbClr val="F1F4F7"/>
          </a:solidFill>
          <a:ln w="12700">
            <a:solidFill>
              <a:srgbClr val="E2E8ED"/>
            </a:solidFill>
            <a:prstDash val="solid"/>
          </a:ln>
        </p:spPr>
        <p:txBody>
          <a:bodyPr/>
          <a:p/>
        </p:txBody>
      </p:sp>
      <p:sp>
        <p:nvSpPr>
          <p:cNvPr id="5" name="Text 3"/>
          <p:cNvSpPr txBox="1"/>
          <p:nvPr/>
        </p:nvSpPr>
        <p:spPr>
          <a:xfrm>
            <a:off x="713232" y="1517904"/>
            <a:ext cx="329184" cy="384048"/>
          </a:xfrm>
          <a:prstGeom prst="rect">
            <a:avLst/>
          </a:prstGeom>
          <a:noFill/>
          <a:ln/>
        </p:spPr>
        <p:txBody>
          <a:bodyPr wrap="square" lIns="0" tIns="0" rIns="0" bIns="0" rtlCol="0" anchor="ctr"/>
          <a:lstStyle/>
          <a:p>
            <a:pPr algn="ctr" indent="0" marL="0">
              <a:buNone/>
            </a:pPr>
            <a:r>
              <a:rPr lang="en-US" sz="1500" b="1" dirty="0">
                <a:solidFill>
                  <a:srgbClr val="1D6F42"/>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133856" y="1545336"/>
            <a:ext cx="2606040" cy="347472"/>
          </a:xfrm>
          <a:prstGeom prst="rect">
            <a:avLst/>
          </a:prstGeom>
          <a:noFill/>
          <a:ln/>
        </p:spPr>
        <p:txBody>
          <a:bodyPr wrap="square" lIns="0" tIns="0" rIns="0" bIns="0" rtlCol="0" anchor="ctr"/>
          <a:lstStyle/>
          <a:p>
            <a:pPr indent="0" marL="0">
              <a:buNone/>
            </a:pPr>
            <a:r>
              <a:rPr lang="en-US" sz="1300" b="1" dirty="0">
                <a:solidFill>
                  <a:srgbClr val="1A2433"/>
                </a:solidFill>
                <a:latin typeface="Calibri" pitchFamily="34" charset="0"/>
                <a:ea typeface="Calibri" pitchFamily="34" charset="-122"/>
                <a:cs typeface="Calibri" pitchFamily="34" charset="-120"/>
              </a:rPr>
              <a:t>Identity &amp; admission</a:t>
            </a:r>
            <a:endParaRPr lang="en-US" sz="1300" dirty="0"/>
          </a:p>
        </p:txBody>
      </p:sp>
      <p:sp>
        <p:nvSpPr>
          <p:cNvPr id="7" name="Text 5"/>
          <p:cNvSpPr txBox="1"/>
          <p:nvPr/>
        </p:nvSpPr>
        <p:spPr>
          <a:xfrm>
            <a:off x="3840480" y="1554480"/>
            <a:ext cx="7589520" cy="34747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Cognito issues the token carrying groups, tenant and tool entitlement. Tenancy comes from the token, never the request.</a:t>
            </a:r>
            <a:endParaRPr lang="en-US" sz="1150" dirty="0"/>
          </a:p>
        </p:txBody>
      </p:sp>
      <p:sp>
        <p:nvSpPr>
          <p:cNvPr id="8" name="Shape 6"/>
          <p:cNvSpPr/>
          <p:nvPr/>
        </p:nvSpPr>
        <p:spPr>
          <a:xfrm>
            <a:off x="566928" y="2020824"/>
            <a:ext cx="11018520" cy="502920"/>
          </a:xfrm>
          <a:prstGeom prst="roundRect">
            <a:avLst>
              <a:gd name="adj" fmla="val 16364"/>
            </a:avLst>
          </a:prstGeom>
          <a:solidFill>
            <a:srgbClr val="F1F4F7"/>
          </a:solidFill>
          <a:ln w="12700">
            <a:solidFill>
              <a:srgbClr val="E2E8ED"/>
            </a:solidFill>
            <a:prstDash val="solid"/>
          </a:ln>
        </p:spPr>
        <p:txBody>
          <a:bodyPr/>
          <a:p/>
        </p:txBody>
      </p:sp>
      <p:sp>
        <p:nvSpPr>
          <p:cNvPr id="9" name="Text 7"/>
          <p:cNvSpPr txBox="1"/>
          <p:nvPr/>
        </p:nvSpPr>
        <p:spPr>
          <a:xfrm>
            <a:off x="713232" y="2093976"/>
            <a:ext cx="329184" cy="384048"/>
          </a:xfrm>
          <a:prstGeom prst="rect">
            <a:avLst/>
          </a:prstGeom>
          <a:noFill/>
          <a:ln/>
        </p:spPr>
        <p:txBody>
          <a:bodyPr wrap="square" lIns="0" tIns="0" rIns="0" bIns="0" rtlCol="0" anchor="ctr"/>
          <a:lstStyle/>
          <a:p>
            <a:pPr algn="ctr" indent="0" marL="0">
              <a:buNone/>
            </a:pPr>
            <a:r>
              <a:rPr lang="en-US" sz="1500" b="1" dirty="0">
                <a:solidFill>
                  <a:srgbClr val="1D6F42"/>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1133856" y="2121408"/>
            <a:ext cx="2606040" cy="347472"/>
          </a:xfrm>
          <a:prstGeom prst="rect">
            <a:avLst/>
          </a:prstGeom>
          <a:noFill/>
          <a:ln/>
        </p:spPr>
        <p:txBody>
          <a:bodyPr wrap="square" lIns="0" tIns="0" rIns="0" bIns="0" rtlCol="0" anchor="ctr"/>
          <a:lstStyle/>
          <a:p>
            <a:pPr indent="0" marL="0">
              <a:buNone/>
            </a:pPr>
            <a:r>
              <a:rPr lang="en-US" sz="1300" b="1" dirty="0">
                <a:solidFill>
                  <a:srgbClr val="1A2433"/>
                </a:solidFill>
                <a:latin typeface="Calibri" pitchFamily="34" charset="0"/>
                <a:ea typeface="Calibri" pitchFamily="34" charset="-122"/>
                <a:cs typeface="Calibri" pitchFamily="34" charset="-120"/>
              </a:rPr>
              <a:t>Authorization</a:t>
            </a:r>
            <a:endParaRPr lang="en-US" sz="1300" dirty="0"/>
          </a:p>
        </p:txBody>
      </p:sp>
      <p:sp>
        <p:nvSpPr>
          <p:cNvPr id="11" name="Text 9"/>
          <p:cNvSpPr txBox="1"/>
          <p:nvPr/>
        </p:nvSpPr>
        <p:spPr>
          <a:xfrm>
            <a:off x="3840480" y="2130552"/>
            <a:ext cx="7589520" cy="34747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AgentCore Gateway (MCP, CUSTOM_JWT) + the GA Cedar engine in ENFORCE + the interceptor that sets authoritative context.</a:t>
            </a:r>
            <a:endParaRPr lang="en-US" sz="1150" dirty="0"/>
          </a:p>
        </p:txBody>
      </p:sp>
      <p:sp>
        <p:nvSpPr>
          <p:cNvPr id="12" name="Shape 10"/>
          <p:cNvSpPr/>
          <p:nvPr/>
        </p:nvSpPr>
        <p:spPr>
          <a:xfrm>
            <a:off x="566928" y="2596896"/>
            <a:ext cx="11018520" cy="502920"/>
          </a:xfrm>
          <a:prstGeom prst="roundRect">
            <a:avLst>
              <a:gd name="adj" fmla="val 16364"/>
            </a:avLst>
          </a:prstGeom>
          <a:solidFill>
            <a:srgbClr val="F1F4F7"/>
          </a:solidFill>
          <a:ln w="12700">
            <a:solidFill>
              <a:srgbClr val="E2E8ED"/>
            </a:solidFill>
            <a:prstDash val="solid"/>
          </a:ln>
        </p:spPr>
        <p:txBody>
          <a:bodyPr/>
          <a:p/>
        </p:txBody>
      </p:sp>
      <p:sp>
        <p:nvSpPr>
          <p:cNvPr id="13" name="Text 11"/>
          <p:cNvSpPr txBox="1"/>
          <p:nvPr/>
        </p:nvSpPr>
        <p:spPr>
          <a:xfrm>
            <a:off x="713232" y="2670048"/>
            <a:ext cx="329184" cy="384048"/>
          </a:xfrm>
          <a:prstGeom prst="rect">
            <a:avLst/>
          </a:prstGeom>
          <a:noFill/>
          <a:ln/>
        </p:spPr>
        <p:txBody>
          <a:bodyPr wrap="square" lIns="0" tIns="0" rIns="0" bIns="0" rtlCol="0" anchor="ctr"/>
          <a:lstStyle/>
          <a:p>
            <a:pPr algn="ctr" indent="0" marL="0">
              <a:buNone/>
            </a:pPr>
            <a:r>
              <a:rPr lang="en-US" sz="1500" b="1" dirty="0">
                <a:solidFill>
                  <a:srgbClr val="1D6F42"/>
                </a:solidFill>
                <a:latin typeface="Cambria" pitchFamily="34" charset="0"/>
                <a:ea typeface="Cambria" pitchFamily="34" charset="-122"/>
                <a:cs typeface="Cambria" pitchFamily="34" charset="-120"/>
              </a:rPr>
              <a:t>3</a:t>
            </a:r>
            <a:endParaRPr lang="en-US" sz="1500" dirty="0"/>
          </a:p>
        </p:txBody>
      </p:sp>
      <p:sp>
        <p:nvSpPr>
          <p:cNvPr id="14" name="Text 12"/>
          <p:cNvSpPr txBox="1"/>
          <p:nvPr/>
        </p:nvSpPr>
        <p:spPr>
          <a:xfrm>
            <a:off x="1133856" y="2697480"/>
            <a:ext cx="2606040" cy="347472"/>
          </a:xfrm>
          <a:prstGeom prst="rect">
            <a:avLst/>
          </a:prstGeom>
          <a:noFill/>
          <a:ln/>
        </p:spPr>
        <p:txBody>
          <a:bodyPr wrap="square" lIns="0" tIns="0" rIns="0" bIns="0" rtlCol="0" anchor="ctr"/>
          <a:lstStyle/>
          <a:p>
            <a:pPr indent="0" marL="0">
              <a:buNone/>
            </a:pPr>
            <a:r>
              <a:rPr lang="en-US" sz="1300" b="1" dirty="0">
                <a:solidFill>
                  <a:srgbClr val="1A2433"/>
                </a:solidFill>
                <a:latin typeface="Calibri" pitchFamily="34" charset="0"/>
                <a:ea typeface="Calibri" pitchFamily="34" charset="-122"/>
                <a:cs typeface="Calibri" pitchFamily="34" charset="-120"/>
              </a:rPr>
              <a:t>Agent runtime &amp; model</a:t>
            </a:r>
            <a:endParaRPr lang="en-US" sz="1300" dirty="0"/>
          </a:p>
        </p:txBody>
      </p:sp>
      <p:sp>
        <p:nvSpPr>
          <p:cNvPr id="15" name="Text 13"/>
          <p:cNvSpPr txBox="1"/>
          <p:nvPr/>
        </p:nvSpPr>
        <p:spPr>
          <a:xfrm>
            <a:off x="3840480" y="2706624"/>
            <a:ext cx="7589520" cy="34747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Runtime on the CDK-declared role, MMDSv2 required. Bedrock over PrivateLink. Guardrail ARN pinned by an IAM condition.</a:t>
            </a:r>
            <a:endParaRPr lang="en-US" sz="1150" dirty="0"/>
          </a:p>
        </p:txBody>
      </p:sp>
      <p:sp>
        <p:nvSpPr>
          <p:cNvPr id="16" name="Shape 14"/>
          <p:cNvSpPr/>
          <p:nvPr/>
        </p:nvSpPr>
        <p:spPr>
          <a:xfrm>
            <a:off x="566928" y="3172968"/>
            <a:ext cx="11018520" cy="502920"/>
          </a:xfrm>
          <a:prstGeom prst="roundRect">
            <a:avLst>
              <a:gd name="adj" fmla="val 16364"/>
            </a:avLst>
          </a:prstGeom>
          <a:solidFill>
            <a:srgbClr val="F1F4F7"/>
          </a:solidFill>
          <a:ln w="12700">
            <a:solidFill>
              <a:srgbClr val="E2E8ED"/>
            </a:solidFill>
            <a:prstDash val="solid"/>
          </a:ln>
        </p:spPr>
        <p:txBody>
          <a:bodyPr/>
          <a:p/>
        </p:txBody>
      </p:sp>
      <p:sp>
        <p:nvSpPr>
          <p:cNvPr id="17" name="Text 15"/>
          <p:cNvSpPr txBox="1"/>
          <p:nvPr/>
        </p:nvSpPr>
        <p:spPr>
          <a:xfrm>
            <a:off x="713232" y="3246120"/>
            <a:ext cx="329184" cy="384048"/>
          </a:xfrm>
          <a:prstGeom prst="rect">
            <a:avLst/>
          </a:prstGeom>
          <a:noFill/>
          <a:ln/>
        </p:spPr>
        <p:txBody>
          <a:bodyPr wrap="square" lIns="0" tIns="0" rIns="0" bIns="0" rtlCol="0" anchor="ctr"/>
          <a:lstStyle/>
          <a:p>
            <a:pPr algn="ctr" indent="0" marL="0">
              <a:buNone/>
            </a:pPr>
            <a:r>
              <a:rPr lang="en-US" sz="1500" b="1" dirty="0">
                <a:solidFill>
                  <a:srgbClr val="1D6F42"/>
                </a:solidFill>
                <a:latin typeface="Cambria" pitchFamily="34" charset="0"/>
                <a:ea typeface="Cambria" pitchFamily="34" charset="-122"/>
                <a:cs typeface="Cambria" pitchFamily="34" charset="-120"/>
              </a:rPr>
              <a:t>4</a:t>
            </a:r>
            <a:endParaRPr lang="en-US" sz="1500" dirty="0"/>
          </a:p>
        </p:txBody>
      </p:sp>
      <p:sp>
        <p:nvSpPr>
          <p:cNvPr id="18" name="Text 16"/>
          <p:cNvSpPr txBox="1"/>
          <p:nvPr/>
        </p:nvSpPr>
        <p:spPr>
          <a:xfrm>
            <a:off x="1133856" y="3273552"/>
            <a:ext cx="2606040" cy="347472"/>
          </a:xfrm>
          <a:prstGeom prst="rect">
            <a:avLst/>
          </a:prstGeom>
          <a:noFill/>
          <a:ln/>
        </p:spPr>
        <p:txBody>
          <a:bodyPr wrap="square" lIns="0" tIns="0" rIns="0" bIns="0" rtlCol="0" anchor="ctr"/>
          <a:lstStyle/>
          <a:p>
            <a:pPr indent="0" marL="0">
              <a:buNone/>
            </a:pPr>
            <a:r>
              <a:rPr lang="en-US" sz="1300" b="1" dirty="0">
                <a:solidFill>
                  <a:srgbClr val="1A2433"/>
                </a:solidFill>
                <a:latin typeface="Calibri" pitchFamily="34" charset="0"/>
                <a:ea typeface="Calibri" pitchFamily="34" charset="-122"/>
                <a:cs typeface="Calibri" pitchFamily="34" charset="-120"/>
              </a:rPr>
              <a:t>Deterministic orchestration</a:t>
            </a:r>
            <a:endParaRPr lang="en-US" sz="1300" dirty="0"/>
          </a:p>
        </p:txBody>
      </p:sp>
      <p:sp>
        <p:nvSpPr>
          <p:cNvPr id="19" name="Text 17"/>
          <p:cNvSpPr txBox="1"/>
          <p:nvPr/>
        </p:nvSpPr>
        <p:spPr>
          <a:xfrm>
            <a:off x="3840480" y="3282696"/>
            <a:ext cx="7589520" cy="34747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Step Functions, ten states, a guard after every substantive step. Human sign-off with the approver re-verified.</a:t>
            </a:r>
            <a:endParaRPr lang="en-US" sz="1150" dirty="0"/>
          </a:p>
        </p:txBody>
      </p:sp>
      <p:sp>
        <p:nvSpPr>
          <p:cNvPr id="20" name="Shape 18"/>
          <p:cNvSpPr/>
          <p:nvPr/>
        </p:nvSpPr>
        <p:spPr>
          <a:xfrm>
            <a:off x="566928" y="3749040"/>
            <a:ext cx="11018520" cy="502920"/>
          </a:xfrm>
          <a:prstGeom prst="roundRect">
            <a:avLst>
              <a:gd name="adj" fmla="val 16364"/>
            </a:avLst>
          </a:prstGeom>
          <a:solidFill>
            <a:srgbClr val="F1F4F7"/>
          </a:solidFill>
          <a:ln w="12700">
            <a:solidFill>
              <a:srgbClr val="E2E8ED"/>
            </a:solidFill>
            <a:prstDash val="solid"/>
          </a:ln>
        </p:spPr>
        <p:txBody>
          <a:bodyPr/>
          <a:p/>
        </p:txBody>
      </p:sp>
      <p:sp>
        <p:nvSpPr>
          <p:cNvPr id="21" name="Text 19"/>
          <p:cNvSpPr txBox="1"/>
          <p:nvPr/>
        </p:nvSpPr>
        <p:spPr>
          <a:xfrm>
            <a:off x="713232" y="3822192"/>
            <a:ext cx="329184" cy="384048"/>
          </a:xfrm>
          <a:prstGeom prst="rect">
            <a:avLst/>
          </a:prstGeom>
          <a:noFill/>
          <a:ln/>
        </p:spPr>
        <p:txBody>
          <a:bodyPr wrap="square" lIns="0" tIns="0" rIns="0" bIns="0" rtlCol="0" anchor="ctr"/>
          <a:lstStyle/>
          <a:p>
            <a:pPr algn="ctr" indent="0" marL="0">
              <a:buNone/>
            </a:pPr>
            <a:r>
              <a:rPr lang="en-US" sz="1500" b="1" dirty="0">
                <a:solidFill>
                  <a:srgbClr val="1D6F42"/>
                </a:solidFill>
                <a:latin typeface="Cambria" pitchFamily="34" charset="0"/>
                <a:ea typeface="Cambria" pitchFamily="34" charset="-122"/>
                <a:cs typeface="Cambria" pitchFamily="34" charset="-120"/>
              </a:rPr>
              <a:t>5</a:t>
            </a:r>
            <a:endParaRPr lang="en-US" sz="1500" dirty="0"/>
          </a:p>
        </p:txBody>
      </p:sp>
      <p:sp>
        <p:nvSpPr>
          <p:cNvPr id="22" name="Text 20"/>
          <p:cNvSpPr txBox="1"/>
          <p:nvPr/>
        </p:nvSpPr>
        <p:spPr>
          <a:xfrm>
            <a:off x="1133856" y="3849624"/>
            <a:ext cx="2606040" cy="347472"/>
          </a:xfrm>
          <a:prstGeom prst="rect">
            <a:avLst/>
          </a:prstGeom>
          <a:noFill/>
          <a:ln/>
        </p:spPr>
        <p:txBody>
          <a:bodyPr wrap="square" lIns="0" tIns="0" rIns="0" bIns="0" rtlCol="0" anchor="ctr"/>
          <a:lstStyle/>
          <a:p>
            <a:pPr indent="0" marL="0">
              <a:buNone/>
            </a:pPr>
            <a:r>
              <a:rPr lang="en-US" sz="1300" b="1" dirty="0">
                <a:solidFill>
                  <a:srgbClr val="1A2433"/>
                </a:solidFill>
                <a:latin typeface="Calibri" pitchFamily="34" charset="0"/>
                <a:ea typeface="Calibri" pitchFamily="34" charset="-122"/>
                <a:cs typeface="Calibri" pitchFamily="34" charset="-120"/>
              </a:rPr>
              <a:t>Governed tools</a:t>
            </a:r>
            <a:endParaRPr lang="en-US" sz="1300" dirty="0"/>
          </a:p>
        </p:txBody>
      </p:sp>
      <p:sp>
        <p:nvSpPr>
          <p:cNvPr id="23" name="Text 21"/>
          <p:cNvSpPr txBox="1"/>
          <p:nvPr/>
        </p:nvSpPr>
        <p:spPr>
          <a:xfrm>
            <a:off x="3840480" y="3858768"/>
            <a:ext cx="7589520" cy="34747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One Lambda per manifest target, exact-ARN least privilege, private subnets — measured 0 NAT, 0 IGW.</a:t>
            </a:r>
            <a:endParaRPr lang="en-US" sz="1150" dirty="0"/>
          </a:p>
        </p:txBody>
      </p:sp>
      <p:sp>
        <p:nvSpPr>
          <p:cNvPr id="24" name="Shape 22"/>
          <p:cNvSpPr/>
          <p:nvPr/>
        </p:nvSpPr>
        <p:spPr>
          <a:xfrm>
            <a:off x="566928" y="4325112"/>
            <a:ext cx="11018520" cy="502920"/>
          </a:xfrm>
          <a:prstGeom prst="roundRect">
            <a:avLst>
              <a:gd name="adj" fmla="val 16364"/>
            </a:avLst>
          </a:prstGeom>
          <a:solidFill>
            <a:srgbClr val="F1F4F7"/>
          </a:solidFill>
          <a:ln w="12700">
            <a:solidFill>
              <a:srgbClr val="E2E8ED"/>
            </a:solidFill>
            <a:prstDash val="solid"/>
          </a:ln>
        </p:spPr>
        <p:txBody>
          <a:bodyPr/>
          <a:p/>
        </p:txBody>
      </p:sp>
      <p:sp>
        <p:nvSpPr>
          <p:cNvPr id="25" name="Text 23"/>
          <p:cNvSpPr txBox="1"/>
          <p:nvPr/>
        </p:nvSpPr>
        <p:spPr>
          <a:xfrm>
            <a:off x="713232" y="4398264"/>
            <a:ext cx="329184" cy="384048"/>
          </a:xfrm>
          <a:prstGeom prst="rect">
            <a:avLst/>
          </a:prstGeom>
          <a:noFill/>
          <a:ln/>
        </p:spPr>
        <p:txBody>
          <a:bodyPr wrap="square" lIns="0" tIns="0" rIns="0" bIns="0" rtlCol="0" anchor="ctr"/>
          <a:lstStyle/>
          <a:p>
            <a:pPr algn="ctr" indent="0" marL="0">
              <a:buNone/>
            </a:pPr>
            <a:r>
              <a:rPr lang="en-US" sz="1500" b="1" dirty="0">
                <a:solidFill>
                  <a:srgbClr val="1D6F42"/>
                </a:solidFill>
                <a:latin typeface="Cambria" pitchFamily="34" charset="0"/>
                <a:ea typeface="Cambria" pitchFamily="34" charset="-122"/>
                <a:cs typeface="Cambria" pitchFamily="34" charset="-120"/>
              </a:rPr>
              <a:t>6</a:t>
            </a:r>
            <a:endParaRPr lang="en-US" sz="1500" dirty="0"/>
          </a:p>
        </p:txBody>
      </p:sp>
      <p:sp>
        <p:nvSpPr>
          <p:cNvPr id="26" name="Text 24"/>
          <p:cNvSpPr txBox="1"/>
          <p:nvPr/>
        </p:nvSpPr>
        <p:spPr>
          <a:xfrm>
            <a:off x="1133856" y="4425696"/>
            <a:ext cx="2606040" cy="347472"/>
          </a:xfrm>
          <a:prstGeom prst="rect">
            <a:avLst/>
          </a:prstGeom>
          <a:noFill/>
          <a:ln/>
        </p:spPr>
        <p:txBody>
          <a:bodyPr wrap="square" lIns="0" tIns="0" rIns="0" bIns="0" rtlCol="0" anchor="ctr"/>
          <a:lstStyle/>
          <a:p>
            <a:pPr indent="0" marL="0">
              <a:buNone/>
            </a:pPr>
            <a:r>
              <a:rPr lang="en-US" sz="1300" b="1" dirty="0">
                <a:solidFill>
                  <a:srgbClr val="1A2433"/>
                </a:solidFill>
                <a:latin typeface="Calibri" pitchFamily="34" charset="0"/>
                <a:ea typeface="Calibri" pitchFamily="34" charset="-122"/>
                <a:cs typeface="Calibri" pitchFamily="34" charset="-120"/>
              </a:rPr>
              <a:t>Evidence &amp; regulated data</a:t>
            </a:r>
            <a:endParaRPr lang="en-US" sz="1300" dirty="0"/>
          </a:p>
        </p:txBody>
      </p:sp>
      <p:sp>
        <p:nvSpPr>
          <p:cNvPr id="27" name="Text 25"/>
          <p:cNvSpPr txBox="1"/>
          <p:nvPr/>
        </p:nvSpPr>
        <p:spPr>
          <a:xfrm>
            <a:off x="3840480" y="4434840"/>
            <a:ext cx="7589520" cy="34747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Per-tenant physical isolation. Hash-chained ledger. WORM vault. Customer-managed KMS throughout.</a:t>
            </a:r>
            <a:endParaRPr lang="en-US" sz="1150" dirty="0"/>
          </a:p>
        </p:txBody>
      </p:sp>
      <p:sp>
        <p:nvSpPr>
          <p:cNvPr id="28" name="Shape 26"/>
          <p:cNvSpPr/>
          <p:nvPr/>
        </p:nvSpPr>
        <p:spPr>
          <a:xfrm>
            <a:off x="566928" y="4901184"/>
            <a:ext cx="11018520" cy="502920"/>
          </a:xfrm>
          <a:prstGeom prst="roundRect">
            <a:avLst>
              <a:gd name="adj" fmla="val 16364"/>
            </a:avLst>
          </a:prstGeom>
          <a:solidFill>
            <a:srgbClr val="F1F4F7"/>
          </a:solidFill>
          <a:ln w="12700">
            <a:solidFill>
              <a:srgbClr val="E2E8ED"/>
            </a:solidFill>
            <a:prstDash val="solid"/>
          </a:ln>
        </p:spPr>
        <p:txBody>
          <a:bodyPr/>
          <a:p/>
        </p:txBody>
      </p:sp>
      <p:sp>
        <p:nvSpPr>
          <p:cNvPr id="29" name="Text 27"/>
          <p:cNvSpPr txBox="1"/>
          <p:nvPr/>
        </p:nvSpPr>
        <p:spPr>
          <a:xfrm>
            <a:off x="713232" y="4974336"/>
            <a:ext cx="329184" cy="384048"/>
          </a:xfrm>
          <a:prstGeom prst="rect">
            <a:avLst/>
          </a:prstGeom>
          <a:noFill/>
          <a:ln/>
        </p:spPr>
        <p:txBody>
          <a:bodyPr wrap="square" lIns="0" tIns="0" rIns="0" bIns="0" rtlCol="0" anchor="ctr"/>
          <a:lstStyle/>
          <a:p>
            <a:pPr algn="ctr" indent="0" marL="0">
              <a:buNone/>
            </a:pPr>
            <a:r>
              <a:rPr lang="en-US" sz="1500" b="1" dirty="0">
                <a:solidFill>
                  <a:srgbClr val="1D6F42"/>
                </a:solidFill>
                <a:latin typeface="Cambria" pitchFamily="34" charset="0"/>
                <a:ea typeface="Cambria" pitchFamily="34" charset="-122"/>
                <a:cs typeface="Cambria" pitchFamily="34" charset="-120"/>
              </a:rPr>
              <a:t>7</a:t>
            </a:r>
            <a:endParaRPr lang="en-US" sz="1500" dirty="0"/>
          </a:p>
        </p:txBody>
      </p:sp>
      <p:sp>
        <p:nvSpPr>
          <p:cNvPr id="30" name="Text 28"/>
          <p:cNvSpPr txBox="1"/>
          <p:nvPr/>
        </p:nvSpPr>
        <p:spPr>
          <a:xfrm>
            <a:off x="1133856" y="5001768"/>
            <a:ext cx="2606040" cy="347472"/>
          </a:xfrm>
          <a:prstGeom prst="rect">
            <a:avLst/>
          </a:prstGeom>
          <a:noFill/>
          <a:ln/>
        </p:spPr>
        <p:txBody>
          <a:bodyPr wrap="square" lIns="0" tIns="0" rIns="0" bIns="0" rtlCol="0" anchor="ctr"/>
          <a:lstStyle/>
          <a:p>
            <a:pPr indent="0" marL="0">
              <a:buNone/>
            </a:pPr>
            <a:r>
              <a:rPr lang="en-US" sz="1300" b="1" dirty="0">
                <a:solidFill>
                  <a:srgbClr val="1A2433"/>
                </a:solidFill>
                <a:latin typeface="Calibri" pitchFamily="34" charset="0"/>
                <a:ea typeface="Calibri" pitchFamily="34" charset="-122"/>
                <a:cs typeface="Calibri" pitchFamily="34" charset="-120"/>
              </a:rPr>
              <a:t>Capture &amp; lineage</a:t>
            </a:r>
            <a:endParaRPr lang="en-US" sz="1300" dirty="0"/>
          </a:p>
        </p:txBody>
      </p:sp>
      <p:sp>
        <p:nvSpPr>
          <p:cNvPr id="31" name="Text 29"/>
          <p:cNvSpPr txBox="1"/>
          <p:nvPr/>
        </p:nvSpPr>
        <p:spPr>
          <a:xfrm>
            <a:off x="3840480" y="5010912"/>
            <a:ext cx="7589520" cy="34747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One account trail, log-file validation on, reconciled against audit rows in both directions.</a:t>
            </a:r>
            <a:endParaRPr lang="en-US" sz="1150" dirty="0"/>
          </a:p>
        </p:txBody>
      </p:sp>
      <p:sp>
        <p:nvSpPr>
          <p:cNvPr id="32" name="Shape 30"/>
          <p:cNvSpPr/>
          <p:nvPr/>
        </p:nvSpPr>
        <p:spPr>
          <a:xfrm>
            <a:off x="566928" y="5477256"/>
            <a:ext cx="11018520" cy="502920"/>
          </a:xfrm>
          <a:prstGeom prst="roundRect">
            <a:avLst>
              <a:gd name="adj" fmla="val 16364"/>
            </a:avLst>
          </a:prstGeom>
          <a:solidFill>
            <a:srgbClr val="F1F4F7"/>
          </a:solidFill>
          <a:ln w="12700">
            <a:solidFill>
              <a:srgbClr val="E2E8ED"/>
            </a:solidFill>
            <a:prstDash val="solid"/>
          </a:ln>
        </p:spPr>
        <p:txBody>
          <a:bodyPr/>
          <a:p/>
        </p:txBody>
      </p:sp>
      <p:sp>
        <p:nvSpPr>
          <p:cNvPr id="33" name="Text 31"/>
          <p:cNvSpPr txBox="1"/>
          <p:nvPr/>
        </p:nvSpPr>
        <p:spPr>
          <a:xfrm>
            <a:off x="713232" y="5550408"/>
            <a:ext cx="329184" cy="384048"/>
          </a:xfrm>
          <a:prstGeom prst="rect">
            <a:avLst/>
          </a:prstGeom>
          <a:noFill/>
          <a:ln/>
        </p:spPr>
        <p:txBody>
          <a:bodyPr wrap="square" lIns="0" tIns="0" rIns="0" bIns="0" rtlCol="0" anchor="ctr"/>
          <a:lstStyle/>
          <a:p>
            <a:pPr algn="ctr" indent="0" marL="0">
              <a:buNone/>
            </a:pPr>
            <a:r>
              <a:rPr lang="en-US" sz="1500" b="1" dirty="0">
                <a:solidFill>
                  <a:srgbClr val="1D6F42"/>
                </a:solidFill>
                <a:latin typeface="Cambria" pitchFamily="34" charset="0"/>
                <a:ea typeface="Cambria" pitchFamily="34" charset="-122"/>
                <a:cs typeface="Cambria" pitchFamily="34" charset="-120"/>
              </a:rPr>
              <a:t>8</a:t>
            </a:r>
            <a:endParaRPr lang="en-US" sz="1500" dirty="0"/>
          </a:p>
        </p:txBody>
      </p:sp>
      <p:sp>
        <p:nvSpPr>
          <p:cNvPr id="34" name="Text 32"/>
          <p:cNvSpPr txBox="1"/>
          <p:nvPr/>
        </p:nvSpPr>
        <p:spPr>
          <a:xfrm>
            <a:off x="1133856" y="5577840"/>
            <a:ext cx="2606040" cy="347472"/>
          </a:xfrm>
          <a:prstGeom prst="rect">
            <a:avLst/>
          </a:prstGeom>
          <a:noFill/>
          <a:ln/>
        </p:spPr>
        <p:txBody>
          <a:bodyPr wrap="square" lIns="0" tIns="0" rIns="0" bIns="0" rtlCol="0" anchor="ctr"/>
          <a:lstStyle/>
          <a:p>
            <a:pPr indent="0" marL="0">
              <a:buNone/>
            </a:pPr>
            <a:r>
              <a:rPr lang="en-US" sz="1300" b="1" dirty="0">
                <a:solidFill>
                  <a:srgbClr val="1A2433"/>
                </a:solidFill>
                <a:latin typeface="Calibri" pitchFamily="34" charset="0"/>
                <a:ea typeface="Calibri" pitchFamily="34" charset="-122"/>
                <a:cs typeface="Calibri" pitchFamily="34" charset="-120"/>
              </a:rPr>
              <a:t>Operations &amp; containment</a:t>
            </a:r>
            <a:endParaRPr lang="en-US" sz="1300" dirty="0"/>
          </a:p>
        </p:txBody>
      </p:sp>
      <p:sp>
        <p:nvSpPr>
          <p:cNvPr id="35" name="Text 33"/>
          <p:cNvSpPr txBox="1"/>
          <p:nvPr/>
        </p:nvSpPr>
        <p:spPr>
          <a:xfrm>
            <a:off x="3840480" y="5586984"/>
            <a:ext cx="7589520" cy="34747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Kill switch, per-tenant budget, Budgets ceiling. 26 named alarms in 3 severity tiers, each with a runbook entry enforced by CI.</a:t>
            </a:r>
            <a:endParaRPr lang="en-US" sz="1150" dirty="0"/>
          </a:p>
        </p:txBody>
      </p:sp>
      <p:sp>
        <p:nvSpPr>
          <p:cNvPr id="36" name="Text 34"/>
          <p:cNvSpPr txBox="1"/>
          <p:nvPr/>
        </p:nvSpPr>
        <p:spPr>
          <a:xfrm>
            <a:off x="566928" y="6089904"/>
            <a:ext cx="11064240" cy="292608"/>
          </a:xfrm>
          <a:prstGeom prst="rect">
            <a:avLst/>
          </a:prstGeom>
          <a:noFill/>
          <a:ln/>
        </p:spPr>
        <p:txBody>
          <a:bodyPr wrap="square" lIns="0" tIns="0" rIns="0" bIns="0" rtlCol="0" anchor="ctr"/>
          <a:lstStyle/>
          <a:p>
            <a:pPr indent="0" marL="0">
              <a:buNone/>
            </a:pPr>
            <a:r>
              <a:rPr lang="en-US" sz="1000" i="1" dirty="0">
                <a:solidFill>
                  <a:srgbClr val="5F7080"/>
                </a:solidFill>
                <a:latin typeface="Calibri" pitchFamily="34" charset="0"/>
                <a:ea typeface="Calibri" pitchFamily="34" charset="-122"/>
                <a:cs typeface="Calibri" pitchFamily="34" charset="-120"/>
              </a:rPr>
              <a:t>Full detail — every component, its purpose, what it stops, and whether it is live-verified or IaC-asserted — is in the attached AEGIS-ARCHITECTURE-VERIFIED-2026-09-10.drawio.</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5F7080"/>
                </a:solidFill>
                <a:latin typeface="Calibri" pitchFamily="34" charset="0"/>
                <a:ea typeface="Calibri" pitchFamily="34" charset="-122"/>
                <a:cs typeface="Calibri" pitchFamily="34" charset="-120"/>
              </a:rPr>
              <a:t>THE ENFORCEMENT POINT</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Twelve forbid. One permit. That asymmetry is the architecture.</a:t>
            </a:r>
            <a:endParaRPr lang="en-US" sz="3400" dirty="0"/>
          </a:p>
        </p:txBody>
      </p:sp>
      <p:sp>
        <p:nvSpPr>
          <p:cNvPr id="4" name="Shape 2"/>
          <p:cNvSpPr/>
          <p:nvPr/>
        </p:nvSpPr>
        <p:spPr>
          <a:xfrm>
            <a:off x="566928" y="1609344"/>
            <a:ext cx="5212080" cy="1874520"/>
          </a:xfrm>
          <a:prstGeom prst="roundRect">
            <a:avLst>
              <a:gd name="adj" fmla="val 4390"/>
            </a:avLst>
          </a:prstGeom>
          <a:solidFill>
            <a:srgbClr val="1A2433"/>
          </a:solidFill>
          <a:ln w="12700">
            <a:solidFill>
              <a:srgbClr val="1A2433"/>
            </a:solidFill>
            <a:prstDash val="solid"/>
          </a:ln>
        </p:spPr>
        <p:txBody>
          <a:bodyPr/>
          <a:p/>
        </p:txBody>
      </p:sp>
      <p:sp>
        <p:nvSpPr>
          <p:cNvPr id="5" name="Text 3"/>
          <p:cNvSpPr txBox="1"/>
          <p:nvPr/>
        </p:nvSpPr>
        <p:spPr>
          <a:xfrm>
            <a:off x="868680" y="1810512"/>
            <a:ext cx="1371600" cy="914400"/>
          </a:xfrm>
          <a:prstGeom prst="rect">
            <a:avLst/>
          </a:prstGeom>
          <a:noFill/>
          <a:ln/>
        </p:spPr>
        <p:txBody>
          <a:bodyPr wrap="square" lIns="0" tIns="0" rIns="0" bIns="0" rtlCol="0" anchor="ctr"/>
          <a:lstStyle/>
          <a:p>
            <a:pPr indent="0" marL="0">
              <a:buNone/>
            </a:pPr>
            <a:r>
              <a:rPr lang="en-US" sz="5400" b="1" dirty="0">
                <a:solidFill>
                  <a:srgbClr val="FF8A80"/>
                </a:solidFill>
                <a:latin typeface="Cambria" pitchFamily="34" charset="0"/>
                <a:ea typeface="Cambria" pitchFamily="34" charset="-122"/>
                <a:cs typeface="Cambria" pitchFamily="34" charset="-120"/>
              </a:rPr>
              <a:t>12</a:t>
            </a:r>
            <a:endParaRPr lang="en-US" sz="5400" dirty="0"/>
          </a:p>
        </p:txBody>
      </p:sp>
      <p:sp>
        <p:nvSpPr>
          <p:cNvPr id="6" name="Text 4"/>
          <p:cNvSpPr txBox="1"/>
          <p:nvPr/>
        </p:nvSpPr>
        <p:spPr>
          <a:xfrm>
            <a:off x="2240280" y="1975104"/>
            <a:ext cx="3200400" cy="45720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forbid</a:t>
            </a:r>
            <a:endParaRPr lang="en-US" sz="2200" dirty="0"/>
          </a:p>
        </p:txBody>
      </p:sp>
      <p:sp>
        <p:nvSpPr>
          <p:cNvPr id="7" name="Text 5"/>
          <p:cNvSpPr txBox="1"/>
          <p:nvPr/>
        </p:nvSpPr>
        <p:spPr>
          <a:xfrm>
            <a:off x="2240280" y="2450592"/>
            <a:ext cx="3291840" cy="822960"/>
          </a:xfrm>
          <a:prstGeom prst="rect">
            <a:avLst/>
          </a:prstGeom>
          <a:noFill/>
          <a:ln/>
        </p:spPr>
        <p:txBody>
          <a:bodyPr wrap="square" lIns="0" tIns="0" rIns="0" bIns="0" rtlCol="0" anchor="ctr"/>
          <a:lstStyle/>
          <a:p>
            <a:pPr indent="0" marL="0">
              <a:lnSpc>
                <a:spcPct val="110000"/>
              </a:lnSpc>
              <a:buNone/>
            </a:pPr>
            <a:r>
              <a:rPr lang="en-US" sz="1200" dirty="0">
                <a:solidFill>
                  <a:srgbClr val="BFD3E6"/>
                </a:solidFill>
                <a:latin typeface="Calibri" pitchFamily="34" charset="0"/>
                <a:ea typeface="Calibri" pitchFamily="34" charset="-122"/>
                <a:cs typeface="Calibri" pitchFamily="34" charset="-120"/>
              </a:rPr>
              <a:t>The product. Cedar is forbid-wins: any single match kills the request, no matter how many permits fire.</a:t>
            </a:r>
            <a:endParaRPr lang="en-US" sz="1200" dirty="0"/>
          </a:p>
        </p:txBody>
      </p:sp>
      <p:sp>
        <p:nvSpPr>
          <p:cNvPr id="8" name="Shape 6"/>
          <p:cNvSpPr/>
          <p:nvPr/>
        </p:nvSpPr>
        <p:spPr>
          <a:xfrm>
            <a:off x="6373368" y="1609344"/>
            <a:ext cx="5212080" cy="1874520"/>
          </a:xfrm>
          <a:prstGeom prst="roundRect">
            <a:avLst>
              <a:gd name="adj" fmla="val 4390"/>
            </a:avLst>
          </a:prstGeom>
          <a:solidFill>
            <a:srgbClr val="F1F4F7"/>
          </a:solidFill>
          <a:ln w="12700">
            <a:solidFill>
              <a:srgbClr val="D8E0E7"/>
            </a:solidFill>
            <a:prstDash val="solid"/>
          </a:ln>
        </p:spPr>
        <p:txBody>
          <a:bodyPr/>
          <a:p/>
        </p:txBody>
      </p:sp>
      <p:sp>
        <p:nvSpPr>
          <p:cNvPr id="9" name="Text 7"/>
          <p:cNvSpPr txBox="1"/>
          <p:nvPr/>
        </p:nvSpPr>
        <p:spPr>
          <a:xfrm>
            <a:off x="6675120" y="1810512"/>
            <a:ext cx="1371600" cy="914400"/>
          </a:xfrm>
          <a:prstGeom prst="rect">
            <a:avLst/>
          </a:prstGeom>
          <a:noFill/>
          <a:ln/>
        </p:spPr>
        <p:txBody>
          <a:bodyPr wrap="square" lIns="0" tIns="0" rIns="0" bIns="0" rtlCol="0" anchor="ctr"/>
          <a:lstStyle/>
          <a:p>
            <a:pPr indent="0" marL="0">
              <a:buNone/>
            </a:pPr>
            <a:r>
              <a:rPr lang="en-US" sz="5400" b="1" dirty="0">
                <a:solidFill>
                  <a:srgbClr val="1D6F42"/>
                </a:solidFill>
                <a:latin typeface="Cambria" pitchFamily="34" charset="0"/>
                <a:ea typeface="Cambria" pitchFamily="34" charset="-122"/>
                <a:cs typeface="Cambria" pitchFamily="34" charset="-120"/>
              </a:rPr>
              <a:t>1</a:t>
            </a:r>
            <a:endParaRPr lang="en-US" sz="5400" dirty="0"/>
          </a:p>
        </p:txBody>
      </p:sp>
      <p:sp>
        <p:nvSpPr>
          <p:cNvPr id="10" name="Text 8"/>
          <p:cNvSpPr txBox="1"/>
          <p:nvPr/>
        </p:nvSpPr>
        <p:spPr>
          <a:xfrm>
            <a:off x="7772400" y="1975104"/>
            <a:ext cx="3200400" cy="457200"/>
          </a:xfrm>
          <a:prstGeom prst="rect">
            <a:avLst/>
          </a:prstGeom>
          <a:noFill/>
          <a:ln/>
        </p:spPr>
        <p:txBody>
          <a:bodyPr wrap="square" lIns="0" tIns="0" rIns="0" bIns="0" rtlCol="0" anchor="ctr"/>
          <a:lstStyle/>
          <a:p>
            <a:pPr indent="0" marL="0">
              <a:buNone/>
            </a:pPr>
            <a:r>
              <a:rPr lang="en-US" sz="2200" b="1" dirty="0">
                <a:solidFill>
                  <a:srgbClr val="1A2433"/>
                </a:solidFill>
                <a:latin typeface="Cambria" pitchFamily="34" charset="0"/>
                <a:ea typeface="Cambria" pitchFamily="34" charset="-122"/>
                <a:cs typeface="Cambria" pitchFamily="34" charset="-120"/>
              </a:rPr>
              <a:t>permit</a:t>
            </a:r>
            <a:endParaRPr lang="en-US" sz="2200" dirty="0"/>
          </a:p>
        </p:txBody>
      </p:sp>
      <p:sp>
        <p:nvSpPr>
          <p:cNvPr id="11" name="Text 9"/>
          <p:cNvSpPr txBox="1"/>
          <p:nvPr/>
        </p:nvSpPr>
        <p:spPr>
          <a:xfrm>
            <a:off x="7772400" y="2450592"/>
            <a:ext cx="3474720" cy="822960"/>
          </a:xfrm>
          <a:prstGeom prst="rect">
            <a:avLst/>
          </a:prstGeom>
          <a:noFill/>
          <a:ln/>
        </p:spPr>
        <p:txBody>
          <a:bodyPr wrap="square" lIns="0" tIns="0" rIns="0" bIns="0" rtlCol="0" anchor="ctr"/>
          <a:lstStyle/>
          <a:p>
            <a:pPr indent="0" marL="0">
              <a:lnSpc>
                <a:spcPct val="110000"/>
              </a:lnSpc>
              <a:buNone/>
            </a:pPr>
            <a:r>
              <a:rPr lang="en-US" sz="1200" dirty="0">
                <a:solidFill>
                  <a:srgbClr val="2C3A4E"/>
                </a:solidFill>
                <a:latin typeface="Calibri" pitchFamily="34" charset="0"/>
                <a:ea typeface="Calibri" pitchFamily="34" charset="-122"/>
                <a:cs typeface="Calibri" pitchFamily="34" charset="-120"/>
              </a:rPr>
              <a:t>Only the door being unlocked. Grants nothing on its own — every forbid above still wins over it.</a:t>
            </a:r>
            <a:endParaRPr lang="en-US" sz="1200" dirty="0"/>
          </a:p>
        </p:txBody>
      </p:sp>
      <p:sp>
        <p:nvSpPr>
          <p:cNvPr id="12" name="Text 10"/>
          <p:cNvSpPr txBox="1"/>
          <p:nvPr/>
        </p:nvSpPr>
        <p:spPr>
          <a:xfrm>
            <a:off x="566928" y="3712464"/>
            <a:ext cx="11018520" cy="868680"/>
          </a:xfrm>
          <a:prstGeom prst="rect">
            <a:avLst/>
          </a:prstGeom>
          <a:noFill/>
          <a:ln/>
        </p:spPr>
        <p:txBody>
          <a:bodyPr wrap="square" lIns="0" tIns="0" rIns="0" bIns="0" rtlCol="0" anchor="t"/>
          <a:lstStyle/>
          <a:p>
            <a:pPr indent="0" marL="0">
              <a:lnSpc>
                <a:spcPct val="115000"/>
              </a:lnSpc>
              <a:buNone/>
            </a:pPr>
            <a:r>
              <a:rPr lang="en-US" sz="1400" b="1" dirty="0">
                <a:solidFill>
                  <a:srgbClr val="2C3A4E"/>
                </a:solidFill>
                <a:latin typeface="Calibri" pitchFamily="34" charset="0"/>
                <a:ea typeface="Calibri" pitchFamily="34" charset="-122"/>
                <a:cs typeface="Calibri" pitchFamily="34" charset="-120"/>
              </a:rPr>
              <a:t>What this buys: </a:t>
            </a:r>
            <a:pPr indent="0" marL="0">
              <a:lnSpc>
                <a:spcPct val="115000"/>
              </a:lnSpc>
              <a:buNone/>
            </a:pPr>
            <a:r>
              <a:rPr lang="en-US" sz="1400" dirty="0">
                <a:solidFill>
                  <a:srgbClr val="2C3A4E"/>
                </a:solidFill>
                <a:latin typeface="Calibri" pitchFamily="34" charset="0"/>
                <a:ea typeface="Calibri" pitchFamily="34" charset="-122"/>
                <a:cs typeface="Calibri" pitchFamily="34" charset="-120"/>
              </a:rPr>
              <a:t>a caller whose token is missing a claim is granted </a:t>
            </a:r>
            <a:pPr indent="0" marL="0">
              <a:lnSpc>
                <a:spcPct val="115000"/>
              </a:lnSpc>
              <a:buNone/>
            </a:pPr>
            <a:r>
              <a:rPr lang="en-US" sz="1400" b="1" i="1" dirty="0">
                <a:solidFill>
                  <a:srgbClr val="2C3A4E"/>
                </a:solidFill>
                <a:latin typeface="Calibri" pitchFamily="34" charset="0"/>
                <a:ea typeface="Calibri" pitchFamily="34" charset="-122"/>
                <a:cs typeface="Calibri" pitchFamily="34" charset="-120"/>
              </a:rPr>
              <a:t>zero</a:t>
            </a:r>
            <a:pPr indent="0" marL="0">
              <a:lnSpc>
                <a:spcPct val="115000"/>
              </a:lnSpc>
              <a:buNone/>
            </a:pPr>
            <a:r>
              <a:rPr lang="en-US" sz="1400" dirty="0">
                <a:solidFill>
                  <a:srgbClr val="2C3A4E"/>
                </a:solidFill>
                <a:latin typeface="Calibri" pitchFamily="34" charset="0"/>
                <a:ea typeface="Calibri" pitchFamily="34" charset="-122"/>
                <a:cs typeface="Calibri" pitchFamily="34" charset="-120"/>
              </a:rPr>
              <a:t> tools, not all of them. Optional context fields are presence-guarded, so an absent value fails closed — the forbid fires. The GA engine rejects an unguarded optional access outright, which is why every policy reads “context.input has X &amp;&amp; …”.</a:t>
            </a:r>
            <a:endParaRPr lang="en-US" sz="1400" dirty="0"/>
          </a:p>
        </p:txBody>
      </p:sp>
      <p:sp>
        <p:nvSpPr>
          <p:cNvPr id="13" name="Shape 11"/>
          <p:cNvSpPr/>
          <p:nvPr/>
        </p:nvSpPr>
        <p:spPr>
          <a:xfrm>
            <a:off x="566928" y="4681728"/>
            <a:ext cx="11018520" cy="1371600"/>
          </a:xfrm>
          <a:prstGeom prst="roundRect">
            <a:avLst>
              <a:gd name="adj" fmla="val 6000"/>
            </a:avLst>
          </a:prstGeom>
          <a:solidFill>
            <a:srgbClr val="E4F2EA"/>
          </a:solidFill>
          <a:ln w="12700">
            <a:solidFill>
              <a:srgbClr val="BFE0CE"/>
            </a:solidFill>
            <a:prstDash val="solid"/>
          </a:ln>
        </p:spPr>
        <p:txBody>
          <a:bodyPr/>
          <a:p/>
        </p:txBody>
      </p:sp>
      <p:sp>
        <p:nvSpPr>
          <p:cNvPr id="14" name="Text 12"/>
          <p:cNvSpPr txBox="1"/>
          <p:nvPr/>
        </p:nvSpPr>
        <p:spPr>
          <a:xfrm>
            <a:off x="868680" y="4846320"/>
            <a:ext cx="2743200" cy="310896"/>
          </a:xfrm>
          <a:prstGeom prst="rect">
            <a:avLst/>
          </a:prstGeom>
          <a:noFill/>
          <a:ln/>
        </p:spPr>
        <p:txBody>
          <a:bodyPr wrap="square" lIns="0" tIns="0" rIns="0" bIns="0" rtlCol="0" anchor="ctr"/>
          <a:lstStyle/>
          <a:p>
            <a:pPr indent="0" marL="0">
              <a:buNone/>
            </a:pPr>
            <a:r>
              <a:rPr lang="en-US" sz="1400" b="1" dirty="0">
                <a:solidFill>
                  <a:srgbClr val="1D6F42"/>
                </a:solidFill>
                <a:latin typeface="Cambria" pitchFamily="34" charset="0"/>
                <a:ea typeface="Cambria" pitchFamily="34" charset="-122"/>
                <a:cs typeface="Cambria" pitchFamily="34" charset="-120"/>
              </a:rPr>
              <a:t>Proven live</a:t>
            </a:r>
            <a:endParaRPr lang="en-US" sz="1400" dirty="0"/>
          </a:p>
        </p:txBody>
      </p:sp>
      <p:sp>
        <p:nvSpPr>
          <p:cNvPr id="15" name="Text 13"/>
          <p:cNvSpPr txBox="1"/>
          <p:nvPr/>
        </p:nvSpPr>
        <p:spPr>
          <a:xfrm>
            <a:off x="868680" y="5193792"/>
            <a:ext cx="10424160" cy="786384"/>
          </a:xfrm>
          <a:prstGeom prst="rect">
            <a:avLst/>
          </a:prstGeom>
          <a:noFill/>
          <a:ln/>
        </p:spPr>
        <p:txBody>
          <a:bodyPr wrap="square" lIns="0" tIns="0" rIns="0" bIns="0" rtlCol="0" anchor="ctr"/>
          <a:lstStyle/>
          <a:p>
            <a:pPr indent="0" marL="0">
              <a:lnSpc>
                <a:spcPct val="115000"/>
              </a:lnSpc>
              <a:buNone/>
            </a:pPr>
            <a:r>
              <a:rPr lang="en-US" sz="1300" dirty="0">
                <a:solidFill>
                  <a:srgbClr val="2C3A4E"/>
                </a:solidFill>
                <a:latin typeface="Calibri" pitchFamily="34" charset="0"/>
                <a:ea typeface="Calibri" pitchFamily="34" charset="-122"/>
                <a:cs typeface="Calibri" pitchFamily="34" charset="-120"/>
              </a:rPr>
              <a:t>13 policies reached ACTIVE, twice, in the 2026-09-10 gate — and in that gate deny-by-default reached a newly added tool with no new policy written. The decision is made by AWS, before the tool Lambda is invoked — and it is written to the hash-chained ledger with the policy version that made it (policy_version = cedar-534be1c676bb).</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5F7080"/>
                </a:solidFill>
                <a:latin typeface="Calibri" pitchFamily="34" charset="0"/>
                <a:ea typeface="Calibri" pitchFamily="34" charset="-122"/>
                <a:cs typeface="Calibri" pitchFamily="34" charset="-120"/>
              </a:rPr>
              <a:t>THE POLICY SET</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The thirteen policies, grouped by what they defend</a:t>
            </a:r>
            <a:endParaRPr lang="en-US" sz="3400" dirty="0"/>
          </a:p>
        </p:txBody>
      </p:sp>
      <p:sp>
        <p:nvSpPr>
          <p:cNvPr id="4" name="Shape 2"/>
          <p:cNvSpPr/>
          <p:nvPr/>
        </p:nvSpPr>
        <p:spPr>
          <a:xfrm>
            <a:off x="566928" y="1463040"/>
            <a:ext cx="5349240" cy="2194560"/>
          </a:xfrm>
          <a:prstGeom prst="roundRect">
            <a:avLst>
              <a:gd name="adj" fmla="val 3750"/>
            </a:avLst>
          </a:prstGeom>
          <a:solidFill>
            <a:srgbClr val="F1F4F7"/>
          </a:solidFill>
          <a:ln w="12700">
            <a:solidFill>
              <a:srgbClr val="D8E0E7"/>
            </a:solidFill>
            <a:prstDash val="solid"/>
          </a:ln>
        </p:spPr>
        <p:txBody>
          <a:bodyPr/>
          <a:p/>
        </p:txBody>
      </p:sp>
      <p:sp>
        <p:nvSpPr>
          <p:cNvPr id="5" name="Shape 3"/>
          <p:cNvSpPr/>
          <p:nvPr/>
        </p:nvSpPr>
        <p:spPr>
          <a:xfrm>
            <a:off x="822960" y="1682496"/>
            <a:ext cx="402336" cy="402336"/>
          </a:xfrm>
          <a:prstGeom prst="ellipse">
            <a:avLst/>
          </a:prstGeom>
          <a:solidFill>
            <a:srgbClr val="1A2433"/>
          </a:solidFill>
          <a:ln w="12700">
            <a:solidFill>
              <a:srgbClr val="1A2433"/>
            </a:solidFill>
            <a:prstDash val="solid"/>
          </a:ln>
        </p:spPr>
        <p:txBody>
          <a:bodyPr/>
          <a:p/>
        </p:txBody>
      </p:sp>
      <p:sp>
        <p:nvSpPr>
          <p:cNvPr id="6" name="Text 4"/>
          <p:cNvSpPr txBox="1"/>
          <p:nvPr/>
        </p:nvSpPr>
        <p:spPr>
          <a:xfrm>
            <a:off x="822960" y="168249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353312" y="1664208"/>
            <a:ext cx="2834640" cy="310896"/>
          </a:xfrm>
          <a:prstGeom prst="rect">
            <a:avLst/>
          </a:prstGeom>
          <a:noFill/>
          <a:ln/>
        </p:spPr>
        <p:txBody>
          <a:bodyPr wrap="square" lIns="0" tIns="0" rIns="0" bIns="0" rtlCol="0" anchor="ctr"/>
          <a:lstStyle/>
          <a:p>
            <a:pPr indent="0" marL="0">
              <a:buNone/>
            </a:pPr>
            <a:r>
              <a:rPr lang="en-US" sz="1500" b="1" dirty="0">
                <a:solidFill>
                  <a:srgbClr val="1A2433"/>
                </a:solidFill>
                <a:latin typeface="Cambria" pitchFamily="34" charset="0"/>
                <a:ea typeface="Cambria" pitchFamily="34" charset="-122"/>
                <a:cs typeface="Cambria" pitchFamily="34" charset="-120"/>
              </a:rPr>
              <a:t>Admission</a:t>
            </a:r>
            <a:endParaRPr lang="en-US" sz="1500" dirty="0"/>
          </a:p>
        </p:txBody>
      </p:sp>
      <p:sp>
        <p:nvSpPr>
          <p:cNvPr id="8" name="Text 6"/>
          <p:cNvSpPr txBox="1"/>
          <p:nvPr/>
        </p:nvSpPr>
        <p:spPr>
          <a:xfrm>
            <a:off x="1353312" y="1965960"/>
            <a:ext cx="4297680" cy="256032"/>
          </a:xfrm>
          <a:prstGeom prst="rect">
            <a:avLst/>
          </a:prstGeom>
          <a:noFill/>
          <a:ln/>
        </p:spPr>
        <p:txBody>
          <a:bodyPr wrap="square" lIns="0" tIns="0" rIns="0" bIns="0" rtlCol="0" anchor="ctr"/>
          <a:lstStyle/>
          <a:p>
            <a:pPr indent="0" marL="0">
              <a:buNone/>
            </a:pPr>
            <a:r>
              <a:rPr lang="en-US" sz="1050" i="1" dirty="0">
                <a:solidFill>
                  <a:srgbClr val="5F7080"/>
                </a:solidFill>
                <a:latin typeface="Calibri" pitchFamily="34" charset="0"/>
                <a:ea typeface="Calibri" pitchFamily="34" charset="-122"/>
                <a:cs typeface="Calibri" pitchFamily="34" charset="-120"/>
              </a:rPr>
              <a:t>Is this caller allowed to do anything at all?</a:t>
            </a:r>
            <a:endParaRPr lang="en-US" sz="1050" dirty="0"/>
          </a:p>
        </p:txBody>
      </p:sp>
      <p:sp>
        <p:nvSpPr>
          <p:cNvPr id="9" name="Text 7"/>
          <p:cNvSpPr txBox="1"/>
          <p:nvPr/>
        </p:nvSpPr>
        <p:spPr>
          <a:xfrm>
            <a:off x="822960" y="2304288"/>
            <a:ext cx="4846320" cy="566928"/>
          </a:xfrm>
          <a:prstGeom prst="rect">
            <a:avLst/>
          </a:prstGeom>
          <a:noFill/>
          <a:ln/>
        </p:spPr>
        <p:txBody>
          <a:bodyPr wrap="square" lIns="0" tIns="0" rIns="0" bIns="0" rtlCol="0" anchor="ctr"/>
          <a:lstStyle/>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require_tenant</a:t>
            </a:r>
            <a:endParaRPr lang="en-US" sz="950" dirty="0"/>
          </a:p>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require_entitlement</a:t>
            </a:r>
            <a:endParaRPr lang="en-US" sz="950" dirty="0"/>
          </a:p>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require_service_window</a:t>
            </a:r>
            <a:endParaRPr lang="en-US" sz="950" dirty="0"/>
          </a:p>
        </p:txBody>
      </p:sp>
      <p:sp>
        <p:nvSpPr>
          <p:cNvPr id="10" name="Text 8"/>
          <p:cNvSpPr txBox="1"/>
          <p:nvPr/>
        </p:nvSpPr>
        <p:spPr>
          <a:xfrm>
            <a:off x="822960" y="2926080"/>
            <a:ext cx="4846320" cy="640080"/>
          </a:xfrm>
          <a:prstGeom prst="rect">
            <a:avLst/>
          </a:prstGeom>
          <a:noFill/>
          <a:ln/>
        </p:spPr>
        <p:txBody>
          <a:bodyPr wrap="square" lIns="0" tIns="0" rIns="0" bIns="0" rtlCol="0" anchor="t"/>
          <a:lstStyle/>
          <a:p>
            <a:pPr indent="0" marL="0">
              <a:lnSpc>
                <a:spcPct val="110000"/>
              </a:lnSpc>
              <a:buNone/>
            </a:pPr>
            <a:r>
              <a:rPr lang="en-US" sz="1100" dirty="0">
                <a:solidFill>
                  <a:srgbClr val="2C3A4E"/>
                </a:solidFill>
                <a:latin typeface="Calibri" pitchFamily="34" charset="0"/>
                <a:ea typeface="Calibri" pitchFamily="34" charset="-122"/>
                <a:cs typeface="Calibri" pitchFamily="34" charset="-120"/>
              </a:rPr>
              <a:t>No tenant, no entitlement, or outside the service window → zero tools. Tenancy is derived from the caller's own validated token, so cross-tenant access is impossible by construction.</a:t>
            </a:r>
            <a:endParaRPr lang="en-US" sz="1100" dirty="0"/>
          </a:p>
        </p:txBody>
      </p:sp>
      <p:sp>
        <p:nvSpPr>
          <p:cNvPr id="11" name="Shape 9"/>
          <p:cNvSpPr/>
          <p:nvPr/>
        </p:nvSpPr>
        <p:spPr>
          <a:xfrm>
            <a:off x="6190488" y="1463040"/>
            <a:ext cx="5349240" cy="2194560"/>
          </a:xfrm>
          <a:prstGeom prst="roundRect">
            <a:avLst>
              <a:gd name="adj" fmla="val 3750"/>
            </a:avLst>
          </a:prstGeom>
          <a:solidFill>
            <a:srgbClr val="F1F4F7"/>
          </a:solidFill>
          <a:ln w="12700">
            <a:solidFill>
              <a:srgbClr val="D8E0E7"/>
            </a:solidFill>
            <a:prstDash val="solid"/>
          </a:ln>
        </p:spPr>
        <p:txBody>
          <a:bodyPr/>
          <a:p/>
        </p:txBody>
      </p:sp>
      <p:sp>
        <p:nvSpPr>
          <p:cNvPr id="12" name="Shape 10"/>
          <p:cNvSpPr/>
          <p:nvPr/>
        </p:nvSpPr>
        <p:spPr>
          <a:xfrm>
            <a:off x="6446520" y="1682496"/>
            <a:ext cx="402336" cy="402336"/>
          </a:xfrm>
          <a:prstGeom prst="ellipse">
            <a:avLst/>
          </a:prstGeom>
          <a:solidFill>
            <a:srgbClr val="1A2433"/>
          </a:solidFill>
          <a:ln w="12700">
            <a:solidFill>
              <a:srgbClr val="1A2433"/>
            </a:solidFill>
            <a:prstDash val="solid"/>
          </a:ln>
        </p:spPr>
        <p:txBody>
          <a:bodyPr/>
          <a:p/>
        </p:txBody>
      </p:sp>
      <p:sp>
        <p:nvSpPr>
          <p:cNvPr id="13" name="Text 11"/>
          <p:cNvSpPr txBox="1"/>
          <p:nvPr/>
        </p:nvSpPr>
        <p:spPr>
          <a:xfrm>
            <a:off x="6446520" y="168249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6976872" y="1664208"/>
            <a:ext cx="2834640" cy="310896"/>
          </a:xfrm>
          <a:prstGeom prst="rect">
            <a:avLst/>
          </a:prstGeom>
          <a:noFill/>
          <a:ln/>
        </p:spPr>
        <p:txBody>
          <a:bodyPr wrap="square" lIns="0" tIns="0" rIns="0" bIns="0" rtlCol="0" anchor="ctr"/>
          <a:lstStyle/>
          <a:p>
            <a:pPr indent="0" marL="0">
              <a:buNone/>
            </a:pPr>
            <a:r>
              <a:rPr lang="en-US" sz="1500" b="1" dirty="0">
                <a:solidFill>
                  <a:srgbClr val="1A2433"/>
                </a:solidFill>
                <a:latin typeface="Cambria" pitchFamily="34" charset="0"/>
                <a:ea typeface="Cambria" pitchFamily="34" charset="-122"/>
                <a:cs typeface="Cambria" pitchFamily="34" charset="-120"/>
              </a:rPr>
              <a:t>De-identification</a:t>
            </a:r>
            <a:endParaRPr lang="en-US" sz="1500" dirty="0"/>
          </a:p>
        </p:txBody>
      </p:sp>
      <p:sp>
        <p:nvSpPr>
          <p:cNvPr id="15" name="Text 13"/>
          <p:cNvSpPr txBox="1"/>
          <p:nvPr/>
        </p:nvSpPr>
        <p:spPr>
          <a:xfrm>
            <a:off x="6976872" y="1965960"/>
            <a:ext cx="4297680" cy="256032"/>
          </a:xfrm>
          <a:prstGeom prst="rect">
            <a:avLst/>
          </a:prstGeom>
          <a:noFill/>
          <a:ln/>
        </p:spPr>
        <p:txBody>
          <a:bodyPr wrap="square" lIns="0" tIns="0" rIns="0" bIns="0" rtlCol="0" anchor="ctr"/>
          <a:lstStyle/>
          <a:p>
            <a:pPr indent="0" marL="0">
              <a:buNone/>
            </a:pPr>
            <a:r>
              <a:rPr lang="en-US" sz="1050" i="1" dirty="0">
                <a:solidFill>
                  <a:srgbClr val="5F7080"/>
                </a:solidFill>
                <a:latin typeface="Calibri" pitchFamily="34" charset="0"/>
                <a:ea typeface="Calibri" pitchFamily="34" charset="-122"/>
                <a:cs typeface="Calibri" pitchFamily="34" charset="-120"/>
              </a:rPr>
              <a:t>Nothing consequential touches un-masked data</a:t>
            </a:r>
            <a:endParaRPr lang="en-US" sz="1050" dirty="0"/>
          </a:p>
        </p:txBody>
      </p:sp>
      <p:sp>
        <p:nvSpPr>
          <p:cNvPr id="16" name="Text 14"/>
          <p:cNvSpPr txBox="1"/>
          <p:nvPr/>
        </p:nvSpPr>
        <p:spPr>
          <a:xfrm>
            <a:off x="6446520" y="2304288"/>
            <a:ext cx="4846320" cy="566928"/>
          </a:xfrm>
          <a:prstGeom prst="rect">
            <a:avLst/>
          </a:prstGeom>
          <a:noFill/>
          <a:ln/>
        </p:spPr>
        <p:txBody>
          <a:bodyPr wrap="square" lIns="0" tIns="0" rIns="0" bIns="0" rtlCol="0" anchor="ctr"/>
          <a:lstStyle/>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mask_before_assess</a:t>
            </a:r>
            <a:endParaRPr lang="en-US" sz="950" dirty="0"/>
          </a:p>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mask_before_draft</a:t>
            </a:r>
            <a:endParaRPr lang="en-US" sz="950" dirty="0"/>
          </a:p>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mask_before_redetermine</a:t>
            </a:r>
            <a:endParaRPr lang="en-US" sz="950" dirty="0"/>
          </a:p>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mask_before_overpayment</a:t>
            </a:r>
            <a:endParaRPr lang="en-US" sz="950" dirty="0"/>
          </a:p>
        </p:txBody>
      </p:sp>
      <p:sp>
        <p:nvSpPr>
          <p:cNvPr id="17" name="Text 15"/>
          <p:cNvSpPr txBox="1"/>
          <p:nvPr/>
        </p:nvSpPr>
        <p:spPr>
          <a:xfrm>
            <a:off x="6446520" y="2926080"/>
            <a:ext cx="4846320" cy="640080"/>
          </a:xfrm>
          <a:prstGeom prst="rect">
            <a:avLst/>
          </a:prstGeom>
          <a:noFill/>
          <a:ln/>
        </p:spPr>
        <p:txBody>
          <a:bodyPr wrap="square" lIns="0" tIns="0" rIns="0" bIns="0" rtlCol="0" anchor="t"/>
          <a:lstStyle/>
          <a:p>
            <a:pPr indent="0" marL="0">
              <a:lnSpc>
                <a:spcPct val="110000"/>
              </a:lnSpc>
              <a:buNone/>
            </a:pPr>
            <a:r>
              <a:rPr lang="en-US" sz="1100" dirty="0">
                <a:solidFill>
                  <a:srgbClr val="2C3A4E"/>
                </a:solidFill>
                <a:latin typeface="Calibri" pitchFamily="34" charset="0"/>
                <a:ea typeface="Calibri" pitchFamily="34" charset="-122"/>
                <a:cs typeface="Calibri" pitchFamily="34" charset="-120"/>
              </a:rPr>
              <a:t>The four consequential actions are forbidden unless the payload is provably de-identified — and the proof is a signature, not a boolean.</a:t>
            </a:r>
            <a:endParaRPr lang="en-US" sz="1100" dirty="0"/>
          </a:p>
        </p:txBody>
      </p:sp>
      <p:sp>
        <p:nvSpPr>
          <p:cNvPr id="18" name="Shape 16"/>
          <p:cNvSpPr/>
          <p:nvPr/>
        </p:nvSpPr>
        <p:spPr>
          <a:xfrm>
            <a:off x="566928" y="3767328"/>
            <a:ext cx="5349240" cy="2194560"/>
          </a:xfrm>
          <a:prstGeom prst="roundRect">
            <a:avLst>
              <a:gd name="adj" fmla="val 3750"/>
            </a:avLst>
          </a:prstGeom>
          <a:solidFill>
            <a:srgbClr val="F1F4F7"/>
          </a:solidFill>
          <a:ln w="12700">
            <a:solidFill>
              <a:srgbClr val="D8E0E7"/>
            </a:solidFill>
            <a:prstDash val="solid"/>
          </a:ln>
        </p:spPr>
        <p:txBody>
          <a:bodyPr/>
          <a:p/>
        </p:txBody>
      </p:sp>
      <p:sp>
        <p:nvSpPr>
          <p:cNvPr id="19" name="Shape 17"/>
          <p:cNvSpPr/>
          <p:nvPr/>
        </p:nvSpPr>
        <p:spPr>
          <a:xfrm>
            <a:off x="822960" y="3986784"/>
            <a:ext cx="402336" cy="402336"/>
          </a:xfrm>
          <a:prstGeom prst="ellipse">
            <a:avLst/>
          </a:prstGeom>
          <a:solidFill>
            <a:srgbClr val="1A2433"/>
          </a:solidFill>
          <a:ln w="12700">
            <a:solidFill>
              <a:srgbClr val="1A2433"/>
            </a:solidFill>
            <a:prstDash val="solid"/>
          </a:ln>
        </p:spPr>
        <p:txBody>
          <a:bodyPr/>
          <a:p/>
        </p:txBody>
      </p:sp>
      <p:sp>
        <p:nvSpPr>
          <p:cNvPr id="20" name="Text 18"/>
          <p:cNvSpPr txBox="1"/>
          <p:nvPr/>
        </p:nvSpPr>
        <p:spPr>
          <a:xfrm>
            <a:off x="822960" y="398678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1353312" y="3968496"/>
            <a:ext cx="2834640" cy="310896"/>
          </a:xfrm>
          <a:prstGeom prst="rect">
            <a:avLst/>
          </a:prstGeom>
          <a:noFill/>
          <a:ln/>
        </p:spPr>
        <p:txBody>
          <a:bodyPr wrap="square" lIns="0" tIns="0" rIns="0" bIns="0" rtlCol="0" anchor="ctr"/>
          <a:lstStyle/>
          <a:p>
            <a:pPr indent="0" marL="0">
              <a:buNone/>
            </a:pPr>
            <a:r>
              <a:rPr lang="en-US" sz="1500" b="1" dirty="0">
                <a:solidFill>
                  <a:srgbClr val="1A2433"/>
                </a:solidFill>
                <a:latin typeface="Cambria" pitchFamily="34" charset="0"/>
                <a:ea typeface="Cambria" pitchFamily="34" charset="-122"/>
                <a:cs typeface="Cambria" pitchFamily="34" charset="-120"/>
              </a:rPr>
              <a:t>Separation of duties</a:t>
            </a:r>
            <a:endParaRPr lang="en-US" sz="1500" dirty="0"/>
          </a:p>
        </p:txBody>
      </p:sp>
      <p:sp>
        <p:nvSpPr>
          <p:cNvPr id="22" name="Text 20"/>
          <p:cNvSpPr txBox="1"/>
          <p:nvPr/>
        </p:nvSpPr>
        <p:spPr>
          <a:xfrm>
            <a:off x="1353312" y="4270248"/>
            <a:ext cx="4297680" cy="256032"/>
          </a:xfrm>
          <a:prstGeom prst="rect">
            <a:avLst/>
          </a:prstGeom>
          <a:noFill/>
          <a:ln/>
        </p:spPr>
        <p:txBody>
          <a:bodyPr wrap="square" lIns="0" tIns="0" rIns="0" bIns="0" rtlCol="0" anchor="ctr"/>
          <a:lstStyle/>
          <a:p>
            <a:pPr indent="0" marL="0">
              <a:buNone/>
            </a:pPr>
            <a:r>
              <a:rPr lang="en-US" sz="1050" i="1" dirty="0">
                <a:solidFill>
                  <a:srgbClr val="5F7080"/>
                </a:solidFill>
                <a:latin typeface="Calibri" pitchFamily="34" charset="0"/>
                <a:ea typeface="Calibri" pitchFamily="34" charset="-122"/>
                <a:cs typeface="Calibri" pitchFamily="34" charset="-120"/>
              </a:rPr>
              <a:t>What the agent may never do</a:t>
            </a:r>
            <a:endParaRPr lang="en-US" sz="1050" dirty="0"/>
          </a:p>
        </p:txBody>
      </p:sp>
      <p:sp>
        <p:nvSpPr>
          <p:cNvPr id="23" name="Text 21"/>
          <p:cNvSpPr txBox="1"/>
          <p:nvPr/>
        </p:nvSpPr>
        <p:spPr>
          <a:xfrm>
            <a:off x="822960" y="4608576"/>
            <a:ext cx="4846320" cy="566928"/>
          </a:xfrm>
          <a:prstGeom prst="rect">
            <a:avLst/>
          </a:prstGeom>
          <a:noFill/>
          <a:ln/>
        </p:spPr>
        <p:txBody>
          <a:bodyPr wrap="square" lIns="0" tIns="0" rIns="0" bIns="0" rtlCol="0" anchor="ctr"/>
          <a:lstStyle/>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no_self_commit</a:t>
            </a:r>
            <a:endParaRPr lang="en-US" sz="950" dirty="0"/>
          </a:p>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no_self_fraud_referral</a:t>
            </a:r>
            <a:endParaRPr lang="en-US" sz="950" dirty="0"/>
          </a:p>
        </p:txBody>
      </p:sp>
      <p:sp>
        <p:nvSpPr>
          <p:cNvPr id="24" name="Text 22"/>
          <p:cNvSpPr txBox="1"/>
          <p:nvPr/>
        </p:nvSpPr>
        <p:spPr>
          <a:xfrm>
            <a:off x="822960" y="5230368"/>
            <a:ext cx="4846320" cy="640080"/>
          </a:xfrm>
          <a:prstGeom prst="rect">
            <a:avLst/>
          </a:prstGeom>
          <a:noFill/>
          <a:ln/>
        </p:spPr>
        <p:txBody>
          <a:bodyPr wrap="square" lIns="0" tIns="0" rIns="0" bIns="0" rtlCol="0" anchor="t"/>
          <a:lstStyle/>
          <a:p>
            <a:pPr indent="0" marL="0">
              <a:lnSpc>
                <a:spcPct val="110000"/>
              </a:lnSpc>
              <a:buNone/>
            </a:pPr>
            <a:r>
              <a:rPr lang="en-US" sz="1100" dirty="0">
                <a:solidFill>
                  <a:srgbClr val="2C3A4E"/>
                </a:solidFill>
                <a:latin typeface="Calibri" pitchFamily="34" charset="0"/>
                <a:ea typeface="Calibri" pitchFamily="34" charset="-122"/>
                <a:cs typeface="Calibri" pitchFamily="34" charset="-120"/>
              </a:rPr>
              <a:t>Forbidden outright and hidden from the advertised tool list. The only path to a commit is the human sign-off gate.</a:t>
            </a:r>
            <a:endParaRPr lang="en-US" sz="1100" dirty="0"/>
          </a:p>
        </p:txBody>
      </p:sp>
      <p:sp>
        <p:nvSpPr>
          <p:cNvPr id="25" name="Shape 23"/>
          <p:cNvSpPr/>
          <p:nvPr/>
        </p:nvSpPr>
        <p:spPr>
          <a:xfrm>
            <a:off x="6190488" y="3767328"/>
            <a:ext cx="5349240" cy="2194560"/>
          </a:xfrm>
          <a:prstGeom prst="roundRect">
            <a:avLst>
              <a:gd name="adj" fmla="val 3750"/>
            </a:avLst>
          </a:prstGeom>
          <a:solidFill>
            <a:srgbClr val="F1F4F7"/>
          </a:solidFill>
          <a:ln w="12700">
            <a:solidFill>
              <a:srgbClr val="D8E0E7"/>
            </a:solidFill>
            <a:prstDash val="solid"/>
          </a:ln>
        </p:spPr>
        <p:txBody>
          <a:bodyPr/>
          <a:p/>
        </p:txBody>
      </p:sp>
      <p:sp>
        <p:nvSpPr>
          <p:cNvPr id="26" name="Shape 24"/>
          <p:cNvSpPr/>
          <p:nvPr/>
        </p:nvSpPr>
        <p:spPr>
          <a:xfrm>
            <a:off x="6446520" y="3986784"/>
            <a:ext cx="402336" cy="402336"/>
          </a:xfrm>
          <a:prstGeom prst="ellipse">
            <a:avLst/>
          </a:prstGeom>
          <a:solidFill>
            <a:srgbClr val="1A2433"/>
          </a:solidFill>
          <a:ln w="12700">
            <a:solidFill>
              <a:srgbClr val="1A2433"/>
            </a:solidFill>
            <a:prstDash val="solid"/>
          </a:ln>
        </p:spPr>
        <p:txBody>
          <a:bodyPr/>
          <a:p/>
        </p:txBody>
      </p:sp>
      <p:sp>
        <p:nvSpPr>
          <p:cNvPr id="27" name="Text 25"/>
          <p:cNvSpPr txBox="1"/>
          <p:nvPr/>
        </p:nvSpPr>
        <p:spPr>
          <a:xfrm>
            <a:off x="6446520" y="398678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8" name="Text 26"/>
          <p:cNvSpPr txBox="1"/>
          <p:nvPr/>
        </p:nvSpPr>
        <p:spPr>
          <a:xfrm>
            <a:off x="6976872" y="3968496"/>
            <a:ext cx="2834640" cy="310896"/>
          </a:xfrm>
          <a:prstGeom prst="rect">
            <a:avLst/>
          </a:prstGeom>
          <a:noFill/>
          <a:ln/>
        </p:spPr>
        <p:txBody>
          <a:bodyPr wrap="square" lIns="0" tIns="0" rIns="0" bIns="0" rtlCol="0" anchor="ctr"/>
          <a:lstStyle/>
          <a:p>
            <a:pPr indent="0" marL="0">
              <a:buNone/>
            </a:pPr>
            <a:r>
              <a:rPr lang="en-US" sz="1500" b="1" dirty="0">
                <a:solidFill>
                  <a:srgbClr val="1A2433"/>
                </a:solidFill>
                <a:latin typeface="Cambria" pitchFamily="34" charset="0"/>
                <a:ea typeface="Cambria" pitchFamily="34" charset="-122"/>
                <a:cs typeface="Cambria" pitchFamily="34" charset="-120"/>
              </a:rPr>
              <a:t>Purpose, spend, limits</a:t>
            </a:r>
            <a:endParaRPr lang="en-US" sz="1500" dirty="0"/>
          </a:p>
        </p:txBody>
      </p:sp>
      <p:sp>
        <p:nvSpPr>
          <p:cNvPr id="29" name="Text 27"/>
          <p:cNvSpPr txBox="1"/>
          <p:nvPr/>
        </p:nvSpPr>
        <p:spPr>
          <a:xfrm>
            <a:off x="6976872" y="4270248"/>
            <a:ext cx="4297680" cy="256032"/>
          </a:xfrm>
          <a:prstGeom prst="rect">
            <a:avLst/>
          </a:prstGeom>
          <a:noFill/>
          <a:ln/>
        </p:spPr>
        <p:txBody>
          <a:bodyPr wrap="square" lIns="0" tIns="0" rIns="0" bIns="0" rtlCol="0" anchor="ctr"/>
          <a:lstStyle/>
          <a:p>
            <a:pPr indent="0" marL="0">
              <a:buNone/>
            </a:pPr>
            <a:r>
              <a:rPr lang="en-US" sz="1050" i="1" dirty="0">
                <a:solidFill>
                  <a:srgbClr val="5F7080"/>
                </a:solidFill>
                <a:latin typeface="Calibri" pitchFamily="34" charset="0"/>
                <a:ea typeface="Calibri" pitchFamily="34" charset="-122"/>
                <a:cs typeface="Calibri" pitchFamily="34" charset="-120"/>
              </a:rPr>
              <a:t>Why, how much, how large</a:t>
            </a:r>
            <a:endParaRPr lang="en-US" sz="1050" dirty="0"/>
          </a:p>
        </p:txBody>
      </p:sp>
      <p:sp>
        <p:nvSpPr>
          <p:cNvPr id="30" name="Text 28"/>
          <p:cNvSpPr txBox="1"/>
          <p:nvPr/>
        </p:nvSpPr>
        <p:spPr>
          <a:xfrm>
            <a:off x="6446520" y="4608576"/>
            <a:ext cx="4846320" cy="566928"/>
          </a:xfrm>
          <a:prstGeom prst="rect">
            <a:avLst/>
          </a:prstGeom>
          <a:noFill/>
          <a:ln/>
        </p:spPr>
        <p:txBody>
          <a:bodyPr wrap="square" lIns="0" tIns="0" rIns="0" bIns="0" rtlCol="0" anchor="ctr"/>
          <a:lstStyle/>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consent_purpose_before_assess</a:t>
            </a:r>
            <a:endParaRPr lang="en-US" sz="950" dirty="0"/>
          </a:p>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budget_before_draft</a:t>
            </a:r>
            <a:endParaRPr lang="en-US" sz="950" dirty="0"/>
          </a:p>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amount_cap_overpayment</a:t>
            </a:r>
            <a:endParaRPr lang="en-US" sz="950" dirty="0"/>
          </a:p>
        </p:txBody>
      </p:sp>
      <p:sp>
        <p:nvSpPr>
          <p:cNvPr id="31" name="Text 29"/>
          <p:cNvSpPr txBox="1"/>
          <p:nvPr/>
        </p:nvSpPr>
        <p:spPr>
          <a:xfrm>
            <a:off x="6446520" y="5230368"/>
            <a:ext cx="4846320" cy="640080"/>
          </a:xfrm>
          <a:prstGeom prst="rect">
            <a:avLst/>
          </a:prstGeom>
          <a:noFill/>
          <a:ln/>
        </p:spPr>
        <p:txBody>
          <a:bodyPr wrap="square" lIns="0" tIns="0" rIns="0" bIns="0" rtlCol="0" anchor="t"/>
          <a:lstStyle/>
          <a:p>
            <a:pPr indent="0" marL="0">
              <a:lnSpc>
                <a:spcPct val="110000"/>
              </a:lnSpc>
              <a:buNone/>
            </a:pPr>
            <a:r>
              <a:rPr lang="en-US" sz="1100" dirty="0">
                <a:solidFill>
                  <a:srgbClr val="2C3A4E"/>
                </a:solidFill>
                <a:latin typeface="Calibri" pitchFamily="34" charset="0"/>
                <a:ea typeface="Calibri" pitchFamily="34" charset="-122"/>
                <a:cs typeface="Calibri" pitchFamily="34" charset="-120"/>
              </a:rPr>
              <a:t>Purpose limitation; a spend gate set from the live per-tenant meter, refusing before the spend; and a dollar cap above which a case needs elevated authorization.</a:t>
            </a:r>
            <a:endParaRPr lang="en-US" sz="1100" dirty="0"/>
          </a:p>
        </p:txBody>
      </p:sp>
      <p:sp>
        <p:nvSpPr>
          <p:cNvPr id="32" name="Text 30"/>
          <p:cNvSpPr txBox="1"/>
          <p:nvPr/>
        </p:nvSpPr>
        <p:spPr>
          <a:xfrm>
            <a:off x="566928" y="6089904"/>
            <a:ext cx="11064240" cy="292608"/>
          </a:xfrm>
          <a:prstGeom prst="rect">
            <a:avLst/>
          </a:prstGeom>
          <a:noFill/>
          <a:ln/>
        </p:spPr>
        <p:txBody>
          <a:bodyPr wrap="square" lIns="0" tIns="0" rIns="0" bIns="0" rtlCol="0" anchor="ctr"/>
          <a:lstStyle/>
          <a:p>
            <a:pPr indent="0" marL="0">
              <a:buNone/>
            </a:pPr>
            <a:r>
              <a:rPr lang="en-US" sz="1000" i="1" dirty="0">
                <a:solidFill>
                  <a:srgbClr val="9A6700"/>
                </a:solidFill>
                <a:latin typeface="Calibri" pitchFamily="34" charset="0"/>
                <a:ea typeface="Calibri" pitchFamily="34" charset="-122"/>
                <a:cs typeface="Calibri" pitchFamily="34" charset="-120"/>
              </a:rPr>
              <a:t>Honest limit: these thirteen are a worked example, not a reusable library — they name benefits-specific tool actions. A customer authors their own against their own manifest, which is the real platform capability.</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433"/>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BFD3E6"/>
                </a:solidFill>
                <a:latin typeface="Calibri" pitchFamily="34" charset="0"/>
                <a:ea typeface="Calibri" pitchFamily="34" charset="-122"/>
                <a:cs typeface="Calibri" pitchFamily="34" charset="-120"/>
              </a:rPr>
              <a:t>THE STRONGEST CONTROL IN THE SYSTEM</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Masking is proven, not asserted</a:t>
            </a:r>
            <a:endParaRPr lang="en-US" sz="3400" dirty="0"/>
          </a:p>
        </p:txBody>
      </p:sp>
      <p:sp>
        <p:nvSpPr>
          <p:cNvPr id="4" name="Shape 2"/>
          <p:cNvSpPr/>
          <p:nvPr/>
        </p:nvSpPr>
        <p:spPr>
          <a:xfrm>
            <a:off x="566928" y="1481328"/>
            <a:ext cx="5349240" cy="1481328"/>
          </a:xfrm>
          <a:prstGeom prst="roundRect">
            <a:avLst>
              <a:gd name="adj" fmla="val 5556"/>
            </a:avLst>
          </a:prstGeom>
          <a:solidFill>
            <a:srgbClr val="3A2020"/>
          </a:solidFill>
          <a:ln w="12700">
            <a:solidFill>
              <a:srgbClr val="6B3030"/>
            </a:solidFill>
            <a:prstDash val="solid"/>
          </a:ln>
        </p:spPr>
        <p:txBody>
          <a:bodyPr/>
          <a:p/>
        </p:txBody>
      </p:sp>
      <p:sp>
        <p:nvSpPr>
          <p:cNvPr id="5" name="Text 3"/>
          <p:cNvSpPr txBox="1"/>
          <p:nvPr/>
        </p:nvSpPr>
        <p:spPr>
          <a:xfrm>
            <a:off x="868680" y="1664208"/>
            <a:ext cx="4754880" cy="292608"/>
          </a:xfrm>
          <a:prstGeom prst="rect">
            <a:avLst/>
          </a:prstGeom>
          <a:noFill/>
          <a:ln/>
        </p:spPr>
        <p:txBody>
          <a:bodyPr wrap="square" lIns="0" tIns="0" rIns="0" bIns="0" rtlCol="0" anchor="ctr"/>
          <a:lstStyle/>
          <a:p>
            <a:pPr indent="0" marL="0">
              <a:buNone/>
            </a:pPr>
            <a:r>
              <a:rPr lang="en-US" sz="1300" b="1" dirty="0">
                <a:solidFill>
                  <a:srgbClr val="FF8A80"/>
                </a:solidFill>
                <a:latin typeface="Cambria" pitchFamily="34" charset="0"/>
                <a:ea typeface="Cambria" pitchFamily="34" charset="-122"/>
                <a:cs typeface="Cambria" pitchFamily="34" charset="-120"/>
              </a:rPr>
              <a:t>What most systems do</a:t>
            </a:r>
            <a:endParaRPr lang="en-US" sz="1300" dirty="0"/>
          </a:p>
        </p:txBody>
      </p:sp>
      <p:sp>
        <p:nvSpPr>
          <p:cNvPr id="6" name="Text 4"/>
          <p:cNvSpPr txBox="1"/>
          <p:nvPr/>
        </p:nvSpPr>
        <p:spPr>
          <a:xfrm>
            <a:off x="868680" y="2011680"/>
            <a:ext cx="4754880" cy="822960"/>
          </a:xfrm>
          <a:prstGeom prst="rect">
            <a:avLst/>
          </a:prstGeom>
          <a:noFill/>
          <a:ln/>
        </p:spPr>
        <p:txBody>
          <a:bodyPr wrap="square" lIns="0" tIns="0" rIns="0" bIns="0" rtlCol="0" anchor="ctr"/>
          <a:lstStyle/>
          <a:p>
            <a:pPr indent="0" marL="0">
              <a:lnSpc>
                <a:spcPct val="115000"/>
              </a:lnSpc>
              <a:buNone/>
            </a:pPr>
            <a:r>
              <a:rPr lang="en-US" sz="1300" dirty="0">
                <a:solidFill>
                  <a:srgbClr val="BFD3E6"/>
                </a:solidFill>
                <a:latin typeface="Calibri" pitchFamily="34" charset="0"/>
                <a:ea typeface="Calibri" pitchFamily="34" charset="-122"/>
                <a:cs typeface="Calibri" pitchFamily="34" charset="-120"/>
              </a:rPr>
              <a:t>The caller passes deidentified: true and the platform believes it. The control is a self-report by the party it constrains.</a:t>
            </a:r>
            <a:endParaRPr lang="en-US" sz="1300" dirty="0"/>
          </a:p>
        </p:txBody>
      </p:sp>
      <p:sp>
        <p:nvSpPr>
          <p:cNvPr id="7" name="Shape 5"/>
          <p:cNvSpPr/>
          <p:nvPr/>
        </p:nvSpPr>
        <p:spPr>
          <a:xfrm>
            <a:off x="6236208" y="1481328"/>
            <a:ext cx="5349240" cy="1481328"/>
          </a:xfrm>
          <a:prstGeom prst="roundRect">
            <a:avLst>
              <a:gd name="adj" fmla="val 5556"/>
            </a:avLst>
          </a:prstGeom>
          <a:solidFill>
            <a:srgbClr val="17352A"/>
          </a:solidFill>
          <a:ln w="12700">
            <a:solidFill>
              <a:srgbClr val="2E6B4A"/>
            </a:solidFill>
            <a:prstDash val="solid"/>
          </a:ln>
        </p:spPr>
        <p:txBody>
          <a:bodyPr/>
          <a:p/>
        </p:txBody>
      </p:sp>
      <p:sp>
        <p:nvSpPr>
          <p:cNvPr id="8" name="Text 6"/>
          <p:cNvSpPr txBox="1"/>
          <p:nvPr/>
        </p:nvSpPr>
        <p:spPr>
          <a:xfrm>
            <a:off x="6537960" y="1664208"/>
            <a:ext cx="4754880" cy="292608"/>
          </a:xfrm>
          <a:prstGeom prst="rect">
            <a:avLst/>
          </a:prstGeom>
          <a:noFill/>
          <a:ln/>
        </p:spPr>
        <p:txBody>
          <a:bodyPr wrap="square" lIns="0" tIns="0" rIns="0" bIns="0" rtlCol="0" anchor="ctr"/>
          <a:lstStyle/>
          <a:p>
            <a:pPr indent="0" marL="0">
              <a:buNone/>
            </a:pPr>
            <a:r>
              <a:rPr lang="en-US" sz="1300" b="1" dirty="0">
                <a:solidFill>
                  <a:srgbClr val="6BCB8F"/>
                </a:solidFill>
                <a:latin typeface="Cambria" pitchFamily="34" charset="0"/>
                <a:ea typeface="Cambria" pitchFamily="34" charset="-122"/>
                <a:cs typeface="Cambria" pitchFamily="34" charset="-120"/>
              </a:rPr>
              <a:t>What Aegis does</a:t>
            </a:r>
            <a:endParaRPr lang="en-US" sz="1300" dirty="0"/>
          </a:p>
        </p:txBody>
      </p:sp>
      <p:sp>
        <p:nvSpPr>
          <p:cNvPr id="9" name="Text 7"/>
          <p:cNvSpPr txBox="1"/>
          <p:nvPr/>
        </p:nvSpPr>
        <p:spPr>
          <a:xfrm>
            <a:off x="6537960" y="2011680"/>
            <a:ext cx="4754880" cy="822960"/>
          </a:xfrm>
          <a:prstGeom prst="rect">
            <a:avLst/>
          </a:prstGeom>
          <a:noFill/>
          <a:ln/>
        </p:spPr>
        <p:txBody>
          <a:bodyPr wrap="square" lIns="0" tIns="0" rIns="0" bIns="0" rtlCol="0" anchor="ctr"/>
          <a:lstStyle/>
          <a:p>
            <a:pPr indent="0" marL="0">
              <a:lnSpc>
                <a:spcPct val="115000"/>
              </a:lnSpc>
              <a:buNone/>
            </a:pPr>
            <a:r>
              <a:rPr lang="en-US" sz="1300" dirty="0">
                <a:solidFill>
                  <a:srgbClr val="BFD3E6"/>
                </a:solidFill>
                <a:latin typeface="Calibri" pitchFamily="34" charset="0"/>
                <a:ea typeface="Calibri" pitchFamily="34" charset="-122"/>
                <a:cs typeface="Calibri" pitchFamily="34" charset="-120"/>
              </a:rPr>
              <a:t>A cryptographically signed sanitized_ref, issued only by mask_pii. A forged or tampered reference is refused by the guard.</a:t>
            </a:r>
            <a:endParaRPr lang="en-US" sz="1300" dirty="0"/>
          </a:p>
        </p:txBody>
      </p:sp>
      <p:sp>
        <p:nvSpPr>
          <p:cNvPr id="10" name="Text 8"/>
          <p:cNvSpPr txBox="1"/>
          <p:nvPr/>
        </p:nvSpPr>
        <p:spPr>
          <a:xfrm>
            <a:off x="566928" y="3255264"/>
            <a:ext cx="11018520" cy="658368"/>
          </a:xfrm>
          <a:prstGeom prst="rect">
            <a:avLst/>
          </a:prstGeom>
          <a:noFill/>
          <a:ln/>
        </p:spPr>
        <p:txBody>
          <a:bodyPr wrap="square" lIns="0" tIns="0" rIns="0" bIns="0" rtlCol="0" anchor="t"/>
          <a:lstStyle/>
          <a:p>
            <a:pPr indent="0" marL="0">
              <a:lnSpc>
                <a:spcPct val="115000"/>
              </a:lnSpc>
              <a:buNone/>
            </a:pPr>
            <a:r>
              <a:rPr lang="en-US" sz="1450" dirty="0">
                <a:solidFill>
                  <a:srgbClr val="FFFFFF"/>
                </a:solidFill>
                <a:latin typeface="Calibri" pitchFamily="34" charset="0"/>
                <a:ea typeface="Calibri" pitchFamily="34" charset="-122"/>
                <a:cs typeface="Calibri" pitchFamily="34" charset="-120"/>
              </a:rPr>
              <a:t>And the raw application text — and the drafted notice — never cross workflow state at all. Only opaque references do. The strict PII canary found zero leaks across Logs, X-Ray, DLQ and Step Functions history.</a:t>
            </a:r>
            <a:endParaRPr lang="en-US" sz="1450" dirty="0"/>
          </a:p>
        </p:txBody>
      </p:sp>
      <p:sp>
        <p:nvSpPr>
          <p:cNvPr id="11" name="Shape 9"/>
          <p:cNvSpPr/>
          <p:nvPr/>
        </p:nvSpPr>
        <p:spPr>
          <a:xfrm>
            <a:off x="566928" y="4078224"/>
            <a:ext cx="11018520" cy="1810512"/>
          </a:xfrm>
          <a:prstGeom prst="roundRect">
            <a:avLst>
              <a:gd name="adj" fmla="val 4545"/>
            </a:avLst>
          </a:prstGeom>
          <a:solidFill>
            <a:srgbClr val="2C3A4E"/>
          </a:solidFill>
          <a:ln w="12700">
            <a:solidFill>
              <a:srgbClr val="3B4C63"/>
            </a:solidFill>
            <a:prstDash val="solid"/>
          </a:ln>
        </p:spPr>
        <p:txBody>
          <a:bodyPr/>
          <a:p/>
        </p:txBody>
      </p:sp>
      <p:sp>
        <p:nvSpPr>
          <p:cNvPr id="12" name="Text 10"/>
          <p:cNvSpPr txBox="1"/>
          <p:nvPr/>
        </p:nvSpPr>
        <p:spPr>
          <a:xfrm>
            <a:off x="868680" y="4279392"/>
            <a:ext cx="10424160" cy="329184"/>
          </a:xfrm>
          <a:prstGeom prst="rect">
            <a:avLst/>
          </a:prstGeom>
          <a:noFill/>
          <a:ln/>
        </p:spPr>
        <p:txBody>
          <a:bodyPr wrap="square" lIns="0" tIns="0" rIns="0" bIns="0" rtlCol="0" anchor="ctr"/>
          <a:lstStyle/>
          <a:p>
            <a:pPr indent="0" marL="0">
              <a:buNone/>
            </a:pPr>
            <a:r>
              <a:rPr lang="en-US" sz="1500" b="1" dirty="0">
                <a:solidFill>
                  <a:srgbClr val="6BCB8F"/>
                </a:solidFill>
                <a:latin typeface="Cambria" pitchFamily="34" charset="0"/>
                <a:ea typeface="Cambria" pitchFamily="34" charset="-122"/>
                <a:cs typeface="Cambria" pitchFamily="34" charset="-120"/>
              </a:rPr>
              <a:t>Why this is also the answer to “what if someone bypasses the gateway?”</a:t>
            </a:r>
            <a:endParaRPr lang="en-US" sz="1500" dirty="0"/>
          </a:p>
        </p:txBody>
      </p:sp>
      <p:sp>
        <p:nvSpPr>
          <p:cNvPr id="13" name="Text 11"/>
          <p:cNvSpPr txBox="1"/>
          <p:nvPr/>
        </p:nvSpPr>
        <p:spPr>
          <a:xfrm>
            <a:off x="868680" y="4626864"/>
            <a:ext cx="10424160" cy="1170432"/>
          </a:xfrm>
          <a:prstGeom prst="rect">
            <a:avLst/>
          </a:prstGeom>
          <a:noFill/>
          <a:ln/>
        </p:spPr>
        <p:txBody>
          <a:bodyPr wrap="square" lIns="0" tIns="0" rIns="0" bIns="0" rtlCol="0" anchor="ctr"/>
          <a:lstStyle/>
          <a:p>
            <a:pPr indent="0" marL="0">
              <a:lnSpc>
                <a:spcPct val="115000"/>
              </a:lnSpc>
              <a:buNone/>
            </a:pPr>
            <a:r>
              <a:rPr lang="en-US" sz="1250" dirty="0">
                <a:solidFill>
                  <a:srgbClr val="BFD3E6"/>
                </a:solidFill>
                <a:latin typeface="Calibri" pitchFamily="34" charset="0"/>
                <a:ea typeface="Calibri" pitchFamily="34" charset="-122"/>
                <a:cs typeface="Calibri" pitchFamily="34" charset="-120"/>
              </a:rPr>
              <a:t>We tested a control (RT-4) that restricted the runtime to gateway-only invocation. It worked — and because the gateway sits downstream of the runtime in this topology, it left the agent with no permitted invoker and failed four gate checks. It is now opt-in and off by default, so R4-2 is OPEN and we say so. The bypass is mitigated where it actually bites: the four mask_before_* forbids refuse the consequential actions without the signature, whoever calls. RT-4 would have closed a path; these close the action.</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1D6F42"/>
                </a:solidFill>
                <a:latin typeface="Calibri" pitchFamily="34" charset="0"/>
                <a:ea typeface="Calibri" pitchFamily="34" charset="-122"/>
                <a:cs typeface="Calibri" pitchFamily="34" charset="-120"/>
              </a:rPr>
              <a:t>WHAT IS PROVEN</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21 of 21, from zero, then torn down to nothing</a:t>
            </a:r>
            <a:endParaRPr lang="en-US" sz="3400" dirty="0"/>
          </a:p>
        </p:txBody>
      </p:sp>
      <p:sp>
        <p:nvSpPr>
          <p:cNvPr id="4" name="Shape 2"/>
          <p:cNvSpPr/>
          <p:nvPr/>
        </p:nvSpPr>
        <p:spPr>
          <a:xfrm>
            <a:off x="9893808" y="420624"/>
            <a:ext cx="1691640" cy="274320"/>
          </a:xfrm>
          <a:prstGeom prst="roundRect">
            <a:avLst>
              <a:gd name="adj" fmla="val 50000"/>
            </a:avLst>
          </a:prstGeom>
          <a:solidFill>
            <a:srgbClr val="1D6F42"/>
          </a:solidFill>
          <a:ln w="12700">
            <a:solidFill>
              <a:srgbClr val="1D6F42"/>
            </a:solidFill>
            <a:prstDash val="solid"/>
          </a:ln>
        </p:spPr>
        <p:txBody>
          <a:bodyPr/>
          <a:p/>
        </p:txBody>
      </p:sp>
      <p:sp>
        <p:nvSpPr>
          <p:cNvPr id="5" name="Text 3"/>
          <p:cNvSpPr txBox="1"/>
          <p:nvPr/>
        </p:nvSpPr>
        <p:spPr>
          <a:xfrm>
            <a:off x="9893808" y="420624"/>
            <a:ext cx="169164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PROVEN LIVE</a:t>
            </a:r>
            <a:endParaRPr lang="en-US" sz="1050" dirty="0"/>
          </a:p>
        </p:txBody>
      </p:sp>
      <p:sp>
        <p:nvSpPr>
          <p:cNvPr id="6" name="Shape 4"/>
          <p:cNvSpPr/>
          <p:nvPr/>
        </p:nvSpPr>
        <p:spPr>
          <a:xfrm>
            <a:off x="566928" y="1517904"/>
            <a:ext cx="5349240" cy="731520"/>
          </a:xfrm>
          <a:prstGeom prst="roundRect">
            <a:avLst>
              <a:gd name="adj" fmla="val 11250"/>
            </a:avLst>
          </a:prstGeom>
          <a:solidFill>
            <a:srgbClr val="E4F2EA"/>
          </a:solidFill>
          <a:ln w="12700">
            <a:solidFill>
              <a:srgbClr val="CBE5D6"/>
            </a:solidFill>
            <a:prstDash val="solid"/>
          </a:ln>
        </p:spPr>
        <p:txBody>
          <a:bodyPr/>
          <a:p/>
        </p:txBody>
      </p:sp>
      <p:sp>
        <p:nvSpPr>
          <p:cNvPr id="7" name="Shape 5"/>
          <p:cNvSpPr/>
          <p:nvPr/>
        </p:nvSpPr>
        <p:spPr>
          <a:xfrm>
            <a:off x="731520" y="1719072"/>
            <a:ext cx="329184" cy="329184"/>
          </a:xfrm>
          <a:prstGeom prst="ellipse">
            <a:avLst/>
          </a:prstGeom>
          <a:solidFill>
            <a:srgbClr val="1D6F42"/>
          </a:solidFill>
          <a:ln w="12700">
            <a:solidFill>
              <a:srgbClr val="1D6F42"/>
            </a:solidFill>
            <a:prstDash val="solid"/>
          </a:ln>
        </p:spPr>
        <p:txBody>
          <a:bodyPr/>
          <a:p/>
        </p:txBody>
      </p:sp>
      <p:sp>
        <p:nvSpPr>
          <p:cNvPr id="8" name="Text 6"/>
          <p:cNvSpPr txBox="1"/>
          <p:nvPr/>
        </p:nvSpPr>
        <p:spPr>
          <a:xfrm>
            <a:off x="731520" y="171907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1170432" y="1572768"/>
            <a:ext cx="2212848" cy="62179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Deploy from zero</a:t>
            </a:r>
            <a:endParaRPr lang="en-US" sz="1250" dirty="0"/>
          </a:p>
        </p:txBody>
      </p:sp>
      <p:sp>
        <p:nvSpPr>
          <p:cNvPr id="10" name="Text 8"/>
          <p:cNvSpPr txBox="1"/>
          <p:nvPr/>
        </p:nvSpPr>
        <p:spPr>
          <a:xfrm>
            <a:off x="3438144" y="1572768"/>
            <a:ext cx="2331720" cy="621792"/>
          </a:xfrm>
          <a:prstGeom prst="rect">
            <a:avLst/>
          </a:prstGeom>
          <a:noFill/>
          <a:ln/>
        </p:spPr>
        <p:txBody>
          <a:bodyPr wrap="square" lIns="0" tIns="0" rIns="0" bIns="0" rtlCol="0" anchor="ctr"/>
          <a:lstStyle/>
          <a:p>
            <a:pPr indent="0" marL="0">
              <a:buNone/>
            </a:pPr>
            <a:r>
              <a:rPr lang="en-US" sz="1100" dirty="0">
                <a:solidFill>
                  <a:srgbClr val="2C3A4E"/>
                </a:solidFill>
                <a:latin typeface="Calibri" pitchFamily="34" charset="0"/>
                <a:ea typeface="Calibri" pitchFamily="34" charset="-122"/>
                <a:cs typeface="Calibri" pitchFamily="34" charset="-120"/>
              </a:rPr>
              <a:t>rc=0 in 722s · nine stacks</a:t>
            </a:r>
            <a:endParaRPr lang="en-US" sz="1100" dirty="0"/>
          </a:p>
        </p:txBody>
      </p:sp>
      <p:sp>
        <p:nvSpPr>
          <p:cNvPr id="11" name="Shape 9"/>
          <p:cNvSpPr/>
          <p:nvPr/>
        </p:nvSpPr>
        <p:spPr>
          <a:xfrm>
            <a:off x="6190488" y="1517904"/>
            <a:ext cx="5349240" cy="731520"/>
          </a:xfrm>
          <a:prstGeom prst="roundRect">
            <a:avLst>
              <a:gd name="adj" fmla="val 11250"/>
            </a:avLst>
          </a:prstGeom>
          <a:solidFill>
            <a:srgbClr val="E4F2EA"/>
          </a:solidFill>
          <a:ln w="12700">
            <a:solidFill>
              <a:srgbClr val="CBE5D6"/>
            </a:solidFill>
            <a:prstDash val="solid"/>
          </a:ln>
        </p:spPr>
        <p:txBody>
          <a:bodyPr/>
          <a:p/>
        </p:txBody>
      </p:sp>
      <p:sp>
        <p:nvSpPr>
          <p:cNvPr id="12" name="Shape 10"/>
          <p:cNvSpPr/>
          <p:nvPr/>
        </p:nvSpPr>
        <p:spPr>
          <a:xfrm>
            <a:off x="6355080" y="1719072"/>
            <a:ext cx="329184" cy="329184"/>
          </a:xfrm>
          <a:prstGeom prst="ellipse">
            <a:avLst/>
          </a:prstGeom>
          <a:solidFill>
            <a:srgbClr val="1D6F42"/>
          </a:solidFill>
          <a:ln w="12700">
            <a:solidFill>
              <a:srgbClr val="1D6F42"/>
            </a:solidFill>
            <a:prstDash val="solid"/>
          </a:ln>
        </p:spPr>
        <p:txBody>
          <a:bodyPr/>
          <a:p/>
        </p:txBody>
      </p:sp>
      <p:sp>
        <p:nvSpPr>
          <p:cNvPr id="13" name="Text 11"/>
          <p:cNvSpPr txBox="1"/>
          <p:nvPr/>
        </p:nvSpPr>
        <p:spPr>
          <a:xfrm>
            <a:off x="6355080" y="171907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4" name="Text 12"/>
          <p:cNvSpPr txBox="1"/>
          <p:nvPr/>
        </p:nvSpPr>
        <p:spPr>
          <a:xfrm>
            <a:off x="6793992" y="1572768"/>
            <a:ext cx="2212848" cy="62179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Cedar ENFORCE</a:t>
            </a:r>
            <a:endParaRPr lang="en-US" sz="1250" dirty="0"/>
          </a:p>
        </p:txBody>
      </p:sp>
      <p:sp>
        <p:nvSpPr>
          <p:cNvPr id="15" name="Text 13"/>
          <p:cNvSpPr txBox="1"/>
          <p:nvPr/>
        </p:nvSpPr>
        <p:spPr>
          <a:xfrm>
            <a:off x="9061704" y="1572768"/>
            <a:ext cx="2331720" cy="621792"/>
          </a:xfrm>
          <a:prstGeom prst="rect">
            <a:avLst/>
          </a:prstGeom>
          <a:noFill/>
          <a:ln/>
        </p:spPr>
        <p:txBody>
          <a:bodyPr wrap="square" lIns="0" tIns="0" rIns="0" bIns="0" rtlCol="0" anchor="ctr"/>
          <a:lstStyle/>
          <a:p>
            <a:pPr indent="0" marL="0">
              <a:buNone/>
            </a:pPr>
            <a:r>
              <a:rPr lang="en-US" sz="1100" dirty="0">
                <a:solidFill>
                  <a:srgbClr val="2C3A4E"/>
                </a:solidFill>
                <a:latin typeface="Calibri" pitchFamily="34" charset="0"/>
                <a:ea typeface="Calibri" pitchFamily="34" charset="-122"/>
                <a:cs typeface="Calibri" pitchFamily="34" charset="-120"/>
              </a:rPr>
              <a:t>13 policies ACTIVE, twice</a:t>
            </a:r>
            <a:endParaRPr lang="en-US" sz="1100" dirty="0"/>
          </a:p>
        </p:txBody>
      </p:sp>
      <p:sp>
        <p:nvSpPr>
          <p:cNvPr id="16" name="Shape 14"/>
          <p:cNvSpPr/>
          <p:nvPr/>
        </p:nvSpPr>
        <p:spPr>
          <a:xfrm>
            <a:off x="566928" y="2377440"/>
            <a:ext cx="5349240" cy="731520"/>
          </a:xfrm>
          <a:prstGeom prst="roundRect">
            <a:avLst>
              <a:gd name="adj" fmla="val 11250"/>
            </a:avLst>
          </a:prstGeom>
          <a:solidFill>
            <a:srgbClr val="E4F2EA"/>
          </a:solidFill>
          <a:ln w="12700">
            <a:solidFill>
              <a:srgbClr val="CBE5D6"/>
            </a:solidFill>
            <a:prstDash val="solid"/>
          </a:ln>
        </p:spPr>
        <p:txBody>
          <a:bodyPr/>
          <a:p/>
        </p:txBody>
      </p:sp>
      <p:sp>
        <p:nvSpPr>
          <p:cNvPr id="17" name="Shape 15"/>
          <p:cNvSpPr/>
          <p:nvPr/>
        </p:nvSpPr>
        <p:spPr>
          <a:xfrm>
            <a:off x="731520" y="2578608"/>
            <a:ext cx="329184" cy="329184"/>
          </a:xfrm>
          <a:prstGeom prst="ellipse">
            <a:avLst/>
          </a:prstGeom>
          <a:solidFill>
            <a:srgbClr val="1D6F42"/>
          </a:solidFill>
          <a:ln w="12700">
            <a:solidFill>
              <a:srgbClr val="1D6F42"/>
            </a:solidFill>
            <a:prstDash val="solid"/>
          </a:ln>
        </p:spPr>
        <p:txBody>
          <a:bodyPr/>
          <a:p/>
        </p:txBody>
      </p:sp>
      <p:sp>
        <p:nvSpPr>
          <p:cNvPr id="18" name="Text 16"/>
          <p:cNvSpPr txBox="1"/>
          <p:nvPr/>
        </p:nvSpPr>
        <p:spPr>
          <a:xfrm>
            <a:off x="731520" y="2578608"/>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9" name="Text 17"/>
          <p:cNvSpPr txBox="1"/>
          <p:nvPr/>
        </p:nvSpPr>
        <p:spPr>
          <a:xfrm>
            <a:off x="1170432" y="2432304"/>
            <a:ext cx="2212848" cy="62179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Guardrail on every call</a:t>
            </a:r>
            <a:endParaRPr lang="en-US" sz="1250" dirty="0"/>
          </a:p>
        </p:txBody>
      </p:sp>
      <p:sp>
        <p:nvSpPr>
          <p:cNvPr id="20" name="Text 18"/>
          <p:cNvSpPr txBox="1"/>
          <p:nvPr/>
        </p:nvSpPr>
        <p:spPr>
          <a:xfrm>
            <a:off x="3438144" y="2432304"/>
            <a:ext cx="2331720" cy="621792"/>
          </a:xfrm>
          <a:prstGeom prst="rect">
            <a:avLst/>
          </a:prstGeom>
          <a:noFill/>
          <a:ln/>
        </p:spPr>
        <p:txBody>
          <a:bodyPr wrap="square" lIns="0" tIns="0" rIns="0" bIns="0" rtlCol="0" anchor="ctr"/>
          <a:lstStyle/>
          <a:p>
            <a:pPr indent="0" marL="0">
              <a:buNone/>
            </a:pPr>
            <a:r>
              <a:rPr lang="en-US" sz="1100" dirty="0">
                <a:solidFill>
                  <a:srgbClr val="2C3A4E"/>
                </a:solidFill>
                <a:latin typeface="Calibri" pitchFamily="34" charset="0"/>
                <a:ea typeface="Calibri" pitchFamily="34" charset="-122"/>
                <a:cs typeface="Calibri" pitchFamily="34" charset="-120"/>
              </a:rPr>
              <a:t>runtime_rows=20 · assessed=20</a:t>
            </a:r>
            <a:endParaRPr lang="en-US" sz="1100" dirty="0"/>
          </a:p>
        </p:txBody>
      </p:sp>
      <p:sp>
        <p:nvSpPr>
          <p:cNvPr id="21" name="Shape 19"/>
          <p:cNvSpPr/>
          <p:nvPr/>
        </p:nvSpPr>
        <p:spPr>
          <a:xfrm>
            <a:off x="6190488" y="2377440"/>
            <a:ext cx="5349240" cy="731520"/>
          </a:xfrm>
          <a:prstGeom prst="roundRect">
            <a:avLst>
              <a:gd name="adj" fmla="val 11250"/>
            </a:avLst>
          </a:prstGeom>
          <a:solidFill>
            <a:srgbClr val="E4F2EA"/>
          </a:solidFill>
          <a:ln w="12700">
            <a:solidFill>
              <a:srgbClr val="CBE5D6"/>
            </a:solidFill>
            <a:prstDash val="solid"/>
          </a:ln>
        </p:spPr>
        <p:txBody>
          <a:bodyPr/>
          <a:p/>
        </p:txBody>
      </p:sp>
      <p:sp>
        <p:nvSpPr>
          <p:cNvPr id="22" name="Shape 20"/>
          <p:cNvSpPr/>
          <p:nvPr/>
        </p:nvSpPr>
        <p:spPr>
          <a:xfrm>
            <a:off x="6355080" y="2578608"/>
            <a:ext cx="329184" cy="329184"/>
          </a:xfrm>
          <a:prstGeom prst="ellipse">
            <a:avLst/>
          </a:prstGeom>
          <a:solidFill>
            <a:srgbClr val="1D6F42"/>
          </a:solidFill>
          <a:ln w="12700">
            <a:solidFill>
              <a:srgbClr val="1D6F42"/>
            </a:solidFill>
            <a:prstDash val="solid"/>
          </a:ln>
        </p:spPr>
        <p:txBody>
          <a:bodyPr/>
          <a:p/>
        </p:txBody>
      </p:sp>
      <p:sp>
        <p:nvSpPr>
          <p:cNvPr id="23" name="Text 21"/>
          <p:cNvSpPr txBox="1"/>
          <p:nvPr/>
        </p:nvSpPr>
        <p:spPr>
          <a:xfrm>
            <a:off x="6355080" y="2578608"/>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4" name="Text 22"/>
          <p:cNvSpPr txBox="1"/>
          <p:nvPr/>
        </p:nvSpPr>
        <p:spPr>
          <a:xfrm>
            <a:off x="6793992" y="2432304"/>
            <a:ext cx="2212848" cy="62179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Multi-tenant isolation</a:t>
            </a:r>
            <a:endParaRPr lang="en-US" sz="1250" dirty="0"/>
          </a:p>
        </p:txBody>
      </p:sp>
      <p:sp>
        <p:nvSpPr>
          <p:cNvPr id="25" name="Text 23"/>
          <p:cNvSpPr txBox="1"/>
          <p:nvPr/>
        </p:nvSpPr>
        <p:spPr>
          <a:xfrm>
            <a:off x="9061704" y="2432304"/>
            <a:ext cx="2331720" cy="621792"/>
          </a:xfrm>
          <a:prstGeom prst="rect">
            <a:avLst/>
          </a:prstGeom>
          <a:noFill/>
          <a:ln/>
        </p:spPr>
        <p:txBody>
          <a:bodyPr wrap="square" lIns="0" tIns="0" rIns="0" bIns="0" rtlCol="0" anchor="ctr"/>
          <a:lstStyle/>
          <a:p>
            <a:pPr indent="0" marL="0">
              <a:buNone/>
            </a:pPr>
            <a:r>
              <a:rPr lang="en-US" sz="1100" dirty="0">
                <a:solidFill>
                  <a:srgbClr val="2C3A4E"/>
                </a:solidFill>
                <a:latin typeface="Calibri" pitchFamily="34" charset="0"/>
                <a:ea typeface="Calibri" pitchFamily="34" charset="-122"/>
                <a:cs typeface="Calibri" pitchFamily="34" charset="-120"/>
              </a:rPr>
              <a:t>audit routing 12/12 · transparency 13/13 per tenant</a:t>
            </a:r>
            <a:endParaRPr lang="en-US" sz="1100" dirty="0"/>
          </a:p>
        </p:txBody>
      </p:sp>
      <p:sp>
        <p:nvSpPr>
          <p:cNvPr id="26" name="Shape 24"/>
          <p:cNvSpPr/>
          <p:nvPr/>
        </p:nvSpPr>
        <p:spPr>
          <a:xfrm>
            <a:off x="566928" y="3236976"/>
            <a:ext cx="5349240" cy="731520"/>
          </a:xfrm>
          <a:prstGeom prst="roundRect">
            <a:avLst>
              <a:gd name="adj" fmla="val 11250"/>
            </a:avLst>
          </a:prstGeom>
          <a:solidFill>
            <a:srgbClr val="E4F2EA"/>
          </a:solidFill>
          <a:ln w="12700">
            <a:solidFill>
              <a:srgbClr val="CBE5D6"/>
            </a:solidFill>
            <a:prstDash val="solid"/>
          </a:ln>
        </p:spPr>
        <p:txBody>
          <a:bodyPr/>
          <a:p/>
        </p:txBody>
      </p:sp>
      <p:sp>
        <p:nvSpPr>
          <p:cNvPr id="27" name="Shape 25"/>
          <p:cNvSpPr/>
          <p:nvPr/>
        </p:nvSpPr>
        <p:spPr>
          <a:xfrm>
            <a:off x="731520" y="3438144"/>
            <a:ext cx="329184" cy="329184"/>
          </a:xfrm>
          <a:prstGeom prst="ellipse">
            <a:avLst/>
          </a:prstGeom>
          <a:solidFill>
            <a:srgbClr val="1D6F42"/>
          </a:solidFill>
          <a:ln w="12700">
            <a:solidFill>
              <a:srgbClr val="1D6F42"/>
            </a:solidFill>
            <a:prstDash val="solid"/>
          </a:ln>
        </p:spPr>
        <p:txBody>
          <a:bodyPr/>
          <a:p/>
        </p:txBody>
      </p:sp>
      <p:sp>
        <p:nvSpPr>
          <p:cNvPr id="28" name="Text 26"/>
          <p:cNvSpPr txBox="1"/>
          <p:nvPr/>
        </p:nvSpPr>
        <p:spPr>
          <a:xfrm>
            <a:off x="731520" y="3438144"/>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9" name="Text 27"/>
          <p:cNvSpPr txBox="1"/>
          <p:nvPr/>
        </p:nvSpPr>
        <p:spPr>
          <a:xfrm>
            <a:off x="1170432" y="3291840"/>
            <a:ext cx="2212848" cy="62179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Kill switch</a:t>
            </a:r>
            <a:endParaRPr lang="en-US" sz="1250" dirty="0"/>
          </a:p>
        </p:txBody>
      </p:sp>
      <p:sp>
        <p:nvSpPr>
          <p:cNvPr id="30" name="Text 28"/>
          <p:cNvSpPr txBox="1"/>
          <p:nvPr/>
        </p:nvSpPr>
        <p:spPr>
          <a:xfrm>
            <a:off x="3438144" y="3291840"/>
            <a:ext cx="2331720" cy="621792"/>
          </a:xfrm>
          <a:prstGeom prst="rect">
            <a:avLst/>
          </a:prstGeom>
          <a:noFill/>
          <a:ln/>
        </p:spPr>
        <p:txBody>
          <a:bodyPr wrap="square" lIns="0" tIns="0" rIns="0" bIns="0" rtlCol="0" anchor="ctr"/>
          <a:lstStyle/>
          <a:p>
            <a:pPr indent="0" marL="0">
              <a:buNone/>
            </a:pPr>
            <a:r>
              <a:rPr lang="en-US" sz="1100" dirty="0">
                <a:solidFill>
                  <a:srgbClr val="2C3A4E"/>
                </a:solidFill>
                <a:latin typeface="Calibri" pitchFamily="34" charset="0"/>
                <a:ea typeface="Calibri" pitchFamily="34" charset="-122"/>
                <a:cs typeface="Calibri" pitchFamily="34" charset="-120"/>
              </a:rPr>
              <a:t>engaged, blocked, disengaged · 105s</a:t>
            </a:r>
            <a:endParaRPr lang="en-US" sz="1100" dirty="0"/>
          </a:p>
        </p:txBody>
      </p:sp>
      <p:sp>
        <p:nvSpPr>
          <p:cNvPr id="31" name="Shape 29"/>
          <p:cNvSpPr/>
          <p:nvPr/>
        </p:nvSpPr>
        <p:spPr>
          <a:xfrm>
            <a:off x="6190488" y="3236976"/>
            <a:ext cx="5349240" cy="731520"/>
          </a:xfrm>
          <a:prstGeom prst="roundRect">
            <a:avLst>
              <a:gd name="adj" fmla="val 11250"/>
            </a:avLst>
          </a:prstGeom>
          <a:solidFill>
            <a:srgbClr val="E4F2EA"/>
          </a:solidFill>
          <a:ln w="12700">
            <a:solidFill>
              <a:srgbClr val="CBE5D6"/>
            </a:solidFill>
            <a:prstDash val="solid"/>
          </a:ln>
        </p:spPr>
        <p:txBody>
          <a:bodyPr/>
          <a:p/>
        </p:txBody>
      </p:sp>
      <p:sp>
        <p:nvSpPr>
          <p:cNvPr id="32" name="Shape 30"/>
          <p:cNvSpPr/>
          <p:nvPr/>
        </p:nvSpPr>
        <p:spPr>
          <a:xfrm>
            <a:off x="6355080" y="3438144"/>
            <a:ext cx="329184" cy="329184"/>
          </a:xfrm>
          <a:prstGeom prst="ellipse">
            <a:avLst/>
          </a:prstGeom>
          <a:solidFill>
            <a:srgbClr val="1D6F42"/>
          </a:solidFill>
          <a:ln w="12700">
            <a:solidFill>
              <a:srgbClr val="1D6F42"/>
            </a:solidFill>
            <a:prstDash val="solid"/>
          </a:ln>
        </p:spPr>
        <p:txBody>
          <a:bodyPr/>
          <a:p/>
        </p:txBody>
      </p:sp>
      <p:sp>
        <p:nvSpPr>
          <p:cNvPr id="33" name="Text 31"/>
          <p:cNvSpPr txBox="1"/>
          <p:nvPr/>
        </p:nvSpPr>
        <p:spPr>
          <a:xfrm>
            <a:off x="6355080" y="3438144"/>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34" name="Text 32"/>
          <p:cNvSpPr txBox="1"/>
          <p:nvPr/>
        </p:nvSpPr>
        <p:spPr>
          <a:xfrm>
            <a:off x="6793992" y="3291840"/>
            <a:ext cx="2212848" cy="62179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Per-tenant budget</a:t>
            </a:r>
            <a:endParaRPr lang="en-US" sz="1250" dirty="0"/>
          </a:p>
        </p:txBody>
      </p:sp>
      <p:sp>
        <p:nvSpPr>
          <p:cNvPr id="35" name="Text 33"/>
          <p:cNvSpPr txBox="1"/>
          <p:nvPr/>
        </p:nvSpPr>
        <p:spPr>
          <a:xfrm>
            <a:off x="9061704" y="3291840"/>
            <a:ext cx="2331720" cy="621792"/>
          </a:xfrm>
          <a:prstGeom prst="rect">
            <a:avLst/>
          </a:prstGeom>
          <a:noFill/>
          <a:ln/>
        </p:spPr>
        <p:txBody>
          <a:bodyPr wrap="square" lIns="0" tIns="0" rIns="0" bIns="0" rtlCol="0" anchor="ctr"/>
          <a:lstStyle/>
          <a:p>
            <a:pPr indent="0" marL="0">
              <a:buNone/>
            </a:pPr>
            <a:r>
              <a:rPr lang="en-US" sz="1100" dirty="0">
                <a:solidFill>
                  <a:srgbClr val="2C3A4E"/>
                </a:solidFill>
                <a:latin typeface="Calibri" pitchFamily="34" charset="0"/>
                <a:ea typeface="Calibri" pitchFamily="34" charset="-122"/>
                <a:cs typeface="Calibri" pitchFamily="34" charset="-120"/>
              </a:rPr>
              <a:t>refused before the spend · 373s</a:t>
            </a:r>
            <a:endParaRPr lang="en-US" sz="1100" dirty="0"/>
          </a:p>
        </p:txBody>
      </p:sp>
      <p:sp>
        <p:nvSpPr>
          <p:cNvPr id="36" name="Shape 34"/>
          <p:cNvSpPr/>
          <p:nvPr/>
        </p:nvSpPr>
        <p:spPr>
          <a:xfrm>
            <a:off x="566928" y="4096512"/>
            <a:ext cx="5349240" cy="731520"/>
          </a:xfrm>
          <a:prstGeom prst="roundRect">
            <a:avLst>
              <a:gd name="adj" fmla="val 11250"/>
            </a:avLst>
          </a:prstGeom>
          <a:solidFill>
            <a:srgbClr val="E4F2EA"/>
          </a:solidFill>
          <a:ln w="12700">
            <a:solidFill>
              <a:srgbClr val="CBE5D6"/>
            </a:solidFill>
            <a:prstDash val="solid"/>
          </a:ln>
        </p:spPr>
        <p:txBody>
          <a:bodyPr/>
          <a:p/>
        </p:txBody>
      </p:sp>
      <p:sp>
        <p:nvSpPr>
          <p:cNvPr id="37" name="Shape 35"/>
          <p:cNvSpPr/>
          <p:nvPr/>
        </p:nvSpPr>
        <p:spPr>
          <a:xfrm>
            <a:off x="731520" y="4297680"/>
            <a:ext cx="329184" cy="329184"/>
          </a:xfrm>
          <a:prstGeom prst="ellipse">
            <a:avLst/>
          </a:prstGeom>
          <a:solidFill>
            <a:srgbClr val="1D6F42"/>
          </a:solidFill>
          <a:ln w="12700">
            <a:solidFill>
              <a:srgbClr val="1D6F42"/>
            </a:solidFill>
            <a:prstDash val="solid"/>
          </a:ln>
        </p:spPr>
        <p:txBody>
          <a:bodyPr/>
          <a:p/>
        </p:txBody>
      </p:sp>
      <p:sp>
        <p:nvSpPr>
          <p:cNvPr id="38" name="Text 36"/>
          <p:cNvSpPr txBox="1"/>
          <p:nvPr/>
        </p:nvSpPr>
        <p:spPr>
          <a:xfrm>
            <a:off x="731520" y="429768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39" name="Text 37"/>
          <p:cNvSpPr txBox="1"/>
          <p:nvPr/>
        </p:nvSpPr>
        <p:spPr>
          <a:xfrm>
            <a:off x="1170432" y="4151376"/>
            <a:ext cx="2212848" cy="62179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Unified lineage</a:t>
            </a:r>
            <a:endParaRPr lang="en-US" sz="1250" dirty="0"/>
          </a:p>
        </p:txBody>
      </p:sp>
      <p:sp>
        <p:nvSpPr>
          <p:cNvPr id="40" name="Text 38"/>
          <p:cNvSpPr txBox="1"/>
          <p:nvPr/>
        </p:nvSpPr>
        <p:spPr>
          <a:xfrm>
            <a:off x="3438144" y="4151376"/>
            <a:ext cx="2331720" cy="621792"/>
          </a:xfrm>
          <a:prstGeom prst="rect">
            <a:avLst/>
          </a:prstGeom>
          <a:noFill/>
          <a:ln/>
        </p:spPr>
        <p:txBody>
          <a:bodyPr wrap="square" lIns="0" tIns="0" rIns="0" bIns="0" rtlCol="0" anchor="ctr"/>
          <a:lstStyle/>
          <a:p>
            <a:pPr indent="0" marL="0">
              <a:buNone/>
            </a:pPr>
            <a:r>
              <a:rPr lang="en-US" sz="1100" dirty="0">
                <a:solidFill>
                  <a:srgbClr val="2C3A4E"/>
                </a:solidFill>
                <a:latin typeface="Calibri" pitchFamily="34" charset="0"/>
                <a:ea typeface="Calibri" pitchFamily="34" charset="-122"/>
                <a:cs typeface="Calibri" pitchFamily="34" charset="-120"/>
              </a:rPr>
              <a:t>orphans=0 · 11 invokes / 11 rows</a:t>
            </a:r>
            <a:endParaRPr lang="en-US" sz="1100" dirty="0"/>
          </a:p>
        </p:txBody>
      </p:sp>
      <p:sp>
        <p:nvSpPr>
          <p:cNvPr id="41" name="Shape 39"/>
          <p:cNvSpPr/>
          <p:nvPr/>
        </p:nvSpPr>
        <p:spPr>
          <a:xfrm>
            <a:off x="6190488" y="4096512"/>
            <a:ext cx="5349240" cy="731520"/>
          </a:xfrm>
          <a:prstGeom prst="roundRect">
            <a:avLst>
              <a:gd name="adj" fmla="val 11250"/>
            </a:avLst>
          </a:prstGeom>
          <a:solidFill>
            <a:srgbClr val="E4F2EA"/>
          </a:solidFill>
          <a:ln w="12700">
            <a:solidFill>
              <a:srgbClr val="CBE5D6"/>
            </a:solidFill>
            <a:prstDash val="solid"/>
          </a:ln>
        </p:spPr>
        <p:txBody>
          <a:bodyPr/>
          <a:p/>
        </p:txBody>
      </p:sp>
      <p:sp>
        <p:nvSpPr>
          <p:cNvPr id="42" name="Shape 40"/>
          <p:cNvSpPr/>
          <p:nvPr/>
        </p:nvSpPr>
        <p:spPr>
          <a:xfrm>
            <a:off x="6355080" y="4297680"/>
            <a:ext cx="329184" cy="329184"/>
          </a:xfrm>
          <a:prstGeom prst="ellipse">
            <a:avLst/>
          </a:prstGeom>
          <a:solidFill>
            <a:srgbClr val="1D6F42"/>
          </a:solidFill>
          <a:ln w="12700">
            <a:solidFill>
              <a:srgbClr val="1D6F42"/>
            </a:solidFill>
            <a:prstDash val="solid"/>
          </a:ln>
        </p:spPr>
        <p:txBody>
          <a:bodyPr/>
          <a:p/>
        </p:txBody>
      </p:sp>
      <p:sp>
        <p:nvSpPr>
          <p:cNvPr id="43" name="Text 41"/>
          <p:cNvSpPr txBox="1"/>
          <p:nvPr/>
        </p:nvSpPr>
        <p:spPr>
          <a:xfrm>
            <a:off x="6355080" y="429768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44" name="Text 42"/>
          <p:cNvSpPr txBox="1"/>
          <p:nvPr/>
        </p:nvSpPr>
        <p:spPr>
          <a:xfrm>
            <a:off x="6793992" y="4151376"/>
            <a:ext cx="2212848" cy="62179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Full case driven</a:t>
            </a:r>
            <a:endParaRPr lang="en-US" sz="1250" dirty="0"/>
          </a:p>
        </p:txBody>
      </p:sp>
      <p:sp>
        <p:nvSpPr>
          <p:cNvPr id="45" name="Text 43"/>
          <p:cNvSpPr txBox="1"/>
          <p:nvPr/>
        </p:nvSpPr>
        <p:spPr>
          <a:xfrm>
            <a:off x="9061704" y="4151376"/>
            <a:ext cx="2331720" cy="621792"/>
          </a:xfrm>
          <a:prstGeom prst="rect">
            <a:avLst/>
          </a:prstGeom>
          <a:noFill/>
          <a:ln/>
        </p:spPr>
        <p:txBody>
          <a:bodyPr wrap="square" lIns="0" tIns="0" rIns="0" bIns="0" rtlCol="0" anchor="ctr"/>
          <a:lstStyle/>
          <a:p>
            <a:pPr indent="0" marL="0">
              <a:buNone/>
            </a:pPr>
            <a:r>
              <a:rPr lang="en-US" sz="1100" dirty="0">
                <a:solidFill>
                  <a:srgbClr val="2C3A4E"/>
                </a:solidFill>
                <a:latin typeface="Calibri" pitchFamily="34" charset="0"/>
                <a:ea typeface="Calibri" pitchFamily="34" charset="-122"/>
                <a:cs typeface="Calibri" pitchFamily="34" charset="-120"/>
              </a:rPr>
              <a:t>LIN-0E6D3D through all ten states</a:t>
            </a:r>
            <a:endParaRPr lang="en-US" sz="1100" dirty="0"/>
          </a:p>
        </p:txBody>
      </p:sp>
      <p:sp>
        <p:nvSpPr>
          <p:cNvPr id="46" name="Shape 44"/>
          <p:cNvSpPr/>
          <p:nvPr/>
        </p:nvSpPr>
        <p:spPr>
          <a:xfrm>
            <a:off x="566928" y="4956048"/>
            <a:ext cx="5349240" cy="731520"/>
          </a:xfrm>
          <a:prstGeom prst="roundRect">
            <a:avLst>
              <a:gd name="adj" fmla="val 11250"/>
            </a:avLst>
          </a:prstGeom>
          <a:solidFill>
            <a:srgbClr val="E4F2EA"/>
          </a:solidFill>
          <a:ln w="12700">
            <a:solidFill>
              <a:srgbClr val="CBE5D6"/>
            </a:solidFill>
            <a:prstDash val="solid"/>
          </a:ln>
        </p:spPr>
        <p:txBody>
          <a:bodyPr/>
          <a:p/>
        </p:txBody>
      </p:sp>
      <p:sp>
        <p:nvSpPr>
          <p:cNvPr id="47" name="Shape 45"/>
          <p:cNvSpPr/>
          <p:nvPr/>
        </p:nvSpPr>
        <p:spPr>
          <a:xfrm>
            <a:off x="731520" y="5157216"/>
            <a:ext cx="329184" cy="329184"/>
          </a:xfrm>
          <a:prstGeom prst="ellipse">
            <a:avLst/>
          </a:prstGeom>
          <a:solidFill>
            <a:srgbClr val="1D6F42"/>
          </a:solidFill>
          <a:ln w="12700">
            <a:solidFill>
              <a:srgbClr val="1D6F42"/>
            </a:solidFill>
            <a:prstDash val="solid"/>
          </a:ln>
        </p:spPr>
        <p:txBody>
          <a:bodyPr/>
          <a:p/>
        </p:txBody>
      </p:sp>
      <p:sp>
        <p:nvSpPr>
          <p:cNvPr id="48" name="Text 46"/>
          <p:cNvSpPr txBox="1"/>
          <p:nvPr/>
        </p:nvSpPr>
        <p:spPr>
          <a:xfrm>
            <a:off x="731520" y="5157216"/>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49" name="Text 47"/>
          <p:cNvSpPr txBox="1"/>
          <p:nvPr/>
        </p:nvSpPr>
        <p:spPr>
          <a:xfrm>
            <a:off x="1170432" y="5010912"/>
            <a:ext cx="2212848" cy="62179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Policy provenance</a:t>
            </a:r>
            <a:endParaRPr lang="en-US" sz="1250" dirty="0"/>
          </a:p>
        </p:txBody>
      </p:sp>
      <p:sp>
        <p:nvSpPr>
          <p:cNvPr id="50" name="Text 48"/>
          <p:cNvSpPr txBox="1"/>
          <p:nvPr/>
        </p:nvSpPr>
        <p:spPr>
          <a:xfrm>
            <a:off x="3438144" y="5010912"/>
            <a:ext cx="2331720" cy="621792"/>
          </a:xfrm>
          <a:prstGeom prst="rect">
            <a:avLst/>
          </a:prstGeom>
          <a:noFill/>
          <a:ln/>
        </p:spPr>
        <p:txBody>
          <a:bodyPr wrap="square" lIns="0" tIns="0" rIns="0" bIns="0" rtlCol="0" anchor="ctr"/>
          <a:lstStyle/>
          <a:p>
            <a:pPr indent="0" marL="0">
              <a:buNone/>
            </a:pPr>
            <a:r>
              <a:rPr lang="en-US" sz="1100" dirty="0">
                <a:solidFill>
                  <a:srgbClr val="2C3A4E"/>
                </a:solidFill>
                <a:latin typeface="Calibri" pitchFamily="34" charset="0"/>
                <a:ea typeface="Calibri" pitchFamily="34" charset="-122"/>
                <a:cs typeface="Calibri" pitchFamily="34" charset="-120"/>
              </a:rPr>
              <a:t>policy_version in a live ledger row</a:t>
            </a:r>
            <a:endParaRPr lang="en-US" sz="1100" dirty="0"/>
          </a:p>
        </p:txBody>
      </p:sp>
      <p:sp>
        <p:nvSpPr>
          <p:cNvPr id="51" name="Shape 49"/>
          <p:cNvSpPr/>
          <p:nvPr/>
        </p:nvSpPr>
        <p:spPr>
          <a:xfrm>
            <a:off x="6190488" y="4956048"/>
            <a:ext cx="5349240" cy="731520"/>
          </a:xfrm>
          <a:prstGeom prst="roundRect">
            <a:avLst>
              <a:gd name="adj" fmla="val 11250"/>
            </a:avLst>
          </a:prstGeom>
          <a:solidFill>
            <a:srgbClr val="E4F2EA"/>
          </a:solidFill>
          <a:ln w="12700">
            <a:solidFill>
              <a:srgbClr val="CBE5D6"/>
            </a:solidFill>
            <a:prstDash val="solid"/>
          </a:ln>
        </p:spPr>
        <p:txBody>
          <a:bodyPr/>
          <a:p/>
        </p:txBody>
      </p:sp>
      <p:sp>
        <p:nvSpPr>
          <p:cNvPr id="52" name="Shape 50"/>
          <p:cNvSpPr/>
          <p:nvPr/>
        </p:nvSpPr>
        <p:spPr>
          <a:xfrm>
            <a:off x="6355080" y="5157216"/>
            <a:ext cx="329184" cy="329184"/>
          </a:xfrm>
          <a:prstGeom prst="ellipse">
            <a:avLst/>
          </a:prstGeom>
          <a:solidFill>
            <a:srgbClr val="1D6F42"/>
          </a:solidFill>
          <a:ln w="12700">
            <a:solidFill>
              <a:srgbClr val="1D6F42"/>
            </a:solidFill>
            <a:prstDash val="solid"/>
          </a:ln>
        </p:spPr>
        <p:txBody>
          <a:bodyPr/>
          <a:p/>
        </p:txBody>
      </p:sp>
      <p:sp>
        <p:nvSpPr>
          <p:cNvPr id="53" name="Text 51"/>
          <p:cNvSpPr txBox="1"/>
          <p:nvPr/>
        </p:nvSpPr>
        <p:spPr>
          <a:xfrm>
            <a:off x="6355080" y="5157216"/>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54" name="Text 52"/>
          <p:cNvSpPr txBox="1"/>
          <p:nvPr/>
        </p:nvSpPr>
        <p:spPr>
          <a:xfrm>
            <a:off x="6793992" y="5010912"/>
            <a:ext cx="2212848" cy="62179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Teardown</a:t>
            </a:r>
            <a:endParaRPr lang="en-US" sz="1250" dirty="0"/>
          </a:p>
        </p:txBody>
      </p:sp>
      <p:sp>
        <p:nvSpPr>
          <p:cNvPr id="55" name="Text 53"/>
          <p:cNvSpPr txBox="1"/>
          <p:nvPr/>
        </p:nvSpPr>
        <p:spPr>
          <a:xfrm>
            <a:off x="9061704" y="5010912"/>
            <a:ext cx="2331720" cy="621792"/>
          </a:xfrm>
          <a:prstGeom prst="rect">
            <a:avLst/>
          </a:prstGeom>
          <a:noFill/>
          <a:ln/>
        </p:spPr>
        <p:txBody>
          <a:bodyPr wrap="square" lIns="0" tIns="0" rIns="0" bIns="0" rtlCol="0" anchor="ctr"/>
          <a:lstStyle/>
          <a:p>
            <a:pPr indent="0" marL="0">
              <a:buNone/>
            </a:pPr>
            <a:r>
              <a:rPr lang="en-US" sz="1100" dirty="0">
                <a:solidFill>
                  <a:srgbClr val="2C3A4E"/>
                </a:solidFill>
                <a:latin typeface="Calibri" pitchFamily="34" charset="0"/>
                <a:ea typeface="Calibri" pitchFamily="34" charset="-122"/>
                <a:cs typeface="Calibri" pitchFamily="34" charset="-120"/>
              </a:rPr>
              <a:t>stack, AgentCore AND connector residue</a:t>
            </a:r>
            <a:endParaRPr lang="en-US" sz="1100" dirty="0"/>
          </a:p>
        </p:txBody>
      </p:sp>
      <p:sp>
        <p:nvSpPr>
          <p:cNvPr id="56" name="Text 54"/>
          <p:cNvSpPr txBox="1"/>
          <p:nvPr/>
        </p:nvSpPr>
        <p:spPr>
          <a:xfrm>
            <a:off x="566928" y="6089904"/>
            <a:ext cx="11064240" cy="292608"/>
          </a:xfrm>
          <a:prstGeom prst="rect">
            <a:avLst/>
          </a:prstGeom>
          <a:noFill/>
          <a:ln/>
        </p:spPr>
        <p:txBody>
          <a:bodyPr wrap="square" lIns="0" tIns="0" rIns="0" bIns="0" rtlCol="0" anchor="ctr"/>
          <a:lstStyle/>
          <a:p>
            <a:pPr indent="0" marL="0">
              <a:buNone/>
            </a:pPr>
            <a:r>
              <a:rPr lang="en-US" sz="1000" i="1" dirty="0">
                <a:solidFill>
                  <a:srgbClr val="5F7080"/>
                </a:solidFill>
                <a:latin typeface="Calibri" pitchFamily="34" charset="0"/>
                <a:ea typeface="Calibri" pitchFamily="34" charset="-122"/>
                <a:cs typeface="Calibri" pitchFamily="34" charset="-120"/>
              </a:rPr>
              <a:t>Scope of that claim, exactly: one pack, one AWS account, one region, two tenants, synthetic data. Run ben-fpg, 10 September 2026. Evidence: evidence/FULL-PORTFOLIO-GATE-benefits_runtime_agent.json</a:t>
            </a:r>
            <a:endParaRPr lang="en-US" sz="10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B3261E"/>
                </a:solidFill>
                <a:latin typeface="Calibri" pitchFamily="34" charset="0"/>
                <a:ea typeface="Calibri" pitchFamily="34" charset="-122"/>
                <a:cs typeface="Calibri" pitchFamily="34" charset="-120"/>
              </a:rPr>
              <a:t>THE ONE THING THAT CHANGED SINCE 9 SEPTEMBER</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A governed tool now reaches a real OAuth2 system of record. It is ours.</a:t>
            </a:r>
            <a:endParaRPr lang="en-US" sz="3400" dirty="0"/>
          </a:p>
        </p:txBody>
      </p:sp>
      <p:sp>
        <p:nvSpPr>
          <p:cNvPr id="4" name="Shape 2"/>
          <p:cNvSpPr/>
          <p:nvPr/>
        </p:nvSpPr>
        <p:spPr>
          <a:xfrm>
            <a:off x="566928" y="1609344"/>
            <a:ext cx="5349240" cy="2340864"/>
          </a:xfrm>
          <a:prstGeom prst="roundRect">
            <a:avLst>
              <a:gd name="adj" fmla="val 3516"/>
            </a:avLst>
          </a:prstGeom>
          <a:solidFill>
            <a:srgbClr val="E4F2EA"/>
          </a:solidFill>
          <a:ln w="12700">
            <a:solidFill>
              <a:srgbClr val="BFE0CE"/>
            </a:solidFill>
            <a:prstDash val="solid"/>
          </a:ln>
        </p:spPr>
        <p:txBody>
          <a:bodyPr/>
          <a:p/>
        </p:txBody>
      </p:sp>
      <p:sp>
        <p:nvSpPr>
          <p:cNvPr id="5" name="Text 3"/>
          <p:cNvSpPr txBox="1"/>
          <p:nvPr/>
        </p:nvSpPr>
        <p:spPr>
          <a:xfrm>
            <a:off x="868680" y="1773936"/>
            <a:ext cx="4754880" cy="329184"/>
          </a:xfrm>
          <a:prstGeom prst="rect">
            <a:avLst/>
          </a:prstGeom>
          <a:noFill/>
          <a:ln/>
        </p:spPr>
        <p:txBody>
          <a:bodyPr wrap="square" lIns="0" tIns="0" rIns="0" bIns="0" rtlCol="0" anchor="ctr"/>
          <a:lstStyle/>
          <a:p>
            <a:pPr indent="0" marL="0">
              <a:buNone/>
            </a:pPr>
            <a:r>
              <a:rPr lang="en-US" sz="1700" b="1" dirty="0">
                <a:solidFill>
                  <a:srgbClr val="1D6F42"/>
                </a:solidFill>
                <a:latin typeface="Cambria" pitchFamily="34" charset="0"/>
                <a:ea typeface="Cambria" pitchFamily="34" charset="-122"/>
                <a:cs typeface="Cambria" pitchFamily="34" charset="-120"/>
              </a:rPr>
              <a:t>What is now proven</a:t>
            </a:r>
            <a:endParaRPr lang="en-US" sz="1700" dirty="0"/>
          </a:p>
        </p:txBody>
      </p:sp>
      <p:sp>
        <p:nvSpPr>
          <p:cNvPr id="6" name="Text 4"/>
          <p:cNvSpPr txBox="1"/>
          <p:nvPr/>
        </p:nvSpPr>
        <p:spPr>
          <a:xfrm>
            <a:off x="868680" y="2194560"/>
            <a:ext cx="4754880" cy="1627632"/>
          </a:xfrm>
          <a:prstGeom prst="rect">
            <a:avLst/>
          </a:prstGeom>
          <a:noFill/>
          <a:ln/>
        </p:spPr>
        <p:txBody>
          <a:bodyPr wrap="square" lIns="0" tIns="0" rIns="0" bIns="0" rtlCol="0" anchor="ctr"/>
          <a:lstStyle/>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verify_source is a Gateway target and holds NO client secret</a:t>
            </a:r>
            <a:endParaRPr lang="en-US" sz="1200" dirty="0"/>
          </a:p>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The outbound token is minted by the AgentCore Identity vault (M2M)</a:t>
            </a:r>
            <a:endParaRPr lang="en-US" sz="1200" dirty="0"/>
          </a:p>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The system of record verifies RS256 against the issuer's live JWKS</a:t>
            </a:r>
            <a:endParaRPr lang="en-US" sz="1200" dirty="0"/>
          </a:p>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Cedar denied an outsider — naming a specific policy, not refusing everyone</a:t>
            </a:r>
            <a:endParaRPr lang="en-US" sz="1200" dirty="0"/>
          </a:p>
        </p:txBody>
      </p:sp>
      <p:sp>
        <p:nvSpPr>
          <p:cNvPr id="7" name="Shape 5"/>
          <p:cNvSpPr/>
          <p:nvPr/>
        </p:nvSpPr>
        <p:spPr>
          <a:xfrm>
            <a:off x="6236208" y="1609344"/>
            <a:ext cx="5349240" cy="2340864"/>
          </a:xfrm>
          <a:prstGeom prst="roundRect">
            <a:avLst>
              <a:gd name="adj" fmla="val 3516"/>
            </a:avLst>
          </a:prstGeom>
          <a:solidFill>
            <a:srgbClr val="FBE9E7"/>
          </a:solidFill>
          <a:ln w="12700">
            <a:solidFill>
              <a:srgbClr val="F0C4C0"/>
            </a:solidFill>
            <a:prstDash val="solid"/>
          </a:ln>
        </p:spPr>
        <p:txBody>
          <a:bodyPr/>
          <a:p/>
        </p:txBody>
      </p:sp>
      <p:sp>
        <p:nvSpPr>
          <p:cNvPr id="8" name="Text 6"/>
          <p:cNvSpPr txBox="1"/>
          <p:nvPr/>
        </p:nvSpPr>
        <p:spPr>
          <a:xfrm>
            <a:off x="6537960" y="1773936"/>
            <a:ext cx="4754880" cy="329184"/>
          </a:xfrm>
          <a:prstGeom prst="rect">
            <a:avLst/>
          </a:prstGeom>
          <a:noFill/>
          <a:ln/>
        </p:spPr>
        <p:txBody>
          <a:bodyPr wrap="square" lIns="0" tIns="0" rIns="0" bIns="0" rtlCol="0" anchor="ctr"/>
          <a:lstStyle/>
          <a:p>
            <a:pPr indent="0" marL="0">
              <a:buNone/>
            </a:pPr>
            <a:r>
              <a:rPr lang="en-US" sz="1700" b="1" dirty="0">
                <a:solidFill>
                  <a:srgbClr val="B3261E"/>
                </a:solidFill>
                <a:latin typeface="Cambria" pitchFamily="34" charset="0"/>
                <a:ea typeface="Cambria" pitchFamily="34" charset="-122"/>
                <a:cs typeface="Cambria" pitchFamily="34" charset="-120"/>
              </a:rPr>
              <a:t>What it still is not</a:t>
            </a:r>
            <a:endParaRPr lang="en-US" sz="1700" dirty="0"/>
          </a:p>
        </p:txBody>
      </p:sp>
      <p:sp>
        <p:nvSpPr>
          <p:cNvPr id="9" name="Text 7"/>
          <p:cNvSpPr txBox="1"/>
          <p:nvPr/>
        </p:nvSpPr>
        <p:spPr>
          <a:xfrm>
            <a:off x="6537960" y="2194560"/>
            <a:ext cx="4754880" cy="1627632"/>
          </a:xfrm>
          <a:prstGeom prst="rect">
            <a:avLst/>
          </a:prstGeom>
          <a:noFill/>
          <a:ln/>
        </p:spPr>
        <p:txBody>
          <a:bodyPr wrap="square" lIns="0" tIns="0" rIns="0" bIns="0" rtlCol="0" anchor="ctr"/>
          <a:lstStyle/>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The system of record is REAL — and it is OURS. Not a customer's.</a:t>
            </a:r>
            <a:endParaRPr lang="en-US" sz="1200" dirty="0"/>
          </a:p>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connect_system_of_record remains stubbed in the manifest, on purpose</a:t>
            </a:r>
            <a:endParaRPr lang="en-US" sz="1200" dirty="0"/>
          </a:p>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No customer IdP, network boundary, token lifetime or change control</a:t>
            </a:r>
            <a:endParaRPr lang="en-US" sz="1200" dirty="0"/>
          </a:p>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Six from-zero live runs to get this far: treat it as engineering work</a:t>
            </a:r>
            <a:endParaRPr lang="en-US" sz="1200" dirty="0"/>
          </a:p>
        </p:txBody>
      </p:sp>
      <p:sp>
        <p:nvSpPr>
          <p:cNvPr id="10" name="Text 8"/>
          <p:cNvSpPr txBox="1"/>
          <p:nvPr/>
        </p:nvSpPr>
        <p:spPr>
          <a:xfrm>
            <a:off x="566928" y="4169664"/>
            <a:ext cx="11018520" cy="749808"/>
          </a:xfrm>
          <a:prstGeom prst="rect">
            <a:avLst/>
          </a:prstGeom>
          <a:noFill/>
          <a:ln/>
        </p:spPr>
        <p:txBody>
          <a:bodyPr wrap="square" lIns="0" tIns="0" rIns="0" bIns="0" rtlCol="0" anchor="t"/>
          <a:lstStyle/>
          <a:p>
            <a:pPr indent="0" marL="0">
              <a:lnSpc>
                <a:spcPct val="115000"/>
              </a:lnSpc>
              <a:buNone/>
            </a:pPr>
            <a:r>
              <a:rPr lang="en-US" sz="1400" b="1" dirty="0">
                <a:solidFill>
                  <a:srgbClr val="2C3A4E"/>
                </a:solidFill>
                <a:latin typeface="Calibri" pitchFamily="34" charset="0"/>
                <a:ea typeface="Calibri" pitchFamily="34" charset="-122"/>
                <a:cs typeface="Calibri" pitchFamily="34" charset="-120"/>
              </a:rPr>
              <a:t>Why this slide is here. </a:t>
            </a:r>
            <a:pPr indent="0" marL="0">
              <a:lnSpc>
                <a:spcPct val="115000"/>
              </a:lnSpc>
              <a:buNone/>
            </a:pPr>
            <a:r>
              <a:rPr lang="en-US" sz="1400" dirty="0">
                <a:solidFill>
                  <a:srgbClr val="2C3A4E"/>
                </a:solidFill>
                <a:latin typeface="Calibri" pitchFamily="34" charset="0"/>
                <a:ea typeface="Calibri" pitchFamily="34" charset="-122"/>
                <a:cs typeface="Calibri" pitchFamily="34" charset="-120"/>
              </a:rPr>
              <a:t>Nothing in the previous edition of this deck claimed a governed connector, because until 10 September it had never once run to completion. Not one of the six failures was where it appeared to be: authentication, then the gateway authorizer, then the system of record itself — each hidden behind an error written to /dev/null. The gate that now proves it is stricter than the gate that used to pass it.</a:t>
            </a:r>
            <a:endParaRPr lang="en-US" sz="1400" dirty="0"/>
          </a:p>
        </p:txBody>
      </p:sp>
      <p:sp>
        <p:nvSpPr>
          <p:cNvPr id="11" name="Shape 9"/>
          <p:cNvSpPr/>
          <p:nvPr/>
        </p:nvSpPr>
        <p:spPr>
          <a:xfrm>
            <a:off x="566928" y="5029200"/>
            <a:ext cx="11018520" cy="969264"/>
          </a:xfrm>
          <a:prstGeom prst="roundRect">
            <a:avLst>
              <a:gd name="adj" fmla="val 8491"/>
            </a:avLst>
          </a:prstGeom>
          <a:solidFill>
            <a:srgbClr val="F1F4F7"/>
          </a:solidFill>
          <a:ln w="12700">
            <a:solidFill>
              <a:srgbClr val="D8E0E7"/>
            </a:solidFill>
            <a:prstDash val="solid"/>
          </a:ln>
        </p:spPr>
        <p:txBody>
          <a:bodyPr/>
          <a:p/>
        </p:txBody>
      </p:sp>
      <p:sp>
        <p:nvSpPr>
          <p:cNvPr id="12" name="Text 10"/>
          <p:cNvSpPr txBox="1"/>
          <p:nvPr/>
        </p:nvSpPr>
        <p:spPr>
          <a:xfrm>
            <a:off x="868680" y="5138928"/>
            <a:ext cx="4023360" cy="292608"/>
          </a:xfrm>
          <a:prstGeom prst="rect">
            <a:avLst/>
          </a:prstGeom>
          <a:noFill/>
          <a:ln/>
        </p:spPr>
        <p:txBody>
          <a:bodyPr wrap="square" lIns="0" tIns="0" rIns="0" bIns="0" rtlCol="0" anchor="ctr"/>
          <a:lstStyle/>
          <a:p>
            <a:pPr indent="0" marL="0">
              <a:buNone/>
            </a:pPr>
            <a:r>
              <a:rPr lang="en-US" sz="1300" b="1" dirty="0">
                <a:solidFill>
                  <a:srgbClr val="1A2433"/>
                </a:solidFill>
                <a:latin typeface="Cambria" pitchFamily="34" charset="0"/>
                <a:ea typeface="Cambria" pitchFamily="34" charset="-122"/>
                <a:cs typeface="Cambria" pitchFamily="34" charset="-120"/>
              </a:rPr>
              <a:t>The two controls that stop it recurring</a:t>
            </a:r>
            <a:endParaRPr lang="en-US" sz="1300" dirty="0"/>
          </a:p>
        </p:txBody>
      </p:sp>
      <p:sp>
        <p:nvSpPr>
          <p:cNvPr id="13" name="Text 11"/>
          <p:cNvSpPr txBox="1"/>
          <p:nvPr/>
        </p:nvSpPr>
        <p:spPr>
          <a:xfrm>
            <a:off x="868680" y="5449824"/>
            <a:ext cx="10424160" cy="457200"/>
          </a:xfrm>
          <a:prstGeom prst="rect">
            <a:avLst/>
          </a:prstGeom>
          <a:noFill/>
          <a:ln/>
        </p:spPr>
        <p:txBody>
          <a:bodyPr wrap="square" lIns="0" tIns="0" rIns="0" bIns="0" rtlCol="0" anchor="ctr"/>
          <a:lstStyle/>
          <a:p>
            <a:pPr indent="0" marL="0">
              <a:lnSpc>
                <a:spcPct val="110000"/>
              </a:lnSpc>
              <a:buNone/>
            </a:pPr>
            <a:r>
              <a:rPr lang="en-US" sz="1250" dirty="0">
                <a:solidFill>
                  <a:srgbClr val="2C3A4E"/>
                </a:solidFill>
                <a:latin typeface="Calibri" pitchFamily="34" charset="0"/>
                <a:ea typeface="Calibri" pitchFamily="34" charset="-122"/>
                <a:cs typeface="Calibri" pitchFamily="34" charset="-120"/>
              </a:rPr>
              <a:t>CONN_deploy used to pass on the connector's artifacts merely existing, and did so twice over a system of record that trusted nothing. It now also requires the deploy to have exited 0 and the outbound leg to have been exercised — a rule validated by replay against those two failed runs before it shipped. And CI now fails when a new silenced error path appears.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5F7080"/>
                </a:solidFill>
                <a:latin typeface="Calibri" pitchFamily="34" charset="0"/>
                <a:ea typeface="Calibri" pitchFamily="34" charset="-122"/>
                <a:cs typeface="Calibri" pitchFamily="34" charset="-120"/>
              </a:rPr>
              <a:t>WHY YOU SHOULD BELIEVE THE NUMBER ABOVE</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It took seven attempts. All six failures are published.</a:t>
            </a:r>
            <a:endParaRPr lang="en-US" sz="3400" dirty="0"/>
          </a:p>
        </p:txBody>
      </p:sp>
      <p:sp>
        <p:nvSpPr>
          <p:cNvPr id="4" name="Text 2"/>
          <p:cNvSpPr txBox="1"/>
          <p:nvPr/>
        </p:nvSpPr>
        <p:spPr>
          <a:xfrm>
            <a:off x="566928" y="1280160"/>
            <a:ext cx="10881360" cy="658368"/>
          </a:xfrm>
          <a:prstGeom prst="rect">
            <a:avLst/>
          </a:prstGeom>
          <a:noFill/>
          <a:ln/>
        </p:spPr>
        <p:txBody>
          <a:bodyPr wrap="square" lIns="0" tIns="0" rIns="0" bIns="0" rtlCol="0" anchor="t"/>
          <a:lstStyle/>
          <a:p>
            <a:pPr indent="0" marL="0">
              <a:lnSpc>
                <a:spcPct val="115000"/>
              </a:lnSpc>
              <a:buNone/>
            </a:pPr>
            <a:r>
              <a:rPr lang="en-US" sz="1500" dirty="0">
                <a:solidFill>
                  <a:srgbClr val="2C3A4E"/>
                </a:solidFill>
                <a:latin typeface="Calibri" pitchFamily="34" charset="0"/>
                <a:ea typeface="Calibri" pitchFamily="34" charset="-122"/>
                <a:cs typeface="Calibri" pitchFamily="34" charset="-120"/>
              </a:rPr>
              <a:t>The run immediately before the pass reached the checks and failed four of them. It sits in the same commit as the pass. If you read one thing to decide whether this evidence is honest, read those two files side by side.</a:t>
            </a:r>
            <a:endParaRPr lang="en-US" sz="1500" dirty="0"/>
          </a:p>
        </p:txBody>
      </p:sp>
      <p:sp>
        <p:nvSpPr>
          <p:cNvPr id="5" name="Shape 3"/>
          <p:cNvSpPr/>
          <p:nvPr/>
        </p:nvSpPr>
        <p:spPr>
          <a:xfrm>
            <a:off x="566928" y="2103120"/>
            <a:ext cx="11018520" cy="914400"/>
          </a:xfrm>
          <a:prstGeom prst="roundRect">
            <a:avLst>
              <a:gd name="adj" fmla="val 9000"/>
            </a:avLst>
          </a:prstGeom>
          <a:solidFill>
            <a:srgbClr val="FFFFFF"/>
          </a:solidFill>
          <a:ln w="12700">
            <a:solidFill>
              <a:srgbClr val="DDE4EA"/>
            </a:solidFill>
            <a:prstDash val="solid"/>
          </a:ln>
        </p:spPr>
        <p:txBody>
          <a:bodyPr/>
          <a:p/>
        </p:txBody>
      </p:sp>
      <p:sp>
        <p:nvSpPr>
          <p:cNvPr id="6" name="Text 4"/>
          <p:cNvSpPr txBox="1"/>
          <p:nvPr/>
        </p:nvSpPr>
        <p:spPr>
          <a:xfrm>
            <a:off x="786384" y="2157984"/>
            <a:ext cx="1051560" cy="402336"/>
          </a:xfrm>
          <a:prstGeom prst="rect">
            <a:avLst/>
          </a:prstGeom>
          <a:noFill/>
          <a:ln/>
        </p:spPr>
        <p:txBody>
          <a:bodyPr wrap="square" lIns="0" tIns="0" rIns="0" bIns="0" rtlCol="0" anchor="ctr"/>
          <a:lstStyle/>
          <a:p>
            <a:pPr indent="0" marL="0">
              <a:buNone/>
            </a:pPr>
            <a:r>
              <a:rPr lang="en-US" sz="1300" b="1" dirty="0">
                <a:solidFill>
                  <a:srgbClr val="B3261E"/>
                </a:solidFill>
                <a:latin typeface="Courier New" pitchFamily="34" charset="0"/>
                <a:ea typeface="Courier New" pitchFamily="34" charset="-122"/>
                <a:cs typeface="Courier New" pitchFamily="34" charset="-120"/>
              </a:rPr>
              <a:t>L60</a:t>
            </a:r>
            <a:endParaRPr lang="en-US" sz="1300" dirty="0"/>
          </a:p>
        </p:txBody>
      </p:sp>
      <p:sp>
        <p:nvSpPr>
          <p:cNvPr id="7" name="Text 5"/>
          <p:cNvSpPr txBox="1"/>
          <p:nvPr/>
        </p:nvSpPr>
        <p:spPr>
          <a:xfrm>
            <a:off x="1920240" y="2221992"/>
            <a:ext cx="9464040" cy="731520"/>
          </a:xfrm>
          <a:prstGeom prst="rect">
            <a:avLst/>
          </a:prstGeom>
          <a:noFill/>
          <a:ln/>
        </p:spPr>
        <p:txBody>
          <a:bodyPr wrap="square" lIns="0" tIns="0" rIns="0" bIns="0" rtlCol="0" anchor="t"/>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Line-ending noise that was cosmetic — and which I first diagnosed as digest corruption and was wrong. Tested before publishing; the claim was false and the commit message was rewritten.</a:t>
            </a:r>
            <a:endParaRPr lang="en-US" sz="1250" dirty="0"/>
          </a:p>
        </p:txBody>
      </p:sp>
      <p:sp>
        <p:nvSpPr>
          <p:cNvPr id="8" name="Shape 6"/>
          <p:cNvSpPr/>
          <p:nvPr/>
        </p:nvSpPr>
        <p:spPr>
          <a:xfrm>
            <a:off x="566928" y="3127248"/>
            <a:ext cx="11018520" cy="969264"/>
          </a:xfrm>
          <a:prstGeom prst="roundRect">
            <a:avLst>
              <a:gd name="adj" fmla="val 8491"/>
            </a:avLst>
          </a:prstGeom>
          <a:solidFill>
            <a:srgbClr val="F1F4F7"/>
          </a:solidFill>
          <a:ln w="12700">
            <a:solidFill>
              <a:srgbClr val="DDE4EA"/>
            </a:solidFill>
            <a:prstDash val="solid"/>
          </a:ln>
        </p:spPr>
        <p:txBody>
          <a:bodyPr/>
          <a:p/>
        </p:txBody>
      </p:sp>
      <p:sp>
        <p:nvSpPr>
          <p:cNvPr id="9" name="Text 7"/>
          <p:cNvSpPr txBox="1"/>
          <p:nvPr/>
        </p:nvSpPr>
        <p:spPr>
          <a:xfrm>
            <a:off x="786384" y="3182112"/>
            <a:ext cx="1051560" cy="402336"/>
          </a:xfrm>
          <a:prstGeom prst="rect">
            <a:avLst/>
          </a:prstGeom>
          <a:noFill/>
          <a:ln/>
        </p:spPr>
        <p:txBody>
          <a:bodyPr wrap="square" lIns="0" tIns="0" rIns="0" bIns="0" rtlCol="0" anchor="ctr"/>
          <a:lstStyle/>
          <a:p>
            <a:pPr indent="0" marL="0">
              <a:buNone/>
            </a:pPr>
            <a:r>
              <a:rPr lang="en-US" sz="1300" b="1" dirty="0">
                <a:solidFill>
                  <a:srgbClr val="B3261E"/>
                </a:solidFill>
                <a:latin typeface="Courier New" pitchFamily="34" charset="0"/>
                <a:ea typeface="Courier New" pitchFamily="34" charset="-122"/>
                <a:cs typeface="Courier New" pitchFamily="34" charset="-120"/>
              </a:rPr>
              <a:t>L64</a:t>
            </a:r>
            <a:endParaRPr lang="en-US" sz="1300" dirty="0"/>
          </a:p>
        </p:txBody>
      </p:sp>
      <p:sp>
        <p:nvSpPr>
          <p:cNvPr id="10" name="Text 8"/>
          <p:cNvSpPr txBox="1"/>
          <p:nvPr/>
        </p:nvSpPr>
        <p:spPr>
          <a:xfrm>
            <a:off x="1920240" y="3246120"/>
            <a:ext cx="9464040" cy="786384"/>
          </a:xfrm>
          <a:prstGeom prst="rect">
            <a:avLst/>
          </a:prstGeom>
          <a:noFill/>
          <a:ln/>
        </p:spPr>
        <p:txBody>
          <a:bodyPr wrap="square" lIns="0" tIns="0" rIns="0" bIns="0" rtlCol="0" anchor="t"/>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Three consecutive wrong diagnoses of one ConflictException. Real cause: AgentCore policy names are unique per account and region, not per policy engine. The repo's own code comment had said so all along.</a:t>
            </a:r>
            <a:endParaRPr lang="en-US" sz="1250" dirty="0"/>
          </a:p>
        </p:txBody>
      </p:sp>
      <p:sp>
        <p:nvSpPr>
          <p:cNvPr id="11" name="Shape 9"/>
          <p:cNvSpPr/>
          <p:nvPr/>
        </p:nvSpPr>
        <p:spPr>
          <a:xfrm>
            <a:off x="566928" y="4206240"/>
            <a:ext cx="11018520" cy="694944"/>
          </a:xfrm>
          <a:prstGeom prst="roundRect">
            <a:avLst>
              <a:gd name="adj" fmla="val 11842"/>
            </a:avLst>
          </a:prstGeom>
          <a:solidFill>
            <a:srgbClr val="FFFFFF"/>
          </a:solidFill>
          <a:ln w="12700">
            <a:solidFill>
              <a:srgbClr val="DDE4EA"/>
            </a:solidFill>
            <a:prstDash val="solid"/>
          </a:ln>
        </p:spPr>
        <p:txBody>
          <a:bodyPr/>
          <a:p/>
        </p:txBody>
      </p:sp>
      <p:sp>
        <p:nvSpPr>
          <p:cNvPr id="12" name="Text 10"/>
          <p:cNvSpPr txBox="1"/>
          <p:nvPr/>
        </p:nvSpPr>
        <p:spPr>
          <a:xfrm>
            <a:off x="786384" y="4261104"/>
            <a:ext cx="1051560" cy="402336"/>
          </a:xfrm>
          <a:prstGeom prst="rect">
            <a:avLst/>
          </a:prstGeom>
          <a:noFill/>
          <a:ln/>
        </p:spPr>
        <p:txBody>
          <a:bodyPr wrap="square" lIns="0" tIns="0" rIns="0" bIns="0" rtlCol="0" anchor="ctr"/>
          <a:lstStyle/>
          <a:p>
            <a:pPr indent="0" marL="0">
              <a:buNone/>
            </a:pPr>
            <a:r>
              <a:rPr lang="en-US" sz="1300" b="1" dirty="0">
                <a:solidFill>
                  <a:srgbClr val="9A6700"/>
                </a:solidFill>
                <a:latin typeface="Courier New" pitchFamily="34" charset="0"/>
                <a:ea typeface="Courier New" pitchFamily="34" charset="-122"/>
                <a:cs typeface="Courier New" pitchFamily="34" charset="-120"/>
              </a:rPr>
              <a:t>L61</a:t>
            </a:r>
            <a:endParaRPr lang="en-US" sz="1300" dirty="0"/>
          </a:p>
        </p:txBody>
      </p:sp>
      <p:sp>
        <p:nvSpPr>
          <p:cNvPr id="13" name="Text 11"/>
          <p:cNvSpPr txBox="1"/>
          <p:nvPr/>
        </p:nvSpPr>
        <p:spPr>
          <a:xfrm>
            <a:off x="1920240" y="4325112"/>
            <a:ext cx="9464040" cy="512064"/>
          </a:xfrm>
          <a:prstGeom prst="rect">
            <a:avLst/>
          </a:prstGeom>
          <a:noFill/>
          <a:ln/>
        </p:spPr>
        <p:txBody>
          <a:bodyPr wrap="square" lIns="0" tIns="0" rIns="0" bIns="0" rtlCol="0" anchor="t"/>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The CloudTrail five-trails-per-region quota, which AWS marks not adjustable. A service limit, not a defect. Still open.</a:t>
            </a:r>
            <a:endParaRPr lang="en-US" sz="1250" dirty="0"/>
          </a:p>
        </p:txBody>
      </p:sp>
      <p:sp>
        <p:nvSpPr>
          <p:cNvPr id="14" name="Shape 12"/>
          <p:cNvSpPr/>
          <p:nvPr/>
        </p:nvSpPr>
        <p:spPr>
          <a:xfrm>
            <a:off x="566928" y="5010912"/>
            <a:ext cx="11018520" cy="640080"/>
          </a:xfrm>
          <a:prstGeom prst="roundRect">
            <a:avLst>
              <a:gd name="adj" fmla="val 12857"/>
            </a:avLst>
          </a:prstGeom>
          <a:solidFill>
            <a:srgbClr val="F1F4F7"/>
          </a:solidFill>
          <a:ln w="12700">
            <a:solidFill>
              <a:srgbClr val="DDE4EA"/>
            </a:solidFill>
            <a:prstDash val="solid"/>
          </a:ln>
        </p:spPr>
        <p:txBody>
          <a:bodyPr/>
          <a:p/>
        </p:txBody>
      </p:sp>
      <p:sp>
        <p:nvSpPr>
          <p:cNvPr id="15" name="Text 13"/>
          <p:cNvSpPr txBox="1"/>
          <p:nvPr/>
        </p:nvSpPr>
        <p:spPr>
          <a:xfrm>
            <a:off x="786384" y="5065776"/>
            <a:ext cx="1051560" cy="402336"/>
          </a:xfrm>
          <a:prstGeom prst="rect">
            <a:avLst/>
          </a:prstGeom>
          <a:noFill/>
          <a:ln/>
        </p:spPr>
        <p:txBody>
          <a:bodyPr wrap="square" lIns="0" tIns="0" rIns="0" bIns="0" rtlCol="0" anchor="ctr"/>
          <a:lstStyle/>
          <a:p>
            <a:pPr indent="0" marL="0">
              <a:buNone/>
            </a:pPr>
            <a:r>
              <a:rPr lang="en-US" sz="1300" b="1" dirty="0">
                <a:solidFill>
                  <a:srgbClr val="9A6700"/>
                </a:solidFill>
                <a:latin typeface="Courier New" pitchFamily="34" charset="0"/>
                <a:ea typeface="Courier New" pitchFamily="34" charset="-122"/>
                <a:cs typeface="Courier New" pitchFamily="34" charset="-120"/>
              </a:rPr>
              <a:t>L65 / L66</a:t>
            </a:r>
            <a:endParaRPr lang="en-US" sz="1300" dirty="0"/>
          </a:p>
        </p:txBody>
      </p:sp>
      <p:sp>
        <p:nvSpPr>
          <p:cNvPr id="16" name="Text 14"/>
          <p:cNvSpPr txBox="1"/>
          <p:nvPr/>
        </p:nvSpPr>
        <p:spPr>
          <a:xfrm>
            <a:off x="1920240" y="5129784"/>
            <a:ext cx="9464040" cy="457200"/>
          </a:xfrm>
          <a:prstGeom prst="rect">
            <a:avLst/>
          </a:prstGeom>
          <a:noFill/>
          <a:ln/>
        </p:spPr>
        <p:txBody>
          <a:bodyPr wrap="square" lIns="0" tIns="0" rIns="0" bIns="0" rtlCol="0" anchor="t"/>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RT-4 — a control that worked and made the agent unreachable. Reverted to opt-in; R4-2 reopened.</a:t>
            </a:r>
            <a:endParaRPr lang="en-US" sz="1250" dirty="0"/>
          </a:p>
        </p:txBody>
      </p:sp>
      <p:sp>
        <p:nvSpPr>
          <p:cNvPr id="17" name="Shape 15"/>
          <p:cNvSpPr/>
          <p:nvPr/>
        </p:nvSpPr>
        <p:spPr>
          <a:xfrm>
            <a:off x="566928" y="5797296"/>
            <a:ext cx="11018520" cy="566928"/>
          </a:xfrm>
          <a:prstGeom prst="roundRect">
            <a:avLst>
              <a:gd name="adj" fmla="val 14516"/>
            </a:avLst>
          </a:prstGeom>
          <a:solidFill>
            <a:srgbClr val="E4F2EA"/>
          </a:solidFill>
          <a:ln w="12700">
            <a:solidFill>
              <a:srgbClr val="BFE0CE"/>
            </a:solidFill>
            <a:prstDash val="solid"/>
          </a:ln>
        </p:spPr>
        <p:txBody>
          <a:bodyPr/>
          <a:p/>
        </p:txBody>
      </p:sp>
      <p:sp>
        <p:nvSpPr>
          <p:cNvPr id="18" name="Text 16"/>
          <p:cNvSpPr txBox="1"/>
          <p:nvPr/>
        </p:nvSpPr>
        <p:spPr>
          <a:xfrm>
            <a:off x="868680" y="5888736"/>
            <a:ext cx="10424160" cy="402336"/>
          </a:xfrm>
          <a:prstGeom prst="rect">
            <a:avLst/>
          </a:prstGeom>
          <a:noFill/>
          <a:ln/>
        </p:spPr>
        <p:txBody>
          <a:bodyPr wrap="square" lIns="0" tIns="0" rIns="0" bIns="0" rtlCol="0" anchor="ctr"/>
          <a:lstStyle/>
          <a:p>
            <a:pPr indent="0" marL="0">
              <a:buNone/>
            </a:pPr>
            <a:r>
              <a:rPr lang="en-US" sz="1250" b="1" dirty="0">
                <a:solidFill>
                  <a:srgbClr val="1D6F42"/>
                </a:solidFill>
                <a:latin typeface="Calibri" pitchFamily="34" charset="0"/>
                <a:ea typeface="Calibri" pitchFamily="34" charset="-122"/>
                <a:cs typeface="Calibri" pitchFamily="34" charset="-120"/>
              </a:rPr>
              <a:t>Seventy findings are recorded this way, including every one where I was wrong — and the connector on the next slide took six more from-zero runs after this one. That register is the strongest credibility asset in the repository.</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1A2433"/>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FFB4A8"/>
                </a:solidFill>
                <a:latin typeface="Calibri" pitchFamily="34" charset="0"/>
                <a:ea typeface="Calibri" pitchFamily="34" charset="-122"/>
                <a:cs typeface="Calibri" pitchFamily="34" charset="-120"/>
              </a:rPr>
              <a:t>WHAT IS NOT PROVEN</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Read this list before any customer conversation</a:t>
            </a:r>
            <a:endParaRPr lang="en-US" sz="3400" dirty="0"/>
          </a:p>
        </p:txBody>
      </p:sp>
      <p:sp>
        <p:nvSpPr>
          <p:cNvPr id="4" name="Shape 2"/>
          <p:cNvSpPr/>
          <p:nvPr/>
        </p:nvSpPr>
        <p:spPr>
          <a:xfrm>
            <a:off x="10012680" y="420624"/>
            <a:ext cx="1572768" cy="274320"/>
          </a:xfrm>
          <a:prstGeom prst="roundRect">
            <a:avLst>
              <a:gd name="adj" fmla="val 50000"/>
            </a:avLst>
          </a:prstGeom>
          <a:solidFill>
            <a:srgbClr val="B3261E"/>
          </a:solidFill>
          <a:ln w="12700">
            <a:solidFill>
              <a:srgbClr val="B3261E"/>
            </a:solidFill>
            <a:prstDash val="solid"/>
          </a:ln>
        </p:spPr>
        <p:txBody>
          <a:bodyPr/>
          <a:p/>
        </p:txBody>
      </p:sp>
      <p:sp>
        <p:nvSpPr>
          <p:cNvPr id="5" name="Text 3"/>
          <p:cNvSpPr txBox="1"/>
          <p:nvPr/>
        </p:nvSpPr>
        <p:spPr>
          <a:xfrm>
            <a:off x="10012680" y="420624"/>
            <a:ext cx="1572768"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NOT PROVEN</a:t>
            </a:r>
            <a:endParaRPr lang="en-US" sz="1050" dirty="0"/>
          </a:p>
        </p:txBody>
      </p:sp>
      <p:sp>
        <p:nvSpPr>
          <p:cNvPr id="6" name="Shape 4"/>
          <p:cNvSpPr/>
          <p:nvPr/>
        </p:nvSpPr>
        <p:spPr>
          <a:xfrm>
            <a:off x="566928" y="1371600"/>
            <a:ext cx="5349240" cy="1042416"/>
          </a:xfrm>
          <a:prstGeom prst="roundRect">
            <a:avLst>
              <a:gd name="adj" fmla="val 7895"/>
            </a:avLst>
          </a:prstGeom>
          <a:solidFill>
            <a:srgbClr val="2C3A4E"/>
          </a:solidFill>
          <a:ln w="12700">
            <a:solidFill>
              <a:srgbClr val="4A3038"/>
            </a:solidFill>
            <a:prstDash val="solid"/>
          </a:ln>
        </p:spPr>
        <p:txBody>
          <a:bodyPr/>
          <a:p/>
        </p:txBody>
      </p:sp>
      <p:sp>
        <p:nvSpPr>
          <p:cNvPr id="7" name="Text 5"/>
          <p:cNvSpPr txBox="1"/>
          <p:nvPr/>
        </p:nvSpPr>
        <p:spPr>
          <a:xfrm>
            <a:off x="804672" y="1490472"/>
            <a:ext cx="4864608" cy="292608"/>
          </a:xfrm>
          <a:prstGeom prst="rect">
            <a:avLst/>
          </a:prstGeom>
          <a:noFill/>
          <a:ln/>
        </p:spPr>
        <p:txBody>
          <a:bodyPr wrap="square" lIns="0" tIns="0" rIns="0" bIns="0" rtlCol="0" anchor="ctr"/>
          <a:lstStyle/>
          <a:p>
            <a:pPr indent="0" marL="0">
              <a:buNone/>
            </a:pPr>
            <a:r>
              <a:rPr lang="en-US" sz="1250" b="1" dirty="0">
                <a:solidFill>
                  <a:srgbClr val="FFB4A8"/>
                </a:solidFill>
                <a:latin typeface="Cambria" pitchFamily="34" charset="0"/>
                <a:ea typeface="Cambria" pitchFamily="34" charset="-122"/>
                <a:cs typeface="Cambria" pitchFamily="34" charset="-120"/>
              </a:rPr>
              <a:t>All evidence is author-produced</a:t>
            </a:r>
            <a:endParaRPr lang="en-US" sz="1250" dirty="0"/>
          </a:p>
        </p:txBody>
      </p:sp>
      <p:sp>
        <p:nvSpPr>
          <p:cNvPr id="8" name="Text 6"/>
          <p:cNvSpPr txBox="1"/>
          <p:nvPr/>
        </p:nvSpPr>
        <p:spPr>
          <a:xfrm>
            <a:off x="804672" y="1810512"/>
            <a:ext cx="4864608" cy="530352"/>
          </a:xfrm>
          <a:prstGeom prst="rect">
            <a:avLst/>
          </a:prstGeom>
          <a:noFill/>
          <a:ln/>
        </p:spPr>
        <p:txBody>
          <a:bodyPr wrap="square" lIns="0" tIns="0" rIns="0" bIns="0" rtlCol="0" anchor="t"/>
          <a:lstStyle/>
          <a:p>
            <a:pPr indent="0" marL="0">
              <a:lnSpc>
                <a:spcPct val="110000"/>
              </a:lnSpc>
              <a:buNone/>
            </a:pPr>
            <a:r>
              <a:rPr lang="en-US" sz="1150" dirty="0">
                <a:solidFill>
                  <a:srgbClr val="BFD3E6"/>
                </a:solidFill>
                <a:latin typeface="Calibri" pitchFamily="34" charset="0"/>
                <a:ea typeface="Calibri" pitchFamily="34" charset="-122"/>
                <a:cs typeface="Calibri" pitchFamily="34" charset="-120"/>
              </a:rPr>
              <a:t>One AWS account. No third party has run it. No amount of further self-testing closes this.</a:t>
            </a:r>
            <a:endParaRPr lang="en-US" sz="1150" dirty="0"/>
          </a:p>
        </p:txBody>
      </p:sp>
      <p:sp>
        <p:nvSpPr>
          <p:cNvPr id="9" name="Shape 7"/>
          <p:cNvSpPr/>
          <p:nvPr/>
        </p:nvSpPr>
        <p:spPr>
          <a:xfrm>
            <a:off x="6190488" y="1371600"/>
            <a:ext cx="5349240" cy="1042416"/>
          </a:xfrm>
          <a:prstGeom prst="roundRect">
            <a:avLst>
              <a:gd name="adj" fmla="val 7895"/>
            </a:avLst>
          </a:prstGeom>
          <a:solidFill>
            <a:srgbClr val="2C3A4E"/>
          </a:solidFill>
          <a:ln w="12700">
            <a:solidFill>
              <a:srgbClr val="4A3038"/>
            </a:solidFill>
            <a:prstDash val="solid"/>
          </a:ln>
        </p:spPr>
        <p:txBody>
          <a:bodyPr/>
          <a:p/>
        </p:txBody>
      </p:sp>
      <p:sp>
        <p:nvSpPr>
          <p:cNvPr id="10" name="Text 8"/>
          <p:cNvSpPr txBox="1"/>
          <p:nvPr/>
        </p:nvSpPr>
        <p:spPr>
          <a:xfrm>
            <a:off x="6428232" y="1490472"/>
            <a:ext cx="4864608" cy="292608"/>
          </a:xfrm>
          <a:prstGeom prst="rect">
            <a:avLst/>
          </a:prstGeom>
          <a:noFill/>
          <a:ln/>
        </p:spPr>
        <p:txBody>
          <a:bodyPr wrap="square" lIns="0" tIns="0" rIns="0" bIns="0" rtlCol="0" anchor="ctr"/>
          <a:lstStyle/>
          <a:p>
            <a:pPr indent="0" marL="0">
              <a:buNone/>
            </a:pPr>
            <a:r>
              <a:rPr lang="en-US" sz="1250" b="1" dirty="0">
                <a:solidFill>
                  <a:srgbClr val="FFB4A8"/>
                </a:solidFill>
                <a:latin typeface="Cambria" pitchFamily="34" charset="0"/>
                <a:ea typeface="Cambria" pitchFamily="34" charset="-122"/>
                <a:cs typeface="Cambria" pitchFamily="34" charset="-120"/>
              </a:rPr>
              <a:t>No CUSTOMER system of record</a:t>
            </a:r>
            <a:endParaRPr lang="en-US" sz="1250" dirty="0"/>
          </a:p>
        </p:txBody>
      </p:sp>
      <p:sp>
        <p:nvSpPr>
          <p:cNvPr id="11" name="Text 9"/>
          <p:cNvSpPr txBox="1"/>
          <p:nvPr/>
        </p:nvSpPr>
        <p:spPr>
          <a:xfrm>
            <a:off x="6428232" y="1810512"/>
            <a:ext cx="4864608" cy="530352"/>
          </a:xfrm>
          <a:prstGeom prst="rect">
            <a:avLst/>
          </a:prstGeom>
          <a:noFill/>
          <a:ln/>
        </p:spPr>
        <p:txBody>
          <a:bodyPr wrap="square" lIns="0" tIns="0" rIns="0" bIns="0" rtlCol="0" anchor="t"/>
          <a:lstStyle/>
          <a:p>
            <a:pPr indent="0" marL="0">
              <a:lnSpc>
                <a:spcPct val="110000"/>
              </a:lnSpc>
              <a:buNone/>
            </a:pPr>
            <a:r>
              <a:rPr lang="en-US" sz="1150" dirty="0">
                <a:solidFill>
                  <a:srgbClr val="BFD3E6"/>
                </a:solidFill>
                <a:latin typeface="Calibri" pitchFamily="34" charset="0"/>
                <a:ea typeface="Calibri" pitchFamily="34" charset="-122"/>
                <a:cs typeface="Calibri" pitchFamily="34" charset="-120"/>
              </a:rPr>
              <a:t>A governed OAuth2 connector is now live and proven — but the system of record is ours. connect_system_of_record stays stubbed. Every live run governed synthetic data.</a:t>
            </a:r>
            <a:endParaRPr lang="en-US" sz="1150" dirty="0"/>
          </a:p>
        </p:txBody>
      </p:sp>
      <p:sp>
        <p:nvSpPr>
          <p:cNvPr id="12" name="Shape 10"/>
          <p:cNvSpPr/>
          <p:nvPr/>
        </p:nvSpPr>
        <p:spPr>
          <a:xfrm>
            <a:off x="566928" y="2532888"/>
            <a:ext cx="5349240" cy="1042416"/>
          </a:xfrm>
          <a:prstGeom prst="roundRect">
            <a:avLst>
              <a:gd name="adj" fmla="val 7895"/>
            </a:avLst>
          </a:prstGeom>
          <a:solidFill>
            <a:srgbClr val="2C3A4E"/>
          </a:solidFill>
          <a:ln w="12700">
            <a:solidFill>
              <a:srgbClr val="4A3038"/>
            </a:solidFill>
            <a:prstDash val="solid"/>
          </a:ln>
        </p:spPr>
        <p:txBody>
          <a:bodyPr/>
          <a:p/>
        </p:txBody>
      </p:sp>
      <p:sp>
        <p:nvSpPr>
          <p:cNvPr id="13" name="Text 11"/>
          <p:cNvSpPr txBox="1"/>
          <p:nvPr/>
        </p:nvSpPr>
        <p:spPr>
          <a:xfrm>
            <a:off x="804672" y="2651760"/>
            <a:ext cx="4864608" cy="292608"/>
          </a:xfrm>
          <a:prstGeom prst="rect">
            <a:avLst/>
          </a:prstGeom>
          <a:noFill/>
          <a:ln/>
        </p:spPr>
        <p:txBody>
          <a:bodyPr wrap="square" lIns="0" tIns="0" rIns="0" bIns="0" rtlCol="0" anchor="ctr"/>
          <a:lstStyle/>
          <a:p>
            <a:pPr indent="0" marL="0">
              <a:buNone/>
            </a:pPr>
            <a:r>
              <a:rPr lang="en-US" sz="1250" b="1" dirty="0">
                <a:solidFill>
                  <a:srgbClr val="FFB4A8"/>
                </a:solidFill>
                <a:latin typeface="Cambria" pitchFamily="34" charset="0"/>
                <a:ea typeface="Cambria" pitchFamily="34" charset="-122"/>
                <a:cs typeface="Cambria" pitchFamily="34" charset="-120"/>
              </a:rPr>
              <a:t>No account-wide prevention</a:t>
            </a:r>
            <a:endParaRPr lang="en-US" sz="1250" dirty="0"/>
          </a:p>
        </p:txBody>
      </p:sp>
      <p:sp>
        <p:nvSpPr>
          <p:cNvPr id="14" name="Text 12"/>
          <p:cNvSpPr txBox="1"/>
          <p:nvPr/>
        </p:nvSpPr>
        <p:spPr>
          <a:xfrm>
            <a:off x="804672" y="2971800"/>
            <a:ext cx="4864608" cy="530352"/>
          </a:xfrm>
          <a:prstGeom prst="rect">
            <a:avLst/>
          </a:prstGeom>
          <a:noFill/>
          <a:ln/>
        </p:spPr>
        <p:txBody>
          <a:bodyPr wrap="square" lIns="0" tIns="0" rIns="0" bIns="0" rtlCol="0" anchor="t"/>
          <a:lstStyle/>
          <a:p>
            <a:pPr indent="0" marL="0">
              <a:lnSpc>
                <a:spcPct val="110000"/>
              </a:lnSpc>
              <a:buNone/>
            </a:pPr>
            <a:r>
              <a:rPr lang="en-US" sz="1150" dirty="0">
                <a:solidFill>
                  <a:srgbClr val="BFD3E6"/>
                </a:solidFill>
                <a:latin typeface="Calibri" pitchFamily="34" charset="0"/>
                <a:ea typeface="Calibri" pitchFamily="34" charset="-122"/>
                <a:cs typeface="Calibri" pitchFamily="34" charset="-120"/>
              </a:rPr>
              <a:t>No AWS Organization, therefore no SCP. A direct Bedrock call is detected, not prevented.</a:t>
            </a:r>
            <a:endParaRPr lang="en-US" sz="1150" dirty="0"/>
          </a:p>
        </p:txBody>
      </p:sp>
      <p:sp>
        <p:nvSpPr>
          <p:cNvPr id="15" name="Shape 13"/>
          <p:cNvSpPr/>
          <p:nvPr/>
        </p:nvSpPr>
        <p:spPr>
          <a:xfrm>
            <a:off x="6190488" y="2532888"/>
            <a:ext cx="5349240" cy="1042416"/>
          </a:xfrm>
          <a:prstGeom prst="roundRect">
            <a:avLst>
              <a:gd name="adj" fmla="val 7895"/>
            </a:avLst>
          </a:prstGeom>
          <a:solidFill>
            <a:srgbClr val="2C3A4E"/>
          </a:solidFill>
          <a:ln w="12700">
            <a:solidFill>
              <a:srgbClr val="4A3038"/>
            </a:solidFill>
            <a:prstDash val="solid"/>
          </a:ln>
        </p:spPr>
        <p:txBody>
          <a:bodyPr/>
          <a:p/>
        </p:txBody>
      </p:sp>
      <p:sp>
        <p:nvSpPr>
          <p:cNvPr id="16" name="Text 14"/>
          <p:cNvSpPr txBox="1"/>
          <p:nvPr/>
        </p:nvSpPr>
        <p:spPr>
          <a:xfrm>
            <a:off x="6428232" y="2651760"/>
            <a:ext cx="4864608" cy="292608"/>
          </a:xfrm>
          <a:prstGeom prst="rect">
            <a:avLst/>
          </a:prstGeom>
          <a:noFill/>
          <a:ln/>
        </p:spPr>
        <p:txBody>
          <a:bodyPr wrap="square" lIns="0" tIns="0" rIns="0" bIns="0" rtlCol="0" anchor="ctr"/>
          <a:lstStyle/>
          <a:p>
            <a:pPr indent="0" marL="0">
              <a:buNone/>
            </a:pPr>
            <a:r>
              <a:rPr lang="en-US" sz="1250" b="1" dirty="0">
                <a:solidFill>
                  <a:srgbClr val="FFB4A8"/>
                </a:solidFill>
                <a:latin typeface="Cambria" pitchFamily="34" charset="0"/>
                <a:ea typeface="Cambria" pitchFamily="34" charset="-122"/>
                <a:cs typeface="Cambria" pitchFamily="34" charset="-120"/>
              </a:rPr>
              <a:t>R4-2 is open, deliberately</a:t>
            </a:r>
            <a:endParaRPr lang="en-US" sz="1250" dirty="0"/>
          </a:p>
        </p:txBody>
      </p:sp>
      <p:sp>
        <p:nvSpPr>
          <p:cNvPr id="17" name="Text 15"/>
          <p:cNvSpPr txBox="1"/>
          <p:nvPr/>
        </p:nvSpPr>
        <p:spPr>
          <a:xfrm>
            <a:off x="6428232" y="2971800"/>
            <a:ext cx="4864608" cy="530352"/>
          </a:xfrm>
          <a:prstGeom prst="rect">
            <a:avLst/>
          </a:prstGeom>
          <a:noFill/>
          <a:ln/>
        </p:spPr>
        <p:txBody>
          <a:bodyPr wrap="square" lIns="0" tIns="0" rIns="0" bIns="0" rtlCol="0" anchor="t"/>
          <a:lstStyle/>
          <a:p>
            <a:pPr indent="0" marL="0">
              <a:lnSpc>
                <a:spcPct val="110000"/>
              </a:lnSpc>
              <a:buNone/>
            </a:pPr>
            <a:r>
              <a:rPr lang="en-US" sz="1150" dirty="0">
                <a:solidFill>
                  <a:srgbClr val="BFD3E6"/>
                </a:solidFill>
                <a:latin typeface="Calibri" pitchFamily="34" charset="0"/>
                <a:ea typeface="Calibri" pitchFamily="34" charset="-122"/>
                <a:cs typeface="Calibri" pitchFamily="34" charset="-120"/>
              </a:rPr>
              <a:t>Gateway-only runtime invocation was tested live and reverted. Mitigated at the gateway, not closed.</a:t>
            </a:r>
            <a:endParaRPr lang="en-US" sz="1150" dirty="0"/>
          </a:p>
        </p:txBody>
      </p:sp>
      <p:sp>
        <p:nvSpPr>
          <p:cNvPr id="18" name="Shape 16"/>
          <p:cNvSpPr/>
          <p:nvPr/>
        </p:nvSpPr>
        <p:spPr>
          <a:xfrm>
            <a:off x="566928" y="3694176"/>
            <a:ext cx="5349240" cy="1042416"/>
          </a:xfrm>
          <a:prstGeom prst="roundRect">
            <a:avLst>
              <a:gd name="adj" fmla="val 7895"/>
            </a:avLst>
          </a:prstGeom>
          <a:solidFill>
            <a:srgbClr val="2C3A4E"/>
          </a:solidFill>
          <a:ln w="12700">
            <a:solidFill>
              <a:srgbClr val="4A3038"/>
            </a:solidFill>
            <a:prstDash val="solid"/>
          </a:ln>
        </p:spPr>
        <p:txBody>
          <a:bodyPr/>
          <a:p/>
        </p:txBody>
      </p:sp>
      <p:sp>
        <p:nvSpPr>
          <p:cNvPr id="19" name="Text 17"/>
          <p:cNvSpPr txBox="1"/>
          <p:nvPr/>
        </p:nvSpPr>
        <p:spPr>
          <a:xfrm>
            <a:off x="804672" y="3813048"/>
            <a:ext cx="4864608" cy="292608"/>
          </a:xfrm>
          <a:prstGeom prst="rect">
            <a:avLst/>
          </a:prstGeom>
          <a:noFill/>
          <a:ln/>
        </p:spPr>
        <p:txBody>
          <a:bodyPr wrap="square" lIns="0" tIns="0" rIns="0" bIns="0" rtlCol="0" anchor="ctr"/>
          <a:lstStyle/>
          <a:p>
            <a:pPr indent="0" marL="0">
              <a:buNone/>
            </a:pPr>
            <a:r>
              <a:rPr lang="en-US" sz="1250" b="1" dirty="0">
                <a:solidFill>
                  <a:srgbClr val="FFB4A8"/>
                </a:solidFill>
                <a:latin typeface="Cambria" pitchFamily="34" charset="0"/>
                <a:ea typeface="Cambria" pitchFamily="34" charset="-122"/>
                <a:cs typeface="Cambria" pitchFamily="34" charset="-120"/>
              </a:rPr>
              <a:t>Three of four packs never deployed</a:t>
            </a:r>
            <a:endParaRPr lang="en-US" sz="1250" dirty="0"/>
          </a:p>
        </p:txBody>
      </p:sp>
      <p:sp>
        <p:nvSpPr>
          <p:cNvPr id="20" name="Text 18"/>
          <p:cNvSpPr txBox="1"/>
          <p:nvPr/>
        </p:nvSpPr>
        <p:spPr>
          <a:xfrm>
            <a:off x="804672" y="4133088"/>
            <a:ext cx="4864608" cy="530352"/>
          </a:xfrm>
          <a:prstGeom prst="rect">
            <a:avLst/>
          </a:prstGeom>
          <a:noFill/>
          <a:ln/>
        </p:spPr>
        <p:txBody>
          <a:bodyPr wrap="square" lIns="0" tIns="0" rIns="0" bIns="0" rtlCol="0" anchor="t"/>
          <a:lstStyle/>
          <a:p>
            <a:pPr indent="0" marL="0">
              <a:lnSpc>
                <a:spcPct val="110000"/>
              </a:lnSpc>
              <a:buNone/>
            </a:pPr>
            <a:r>
              <a:rPr lang="en-US" sz="1150" dirty="0">
                <a:solidFill>
                  <a:srgbClr val="BFD3E6"/>
                </a:solidFill>
                <a:latin typeface="Calibri" pitchFamily="34" charset="0"/>
                <a:ea typeface="Calibri" pitchFamily="34" charset="-122"/>
                <a:cs typeface="Calibri" pitchFamily="34" charset="-120"/>
              </a:rPr>
              <a:t>Same core, propagated fixes, unit tests — zero from-zero deployments. Housing wires 3 of 17 controls.</a:t>
            </a:r>
            <a:endParaRPr lang="en-US" sz="1150" dirty="0"/>
          </a:p>
        </p:txBody>
      </p:sp>
      <p:sp>
        <p:nvSpPr>
          <p:cNvPr id="21" name="Shape 19"/>
          <p:cNvSpPr/>
          <p:nvPr/>
        </p:nvSpPr>
        <p:spPr>
          <a:xfrm>
            <a:off x="6190488" y="3694176"/>
            <a:ext cx="5349240" cy="1042416"/>
          </a:xfrm>
          <a:prstGeom prst="roundRect">
            <a:avLst>
              <a:gd name="adj" fmla="val 7895"/>
            </a:avLst>
          </a:prstGeom>
          <a:solidFill>
            <a:srgbClr val="2C3A4E"/>
          </a:solidFill>
          <a:ln w="12700">
            <a:solidFill>
              <a:srgbClr val="4A3038"/>
            </a:solidFill>
            <a:prstDash val="solid"/>
          </a:ln>
        </p:spPr>
        <p:txBody>
          <a:bodyPr/>
          <a:p/>
        </p:txBody>
      </p:sp>
      <p:sp>
        <p:nvSpPr>
          <p:cNvPr id="22" name="Text 20"/>
          <p:cNvSpPr txBox="1"/>
          <p:nvPr/>
        </p:nvSpPr>
        <p:spPr>
          <a:xfrm>
            <a:off x="6428232" y="3813048"/>
            <a:ext cx="4864608" cy="292608"/>
          </a:xfrm>
          <a:prstGeom prst="rect">
            <a:avLst/>
          </a:prstGeom>
          <a:noFill/>
          <a:ln/>
        </p:spPr>
        <p:txBody>
          <a:bodyPr wrap="square" lIns="0" tIns="0" rIns="0" bIns="0" rtlCol="0" anchor="ctr"/>
          <a:lstStyle/>
          <a:p>
            <a:pPr indent="0" marL="0">
              <a:buNone/>
            </a:pPr>
            <a:r>
              <a:rPr lang="en-US" sz="1250" b="1" dirty="0">
                <a:solidFill>
                  <a:srgbClr val="FFB4A8"/>
                </a:solidFill>
                <a:latin typeface="Cambria" pitchFamily="34" charset="0"/>
                <a:ea typeface="Cambria" pitchFamily="34" charset="-122"/>
                <a:cs typeface="Cambria" pitchFamily="34" charset="-120"/>
              </a:rPr>
              <a:t>COMPLIANCE lock proven at 1 day</a:t>
            </a:r>
            <a:endParaRPr lang="en-US" sz="1250" dirty="0"/>
          </a:p>
        </p:txBody>
      </p:sp>
      <p:sp>
        <p:nvSpPr>
          <p:cNvPr id="23" name="Text 21"/>
          <p:cNvSpPr txBox="1"/>
          <p:nvPr/>
        </p:nvSpPr>
        <p:spPr>
          <a:xfrm>
            <a:off x="6428232" y="4133088"/>
            <a:ext cx="4864608" cy="530352"/>
          </a:xfrm>
          <a:prstGeom prst="rect">
            <a:avLst/>
          </a:prstGeom>
          <a:noFill/>
          <a:ln/>
        </p:spPr>
        <p:txBody>
          <a:bodyPr wrap="square" lIns="0" tIns="0" rIns="0" bIns="0" rtlCol="0" anchor="t"/>
          <a:lstStyle/>
          <a:p>
            <a:pPr indent="0" marL="0">
              <a:lnSpc>
                <a:spcPct val="110000"/>
              </a:lnSpc>
              <a:buNone/>
            </a:pPr>
            <a:r>
              <a:rPr lang="en-US" sz="1150" dirty="0">
                <a:solidFill>
                  <a:srgbClr val="BFD3E6"/>
                </a:solidFill>
                <a:latin typeface="Calibri" pitchFamily="34" charset="0"/>
                <a:ea typeface="Calibri" pitchFamily="34" charset="-122"/>
                <a:cs typeface="Calibri" pitchFamily="34" charset="-120"/>
              </a:rPr>
              <a:t>The mechanism is proven; the seven-year duration is a parameter, not evidence.</a:t>
            </a:r>
            <a:endParaRPr lang="en-US" sz="1150" dirty="0"/>
          </a:p>
        </p:txBody>
      </p:sp>
      <p:sp>
        <p:nvSpPr>
          <p:cNvPr id="24" name="Shape 22"/>
          <p:cNvSpPr/>
          <p:nvPr/>
        </p:nvSpPr>
        <p:spPr>
          <a:xfrm>
            <a:off x="566928" y="4855464"/>
            <a:ext cx="5349240" cy="1042416"/>
          </a:xfrm>
          <a:prstGeom prst="roundRect">
            <a:avLst>
              <a:gd name="adj" fmla="val 7895"/>
            </a:avLst>
          </a:prstGeom>
          <a:solidFill>
            <a:srgbClr val="2C3A4E"/>
          </a:solidFill>
          <a:ln w="12700">
            <a:solidFill>
              <a:srgbClr val="4A3038"/>
            </a:solidFill>
            <a:prstDash val="solid"/>
          </a:ln>
        </p:spPr>
        <p:txBody>
          <a:bodyPr/>
          <a:p/>
        </p:txBody>
      </p:sp>
      <p:sp>
        <p:nvSpPr>
          <p:cNvPr id="25" name="Text 23"/>
          <p:cNvSpPr txBox="1"/>
          <p:nvPr/>
        </p:nvSpPr>
        <p:spPr>
          <a:xfrm>
            <a:off x="804672" y="4974336"/>
            <a:ext cx="4864608" cy="292608"/>
          </a:xfrm>
          <a:prstGeom prst="rect">
            <a:avLst/>
          </a:prstGeom>
          <a:noFill/>
          <a:ln/>
        </p:spPr>
        <p:txBody>
          <a:bodyPr wrap="square" lIns="0" tIns="0" rIns="0" bIns="0" rtlCol="0" anchor="ctr"/>
          <a:lstStyle/>
          <a:p>
            <a:pPr indent="0" marL="0">
              <a:buNone/>
            </a:pPr>
            <a:r>
              <a:rPr lang="en-US" sz="1250" b="1" dirty="0">
                <a:solidFill>
                  <a:srgbClr val="FFB4A8"/>
                </a:solidFill>
                <a:latin typeface="Cambria" pitchFamily="34" charset="0"/>
                <a:ea typeface="Cambria" pitchFamily="34" charset="-122"/>
                <a:cs typeface="Cambria" pitchFamily="34" charset="-120"/>
              </a:rPr>
              <a:t>No pen test, DR, SLO or ATO</a:t>
            </a:r>
            <a:endParaRPr lang="en-US" sz="1250" dirty="0"/>
          </a:p>
        </p:txBody>
      </p:sp>
      <p:sp>
        <p:nvSpPr>
          <p:cNvPr id="26" name="Text 24"/>
          <p:cNvSpPr txBox="1"/>
          <p:nvPr/>
        </p:nvSpPr>
        <p:spPr>
          <a:xfrm>
            <a:off x="804672" y="5294376"/>
            <a:ext cx="4864608" cy="530352"/>
          </a:xfrm>
          <a:prstGeom prst="rect">
            <a:avLst/>
          </a:prstGeom>
          <a:noFill/>
          <a:ln/>
        </p:spPr>
        <p:txBody>
          <a:bodyPr wrap="square" lIns="0" tIns="0" rIns="0" bIns="0" rtlCol="0" anchor="t"/>
          <a:lstStyle/>
          <a:p>
            <a:pPr indent="0" marL="0">
              <a:lnSpc>
                <a:spcPct val="110000"/>
              </a:lnSpc>
              <a:buNone/>
            </a:pPr>
            <a:r>
              <a:rPr lang="en-US" sz="1150" dirty="0">
                <a:solidFill>
                  <a:srgbClr val="BFD3E6"/>
                </a:solidFill>
                <a:latin typeface="Calibri" pitchFamily="34" charset="0"/>
                <a:ea typeface="Calibri" pitchFamily="34" charset="-122"/>
                <a:cs typeface="Calibri" pitchFamily="34" charset="-120"/>
              </a:rPr>
              <a:t>None performed. The platform carries no authorization of any kind.</a:t>
            </a:r>
            <a:endParaRPr lang="en-US" sz="1150" dirty="0"/>
          </a:p>
        </p:txBody>
      </p:sp>
      <p:sp>
        <p:nvSpPr>
          <p:cNvPr id="27" name="Shape 25"/>
          <p:cNvSpPr/>
          <p:nvPr/>
        </p:nvSpPr>
        <p:spPr>
          <a:xfrm>
            <a:off x="6190488" y="4855464"/>
            <a:ext cx="5349240" cy="1042416"/>
          </a:xfrm>
          <a:prstGeom prst="roundRect">
            <a:avLst>
              <a:gd name="adj" fmla="val 7895"/>
            </a:avLst>
          </a:prstGeom>
          <a:solidFill>
            <a:srgbClr val="2C3A4E"/>
          </a:solidFill>
          <a:ln w="12700">
            <a:solidFill>
              <a:srgbClr val="4A3038"/>
            </a:solidFill>
            <a:prstDash val="solid"/>
          </a:ln>
        </p:spPr>
        <p:txBody>
          <a:bodyPr/>
          <a:p/>
        </p:txBody>
      </p:sp>
      <p:sp>
        <p:nvSpPr>
          <p:cNvPr id="28" name="Text 26"/>
          <p:cNvSpPr txBox="1"/>
          <p:nvPr/>
        </p:nvSpPr>
        <p:spPr>
          <a:xfrm>
            <a:off x="6428232" y="4974336"/>
            <a:ext cx="4864608" cy="292608"/>
          </a:xfrm>
          <a:prstGeom prst="rect">
            <a:avLst/>
          </a:prstGeom>
          <a:noFill/>
          <a:ln/>
        </p:spPr>
        <p:txBody>
          <a:bodyPr wrap="square" lIns="0" tIns="0" rIns="0" bIns="0" rtlCol="0" anchor="ctr"/>
          <a:lstStyle/>
          <a:p>
            <a:pPr indent="0" marL="0">
              <a:buNone/>
            </a:pPr>
            <a:r>
              <a:rPr lang="en-US" sz="1250" b="1" dirty="0">
                <a:solidFill>
                  <a:srgbClr val="FFB4A8"/>
                </a:solidFill>
                <a:latin typeface="Cambria" pitchFamily="34" charset="0"/>
                <a:ea typeface="Cambria" pitchFamily="34" charset="-122"/>
                <a:cs typeface="Cambria" pitchFamily="34" charset="-120"/>
              </a:rPr>
              <a:t>488 checkov findings baselined</a:t>
            </a:r>
            <a:endParaRPr lang="en-US" sz="1250" dirty="0"/>
          </a:p>
        </p:txBody>
      </p:sp>
      <p:sp>
        <p:nvSpPr>
          <p:cNvPr id="29" name="Text 27"/>
          <p:cNvSpPr txBox="1"/>
          <p:nvPr/>
        </p:nvSpPr>
        <p:spPr>
          <a:xfrm>
            <a:off x="6428232" y="5294376"/>
            <a:ext cx="4864608" cy="530352"/>
          </a:xfrm>
          <a:prstGeom prst="rect">
            <a:avLst/>
          </a:prstGeom>
          <a:noFill/>
          <a:ln/>
        </p:spPr>
        <p:txBody>
          <a:bodyPr wrap="square" lIns="0" tIns="0" rIns="0" bIns="0" rtlCol="0" anchor="t"/>
          <a:lstStyle/>
          <a:p>
            <a:pPr indent="0" marL="0">
              <a:lnSpc>
                <a:spcPct val="110000"/>
              </a:lnSpc>
              <a:buNone/>
            </a:pPr>
            <a:r>
              <a:rPr lang="en-US" sz="1150" dirty="0">
                <a:solidFill>
                  <a:srgbClr val="BFD3E6"/>
                </a:solidFill>
                <a:latin typeface="Calibri" pitchFamily="34" charset="0"/>
                <a:ea typeface="Calibri" pitchFamily="34" charset="-122"/>
                <a:cs typeface="Calibri" pitchFamily="34" charset="-120"/>
              </a:rPr>
              <a:t>Reviewed and gated so new findings fail CI — but the residual is real.</a:t>
            </a:r>
            <a:endParaRPr lang="en-US" sz="1150" dirty="0"/>
          </a:p>
        </p:txBody>
      </p:sp>
      <p:sp>
        <p:nvSpPr>
          <p:cNvPr id="30" name="Text 28"/>
          <p:cNvSpPr txBox="1"/>
          <p:nvPr/>
        </p:nvSpPr>
        <p:spPr>
          <a:xfrm>
            <a:off x="566928" y="6089904"/>
            <a:ext cx="11064240" cy="292608"/>
          </a:xfrm>
          <a:prstGeom prst="rect">
            <a:avLst/>
          </a:prstGeom>
          <a:noFill/>
          <a:ln/>
        </p:spPr>
        <p:txBody>
          <a:bodyPr wrap="square" lIns="0" tIns="0" rIns="0" bIns="0" rtlCol="0" anchor="ctr"/>
          <a:lstStyle/>
          <a:p>
            <a:pPr indent="0" marL="0">
              <a:buNone/>
            </a:pPr>
            <a:r>
              <a:rPr lang="en-US" sz="1000" i="1" dirty="0">
                <a:solidFill>
                  <a:srgbClr val="9FB3C8"/>
                </a:solidFill>
                <a:latin typeface="Calibri" pitchFamily="34" charset="0"/>
                <a:ea typeface="Calibri" pitchFamily="34" charset="-122"/>
                <a:cs typeface="Calibri" pitchFamily="34" charset="-120"/>
              </a:rPr>
              <a:t>This list is longer than the proven list, and it is in the deck on purpose. NOT-CLAIMS.md governs every other page in the repository.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B3261E"/>
                </a:solidFill>
                <a:latin typeface="Calibri" pitchFamily="34" charset="0"/>
                <a:ea typeface="Calibri" pitchFamily="34" charset="-122"/>
                <a:cs typeface="Calibri" pitchFamily="34" charset="-120"/>
              </a:rPr>
              <a:t>A NUMBER WE GOT WRONG, AND WHAT WE DID ABOUT IT</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We said three alarms. It was twenty-two.</a:t>
            </a:r>
            <a:endParaRPr lang="en-US" sz="3400" dirty="0"/>
          </a:p>
        </p:txBody>
      </p:sp>
      <p:sp>
        <p:nvSpPr>
          <p:cNvPr id="4" name="Shape 2"/>
          <p:cNvSpPr/>
          <p:nvPr/>
        </p:nvSpPr>
        <p:spPr>
          <a:xfrm>
            <a:off x="566928" y="1609344"/>
            <a:ext cx="5349240" cy="2340864"/>
          </a:xfrm>
          <a:prstGeom prst="roundRect">
            <a:avLst>
              <a:gd name="adj" fmla="val 3516"/>
            </a:avLst>
          </a:prstGeom>
          <a:solidFill>
            <a:srgbClr val="FBE9E7"/>
          </a:solidFill>
          <a:ln w="12700">
            <a:solidFill>
              <a:srgbClr val="F0C4C0"/>
            </a:solidFill>
            <a:prstDash val="solid"/>
          </a:ln>
        </p:spPr>
        <p:txBody>
          <a:bodyPr/>
          <a:p/>
        </p:txBody>
      </p:sp>
      <p:sp>
        <p:nvSpPr>
          <p:cNvPr id="5" name="Text 3"/>
          <p:cNvSpPr txBox="1"/>
          <p:nvPr/>
        </p:nvSpPr>
        <p:spPr>
          <a:xfrm>
            <a:off x="868680" y="1773936"/>
            <a:ext cx="4754880" cy="329184"/>
          </a:xfrm>
          <a:prstGeom prst="rect">
            <a:avLst/>
          </a:prstGeom>
          <a:noFill/>
          <a:ln/>
        </p:spPr>
        <p:txBody>
          <a:bodyPr wrap="square" lIns="0" tIns="0" rIns="0" bIns="0" rtlCol="0" anchor="ctr"/>
          <a:lstStyle/>
          <a:p>
            <a:pPr indent="0" marL="0">
              <a:buNone/>
            </a:pPr>
            <a:r>
              <a:rPr lang="en-US" sz="1700" b="1" dirty="0">
                <a:solidFill>
                  <a:srgbClr val="B3261E"/>
                </a:solidFill>
                <a:latin typeface="Cambria" pitchFamily="34" charset="0"/>
                <a:ea typeface="Cambria" pitchFamily="34" charset="-122"/>
                <a:cs typeface="Cambria" pitchFamily="34" charset="-120"/>
              </a:rPr>
              <a:t>What we claimed</a:t>
            </a:r>
            <a:endParaRPr lang="en-US" sz="1700" dirty="0"/>
          </a:p>
        </p:txBody>
      </p:sp>
      <p:sp>
        <p:nvSpPr>
          <p:cNvPr id="6" name="Text 4"/>
          <p:cNvSpPr txBox="1"/>
          <p:nvPr/>
        </p:nvSpPr>
        <p:spPr>
          <a:xfrm>
            <a:off x="868680" y="2194560"/>
            <a:ext cx="4754880" cy="1627632"/>
          </a:xfrm>
          <a:prstGeom prst="rect">
            <a:avLst/>
          </a:prstGeom>
          <a:noFill/>
          <a:ln/>
        </p:spPr>
        <p:txBody>
          <a:bodyPr wrap="square" lIns="0" tIns="0" rIns="0" bIns="0" rtlCol="0" anchor="ctr"/>
          <a:lstStyle/>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"Three alarms. Observability is the thinnest part of the platform."</a:t>
            </a:r>
            <a:endParaRPr lang="en-US" sz="1200" dirty="0"/>
          </a:p>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Counted cw.Alarm( CALL SITES in the source - two are inside loops</a:t>
            </a:r>
            <a:endParaRPr lang="en-US" sz="1200" dirty="0"/>
          </a:p>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Measured the generating code instead of the deployed artifact</a:t>
            </a:r>
            <a:endParaRPr lang="en-US" sz="1200" dirty="0"/>
          </a:p>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Same defect as two entries already in our own register (L60, L67)</a:t>
            </a:r>
            <a:endParaRPr lang="en-US" sz="1200" dirty="0"/>
          </a:p>
        </p:txBody>
      </p:sp>
      <p:sp>
        <p:nvSpPr>
          <p:cNvPr id="7" name="Shape 5"/>
          <p:cNvSpPr/>
          <p:nvPr/>
        </p:nvSpPr>
        <p:spPr>
          <a:xfrm>
            <a:off x="6236208" y="1609344"/>
            <a:ext cx="5349240" cy="2340864"/>
          </a:xfrm>
          <a:prstGeom prst="roundRect">
            <a:avLst>
              <a:gd name="adj" fmla="val 3516"/>
            </a:avLst>
          </a:prstGeom>
          <a:solidFill>
            <a:srgbClr val="E4F2EA"/>
          </a:solidFill>
          <a:ln w="12700">
            <a:solidFill>
              <a:srgbClr val="BFE0CE"/>
            </a:solidFill>
            <a:prstDash val="solid"/>
          </a:ln>
        </p:spPr>
        <p:txBody>
          <a:bodyPr/>
          <a:p/>
        </p:txBody>
      </p:sp>
      <p:sp>
        <p:nvSpPr>
          <p:cNvPr id="8" name="Text 6"/>
          <p:cNvSpPr txBox="1"/>
          <p:nvPr/>
        </p:nvSpPr>
        <p:spPr>
          <a:xfrm>
            <a:off x="6537960" y="1773936"/>
            <a:ext cx="4754880" cy="329184"/>
          </a:xfrm>
          <a:prstGeom prst="rect">
            <a:avLst/>
          </a:prstGeom>
          <a:noFill/>
          <a:ln/>
        </p:spPr>
        <p:txBody>
          <a:bodyPr wrap="square" lIns="0" tIns="0" rIns="0" bIns="0" rtlCol="0" anchor="ctr"/>
          <a:lstStyle/>
          <a:p>
            <a:pPr indent="0" marL="0">
              <a:buNone/>
            </a:pPr>
            <a:r>
              <a:rPr lang="en-US" sz="1700" b="1" dirty="0">
                <a:solidFill>
                  <a:srgbClr val="1D6F42"/>
                </a:solidFill>
                <a:latin typeface="Cambria" pitchFamily="34" charset="0"/>
                <a:ea typeface="Cambria" pitchFamily="34" charset="-122"/>
                <a:cs typeface="Cambria" pitchFamily="34" charset="-120"/>
              </a:rPr>
              <a:t>What is actually deployed</a:t>
            </a:r>
            <a:endParaRPr lang="en-US" sz="1700" dirty="0"/>
          </a:p>
        </p:txBody>
      </p:sp>
      <p:sp>
        <p:nvSpPr>
          <p:cNvPr id="9" name="Text 7"/>
          <p:cNvSpPr txBox="1"/>
          <p:nvPr/>
        </p:nvSpPr>
        <p:spPr>
          <a:xfrm>
            <a:off x="6537960" y="2194560"/>
            <a:ext cx="4754880" cy="1627632"/>
          </a:xfrm>
          <a:prstGeom prst="rect">
            <a:avLst/>
          </a:prstGeom>
          <a:noFill/>
          <a:ln/>
        </p:spPr>
        <p:txBody>
          <a:bodyPr wrap="square" lIns="0" tIns="0" rIns="0" bIns="0" rtlCol="0" anchor="ctr"/>
          <a:lstStyle/>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26 named alarms in 3 severity tiers - P1 page, P2 ticket, P3 advisory</a:t>
            </a:r>
            <a:endParaRPr lang="en-US" sz="1200" dirty="0"/>
          </a:p>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Latency alarmed, not merely charted. Approval backlog: 2h, was 24h</a:t>
            </a:r>
            <a:endParaRPr lang="en-US" sz="1200" dirty="0"/>
          </a:p>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Every alarm has a runbook entry, enforced by a test in CI</a:t>
            </a:r>
            <a:endParaRPr lang="en-US" sz="1200" dirty="0"/>
          </a:p>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Still open: per-tenant dashboards, canary, proof a tier fires live, DR</a:t>
            </a:r>
            <a:endParaRPr lang="en-US" sz="1200" dirty="0"/>
          </a:p>
        </p:txBody>
      </p:sp>
      <p:sp>
        <p:nvSpPr>
          <p:cNvPr id="10" name="Text 8"/>
          <p:cNvSpPr txBox="1"/>
          <p:nvPr/>
        </p:nvSpPr>
        <p:spPr>
          <a:xfrm>
            <a:off x="566928" y="4169664"/>
            <a:ext cx="11018520" cy="749808"/>
          </a:xfrm>
          <a:prstGeom prst="rect">
            <a:avLst/>
          </a:prstGeom>
          <a:noFill/>
          <a:ln/>
        </p:spPr>
        <p:txBody>
          <a:bodyPr wrap="square" lIns="0" tIns="0" rIns="0" bIns="0" rtlCol="0" anchor="t"/>
          <a:lstStyle/>
          <a:p>
            <a:pPr indent="0" marL="0">
              <a:lnSpc>
                <a:spcPct val="115000"/>
              </a:lnSpc>
              <a:buNone/>
            </a:pPr>
            <a:r>
              <a:rPr lang="en-US" sz="1400" b="1" dirty="0">
                <a:solidFill>
                  <a:srgbClr val="2C3A4E"/>
                </a:solidFill>
                <a:latin typeface="Calibri" pitchFamily="34" charset="0"/>
                <a:ea typeface="Calibri" pitchFamily="34" charset="-122"/>
                <a:cs typeface="Calibri" pitchFamily="34" charset="-120"/>
              </a:rPr>
              <a:t>Why this slide is in the deck at all. </a:t>
            </a:r>
            <a:pPr indent="0" marL="0">
              <a:lnSpc>
                <a:spcPct val="115000"/>
              </a:lnSpc>
              <a:buNone/>
            </a:pPr>
            <a:r>
              <a:rPr lang="en-US" sz="1400" dirty="0">
                <a:solidFill>
                  <a:srgbClr val="2C3A4E"/>
                </a:solidFill>
                <a:latin typeface="Calibri" pitchFamily="34" charset="0"/>
                <a:ea typeface="Calibri" pitchFamily="34" charset="-122"/>
                <a:cs typeface="Calibri" pitchFamily="34" charset="-120"/>
              </a:rPr>
              <a:t>A number in our own material was wrong by a factor of seven, in the direction that flattered nobody. How a team handles its own bad number is worth more signal than the number was — and the fix is not "measure more carefully next time", it is a script that reads the CloudFormation template and fails CI when these figures drift from what the brief says.</a:t>
            </a:r>
            <a:endParaRPr lang="en-US" sz="1400" dirty="0"/>
          </a:p>
        </p:txBody>
      </p:sp>
      <p:sp>
        <p:nvSpPr>
          <p:cNvPr id="11" name="Shape 9"/>
          <p:cNvSpPr/>
          <p:nvPr/>
        </p:nvSpPr>
        <p:spPr>
          <a:xfrm>
            <a:off x="566928" y="5029200"/>
            <a:ext cx="11018520" cy="969264"/>
          </a:xfrm>
          <a:prstGeom prst="roundRect">
            <a:avLst>
              <a:gd name="adj" fmla="val 8491"/>
            </a:avLst>
          </a:prstGeom>
          <a:solidFill>
            <a:srgbClr val="F1F4F7"/>
          </a:solidFill>
          <a:ln w="12700">
            <a:solidFill>
              <a:srgbClr val="D8E0E7"/>
            </a:solidFill>
            <a:prstDash val="solid"/>
          </a:ln>
        </p:spPr>
        <p:txBody>
          <a:bodyPr/>
          <a:p/>
        </p:txBody>
      </p:sp>
      <p:sp>
        <p:nvSpPr>
          <p:cNvPr id="12" name="Text 10"/>
          <p:cNvSpPr txBox="1"/>
          <p:nvPr/>
        </p:nvSpPr>
        <p:spPr>
          <a:xfrm>
            <a:off x="868680" y="5138928"/>
            <a:ext cx="4023360" cy="292608"/>
          </a:xfrm>
          <a:prstGeom prst="rect">
            <a:avLst/>
          </a:prstGeom>
          <a:noFill/>
          <a:ln/>
        </p:spPr>
        <p:txBody>
          <a:bodyPr wrap="square" lIns="0" tIns="0" rIns="0" bIns="0" rtlCol="0" anchor="ctr"/>
          <a:lstStyle/>
          <a:p>
            <a:pPr indent="0" marL="0">
              <a:buNone/>
            </a:pPr>
            <a:r>
              <a:rPr lang="en-US" sz="1300" b="1" dirty="0">
                <a:solidFill>
                  <a:srgbClr val="1A2433"/>
                </a:solidFill>
                <a:latin typeface="Cambria" pitchFamily="34" charset="0"/>
                <a:ea typeface="Cambria" pitchFamily="34" charset="-122"/>
                <a:cs typeface="Cambria" pitchFamily="34" charset="-120"/>
              </a:rPr>
              <a:t>The control that stops it recurring</a:t>
            </a:r>
            <a:endParaRPr lang="en-US" sz="1300" dirty="0"/>
          </a:p>
        </p:txBody>
      </p:sp>
      <p:sp>
        <p:nvSpPr>
          <p:cNvPr id="13" name="Text 11"/>
          <p:cNvSpPr txBox="1"/>
          <p:nvPr/>
        </p:nvSpPr>
        <p:spPr>
          <a:xfrm>
            <a:off x="868680" y="5449824"/>
            <a:ext cx="10424160" cy="457200"/>
          </a:xfrm>
          <a:prstGeom prst="rect">
            <a:avLst/>
          </a:prstGeom>
          <a:noFill/>
          <a:ln/>
        </p:spPr>
        <p:txBody>
          <a:bodyPr wrap="square" lIns="0" tIns="0" rIns="0" bIns="0" rtlCol="0" anchor="ctr"/>
          <a:lstStyle/>
          <a:p>
            <a:pPr indent="0" marL="0">
              <a:lnSpc>
                <a:spcPct val="110000"/>
              </a:lnSpc>
              <a:buNone/>
            </a:pPr>
            <a:r>
              <a:rPr lang="en-US" sz="1250" dirty="0">
                <a:solidFill>
                  <a:srgbClr val="2C3A4E"/>
                </a:solidFill>
                <a:latin typeface="Calibri" pitchFamily="34" charset="0"/>
                <a:ea typeface="Calibri" pitchFamily="34" charset="-122"/>
                <a:cs typeface="Calibri" pitchFamily="34" charset="-120"/>
              </a:rPr>
              <a:t>tools/observability_census.py reads the synthesized template and counts what actually deploys. --assert-baseline fails if the numbers drift from what the partner documents quote, so the brief and the infrastructure cannot disagree silently. Ask your SA to run it.</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1D6F42"/>
                </a:solidFill>
                <a:latin typeface="Calibri" pitchFamily="34" charset="0"/>
                <a:ea typeface="Calibri" pitchFamily="34" charset="-122"/>
                <a:cs typeface="Calibri" pitchFamily="34" charset="-120"/>
              </a:rPr>
              <a:t>THE ASK</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One thing, and it is cheap: run it yourself</a:t>
            </a:r>
            <a:endParaRPr lang="en-US" sz="3400" dirty="0"/>
          </a:p>
        </p:txBody>
      </p:sp>
      <p:sp>
        <p:nvSpPr>
          <p:cNvPr id="4" name="Shape 2"/>
          <p:cNvSpPr/>
          <p:nvPr/>
        </p:nvSpPr>
        <p:spPr>
          <a:xfrm>
            <a:off x="566928" y="1280160"/>
            <a:ext cx="11018520" cy="1207008"/>
          </a:xfrm>
          <a:prstGeom prst="roundRect">
            <a:avLst>
              <a:gd name="adj" fmla="val 6818"/>
            </a:avLst>
          </a:prstGeom>
          <a:solidFill>
            <a:srgbClr val="E4F2EA"/>
          </a:solidFill>
          <a:ln w="12700">
            <a:solidFill>
              <a:srgbClr val="BFE0CE"/>
            </a:solidFill>
            <a:prstDash val="solid"/>
          </a:ln>
        </p:spPr>
        <p:txBody>
          <a:bodyPr/>
          <a:p/>
        </p:txBody>
      </p:sp>
      <p:sp>
        <p:nvSpPr>
          <p:cNvPr id="5" name="Text 3"/>
          <p:cNvSpPr txBox="1"/>
          <p:nvPr/>
        </p:nvSpPr>
        <p:spPr>
          <a:xfrm>
            <a:off x="914400" y="1463040"/>
            <a:ext cx="10332720" cy="859536"/>
          </a:xfrm>
          <a:prstGeom prst="rect">
            <a:avLst/>
          </a:prstGeom>
          <a:noFill/>
          <a:ln/>
        </p:spPr>
        <p:txBody>
          <a:bodyPr wrap="square" lIns="0" tIns="0" rIns="0" bIns="0" rtlCol="0" anchor="ctr"/>
          <a:lstStyle/>
          <a:p>
            <a:pPr indent="0" marL="0">
              <a:lnSpc>
                <a:spcPct val="115000"/>
              </a:lnSpc>
              <a:buNone/>
            </a:pPr>
            <a:r>
              <a:rPr lang="en-US" sz="1550" i="1" dirty="0">
                <a:solidFill>
                  <a:srgbClr val="1D6F42"/>
                </a:solidFill>
                <a:latin typeface="Cambria" pitchFamily="34" charset="0"/>
                <a:ea typeface="Cambria" pitchFamily="34" charset="-122"/>
                <a:cs typeface="Cambria" pitchFamily="34" charset="-120"/>
              </a:rPr>
              <a:t>“All of the evidence is ours, which means none of it counts. We want your SA to run the verification protocol in a clean account. It is scripted, it takes about half a day, and it either reproduces our results or it does not.”</a:t>
            </a:r>
            <a:endParaRPr lang="en-US" sz="1550" dirty="0"/>
          </a:p>
        </p:txBody>
      </p:sp>
      <p:sp>
        <p:nvSpPr>
          <p:cNvPr id="6" name="Shape 4"/>
          <p:cNvSpPr/>
          <p:nvPr/>
        </p:nvSpPr>
        <p:spPr>
          <a:xfrm>
            <a:off x="566928" y="2578608"/>
            <a:ext cx="11018520" cy="438912"/>
          </a:xfrm>
          <a:prstGeom prst="roundRect">
            <a:avLst>
              <a:gd name="adj" fmla="val 18750"/>
            </a:avLst>
          </a:prstGeom>
          <a:solidFill>
            <a:srgbClr val="FFFFFF"/>
          </a:solidFill>
          <a:ln w="12700">
            <a:solidFill>
              <a:srgbClr val="DDE4EA"/>
            </a:solidFill>
            <a:prstDash val="solid"/>
          </a:ln>
        </p:spPr>
        <p:txBody>
          <a:bodyPr/>
          <a:p/>
        </p:txBody>
      </p:sp>
      <p:sp>
        <p:nvSpPr>
          <p:cNvPr id="7" name="Shape 5"/>
          <p:cNvSpPr/>
          <p:nvPr/>
        </p:nvSpPr>
        <p:spPr>
          <a:xfrm>
            <a:off x="694944" y="2633472"/>
            <a:ext cx="329184" cy="329184"/>
          </a:xfrm>
          <a:prstGeom prst="ellipse">
            <a:avLst/>
          </a:prstGeom>
          <a:solidFill>
            <a:srgbClr val="1A2433"/>
          </a:solidFill>
          <a:ln w="12700">
            <a:solidFill>
              <a:srgbClr val="1A2433"/>
            </a:solidFill>
            <a:prstDash val="solid"/>
          </a:ln>
        </p:spPr>
        <p:txBody>
          <a:bodyPr/>
          <a:p/>
        </p:txBody>
      </p:sp>
      <p:sp>
        <p:nvSpPr>
          <p:cNvPr id="8" name="Text 6"/>
          <p:cNvSpPr txBox="1"/>
          <p:nvPr/>
        </p:nvSpPr>
        <p:spPr>
          <a:xfrm>
            <a:off x="694944" y="263347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txBox="1"/>
          <p:nvPr/>
        </p:nvSpPr>
        <p:spPr>
          <a:xfrm>
            <a:off x="1133856" y="2578608"/>
            <a:ext cx="2286000" cy="43891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Clone the tag</a:t>
            </a:r>
            <a:endParaRPr lang="en-US" sz="1250" dirty="0"/>
          </a:p>
        </p:txBody>
      </p:sp>
      <p:sp>
        <p:nvSpPr>
          <p:cNvPr id="10" name="Text 8"/>
          <p:cNvSpPr txBox="1"/>
          <p:nvPr/>
        </p:nvSpPr>
        <p:spPr>
          <a:xfrm>
            <a:off x="3438144" y="2578608"/>
            <a:ext cx="868680" cy="438912"/>
          </a:xfrm>
          <a:prstGeom prst="rect">
            <a:avLst/>
          </a:prstGeom>
          <a:noFill/>
          <a:ln/>
        </p:spPr>
        <p:txBody>
          <a:bodyPr wrap="square" lIns="0" tIns="0" rIns="0" bIns="0" rtlCol="0" anchor="ctr"/>
          <a:lstStyle/>
          <a:p>
            <a:pPr indent="0" marL="0">
              <a:buNone/>
            </a:pPr>
            <a:r>
              <a:rPr lang="en-US" sz="1100" b="1" dirty="0">
                <a:solidFill>
                  <a:srgbClr val="1D6F42"/>
                </a:solidFill>
                <a:latin typeface="Calibri" pitchFamily="34" charset="0"/>
                <a:ea typeface="Calibri" pitchFamily="34" charset="-122"/>
                <a:cs typeface="Calibri" pitchFamily="34" charset="-120"/>
              </a:rPr>
              <a:t>10 min</a:t>
            </a:r>
            <a:endParaRPr lang="en-US" sz="1100" dirty="0"/>
          </a:p>
        </p:txBody>
      </p:sp>
      <p:sp>
        <p:nvSpPr>
          <p:cNvPr id="11" name="Text 9"/>
          <p:cNvSpPr txBox="1"/>
          <p:nvPr/>
        </p:nvSpPr>
        <p:spPr>
          <a:xfrm>
            <a:off x="4370832" y="2578608"/>
            <a:ext cx="7040880" cy="43891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v0.7.0-pilot-rc1. Confirm tag == main and the RELEASE file inside the tag names the tag.</a:t>
            </a:r>
            <a:endParaRPr lang="en-US" sz="1150" dirty="0"/>
          </a:p>
        </p:txBody>
      </p:sp>
      <p:sp>
        <p:nvSpPr>
          <p:cNvPr id="12" name="Shape 10"/>
          <p:cNvSpPr/>
          <p:nvPr/>
        </p:nvSpPr>
        <p:spPr>
          <a:xfrm>
            <a:off x="566928" y="3081528"/>
            <a:ext cx="11018520" cy="438912"/>
          </a:xfrm>
          <a:prstGeom prst="roundRect">
            <a:avLst>
              <a:gd name="adj" fmla="val 18750"/>
            </a:avLst>
          </a:prstGeom>
          <a:solidFill>
            <a:srgbClr val="F1F4F7"/>
          </a:solidFill>
          <a:ln w="12700">
            <a:solidFill>
              <a:srgbClr val="DDE4EA"/>
            </a:solidFill>
            <a:prstDash val="solid"/>
          </a:ln>
        </p:spPr>
        <p:txBody>
          <a:bodyPr/>
          <a:p/>
        </p:txBody>
      </p:sp>
      <p:sp>
        <p:nvSpPr>
          <p:cNvPr id="13" name="Shape 11"/>
          <p:cNvSpPr/>
          <p:nvPr/>
        </p:nvSpPr>
        <p:spPr>
          <a:xfrm>
            <a:off x="694944" y="3136392"/>
            <a:ext cx="329184" cy="329184"/>
          </a:xfrm>
          <a:prstGeom prst="ellipse">
            <a:avLst/>
          </a:prstGeom>
          <a:solidFill>
            <a:srgbClr val="1A2433"/>
          </a:solidFill>
          <a:ln w="12700">
            <a:solidFill>
              <a:srgbClr val="1A2433"/>
            </a:solidFill>
            <a:prstDash val="solid"/>
          </a:ln>
        </p:spPr>
        <p:txBody>
          <a:bodyPr/>
          <a:p/>
        </p:txBody>
      </p:sp>
      <p:sp>
        <p:nvSpPr>
          <p:cNvPr id="14" name="Text 12"/>
          <p:cNvSpPr txBox="1"/>
          <p:nvPr/>
        </p:nvSpPr>
        <p:spPr>
          <a:xfrm>
            <a:off x="694944" y="313639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5" name="Text 13"/>
          <p:cNvSpPr txBox="1"/>
          <p:nvPr/>
        </p:nvSpPr>
        <p:spPr>
          <a:xfrm>
            <a:off x="1133856" y="3081528"/>
            <a:ext cx="2286000" cy="43891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Run the offline suite</a:t>
            </a:r>
            <a:endParaRPr lang="en-US" sz="1250" dirty="0"/>
          </a:p>
        </p:txBody>
      </p:sp>
      <p:sp>
        <p:nvSpPr>
          <p:cNvPr id="16" name="Text 14"/>
          <p:cNvSpPr txBox="1"/>
          <p:nvPr/>
        </p:nvSpPr>
        <p:spPr>
          <a:xfrm>
            <a:off x="3438144" y="3081528"/>
            <a:ext cx="868680" cy="438912"/>
          </a:xfrm>
          <a:prstGeom prst="rect">
            <a:avLst/>
          </a:prstGeom>
          <a:noFill/>
          <a:ln/>
        </p:spPr>
        <p:txBody>
          <a:bodyPr wrap="square" lIns="0" tIns="0" rIns="0" bIns="0" rtlCol="0" anchor="ctr"/>
          <a:lstStyle/>
          <a:p>
            <a:pPr indent="0" marL="0">
              <a:buNone/>
            </a:pPr>
            <a:r>
              <a:rPr lang="en-US" sz="1100" b="1" dirty="0">
                <a:solidFill>
                  <a:srgbClr val="1D6F42"/>
                </a:solidFill>
                <a:latin typeface="Calibri" pitchFamily="34" charset="0"/>
                <a:ea typeface="Calibri" pitchFamily="34" charset="-122"/>
                <a:cs typeface="Calibri" pitchFamily="34" charset="-120"/>
              </a:rPr>
              <a:t>20 min</a:t>
            </a:r>
            <a:endParaRPr lang="en-US" sz="1100" dirty="0"/>
          </a:p>
        </p:txBody>
      </p:sp>
      <p:sp>
        <p:nvSpPr>
          <p:cNvPr id="17" name="Text 15"/>
          <p:cNvSpPr txBox="1"/>
          <p:nvPr/>
        </p:nvSpPr>
        <p:spPr>
          <a:xfrm>
            <a:off x="4370832" y="3081528"/>
            <a:ext cx="7040880" cy="43891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510 pass, 4 skip (514 collected). Confirm the CI security gates are blocking, not report-only.</a:t>
            </a:r>
            <a:endParaRPr lang="en-US" sz="1150" dirty="0"/>
          </a:p>
        </p:txBody>
      </p:sp>
      <p:sp>
        <p:nvSpPr>
          <p:cNvPr id="18" name="Shape 16"/>
          <p:cNvSpPr/>
          <p:nvPr/>
        </p:nvSpPr>
        <p:spPr>
          <a:xfrm>
            <a:off x="566928" y="3584448"/>
            <a:ext cx="11018520" cy="438912"/>
          </a:xfrm>
          <a:prstGeom prst="roundRect">
            <a:avLst>
              <a:gd name="adj" fmla="val 18750"/>
            </a:avLst>
          </a:prstGeom>
          <a:solidFill>
            <a:srgbClr val="FFFFFF"/>
          </a:solidFill>
          <a:ln w="12700">
            <a:solidFill>
              <a:srgbClr val="DDE4EA"/>
            </a:solidFill>
            <a:prstDash val="solid"/>
          </a:ln>
        </p:spPr>
        <p:txBody>
          <a:bodyPr/>
          <a:p/>
        </p:txBody>
      </p:sp>
      <p:sp>
        <p:nvSpPr>
          <p:cNvPr id="19" name="Shape 17"/>
          <p:cNvSpPr/>
          <p:nvPr/>
        </p:nvSpPr>
        <p:spPr>
          <a:xfrm>
            <a:off x="694944" y="3639312"/>
            <a:ext cx="329184" cy="329184"/>
          </a:xfrm>
          <a:prstGeom prst="ellipse">
            <a:avLst/>
          </a:prstGeom>
          <a:solidFill>
            <a:srgbClr val="1A2433"/>
          </a:solidFill>
          <a:ln w="12700">
            <a:solidFill>
              <a:srgbClr val="1A2433"/>
            </a:solidFill>
            <a:prstDash val="solid"/>
          </a:ln>
        </p:spPr>
        <p:txBody>
          <a:bodyPr/>
          <a:p/>
        </p:txBody>
      </p:sp>
      <p:sp>
        <p:nvSpPr>
          <p:cNvPr id="20" name="Text 18"/>
          <p:cNvSpPr txBox="1"/>
          <p:nvPr/>
        </p:nvSpPr>
        <p:spPr>
          <a:xfrm>
            <a:off x="694944" y="363931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1" name="Text 19"/>
          <p:cNvSpPr txBox="1"/>
          <p:nvPr/>
        </p:nvSpPr>
        <p:spPr>
          <a:xfrm>
            <a:off x="1133856" y="3584448"/>
            <a:ext cx="2286000" cy="43891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Read a pass and a failure</a:t>
            </a:r>
            <a:endParaRPr lang="en-US" sz="1250" dirty="0"/>
          </a:p>
        </p:txBody>
      </p:sp>
      <p:sp>
        <p:nvSpPr>
          <p:cNvPr id="22" name="Text 20"/>
          <p:cNvSpPr txBox="1"/>
          <p:nvPr/>
        </p:nvSpPr>
        <p:spPr>
          <a:xfrm>
            <a:off x="3438144" y="3584448"/>
            <a:ext cx="868680" cy="438912"/>
          </a:xfrm>
          <a:prstGeom prst="rect">
            <a:avLst/>
          </a:prstGeom>
          <a:noFill/>
          <a:ln/>
        </p:spPr>
        <p:txBody>
          <a:bodyPr wrap="square" lIns="0" tIns="0" rIns="0" bIns="0" rtlCol="0" anchor="ctr"/>
          <a:lstStyle/>
          <a:p>
            <a:pPr indent="0" marL="0">
              <a:buNone/>
            </a:pPr>
            <a:r>
              <a:rPr lang="en-US" sz="1100" b="1" dirty="0">
                <a:solidFill>
                  <a:srgbClr val="1D6F42"/>
                </a:solidFill>
                <a:latin typeface="Calibri" pitchFamily="34" charset="0"/>
                <a:ea typeface="Calibri" pitchFamily="34" charset="-122"/>
                <a:cs typeface="Calibri" pitchFamily="34" charset="-120"/>
              </a:rPr>
              <a:t>20 min</a:t>
            </a:r>
            <a:endParaRPr lang="en-US" sz="1100" dirty="0"/>
          </a:p>
        </p:txBody>
      </p:sp>
      <p:sp>
        <p:nvSpPr>
          <p:cNvPr id="23" name="Text 21"/>
          <p:cNvSpPr txBox="1"/>
          <p:nvPr/>
        </p:nvSpPr>
        <p:spPr>
          <a:xfrm>
            <a:off x="4370832" y="3584448"/>
            <a:ext cx="7040880" cy="43891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A pass and the failure before it, side by side, in the same commit. Cheapest high-signal step in the list.</a:t>
            </a:r>
            <a:endParaRPr lang="en-US" sz="1150" dirty="0"/>
          </a:p>
        </p:txBody>
      </p:sp>
      <p:sp>
        <p:nvSpPr>
          <p:cNvPr id="24" name="Shape 22"/>
          <p:cNvSpPr/>
          <p:nvPr/>
        </p:nvSpPr>
        <p:spPr>
          <a:xfrm>
            <a:off x="566928" y="4087368"/>
            <a:ext cx="11018520" cy="438912"/>
          </a:xfrm>
          <a:prstGeom prst="roundRect">
            <a:avLst>
              <a:gd name="adj" fmla="val 18750"/>
            </a:avLst>
          </a:prstGeom>
          <a:solidFill>
            <a:srgbClr val="F1F4F7"/>
          </a:solidFill>
          <a:ln w="12700">
            <a:solidFill>
              <a:srgbClr val="DDE4EA"/>
            </a:solidFill>
            <a:prstDash val="solid"/>
          </a:ln>
        </p:spPr>
        <p:txBody>
          <a:bodyPr/>
          <a:p/>
        </p:txBody>
      </p:sp>
      <p:sp>
        <p:nvSpPr>
          <p:cNvPr id="25" name="Shape 23"/>
          <p:cNvSpPr/>
          <p:nvPr/>
        </p:nvSpPr>
        <p:spPr>
          <a:xfrm>
            <a:off x="694944" y="4142232"/>
            <a:ext cx="329184" cy="329184"/>
          </a:xfrm>
          <a:prstGeom prst="ellipse">
            <a:avLst/>
          </a:prstGeom>
          <a:solidFill>
            <a:srgbClr val="1A2433"/>
          </a:solidFill>
          <a:ln w="12700">
            <a:solidFill>
              <a:srgbClr val="1A2433"/>
            </a:solidFill>
            <a:prstDash val="solid"/>
          </a:ln>
        </p:spPr>
        <p:txBody>
          <a:bodyPr/>
          <a:p/>
        </p:txBody>
      </p:sp>
      <p:sp>
        <p:nvSpPr>
          <p:cNvPr id="26" name="Text 24"/>
          <p:cNvSpPr txBox="1"/>
          <p:nvPr/>
        </p:nvSpPr>
        <p:spPr>
          <a:xfrm>
            <a:off x="694944" y="414223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7" name="Text 25"/>
          <p:cNvSpPr txBox="1"/>
          <p:nvPr/>
        </p:nvSpPr>
        <p:spPr>
          <a:xfrm>
            <a:off x="1133856" y="4087368"/>
            <a:ext cx="2286000" cy="43891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Deploy from zero</a:t>
            </a:r>
            <a:endParaRPr lang="en-US" sz="1250" dirty="0"/>
          </a:p>
        </p:txBody>
      </p:sp>
      <p:sp>
        <p:nvSpPr>
          <p:cNvPr id="28" name="Text 26"/>
          <p:cNvSpPr txBox="1"/>
          <p:nvPr/>
        </p:nvSpPr>
        <p:spPr>
          <a:xfrm>
            <a:off x="3438144" y="4087368"/>
            <a:ext cx="868680" cy="438912"/>
          </a:xfrm>
          <a:prstGeom prst="rect">
            <a:avLst/>
          </a:prstGeom>
          <a:noFill/>
          <a:ln/>
        </p:spPr>
        <p:txBody>
          <a:bodyPr wrap="square" lIns="0" tIns="0" rIns="0" bIns="0" rtlCol="0" anchor="ctr"/>
          <a:lstStyle/>
          <a:p>
            <a:pPr indent="0" marL="0">
              <a:buNone/>
            </a:pPr>
            <a:r>
              <a:rPr lang="en-US" sz="1100" b="1" dirty="0">
                <a:solidFill>
                  <a:srgbClr val="1D6F42"/>
                </a:solidFill>
                <a:latin typeface="Calibri" pitchFamily="34" charset="0"/>
                <a:ea typeface="Calibri" pitchFamily="34" charset="-122"/>
                <a:cs typeface="Calibri" pitchFamily="34" charset="-120"/>
              </a:rPr>
              <a:t>~2 hr</a:t>
            </a:r>
            <a:endParaRPr lang="en-US" sz="1100" dirty="0"/>
          </a:p>
        </p:txBody>
      </p:sp>
      <p:sp>
        <p:nvSpPr>
          <p:cNvPr id="29" name="Text 27"/>
          <p:cNvSpPr txBox="1"/>
          <p:nvPr/>
        </p:nvSpPr>
        <p:spPr>
          <a:xfrm>
            <a:off x="4370832" y="4087368"/>
            <a:ext cx="7040880" cy="43891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Into a clean account you control, following docs/INDEPENDENT-VERIFICATION.md.</a:t>
            </a:r>
            <a:endParaRPr lang="en-US" sz="1150" dirty="0"/>
          </a:p>
        </p:txBody>
      </p:sp>
      <p:sp>
        <p:nvSpPr>
          <p:cNvPr id="30" name="Shape 28"/>
          <p:cNvSpPr/>
          <p:nvPr/>
        </p:nvSpPr>
        <p:spPr>
          <a:xfrm>
            <a:off x="566928" y="4590288"/>
            <a:ext cx="11018520" cy="438912"/>
          </a:xfrm>
          <a:prstGeom prst="roundRect">
            <a:avLst>
              <a:gd name="adj" fmla="val 18750"/>
            </a:avLst>
          </a:prstGeom>
          <a:solidFill>
            <a:srgbClr val="FFFFFF"/>
          </a:solidFill>
          <a:ln w="12700">
            <a:solidFill>
              <a:srgbClr val="DDE4EA"/>
            </a:solidFill>
            <a:prstDash val="solid"/>
          </a:ln>
        </p:spPr>
        <p:txBody>
          <a:bodyPr/>
          <a:p/>
        </p:txBody>
      </p:sp>
      <p:sp>
        <p:nvSpPr>
          <p:cNvPr id="31" name="Shape 29"/>
          <p:cNvSpPr/>
          <p:nvPr/>
        </p:nvSpPr>
        <p:spPr>
          <a:xfrm>
            <a:off x="694944" y="4645152"/>
            <a:ext cx="329184" cy="329184"/>
          </a:xfrm>
          <a:prstGeom prst="ellipse">
            <a:avLst/>
          </a:prstGeom>
          <a:solidFill>
            <a:srgbClr val="1A2433"/>
          </a:solidFill>
          <a:ln w="12700">
            <a:solidFill>
              <a:srgbClr val="1A2433"/>
            </a:solidFill>
            <a:prstDash val="solid"/>
          </a:ln>
        </p:spPr>
        <p:txBody>
          <a:bodyPr/>
          <a:p/>
        </p:txBody>
      </p:sp>
      <p:sp>
        <p:nvSpPr>
          <p:cNvPr id="32" name="Text 30"/>
          <p:cNvSpPr txBox="1"/>
          <p:nvPr/>
        </p:nvSpPr>
        <p:spPr>
          <a:xfrm>
            <a:off x="694944" y="464515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33" name="Text 31"/>
          <p:cNvSpPr txBox="1"/>
          <p:nvPr/>
        </p:nvSpPr>
        <p:spPr>
          <a:xfrm>
            <a:off x="1133856" y="4590288"/>
            <a:ext cx="2286000" cy="43891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Run the gate yourself</a:t>
            </a:r>
            <a:endParaRPr lang="en-US" sz="1250" dirty="0"/>
          </a:p>
        </p:txBody>
      </p:sp>
      <p:sp>
        <p:nvSpPr>
          <p:cNvPr id="34" name="Text 32"/>
          <p:cNvSpPr txBox="1"/>
          <p:nvPr/>
        </p:nvSpPr>
        <p:spPr>
          <a:xfrm>
            <a:off x="3438144" y="4590288"/>
            <a:ext cx="868680" cy="438912"/>
          </a:xfrm>
          <a:prstGeom prst="rect">
            <a:avLst/>
          </a:prstGeom>
          <a:noFill/>
          <a:ln/>
        </p:spPr>
        <p:txBody>
          <a:bodyPr wrap="square" lIns="0" tIns="0" rIns="0" bIns="0" rtlCol="0" anchor="ctr"/>
          <a:lstStyle/>
          <a:p>
            <a:pPr indent="0" marL="0">
              <a:buNone/>
            </a:pPr>
            <a:r>
              <a:rPr lang="en-US" sz="1100" b="1" dirty="0">
                <a:solidFill>
                  <a:srgbClr val="1D6F42"/>
                </a:solidFill>
                <a:latin typeface="Calibri" pitchFamily="34" charset="0"/>
                <a:ea typeface="Calibri" pitchFamily="34" charset="-122"/>
                <a:cs typeface="Calibri" pitchFamily="34" charset="-120"/>
              </a:rPr>
              <a:t>~1.5 hr</a:t>
            </a:r>
            <a:endParaRPr lang="en-US" sz="1100" dirty="0"/>
          </a:p>
        </p:txBody>
      </p:sp>
      <p:sp>
        <p:nvSpPr>
          <p:cNvPr id="35" name="Text 33"/>
          <p:cNvSpPr txBox="1"/>
          <p:nvPr/>
        </p:nvSpPr>
        <p:spPr>
          <a:xfrm>
            <a:off x="4370832" y="4590288"/>
            <a:ext cx="7040880" cy="43891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Record the result — including if it fails. That is the deliverable either way.</a:t>
            </a:r>
            <a:endParaRPr lang="en-US" sz="1150" dirty="0"/>
          </a:p>
        </p:txBody>
      </p:sp>
      <p:sp>
        <p:nvSpPr>
          <p:cNvPr id="36" name="Shape 34"/>
          <p:cNvSpPr/>
          <p:nvPr/>
        </p:nvSpPr>
        <p:spPr>
          <a:xfrm>
            <a:off x="566928" y="5093208"/>
            <a:ext cx="11018520" cy="438912"/>
          </a:xfrm>
          <a:prstGeom prst="roundRect">
            <a:avLst>
              <a:gd name="adj" fmla="val 18750"/>
            </a:avLst>
          </a:prstGeom>
          <a:solidFill>
            <a:srgbClr val="F1F4F7"/>
          </a:solidFill>
          <a:ln w="12700">
            <a:solidFill>
              <a:srgbClr val="DDE4EA"/>
            </a:solidFill>
            <a:prstDash val="solid"/>
          </a:ln>
        </p:spPr>
        <p:txBody>
          <a:bodyPr/>
          <a:p/>
        </p:txBody>
      </p:sp>
      <p:sp>
        <p:nvSpPr>
          <p:cNvPr id="37" name="Shape 35"/>
          <p:cNvSpPr/>
          <p:nvPr/>
        </p:nvSpPr>
        <p:spPr>
          <a:xfrm>
            <a:off x="694944" y="5148072"/>
            <a:ext cx="329184" cy="329184"/>
          </a:xfrm>
          <a:prstGeom prst="ellipse">
            <a:avLst/>
          </a:prstGeom>
          <a:solidFill>
            <a:srgbClr val="1A2433"/>
          </a:solidFill>
          <a:ln w="12700">
            <a:solidFill>
              <a:srgbClr val="1A2433"/>
            </a:solidFill>
            <a:prstDash val="solid"/>
          </a:ln>
        </p:spPr>
        <p:txBody>
          <a:bodyPr/>
          <a:p/>
        </p:txBody>
      </p:sp>
      <p:sp>
        <p:nvSpPr>
          <p:cNvPr id="38" name="Text 36"/>
          <p:cNvSpPr txBox="1"/>
          <p:nvPr/>
        </p:nvSpPr>
        <p:spPr>
          <a:xfrm>
            <a:off x="694944" y="514807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39" name="Text 37"/>
          <p:cNvSpPr txBox="1"/>
          <p:nvPr/>
        </p:nvSpPr>
        <p:spPr>
          <a:xfrm>
            <a:off x="1133856" y="5093208"/>
            <a:ext cx="2286000" cy="43891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Try to break it</a:t>
            </a:r>
            <a:endParaRPr lang="en-US" sz="1250" dirty="0"/>
          </a:p>
        </p:txBody>
      </p:sp>
      <p:sp>
        <p:nvSpPr>
          <p:cNvPr id="40" name="Text 38"/>
          <p:cNvSpPr txBox="1"/>
          <p:nvPr/>
        </p:nvSpPr>
        <p:spPr>
          <a:xfrm>
            <a:off x="3438144" y="5093208"/>
            <a:ext cx="868680" cy="438912"/>
          </a:xfrm>
          <a:prstGeom prst="rect">
            <a:avLst/>
          </a:prstGeom>
          <a:noFill/>
          <a:ln/>
        </p:spPr>
        <p:txBody>
          <a:bodyPr wrap="square" lIns="0" tIns="0" rIns="0" bIns="0" rtlCol="0" anchor="ctr"/>
          <a:lstStyle/>
          <a:p>
            <a:pPr indent="0" marL="0">
              <a:buNone/>
            </a:pPr>
            <a:r>
              <a:rPr lang="en-US" sz="1100" b="1" dirty="0">
                <a:solidFill>
                  <a:srgbClr val="1D6F42"/>
                </a:solidFill>
                <a:latin typeface="Calibri" pitchFamily="34" charset="0"/>
                <a:ea typeface="Calibri" pitchFamily="34" charset="-122"/>
                <a:cs typeface="Calibri" pitchFamily="34" charset="-120"/>
              </a:rPr>
              <a:t>~1 hr</a:t>
            </a:r>
            <a:endParaRPr lang="en-US" sz="1100" dirty="0"/>
          </a:p>
        </p:txBody>
      </p:sp>
      <p:sp>
        <p:nvSpPr>
          <p:cNvPr id="41" name="Text 39"/>
          <p:cNvSpPr txBox="1"/>
          <p:nvPr/>
        </p:nvSpPr>
        <p:spPr>
          <a:xfrm>
            <a:off x="4370832" y="5093208"/>
            <a:ext cx="7040880" cy="43891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Forge a sanitized_ref. Call a tool with no entitlement. Call finalize_determination directly.</a:t>
            </a:r>
            <a:endParaRPr lang="en-US" sz="1150" dirty="0"/>
          </a:p>
        </p:txBody>
      </p:sp>
      <p:sp>
        <p:nvSpPr>
          <p:cNvPr id="42" name="Shape 40"/>
          <p:cNvSpPr/>
          <p:nvPr/>
        </p:nvSpPr>
        <p:spPr>
          <a:xfrm>
            <a:off x="566928" y="5596128"/>
            <a:ext cx="11018520" cy="438912"/>
          </a:xfrm>
          <a:prstGeom prst="roundRect">
            <a:avLst>
              <a:gd name="adj" fmla="val 18750"/>
            </a:avLst>
          </a:prstGeom>
          <a:solidFill>
            <a:srgbClr val="FFFFFF"/>
          </a:solidFill>
          <a:ln w="12700">
            <a:solidFill>
              <a:srgbClr val="DDE4EA"/>
            </a:solidFill>
            <a:prstDash val="solid"/>
          </a:ln>
        </p:spPr>
        <p:txBody>
          <a:bodyPr/>
          <a:p/>
        </p:txBody>
      </p:sp>
      <p:sp>
        <p:nvSpPr>
          <p:cNvPr id="43" name="Shape 41"/>
          <p:cNvSpPr/>
          <p:nvPr/>
        </p:nvSpPr>
        <p:spPr>
          <a:xfrm>
            <a:off x="694944" y="5650992"/>
            <a:ext cx="329184" cy="329184"/>
          </a:xfrm>
          <a:prstGeom prst="ellipse">
            <a:avLst/>
          </a:prstGeom>
          <a:solidFill>
            <a:srgbClr val="1A2433"/>
          </a:solidFill>
          <a:ln w="12700">
            <a:solidFill>
              <a:srgbClr val="1A2433"/>
            </a:solidFill>
            <a:prstDash val="solid"/>
          </a:ln>
        </p:spPr>
        <p:txBody>
          <a:bodyPr/>
          <a:p/>
        </p:txBody>
      </p:sp>
      <p:sp>
        <p:nvSpPr>
          <p:cNvPr id="44" name="Text 42"/>
          <p:cNvSpPr txBox="1"/>
          <p:nvPr/>
        </p:nvSpPr>
        <p:spPr>
          <a:xfrm>
            <a:off x="694944" y="565099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45" name="Text 43"/>
          <p:cNvSpPr txBox="1"/>
          <p:nvPr/>
        </p:nvSpPr>
        <p:spPr>
          <a:xfrm>
            <a:off x="1133856" y="5596128"/>
            <a:ext cx="2286000" cy="43891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Tear down</a:t>
            </a:r>
            <a:endParaRPr lang="en-US" sz="1250" dirty="0"/>
          </a:p>
        </p:txBody>
      </p:sp>
      <p:sp>
        <p:nvSpPr>
          <p:cNvPr id="46" name="Text 44"/>
          <p:cNvSpPr txBox="1"/>
          <p:nvPr/>
        </p:nvSpPr>
        <p:spPr>
          <a:xfrm>
            <a:off x="3438144" y="5596128"/>
            <a:ext cx="868680" cy="438912"/>
          </a:xfrm>
          <a:prstGeom prst="rect">
            <a:avLst/>
          </a:prstGeom>
          <a:noFill/>
          <a:ln/>
        </p:spPr>
        <p:txBody>
          <a:bodyPr wrap="square" lIns="0" tIns="0" rIns="0" bIns="0" rtlCol="0" anchor="ctr"/>
          <a:lstStyle/>
          <a:p>
            <a:pPr indent="0" marL="0">
              <a:buNone/>
            </a:pPr>
            <a:r>
              <a:rPr lang="en-US" sz="1100" b="1" dirty="0">
                <a:solidFill>
                  <a:srgbClr val="1D6F42"/>
                </a:solidFill>
                <a:latin typeface="Calibri" pitchFamily="34" charset="0"/>
                <a:ea typeface="Calibri" pitchFamily="34" charset="-122"/>
                <a:cs typeface="Calibri" pitchFamily="34" charset="-120"/>
              </a:rPr>
              <a:t>30 min</a:t>
            </a:r>
            <a:endParaRPr lang="en-US" sz="1100" dirty="0"/>
          </a:p>
        </p:txBody>
      </p:sp>
      <p:sp>
        <p:nvSpPr>
          <p:cNvPr id="47" name="Text 45"/>
          <p:cNvSpPr txBox="1"/>
          <p:nvPr/>
        </p:nvSpPr>
        <p:spPr>
          <a:xfrm>
            <a:off x="4370832" y="5596128"/>
            <a:ext cx="7040880" cy="43891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Confirm zero stack and zero AgentCore residue in your account.</a:t>
            </a:r>
            <a:endParaRPr lang="en-US" sz="1150" dirty="0"/>
          </a:p>
        </p:txBody>
      </p:sp>
      <p:sp>
        <p:nvSpPr>
          <p:cNvPr id="48" name="Text 46"/>
          <p:cNvSpPr txBox="1"/>
          <p:nvPr/>
        </p:nvSpPr>
        <p:spPr>
          <a:xfrm>
            <a:off x="566928" y="6089904"/>
            <a:ext cx="11064240" cy="292608"/>
          </a:xfrm>
          <a:prstGeom prst="rect">
            <a:avLst/>
          </a:prstGeom>
          <a:noFill/>
          <a:ln/>
        </p:spPr>
        <p:txBody>
          <a:bodyPr wrap="square" lIns="0" tIns="0" rIns="0" bIns="0" rtlCol="0" anchor="ctr"/>
          <a:lstStyle/>
          <a:p>
            <a:pPr indent="0" marL="0">
              <a:buNone/>
            </a:pPr>
            <a:r>
              <a:rPr lang="en-US" sz="1000" i="1" dirty="0">
                <a:solidFill>
                  <a:srgbClr val="9A6700"/>
                </a:solidFill>
                <a:latin typeface="Calibri" pitchFamily="34" charset="0"/>
                <a:ea typeface="Calibri" pitchFamily="34" charset="-122"/>
                <a:cs typeface="Calibri" pitchFamily="34" charset="-120"/>
              </a:rPr>
              <a:t>One prerequisite we owe you: the account needs CloudTrail headroom. The limit is five trails per region and AWS marks it not adjustable. Each deployed pack needs two.</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5F7080"/>
                </a:solidFill>
                <a:latin typeface="Calibri" pitchFamily="34" charset="0"/>
                <a:ea typeface="Calibri" pitchFamily="34" charset="-122"/>
                <a:cs typeface="Calibri" pitchFamily="34" charset="-120"/>
              </a:rPr>
              <a:t>HOW THIS MOVES FORWARD</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Verify, then extend, then a customer — in that order</a:t>
            </a:r>
            <a:endParaRPr lang="en-US" sz="3400" dirty="0"/>
          </a:p>
        </p:txBody>
      </p:sp>
      <p:sp>
        <p:nvSpPr>
          <p:cNvPr id="4" name="Shape 2"/>
          <p:cNvSpPr/>
          <p:nvPr/>
        </p:nvSpPr>
        <p:spPr>
          <a:xfrm>
            <a:off x="566928" y="1481328"/>
            <a:ext cx="11018520" cy="1042416"/>
          </a:xfrm>
          <a:prstGeom prst="roundRect">
            <a:avLst>
              <a:gd name="adj" fmla="val 7895"/>
            </a:avLst>
          </a:prstGeom>
          <a:solidFill>
            <a:srgbClr val="FFFFFF"/>
          </a:solidFill>
          <a:ln w="12700">
            <a:solidFill>
              <a:srgbClr val="D8E0E7"/>
            </a:solidFill>
            <a:prstDash val="solid"/>
          </a:ln>
        </p:spPr>
        <p:txBody>
          <a:bodyPr/>
          <a:p/>
        </p:txBody>
      </p:sp>
      <p:sp>
        <p:nvSpPr>
          <p:cNvPr id="5" name="Shape 3"/>
          <p:cNvSpPr/>
          <p:nvPr/>
        </p:nvSpPr>
        <p:spPr>
          <a:xfrm>
            <a:off x="822960" y="1764792"/>
            <a:ext cx="475488" cy="475488"/>
          </a:xfrm>
          <a:prstGeom prst="ellipse">
            <a:avLst/>
          </a:prstGeom>
          <a:solidFill>
            <a:srgbClr val="1D6F42"/>
          </a:solidFill>
          <a:ln w="12700">
            <a:solidFill>
              <a:srgbClr val="1D6F42"/>
            </a:solidFill>
            <a:prstDash val="solid"/>
          </a:ln>
        </p:spPr>
        <p:txBody>
          <a:bodyPr/>
          <a:p/>
        </p:txBody>
      </p:sp>
      <p:sp>
        <p:nvSpPr>
          <p:cNvPr id="6" name="Text 4"/>
          <p:cNvSpPr txBox="1"/>
          <p:nvPr/>
        </p:nvSpPr>
        <p:spPr>
          <a:xfrm>
            <a:off x="822960" y="176479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463040" y="1627632"/>
            <a:ext cx="1920240" cy="365760"/>
          </a:xfrm>
          <a:prstGeom prst="rect">
            <a:avLst/>
          </a:prstGeom>
          <a:noFill/>
          <a:ln/>
        </p:spPr>
        <p:txBody>
          <a:bodyPr wrap="square" lIns="0" tIns="0" rIns="0" bIns="0" rtlCol="0" anchor="ctr"/>
          <a:lstStyle/>
          <a:p>
            <a:pPr indent="0" marL="0">
              <a:buNone/>
            </a:pPr>
            <a:r>
              <a:rPr lang="en-US" sz="1700" b="1" dirty="0">
                <a:solidFill>
                  <a:srgbClr val="1D6F42"/>
                </a:solidFill>
                <a:latin typeface="Cambria" pitchFamily="34" charset="0"/>
                <a:ea typeface="Cambria" pitchFamily="34" charset="-122"/>
                <a:cs typeface="Cambria" pitchFamily="34" charset="-120"/>
              </a:rPr>
              <a:t>Verify</a:t>
            </a:r>
            <a:endParaRPr lang="en-US" sz="1700" dirty="0"/>
          </a:p>
        </p:txBody>
      </p:sp>
      <p:sp>
        <p:nvSpPr>
          <p:cNvPr id="8" name="Text 6"/>
          <p:cNvSpPr txBox="1"/>
          <p:nvPr/>
        </p:nvSpPr>
        <p:spPr>
          <a:xfrm>
            <a:off x="1463040" y="2011680"/>
            <a:ext cx="1920240" cy="274320"/>
          </a:xfrm>
          <a:prstGeom prst="rect">
            <a:avLst/>
          </a:prstGeom>
          <a:noFill/>
          <a:ln/>
        </p:spPr>
        <p:txBody>
          <a:bodyPr wrap="square" lIns="0" tIns="0" rIns="0" bIns="0" rtlCol="0" anchor="ctr"/>
          <a:lstStyle/>
          <a:p>
            <a:pPr indent="0" marL="0">
              <a:buNone/>
            </a:pPr>
            <a:r>
              <a:rPr lang="en-US" sz="1100" dirty="0">
                <a:solidFill>
                  <a:srgbClr val="5F7080"/>
                </a:solidFill>
                <a:latin typeface="Calibri" pitchFamily="34" charset="0"/>
                <a:ea typeface="Calibri" pitchFamily="34" charset="-122"/>
                <a:cs typeface="Calibri" pitchFamily="34" charset="-120"/>
              </a:rPr>
              <a:t>Weeks 1–2</a:t>
            </a:r>
            <a:endParaRPr lang="en-US" sz="1100" dirty="0"/>
          </a:p>
        </p:txBody>
      </p:sp>
      <p:sp>
        <p:nvSpPr>
          <p:cNvPr id="9" name="Text 7"/>
          <p:cNvSpPr txBox="1"/>
          <p:nvPr/>
        </p:nvSpPr>
        <p:spPr>
          <a:xfrm>
            <a:off x="3520440" y="1609344"/>
            <a:ext cx="5120640" cy="822960"/>
          </a:xfrm>
          <a:prstGeom prst="rect">
            <a:avLst/>
          </a:prstGeom>
          <a:noFill/>
          <a:ln/>
        </p:spPr>
        <p:txBody>
          <a:bodyPr wrap="square" lIns="0" tIns="0" rIns="0" bIns="0" rtlCol="0" anchor="ctr"/>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Partner SA reproduces the gate in a clean account, including the break-it step.</a:t>
            </a:r>
            <a:endParaRPr lang="en-US" sz="1250" dirty="0"/>
          </a:p>
        </p:txBody>
      </p:sp>
      <p:sp>
        <p:nvSpPr>
          <p:cNvPr id="10" name="Text 8"/>
          <p:cNvSpPr txBox="1"/>
          <p:nvPr/>
        </p:nvSpPr>
        <p:spPr>
          <a:xfrm>
            <a:off x="8823960" y="1609344"/>
            <a:ext cx="2606040" cy="822960"/>
          </a:xfrm>
          <a:prstGeom prst="rect">
            <a:avLst/>
          </a:prstGeom>
          <a:noFill/>
          <a:ln/>
        </p:spPr>
        <p:txBody>
          <a:bodyPr wrap="square" lIns="0" tIns="0" rIns="0" bIns="0" rtlCol="0" anchor="ctr"/>
          <a:lstStyle/>
          <a:p>
            <a:pPr indent="0" marL="0">
              <a:lnSpc>
                <a:spcPct val="110000"/>
              </a:lnSpc>
              <a:buNone/>
            </a:pPr>
            <a:r>
              <a:rPr lang="en-US" sz="1150" i="1" dirty="0">
                <a:solidFill>
                  <a:srgbClr val="1D6F42"/>
                </a:solidFill>
                <a:latin typeface="Calibri" pitchFamily="34" charset="0"/>
                <a:ea typeface="Calibri" pitchFamily="34" charset="-122"/>
                <a:cs typeface="Calibri" pitchFamily="34" charset="-120"/>
              </a:rPr>
              <a:t>Gate: it reproduces, or we learn why not.</a:t>
            </a:r>
            <a:endParaRPr lang="en-US" sz="1150" dirty="0"/>
          </a:p>
        </p:txBody>
      </p:sp>
      <p:sp>
        <p:nvSpPr>
          <p:cNvPr id="11" name="Shape 9"/>
          <p:cNvSpPr/>
          <p:nvPr/>
        </p:nvSpPr>
        <p:spPr>
          <a:xfrm>
            <a:off x="566928" y="2651760"/>
            <a:ext cx="11018520" cy="1042416"/>
          </a:xfrm>
          <a:prstGeom prst="roundRect">
            <a:avLst>
              <a:gd name="adj" fmla="val 7895"/>
            </a:avLst>
          </a:prstGeom>
          <a:solidFill>
            <a:srgbClr val="FFFFFF"/>
          </a:solidFill>
          <a:ln w="12700">
            <a:solidFill>
              <a:srgbClr val="D8E0E7"/>
            </a:solidFill>
            <a:prstDash val="solid"/>
          </a:ln>
        </p:spPr>
        <p:txBody>
          <a:bodyPr/>
          <a:p/>
        </p:txBody>
      </p:sp>
      <p:sp>
        <p:nvSpPr>
          <p:cNvPr id="12" name="Shape 10"/>
          <p:cNvSpPr/>
          <p:nvPr/>
        </p:nvSpPr>
        <p:spPr>
          <a:xfrm>
            <a:off x="822960" y="2935224"/>
            <a:ext cx="475488" cy="475488"/>
          </a:xfrm>
          <a:prstGeom prst="ellipse">
            <a:avLst/>
          </a:prstGeom>
          <a:solidFill>
            <a:srgbClr val="1A2433"/>
          </a:solidFill>
          <a:ln w="12700">
            <a:solidFill>
              <a:srgbClr val="1A2433"/>
            </a:solidFill>
            <a:prstDash val="solid"/>
          </a:ln>
        </p:spPr>
        <p:txBody>
          <a:bodyPr/>
          <a:p/>
        </p:txBody>
      </p:sp>
      <p:sp>
        <p:nvSpPr>
          <p:cNvPr id="13" name="Text 11"/>
          <p:cNvSpPr txBox="1"/>
          <p:nvPr/>
        </p:nvSpPr>
        <p:spPr>
          <a:xfrm>
            <a:off x="822960" y="2935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1463040" y="2798064"/>
            <a:ext cx="1920240" cy="365760"/>
          </a:xfrm>
          <a:prstGeom prst="rect">
            <a:avLst/>
          </a:prstGeom>
          <a:noFill/>
          <a:ln/>
        </p:spPr>
        <p:txBody>
          <a:bodyPr wrap="square" lIns="0" tIns="0" rIns="0" bIns="0" rtlCol="0" anchor="ctr"/>
          <a:lstStyle/>
          <a:p>
            <a:pPr indent="0" marL="0">
              <a:buNone/>
            </a:pPr>
            <a:r>
              <a:rPr lang="en-US" sz="1700" b="1" dirty="0">
                <a:solidFill>
                  <a:srgbClr val="1A2433"/>
                </a:solidFill>
                <a:latin typeface="Cambria" pitchFamily="34" charset="0"/>
                <a:ea typeface="Cambria" pitchFamily="34" charset="-122"/>
                <a:cs typeface="Cambria" pitchFamily="34" charset="-120"/>
              </a:rPr>
              <a:t>Extend</a:t>
            </a:r>
            <a:endParaRPr lang="en-US" sz="1700" dirty="0"/>
          </a:p>
        </p:txBody>
      </p:sp>
      <p:sp>
        <p:nvSpPr>
          <p:cNvPr id="15" name="Text 13"/>
          <p:cNvSpPr txBox="1"/>
          <p:nvPr/>
        </p:nvSpPr>
        <p:spPr>
          <a:xfrm>
            <a:off x="1463040" y="3182112"/>
            <a:ext cx="1920240" cy="274320"/>
          </a:xfrm>
          <a:prstGeom prst="rect">
            <a:avLst/>
          </a:prstGeom>
          <a:noFill/>
          <a:ln/>
        </p:spPr>
        <p:txBody>
          <a:bodyPr wrap="square" lIns="0" tIns="0" rIns="0" bIns="0" rtlCol="0" anchor="ctr"/>
          <a:lstStyle/>
          <a:p>
            <a:pPr indent="0" marL="0">
              <a:buNone/>
            </a:pPr>
            <a:r>
              <a:rPr lang="en-US" sz="1100" dirty="0">
                <a:solidFill>
                  <a:srgbClr val="5F7080"/>
                </a:solidFill>
                <a:latin typeface="Calibri" pitchFamily="34" charset="0"/>
                <a:ea typeface="Calibri" pitchFamily="34" charset="-122"/>
                <a:cs typeface="Calibri" pitchFamily="34" charset="-120"/>
              </a:rPr>
              <a:t>Weeks 3–8</a:t>
            </a:r>
            <a:endParaRPr lang="en-US" sz="1100" dirty="0"/>
          </a:p>
        </p:txBody>
      </p:sp>
      <p:sp>
        <p:nvSpPr>
          <p:cNvPr id="16" name="Text 14"/>
          <p:cNvSpPr txBox="1"/>
          <p:nvPr/>
        </p:nvSpPr>
        <p:spPr>
          <a:xfrm>
            <a:off x="3520440" y="2779776"/>
            <a:ext cx="5120640" cy="822960"/>
          </a:xfrm>
          <a:prstGeom prst="rect">
            <a:avLst/>
          </a:prstGeom>
          <a:noFill/>
          <a:ln/>
        </p:spPr>
        <p:txBody>
          <a:bodyPr wrap="square" lIns="0" tIns="0" rIns="0" bIns="0" rtlCol="0" anchor="ctr"/>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The same connector proof against a real EXTERNAL system of record — ours is proven, a customer's is not. Live re-gate of a second pack. Observability uplift. Organization + SCP if you can supply an OU.</a:t>
            </a:r>
            <a:endParaRPr lang="en-US" sz="1250" dirty="0"/>
          </a:p>
        </p:txBody>
      </p:sp>
      <p:sp>
        <p:nvSpPr>
          <p:cNvPr id="17" name="Text 15"/>
          <p:cNvSpPr txBox="1"/>
          <p:nvPr/>
        </p:nvSpPr>
        <p:spPr>
          <a:xfrm>
            <a:off x="8823960" y="2779776"/>
            <a:ext cx="2606040" cy="822960"/>
          </a:xfrm>
          <a:prstGeom prst="rect">
            <a:avLst/>
          </a:prstGeom>
          <a:noFill/>
          <a:ln/>
        </p:spPr>
        <p:txBody>
          <a:bodyPr wrap="square" lIns="0" tIns="0" rIns="0" bIns="0" rtlCol="0" anchor="ctr"/>
          <a:lstStyle/>
          <a:p>
            <a:pPr indent="0" marL="0">
              <a:lnSpc>
                <a:spcPct val="110000"/>
              </a:lnSpc>
              <a:buNone/>
            </a:pPr>
            <a:r>
              <a:rPr lang="en-US" sz="1150" i="1" dirty="0">
                <a:solidFill>
                  <a:srgbClr val="1D6F42"/>
                </a:solidFill>
                <a:latin typeface="Calibri" pitchFamily="34" charset="0"/>
                <a:ea typeface="Calibri" pitchFamily="34" charset="-122"/>
                <a:cs typeface="Calibri" pitchFamily="34" charset="-120"/>
              </a:rPr>
              <a:t>Gate: a system of record we do not own is governed.</a:t>
            </a:r>
            <a:endParaRPr lang="en-US" sz="1150" dirty="0"/>
          </a:p>
        </p:txBody>
      </p:sp>
      <p:sp>
        <p:nvSpPr>
          <p:cNvPr id="18" name="Shape 16"/>
          <p:cNvSpPr/>
          <p:nvPr/>
        </p:nvSpPr>
        <p:spPr>
          <a:xfrm>
            <a:off x="566928" y="3822192"/>
            <a:ext cx="11018520" cy="1042416"/>
          </a:xfrm>
          <a:prstGeom prst="roundRect">
            <a:avLst>
              <a:gd name="adj" fmla="val 7895"/>
            </a:avLst>
          </a:prstGeom>
          <a:solidFill>
            <a:srgbClr val="FFFFFF"/>
          </a:solidFill>
          <a:ln w="12700">
            <a:solidFill>
              <a:srgbClr val="D8E0E7"/>
            </a:solidFill>
            <a:prstDash val="solid"/>
          </a:ln>
        </p:spPr>
        <p:txBody>
          <a:bodyPr/>
          <a:p/>
        </p:txBody>
      </p:sp>
      <p:sp>
        <p:nvSpPr>
          <p:cNvPr id="19" name="Shape 17"/>
          <p:cNvSpPr/>
          <p:nvPr/>
        </p:nvSpPr>
        <p:spPr>
          <a:xfrm>
            <a:off x="822960" y="4105656"/>
            <a:ext cx="475488" cy="475488"/>
          </a:xfrm>
          <a:prstGeom prst="ellipse">
            <a:avLst/>
          </a:prstGeom>
          <a:solidFill>
            <a:srgbClr val="9A6700"/>
          </a:solidFill>
          <a:ln w="12700">
            <a:solidFill>
              <a:srgbClr val="9A6700"/>
            </a:solidFill>
            <a:prstDash val="solid"/>
          </a:ln>
        </p:spPr>
        <p:txBody>
          <a:bodyPr/>
          <a:p/>
        </p:txBody>
      </p:sp>
      <p:sp>
        <p:nvSpPr>
          <p:cNvPr id="20" name="Text 18"/>
          <p:cNvSpPr txBox="1"/>
          <p:nvPr/>
        </p:nvSpPr>
        <p:spPr>
          <a:xfrm>
            <a:off x="822960" y="410565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1463040" y="3968496"/>
            <a:ext cx="1920240" cy="365760"/>
          </a:xfrm>
          <a:prstGeom prst="rect">
            <a:avLst/>
          </a:prstGeom>
          <a:noFill/>
          <a:ln/>
        </p:spPr>
        <p:txBody>
          <a:bodyPr wrap="square" lIns="0" tIns="0" rIns="0" bIns="0" rtlCol="0" anchor="ctr"/>
          <a:lstStyle/>
          <a:p>
            <a:pPr indent="0" marL="0">
              <a:buNone/>
            </a:pPr>
            <a:r>
              <a:rPr lang="en-US" sz="1700" b="1" dirty="0">
                <a:solidFill>
                  <a:srgbClr val="9A6700"/>
                </a:solidFill>
                <a:latin typeface="Cambria" pitchFamily="34" charset="0"/>
                <a:ea typeface="Cambria" pitchFamily="34" charset="-122"/>
                <a:cs typeface="Cambria" pitchFamily="34" charset="-120"/>
              </a:rPr>
              <a:t>Pilot</a:t>
            </a:r>
            <a:endParaRPr lang="en-US" sz="1700" dirty="0"/>
          </a:p>
        </p:txBody>
      </p:sp>
      <p:sp>
        <p:nvSpPr>
          <p:cNvPr id="22" name="Text 20"/>
          <p:cNvSpPr txBox="1"/>
          <p:nvPr/>
        </p:nvSpPr>
        <p:spPr>
          <a:xfrm>
            <a:off x="1463040" y="4352544"/>
            <a:ext cx="1920240" cy="274320"/>
          </a:xfrm>
          <a:prstGeom prst="rect">
            <a:avLst/>
          </a:prstGeom>
          <a:noFill/>
          <a:ln/>
        </p:spPr>
        <p:txBody>
          <a:bodyPr wrap="square" lIns="0" tIns="0" rIns="0" bIns="0" rtlCol="0" anchor="ctr"/>
          <a:lstStyle/>
          <a:p>
            <a:pPr indent="0" marL="0">
              <a:buNone/>
            </a:pPr>
            <a:r>
              <a:rPr lang="en-US" sz="1100" dirty="0">
                <a:solidFill>
                  <a:srgbClr val="5F7080"/>
                </a:solidFill>
                <a:latin typeface="Calibri" pitchFamily="34" charset="0"/>
                <a:ea typeface="Calibri" pitchFamily="34" charset="-122"/>
                <a:cs typeface="Calibri" pitchFamily="34" charset="-120"/>
              </a:rPr>
              <a:t>Quarter 2</a:t>
            </a:r>
            <a:endParaRPr lang="en-US" sz="1100" dirty="0"/>
          </a:p>
        </p:txBody>
      </p:sp>
      <p:sp>
        <p:nvSpPr>
          <p:cNvPr id="23" name="Text 21"/>
          <p:cNvSpPr txBox="1"/>
          <p:nvPr/>
        </p:nvSpPr>
        <p:spPr>
          <a:xfrm>
            <a:off x="3520440" y="3950208"/>
            <a:ext cx="5120640" cy="822960"/>
          </a:xfrm>
          <a:prstGeom prst="rect">
            <a:avLst/>
          </a:prstGeom>
          <a:noFill/>
          <a:ln/>
        </p:spPr>
        <p:txBody>
          <a:bodyPr wrap="square" lIns="0" tIns="0" rIns="0" bIns="0" rtlCol="0" anchor="ctr"/>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Named customer. Supervised pilot on de-identified data. Customer's own security engineering, testing and authorization.</a:t>
            </a:r>
            <a:endParaRPr lang="en-US" sz="1250" dirty="0"/>
          </a:p>
        </p:txBody>
      </p:sp>
      <p:sp>
        <p:nvSpPr>
          <p:cNvPr id="24" name="Text 22"/>
          <p:cNvSpPr txBox="1"/>
          <p:nvPr/>
        </p:nvSpPr>
        <p:spPr>
          <a:xfrm>
            <a:off x="8823960" y="3950208"/>
            <a:ext cx="2606040" cy="822960"/>
          </a:xfrm>
          <a:prstGeom prst="rect">
            <a:avLst/>
          </a:prstGeom>
          <a:noFill/>
          <a:ln/>
        </p:spPr>
        <p:txBody>
          <a:bodyPr wrap="square" lIns="0" tIns="0" rIns="0" bIns="0" rtlCol="0" anchor="ctr"/>
          <a:lstStyle/>
          <a:p>
            <a:pPr indent="0" marL="0">
              <a:lnSpc>
                <a:spcPct val="110000"/>
              </a:lnSpc>
              <a:buNone/>
            </a:pPr>
            <a:r>
              <a:rPr lang="en-US" sz="1150" i="1" dirty="0">
                <a:solidFill>
                  <a:srgbClr val="1D6F42"/>
                </a:solidFill>
                <a:latin typeface="Calibri" pitchFamily="34" charset="0"/>
                <a:ea typeface="Calibri" pitchFamily="34" charset="-122"/>
                <a:cs typeface="Calibri" pitchFamily="34" charset="-120"/>
              </a:rPr>
              <a:t>Gate: the customer's AO accepts the compensating-control statement.</a:t>
            </a:r>
            <a:endParaRPr lang="en-US" sz="1150" dirty="0"/>
          </a:p>
        </p:txBody>
      </p:sp>
      <p:sp>
        <p:nvSpPr>
          <p:cNvPr id="25" name="Shape 23"/>
          <p:cNvSpPr/>
          <p:nvPr/>
        </p:nvSpPr>
        <p:spPr>
          <a:xfrm>
            <a:off x="566928" y="4992624"/>
            <a:ext cx="11018520" cy="1042416"/>
          </a:xfrm>
          <a:prstGeom prst="roundRect">
            <a:avLst>
              <a:gd name="adj" fmla="val 7895"/>
            </a:avLst>
          </a:prstGeom>
          <a:solidFill>
            <a:srgbClr val="F1F4F7"/>
          </a:solidFill>
          <a:ln w="12700">
            <a:solidFill>
              <a:srgbClr val="D8E0E7"/>
            </a:solidFill>
            <a:prstDash val="solid"/>
          </a:ln>
        </p:spPr>
        <p:txBody>
          <a:bodyPr/>
          <a:p/>
        </p:txBody>
      </p:sp>
      <p:sp>
        <p:nvSpPr>
          <p:cNvPr id="26" name="Shape 24"/>
          <p:cNvSpPr/>
          <p:nvPr/>
        </p:nvSpPr>
        <p:spPr>
          <a:xfrm>
            <a:off x="822960" y="5276088"/>
            <a:ext cx="475488" cy="475488"/>
          </a:xfrm>
          <a:prstGeom prst="ellipse">
            <a:avLst/>
          </a:prstGeom>
          <a:solidFill>
            <a:srgbClr val="5F7080"/>
          </a:solidFill>
          <a:ln w="12700">
            <a:solidFill>
              <a:srgbClr val="5F7080"/>
            </a:solidFill>
            <a:prstDash val="solid"/>
          </a:ln>
        </p:spPr>
        <p:txBody>
          <a:bodyPr/>
          <a:p/>
        </p:txBody>
      </p:sp>
      <p:sp>
        <p:nvSpPr>
          <p:cNvPr id="27" name="Text 25"/>
          <p:cNvSpPr txBox="1"/>
          <p:nvPr/>
        </p:nvSpPr>
        <p:spPr>
          <a:xfrm>
            <a:off x="822960" y="527608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8" name="Text 26"/>
          <p:cNvSpPr txBox="1"/>
          <p:nvPr/>
        </p:nvSpPr>
        <p:spPr>
          <a:xfrm>
            <a:off x="1463040" y="5138928"/>
            <a:ext cx="1920240" cy="365760"/>
          </a:xfrm>
          <a:prstGeom prst="rect">
            <a:avLst/>
          </a:prstGeom>
          <a:noFill/>
          <a:ln/>
        </p:spPr>
        <p:txBody>
          <a:bodyPr wrap="square" lIns="0" tIns="0" rIns="0" bIns="0" rtlCol="0" anchor="ctr"/>
          <a:lstStyle/>
          <a:p>
            <a:pPr indent="0" marL="0">
              <a:buNone/>
            </a:pPr>
            <a:r>
              <a:rPr lang="en-US" sz="1700" b="1" dirty="0">
                <a:solidFill>
                  <a:srgbClr val="5F7080"/>
                </a:solidFill>
                <a:latin typeface="Cambria" pitchFamily="34" charset="0"/>
                <a:ea typeface="Cambria" pitchFamily="34" charset="-122"/>
                <a:cs typeface="Cambria" pitchFamily="34" charset="-120"/>
              </a:rPr>
              <a:t>Production</a:t>
            </a:r>
            <a:endParaRPr lang="en-US" sz="1700" dirty="0"/>
          </a:p>
        </p:txBody>
      </p:sp>
      <p:sp>
        <p:nvSpPr>
          <p:cNvPr id="29" name="Text 27"/>
          <p:cNvSpPr txBox="1"/>
          <p:nvPr/>
        </p:nvSpPr>
        <p:spPr>
          <a:xfrm>
            <a:off x="1463040" y="5522976"/>
            <a:ext cx="1920240" cy="274320"/>
          </a:xfrm>
          <a:prstGeom prst="rect">
            <a:avLst/>
          </a:prstGeom>
          <a:noFill/>
          <a:ln/>
        </p:spPr>
        <p:txBody>
          <a:bodyPr wrap="square" lIns="0" tIns="0" rIns="0" bIns="0" rtlCol="0" anchor="ctr"/>
          <a:lstStyle/>
          <a:p>
            <a:pPr indent="0" marL="0">
              <a:buNone/>
            </a:pPr>
            <a:r>
              <a:rPr lang="en-US" sz="1100" dirty="0">
                <a:solidFill>
                  <a:srgbClr val="5F7080"/>
                </a:solidFill>
                <a:latin typeface="Calibri" pitchFamily="34" charset="0"/>
                <a:ea typeface="Calibri" pitchFamily="34" charset="-122"/>
                <a:cs typeface="Calibri" pitchFamily="34" charset="-120"/>
              </a:rPr>
              <a:t>Later</a:t>
            </a:r>
            <a:endParaRPr lang="en-US" sz="1100" dirty="0"/>
          </a:p>
        </p:txBody>
      </p:sp>
      <p:sp>
        <p:nvSpPr>
          <p:cNvPr id="30" name="Text 28"/>
          <p:cNvSpPr txBox="1"/>
          <p:nvPr/>
        </p:nvSpPr>
        <p:spPr>
          <a:xfrm>
            <a:off x="3520440" y="5120640"/>
            <a:ext cx="5120640" cy="822960"/>
          </a:xfrm>
          <a:prstGeom prst="rect">
            <a:avLst/>
          </a:prstGeom>
          <a:noFill/>
          <a:ln/>
        </p:spPr>
        <p:txBody>
          <a:bodyPr wrap="square" lIns="0" tIns="0" rIns="0" bIns="0" rtlCol="0" anchor="ctr"/>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Not in scope for this conversation. Pen test, DR, SLO, IdP round-trip, ATO, formal authorization.</a:t>
            </a:r>
            <a:endParaRPr lang="en-US" sz="1250" dirty="0"/>
          </a:p>
        </p:txBody>
      </p:sp>
      <p:sp>
        <p:nvSpPr>
          <p:cNvPr id="31" name="Text 29"/>
          <p:cNvSpPr txBox="1"/>
          <p:nvPr/>
        </p:nvSpPr>
        <p:spPr>
          <a:xfrm>
            <a:off x="8823960" y="5120640"/>
            <a:ext cx="2606040" cy="822960"/>
          </a:xfrm>
          <a:prstGeom prst="rect">
            <a:avLst/>
          </a:prstGeom>
          <a:noFill/>
          <a:ln/>
        </p:spPr>
        <p:txBody>
          <a:bodyPr wrap="square" lIns="0" tIns="0" rIns="0" bIns="0" rtlCol="0" anchor="ctr"/>
          <a:lstStyle/>
          <a:p>
            <a:pPr indent="0" marL="0">
              <a:lnSpc>
                <a:spcPct val="110000"/>
              </a:lnSpc>
              <a:buNone/>
            </a:pPr>
            <a:r>
              <a:rPr lang="en-US" sz="1150" i="1" dirty="0">
                <a:solidFill>
                  <a:srgbClr val="5F7080"/>
                </a:solidFill>
                <a:latin typeface="Calibri" pitchFamily="34" charset="0"/>
                <a:ea typeface="Calibri" pitchFamily="34" charset="-122"/>
                <a:cs typeface="Calibri" pitchFamily="34" charset="-120"/>
              </a:rPr>
              <a:t>—</a:t>
            </a:r>
            <a:endParaRPr lang="en-US" sz="1150" dirty="0"/>
          </a:p>
        </p:txBody>
      </p:sp>
      <p:sp>
        <p:nvSpPr>
          <p:cNvPr id="32" name="Text 30"/>
          <p:cNvSpPr txBox="1"/>
          <p:nvPr/>
        </p:nvSpPr>
        <p:spPr>
          <a:xfrm>
            <a:off x="566928" y="6089904"/>
            <a:ext cx="11064240" cy="292608"/>
          </a:xfrm>
          <a:prstGeom prst="rect">
            <a:avLst/>
          </a:prstGeom>
          <a:noFill/>
          <a:ln/>
        </p:spPr>
        <p:txBody>
          <a:bodyPr wrap="square" lIns="0" tIns="0" rIns="0" bIns="0" rtlCol="0" anchor="ctr"/>
          <a:lstStyle/>
          <a:p>
            <a:pPr indent="0" marL="0">
              <a:buNone/>
            </a:pPr>
            <a:r>
              <a:rPr lang="en-US" sz="1000" i="1" dirty="0">
                <a:solidFill>
                  <a:srgbClr val="B3261E"/>
                </a:solidFill>
                <a:latin typeface="Calibri" pitchFamily="34" charset="0"/>
                <a:ea typeface="Calibri" pitchFamily="34" charset="-122"/>
                <a:cs typeface="Calibri" pitchFamily="34" charset="-120"/>
              </a:rPr>
              <a:t>We are deliberately NOT asking you to find a customer yet. That would be asking you to put your name on synthetic, author-produced evidence.</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A2433"/>
        </a:solidFill>
      </p:bgPr>
    </p:bg>
    <p:spTree>
      <p:nvGrpSpPr>
        <p:cNvPr id="1" name=""/>
        <p:cNvGrpSpPr/>
        <p:nvPr/>
      </p:nvGrpSpPr>
      <p:grpSpPr>
        <a:xfrm>
          <a:off x="0" y="0"/>
          <a:ext cx="0" cy="0"/>
          <a:chOff x="0" y="0"/>
          <a:chExt cx="0" cy="0"/>
        </a:xfrm>
      </p:grpSpPr>
      <p:sp>
        <p:nvSpPr>
          <p:cNvPr id="2" name="Text 0"/>
          <p:cNvSpPr txBox="1"/>
          <p:nvPr/>
        </p:nvSpPr>
        <p:spPr>
          <a:xfrm>
            <a:off x="777240" y="1051560"/>
            <a:ext cx="1060704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Where this actually stands</a:t>
            </a:r>
            <a:endParaRPr lang="en-US" sz="3600" dirty="0"/>
          </a:p>
        </p:txBody>
      </p:sp>
      <p:sp>
        <p:nvSpPr>
          <p:cNvPr id="3" name="Shape 1"/>
          <p:cNvSpPr/>
          <p:nvPr/>
        </p:nvSpPr>
        <p:spPr>
          <a:xfrm>
            <a:off x="777240" y="2011680"/>
            <a:ext cx="5212080" cy="2377440"/>
          </a:xfrm>
          <a:prstGeom prst="roundRect">
            <a:avLst>
              <a:gd name="adj" fmla="val 3462"/>
            </a:avLst>
          </a:prstGeom>
          <a:solidFill>
            <a:srgbClr val="2C3A4E"/>
          </a:solidFill>
          <a:ln w="12700">
            <a:solidFill>
              <a:srgbClr val="2E6B4A"/>
            </a:solidFill>
            <a:prstDash val="solid"/>
          </a:ln>
        </p:spPr>
        <p:txBody>
          <a:bodyPr/>
          <a:p/>
        </p:txBody>
      </p:sp>
      <p:sp>
        <p:nvSpPr>
          <p:cNvPr id="4" name="Text 2"/>
          <p:cNvSpPr txBox="1"/>
          <p:nvPr/>
        </p:nvSpPr>
        <p:spPr>
          <a:xfrm>
            <a:off x="1051560" y="2212848"/>
            <a:ext cx="4617720" cy="310896"/>
          </a:xfrm>
          <a:prstGeom prst="rect">
            <a:avLst/>
          </a:prstGeom>
          <a:noFill/>
          <a:ln/>
        </p:spPr>
        <p:txBody>
          <a:bodyPr wrap="square" lIns="0" tIns="0" rIns="0" bIns="0" rtlCol="0" anchor="ctr"/>
          <a:lstStyle/>
          <a:p>
            <a:pPr indent="0" marL="0">
              <a:buNone/>
            </a:pPr>
            <a:r>
              <a:rPr lang="en-US" sz="1500" b="1" dirty="0">
                <a:solidFill>
                  <a:srgbClr val="6BCB8F"/>
                </a:solidFill>
                <a:latin typeface="Cambria" pitchFamily="34" charset="0"/>
                <a:ea typeface="Cambria" pitchFamily="34" charset="-122"/>
                <a:cs typeface="Cambria" pitchFamily="34" charset="-120"/>
              </a:rPr>
              <a:t>What it is</a:t>
            </a:r>
            <a:endParaRPr lang="en-US" sz="1500" dirty="0"/>
          </a:p>
        </p:txBody>
      </p:sp>
      <p:sp>
        <p:nvSpPr>
          <p:cNvPr id="5" name="Text 3"/>
          <p:cNvSpPr txBox="1"/>
          <p:nvPr/>
        </p:nvSpPr>
        <p:spPr>
          <a:xfrm>
            <a:off x="1051560" y="2578608"/>
            <a:ext cx="4617720" cy="1005840"/>
          </a:xfrm>
          <a:prstGeom prst="rect">
            <a:avLst/>
          </a:prstGeom>
          <a:noFill/>
          <a:ln/>
        </p:spPr>
        <p:txBody>
          <a:bodyPr wrap="square" lIns="0" tIns="0" rIns="0" bIns="0" rtlCol="0" anchor="ctr"/>
          <a:lstStyle/>
          <a:p>
            <a:pPr indent="0" marL="0">
              <a:lnSpc>
                <a:spcPct val="115000"/>
              </a:lnSpc>
              <a:buNone/>
            </a:pPr>
            <a:r>
              <a:rPr lang="en-US" sz="1350" dirty="0">
                <a:solidFill>
                  <a:srgbClr val="BFD3E6"/>
                </a:solidFill>
                <a:latin typeface="Calibri" pitchFamily="34" charset="0"/>
                <a:ea typeface="Calibri" pitchFamily="34" charset="-122"/>
                <a:cs typeface="Calibri" pitchFamily="34" charset="-120"/>
              </a:rPr>
              <a:t>A credible governance control plane at reference-architecture maturity, with an unusually well-documented gap list — and further along than most teams will have built themselves.</a:t>
            </a:r>
            <a:endParaRPr lang="en-US" sz="1350" dirty="0"/>
          </a:p>
        </p:txBody>
      </p:sp>
      <p:sp>
        <p:nvSpPr>
          <p:cNvPr id="6" name="Text 4"/>
          <p:cNvSpPr txBox="1"/>
          <p:nvPr/>
        </p:nvSpPr>
        <p:spPr>
          <a:xfrm>
            <a:off x="1051560" y="3639312"/>
            <a:ext cx="4617720" cy="640080"/>
          </a:xfrm>
          <a:prstGeom prst="rect">
            <a:avLst/>
          </a:prstGeom>
          <a:noFill/>
          <a:ln/>
        </p:spPr>
        <p:txBody>
          <a:bodyPr wrap="square" lIns="0" tIns="0" rIns="0" bIns="0" rtlCol="0" anchor="ctr"/>
          <a:lstStyle/>
          <a:p>
            <a:pPr indent="0" marL="0">
              <a:lnSpc>
                <a:spcPct val="110000"/>
              </a:lnSpc>
              <a:buNone/>
            </a:pPr>
            <a:r>
              <a:rPr lang="en-US" sz="1150" i="1" dirty="0">
                <a:solidFill>
                  <a:srgbClr val="9FB3C8"/>
                </a:solidFill>
                <a:latin typeface="Calibri" pitchFamily="34" charset="0"/>
                <a:ea typeface="Calibri" pitchFamily="34" charset="-122"/>
                <a:cs typeface="Calibri" pitchFamily="34" charset="-120"/>
              </a:rPr>
              <a:t>Good for: architecture workshops, a CISO/AO conversation, a supervised pilot on synthetic or de-identified data.</a:t>
            </a:r>
            <a:endParaRPr lang="en-US" sz="1150" dirty="0"/>
          </a:p>
        </p:txBody>
      </p:sp>
      <p:sp>
        <p:nvSpPr>
          <p:cNvPr id="7" name="Shape 5"/>
          <p:cNvSpPr/>
          <p:nvPr/>
        </p:nvSpPr>
        <p:spPr>
          <a:xfrm>
            <a:off x="6172200" y="2011680"/>
            <a:ext cx="5212080" cy="2377440"/>
          </a:xfrm>
          <a:prstGeom prst="roundRect">
            <a:avLst>
              <a:gd name="adj" fmla="val 3462"/>
            </a:avLst>
          </a:prstGeom>
          <a:solidFill>
            <a:srgbClr val="2C3A4E"/>
          </a:solidFill>
          <a:ln w="12700">
            <a:solidFill>
              <a:srgbClr val="6B3030"/>
            </a:solidFill>
            <a:prstDash val="solid"/>
          </a:ln>
        </p:spPr>
        <p:txBody>
          <a:bodyPr/>
          <a:p/>
        </p:txBody>
      </p:sp>
      <p:sp>
        <p:nvSpPr>
          <p:cNvPr id="8" name="Text 6"/>
          <p:cNvSpPr txBox="1"/>
          <p:nvPr/>
        </p:nvSpPr>
        <p:spPr>
          <a:xfrm>
            <a:off x="6446520" y="2212848"/>
            <a:ext cx="4663440" cy="310896"/>
          </a:xfrm>
          <a:prstGeom prst="rect">
            <a:avLst/>
          </a:prstGeom>
          <a:noFill/>
          <a:ln/>
        </p:spPr>
        <p:txBody>
          <a:bodyPr wrap="square" lIns="0" tIns="0" rIns="0" bIns="0" rtlCol="0" anchor="ctr"/>
          <a:lstStyle/>
          <a:p>
            <a:pPr indent="0" marL="0">
              <a:buNone/>
            </a:pPr>
            <a:r>
              <a:rPr lang="en-US" sz="1500" b="1" dirty="0">
                <a:solidFill>
                  <a:srgbClr val="FFB4A8"/>
                </a:solidFill>
                <a:latin typeface="Cambria" pitchFamily="34" charset="0"/>
                <a:ea typeface="Cambria" pitchFamily="34" charset="-122"/>
                <a:cs typeface="Cambria" pitchFamily="34" charset="-120"/>
              </a:rPr>
              <a:t>What it is not</a:t>
            </a:r>
            <a:endParaRPr lang="en-US" sz="1500" dirty="0"/>
          </a:p>
        </p:txBody>
      </p:sp>
      <p:sp>
        <p:nvSpPr>
          <p:cNvPr id="9" name="Text 7"/>
          <p:cNvSpPr txBox="1"/>
          <p:nvPr/>
        </p:nvSpPr>
        <p:spPr>
          <a:xfrm>
            <a:off x="6446520" y="2578608"/>
            <a:ext cx="4663440" cy="1005840"/>
          </a:xfrm>
          <a:prstGeom prst="rect">
            <a:avLst/>
          </a:prstGeom>
          <a:noFill/>
          <a:ln/>
        </p:spPr>
        <p:txBody>
          <a:bodyPr wrap="square" lIns="0" tIns="0" rIns="0" bIns="0" rtlCol="0" anchor="ctr"/>
          <a:lstStyle/>
          <a:p>
            <a:pPr indent="0" marL="0">
              <a:lnSpc>
                <a:spcPct val="115000"/>
              </a:lnSpc>
              <a:buNone/>
            </a:pPr>
            <a:r>
              <a:rPr lang="en-US" sz="1350" dirty="0">
                <a:solidFill>
                  <a:srgbClr val="BFD3E6"/>
                </a:solidFill>
                <a:latin typeface="Calibri" pitchFamily="34" charset="0"/>
                <a:ea typeface="Calibri" pitchFamily="34" charset="-122"/>
                <a:cs typeface="Calibri" pitchFamily="34" charset="-120"/>
              </a:rPr>
              <a:t>Not a product. Not an AWS service. Not certified, authorized or ATO'd. Not ready for real regulated data. Not independently verified by anyone.</a:t>
            </a:r>
            <a:endParaRPr lang="en-US" sz="1350" dirty="0"/>
          </a:p>
        </p:txBody>
      </p:sp>
      <p:sp>
        <p:nvSpPr>
          <p:cNvPr id="10" name="Text 8"/>
          <p:cNvSpPr txBox="1"/>
          <p:nvPr/>
        </p:nvSpPr>
        <p:spPr>
          <a:xfrm>
            <a:off x="6446520" y="3639312"/>
            <a:ext cx="4663440" cy="640080"/>
          </a:xfrm>
          <a:prstGeom prst="rect">
            <a:avLst/>
          </a:prstGeom>
          <a:noFill/>
          <a:ln/>
        </p:spPr>
        <p:txBody>
          <a:bodyPr wrap="square" lIns="0" tIns="0" rIns="0" bIns="0" rtlCol="0" anchor="ctr"/>
          <a:lstStyle/>
          <a:p>
            <a:pPr indent="0" marL="0">
              <a:lnSpc>
                <a:spcPct val="110000"/>
              </a:lnSpc>
              <a:buNone/>
            </a:pPr>
            <a:r>
              <a:rPr lang="en-US" sz="1150" i="1" dirty="0">
                <a:solidFill>
                  <a:srgbClr val="9FB3C8"/>
                </a:solidFill>
                <a:latin typeface="Calibri" pitchFamily="34" charset="0"/>
                <a:ea typeface="Calibri" pitchFamily="34" charset="-122"/>
                <a:cs typeface="Calibri" pitchFamily="34" charset="-120"/>
              </a:rPr>
              <a:t>Say this first. It costs nothing, and it buys you the rest of the conversation.</a:t>
            </a:r>
            <a:endParaRPr lang="en-US" sz="1150" dirty="0"/>
          </a:p>
        </p:txBody>
      </p:sp>
      <p:sp>
        <p:nvSpPr>
          <p:cNvPr id="11" name="Shape 9"/>
          <p:cNvSpPr/>
          <p:nvPr/>
        </p:nvSpPr>
        <p:spPr>
          <a:xfrm>
            <a:off x="777240" y="4645152"/>
            <a:ext cx="10607040" cy="1225296"/>
          </a:xfrm>
          <a:prstGeom prst="roundRect">
            <a:avLst>
              <a:gd name="adj" fmla="val 6716"/>
            </a:avLst>
          </a:prstGeom>
          <a:solidFill>
            <a:srgbClr val="17352A"/>
          </a:solidFill>
          <a:ln w="12700">
            <a:solidFill>
              <a:srgbClr val="2E6B4A"/>
            </a:solidFill>
            <a:prstDash val="solid"/>
          </a:ln>
        </p:spPr>
        <p:txBody>
          <a:bodyPr/>
          <a:p/>
        </p:txBody>
      </p:sp>
      <p:sp>
        <p:nvSpPr>
          <p:cNvPr id="12" name="Text 10"/>
          <p:cNvSpPr txBox="1"/>
          <p:nvPr/>
        </p:nvSpPr>
        <p:spPr>
          <a:xfrm>
            <a:off x="1097280" y="4809744"/>
            <a:ext cx="10058400" cy="310896"/>
          </a:xfrm>
          <a:prstGeom prst="rect">
            <a:avLst/>
          </a:prstGeom>
          <a:noFill/>
          <a:ln/>
        </p:spPr>
        <p:txBody>
          <a:bodyPr wrap="square" lIns="0" tIns="0" rIns="0" bIns="0" rtlCol="0" anchor="ctr"/>
          <a:lstStyle/>
          <a:p>
            <a:pPr indent="0" marL="0">
              <a:buNone/>
            </a:pPr>
            <a:r>
              <a:rPr lang="en-US" sz="1400" b="1" dirty="0">
                <a:solidFill>
                  <a:srgbClr val="6BCB8F"/>
                </a:solidFill>
                <a:latin typeface="Cambria" pitchFamily="34" charset="0"/>
                <a:ea typeface="Cambria" pitchFamily="34" charset="-122"/>
                <a:cs typeface="Cambria" pitchFamily="34" charset="-120"/>
              </a:rPr>
              <a:t>The one thing we need from you</a:t>
            </a:r>
            <a:endParaRPr lang="en-US" sz="1400" dirty="0"/>
          </a:p>
        </p:txBody>
      </p:sp>
      <p:sp>
        <p:nvSpPr>
          <p:cNvPr id="13" name="Text 11"/>
          <p:cNvSpPr txBox="1"/>
          <p:nvPr/>
        </p:nvSpPr>
        <p:spPr>
          <a:xfrm>
            <a:off x="1097280" y="5157216"/>
            <a:ext cx="10058400" cy="566928"/>
          </a:xfrm>
          <a:prstGeom prst="rect">
            <a:avLst/>
          </a:prstGeom>
          <a:noFill/>
          <a:ln/>
        </p:spPr>
        <p:txBody>
          <a:bodyPr wrap="square" lIns="0" tIns="0" rIns="0" bIns="0" rtlCol="0" anchor="ctr"/>
          <a:lstStyle/>
          <a:p>
            <a:pPr indent="0" marL="0">
              <a:lnSpc>
                <a:spcPct val="115000"/>
              </a:lnSpc>
              <a:buNone/>
            </a:pPr>
            <a:r>
              <a:rPr lang="en-US" sz="1500" dirty="0">
                <a:solidFill>
                  <a:srgbClr val="FFFFFF"/>
                </a:solidFill>
                <a:latin typeface="Calibri" pitchFamily="34" charset="0"/>
                <a:ea typeface="Calibri" pitchFamily="34" charset="-122"/>
                <a:cs typeface="Calibri" pitchFamily="34" charset="-120"/>
              </a:rPr>
              <a:t>Half a day of an SA's time, in an account we do not control, to find out whether any of this survives contact with someone who is not us.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2026-09-09T18:10:27Z</dcterms:created>
  <dcterms:modified xsi:type="dcterms:W3CDTF">2026-09-09T18:10:27Z</dcterms:modified>
</cp:coreProperties>
</file>